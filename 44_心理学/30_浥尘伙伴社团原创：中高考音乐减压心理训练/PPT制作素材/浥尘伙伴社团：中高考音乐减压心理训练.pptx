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4"/>
  </p:notesMasterIdLst>
  <p:sldIdLst>
    <p:sldId id="256" r:id="rId2"/>
    <p:sldId id="257" r:id="rId3"/>
    <p:sldId id="314" r:id="rId4"/>
    <p:sldId id="298" r:id="rId5"/>
    <p:sldId id="297" r:id="rId6"/>
    <p:sldId id="261" r:id="rId7"/>
    <p:sldId id="264" r:id="rId8"/>
    <p:sldId id="262" r:id="rId9"/>
    <p:sldId id="299" r:id="rId10"/>
    <p:sldId id="293" r:id="rId11"/>
    <p:sldId id="294" r:id="rId12"/>
    <p:sldId id="295" r:id="rId13"/>
    <p:sldId id="296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0" r:id="rId25"/>
    <p:sldId id="311" r:id="rId26"/>
    <p:sldId id="315" r:id="rId27"/>
    <p:sldId id="316" r:id="rId28"/>
    <p:sldId id="317" r:id="rId29"/>
    <p:sldId id="318" r:id="rId30"/>
    <p:sldId id="319" r:id="rId31"/>
    <p:sldId id="320" r:id="rId32"/>
    <p:sldId id="313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5266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中高考减压音乐训练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6639" y="5739969"/>
            <a:ext cx="4610646" cy="96012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zh-CN" altLang="en-US" sz="1900" dirty="0"/>
              <a:t>浥尘伙伴社团内部密训课程</a:t>
            </a:r>
            <a:endParaRPr lang="en-US" altLang="zh-CN" sz="1900" dirty="0"/>
          </a:p>
          <a:p>
            <a:pPr algn="r"/>
            <a:r>
              <a:rPr lang="en-US" altLang="zh-CN" sz="1900" dirty="0"/>
              <a:t>2026</a:t>
            </a:r>
            <a:r>
              <a:rPr lang="zh-CN" altLang="en-US" sz="1900" dirty="0"/>
              <a:t>年</a:t>
            </a:r>
            <a:r>
              <a:rPr lang="en-US" altLang="zh-CN" sz="1900" dirty="0"/>
              <a:t>1</a:t>
            </a:r>
            <a:r>
              <a:rPr lang="zh-CN" altLang="en-US" sz="1900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500677" cy="398933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以原始人胆大死亡，胆小生存，基因传承为例子，来说明我们在考前有一定的紧张焦虑是为了提醒考试的到来，是属于正常的心理活动反应。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我们要以正确的方式去防范风险，以积极的应对方式来缓解自身的焦虑。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关键就是要把握好这个度。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AC9DD4A8-BC3C-72D4-B9F5-C6F63B8E2272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EB0A-1568-82B6-45BF-D7ADF0FEC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DC7523-8ECE-FC4B-06C8-3F17349D1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E27522-2D0B-29FC-C83D-1E1789D0F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6972300" cy="474654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人的压力水平和动机、任务难度直接相关，动机是促使问题解决的动力因素。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思维活跃，反之，动机弱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思维不活跃。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但是，</a:t>
            </a:r>
            <a:r>
              <a:rPr lang="zh-CN" altLang="en-US" sz="1800" b="1" dirty="0">
                <a:latin typeface="+mn-ea"/>
              </a:rPr>
              <a:t>动机强度</a:t>
            </a:r>
            <a:r>
              <a:rPr lang="zh-CN" altLang="en-US" sz="1800" dirty="0">
                <a:latin typeface="+mn-ea"/>
              </a:rPr>
              <a:t>与解决问题的</a:t>
            </a:r>
            <a:r>
              <a:rPr lang="zh-CN" altLang="en-US" sz="1800" b="1" dirty="0">
                <a:latin typeface="+mn-ea"/>
              </a:rPr>
              <a:t>思维活动效率</a:t>
            </a:r>
            <a:r>
              <a:rPr lang="zh-CN" altLang="en-US" sz="1800" dirty="0">
                <a:latin typeface="+mn-ea"/>
              </a:rPr>
              <a:t>之间并不总是呈正相关。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动机强弱与解决问题的关系，是一条“倒转的</a:t>
            </a:r>
            <a:r>
              <a:rPr lang="en-US" altLang="zh-CN" sz="1800" dirty="0">
                <a:latin typeface="+mn-ea"/>
              </a:rPr>
              <a:t>U</a:t>
            </a:r>
            <a:r>
              <a:rPr lang="zh-CN" altLang="en-US" sz="1800" dirty="0">
                <a:latin typeface="+mn-ea"/>
              </a:rPr>
              <a:t>形曲线” 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动机过强，会造成很大的心理压力。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压力在到一定程度，甚至会引起严重的心理问题。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E065CE6-96A8-2831-1524-850E07A9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EE37F115-E081-0AD7-00B3-02DD3A0EB028}"/>
              </a:ext>
            </a:extLst>
          </p:cNvPr>
          <p:cNvSpPr txBox="1">
            <a:spLocks/>
          </p:cNvSpPr>
          <p:nvPr/>
        </p:nvSpPr>
        <p:spPr>
          <a:xfrm>
            <a:off x="264035" y="5023450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CC2228D3-CF5E-CF4C-D66A-92953E432E2F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3198283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FA6E-3095-346D-8365-EC2D25E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CB162-1BBE-ABF7-8666-782C7E5B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7B40-3434-E64E-51FD-D0C5F1494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7015160" cy="5038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动力不足的要加压，动力太高的要减压。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因此，理想的情况是这个学生想考上一所好大学，但是又不至于因为期望过高、压力过大而影响学习效率，因此考前的学生要学会心理调节。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在</a:t>
            </a:r>
            <a:r>
              <a:rPr lang="en-US" altLang="zh-CN" sz="1800" dirty="0">
                <a:latin typeface="+mn-ea"/>
              </a:rPr>
              <a:t>20</a:t>
            </a:r>
            <a:r>
              <a:rPr lang="zh-CN" altLang="en-US" sz="1800" dirty="0">
                <a:latin typeface="+mn-ea"/>
              </a:rPr>
              <a:t>项决定高考因素中，前五项因素是：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考场心态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考前心态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学习方法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学习基础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学习态度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542F787-EE60-63D7-489F-3D137154C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760BA3FC-CCEB-8E96-465B-D73928DD23C7}"/>
              </a:ext>
            </a:extLst>
          </p:cNvPr>
          <p:cNvSpPr txBox="1">
            <a:spLocks/>
          </p:cNvSpPr>
          <p:nvPr/>
        </p:nvSpPr>
        <p:spPr>
          <a:xfrm>
            <a:off x="264035" y="5013148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6CE27A2D-FD12-DE10-9760-CC5CA7543472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277460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01A-54FD-9CD1-7987-DE55C9D8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866E9-F7E6-15CA-A033-5C12B498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34165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B1E305-C001-B0E0-FC54-CDDBE895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570817"/>
            <a:ext cx="11155680" cy="93665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对处于紧张焦虑状态中的考生，如果简单地给他们做放松训练，不但没有改善的可能，而且会进一步强化他们的无力感和无助感。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E154557-791B-3F98-3C92-58C7D7CC9AC8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如何给考前学生减压呢？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84606FA-77CD-9925-307F-7A43AFEB372A}"/>
              </a:ext>
            </a:extLst>
          </p:cNvPr>
          <p:cNvSpPr txBox="1">
            <a:spLocks/>
          </p:cNvSpPr>
          <p:nvPr/>
        </p:nvSpPr>
        <p:spPr>
          <a:xfrm>
            <a:off x="518160" y="2507469"/>
            <a:ext cx="3253740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>
                <a:latin typeface="+mn-ea"/>
              </a:rPr>
              <a:t>目前在中高考减压认识中，存在三个误区：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压力减为零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越早减压越好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人人都要减压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8A8FF03A-753D-064E-9FDF-46D4357FA9E6}"/>
              </a:ext>
            </a:extLst>
          </p:cNvPr>
          <p:cNvSpPr txBox="1">
            <a:spLocks/>
          </p:cNvSpPr>
          <p:nvPr/>
        </p:nvSpPr>
        <p:spPr>
          <a:xfrm>
            <a:off x="3796431" y="2507469"/>
            <a:ext cx="3886201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根据中国心理音乐治疗师协会多年积累的数据表明，科学减压的流程：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正确评估考生心理状态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早期增压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中期放松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后期减压</a:t>
            </a:r>
            <a:endParaRPr lang="zh-CN" altLang="en-US" sz="1800" i="1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DAC707A0-C4A3-D5DC-2A24-CFA9EAAD28A8}"/>
              </a:ext>
            </a:extLst>
          </p:cNvPr>
          <p:cNvSpPr txBox="1">
            <a:spLocks/>
          </p:cNvSpPr>
          <p:nvPr/>
        </p:nvSpPr>
        <p:spPr>
          <a:xfrm>
            <a:off x="7707162" y="2507469"/>
            <a:ext cx="4365775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中高考学生减压的方法，包括生理减压和心理减压。</a:t>
            </a: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生理减压：药物、饮食和运动等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心理减压：运用心理学技术和手段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BB415FB3-97E6-2874-2DAC-65FE7B0954A7}"/>
              </a:ext>
            </a:extLst>
          </p:cNvPr>
          <p:cNvSpPr txBox="1">
            <a:spLocks/>
          </p:cNvSpPr>
          <p:nvPr/>
        </p:nvSpPr>
        <p:spPr>
          <a:xfrm>
            <a:off x="6636828" y="5413406"/>
            <a:ext cx="5291137" cy="90269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辅助学生做恰当的生涯规划，明确前进方向，拥有现实感，以达到减缓压力的目的。</a:t>
            </a:r>
            <a:endParaRPr lang="en-US" altLang="zh-CN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96693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192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5006" y="3914992"/>
            <a:ext cx="6733413" cy="240110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而这种情况下，孩子的青春期会延长，叛逆，失控。</a:t>
            </a:r>
          </a:p>
          <a:p>
            <a:pPr marL="0" indent="0">
              <a:buNone/>
            </a:pPr>
            <a:r>
              <a:rPr lang="zh-CN" altLang="en-US" sz="1800" dirty="0"/>
              <a:t>很多时候，家长的焦虑并不完全是担忧孩子的未来，更有很多隐形的焦虑潜藏在家庭结构中。</a:t>
            </a:r>
          </a:p>
          <a:p>
            <a:pPr marL="0" indent="0">
              <a:buNone/>
            </a:pPr>
            <a:r>
              <a:rPr lang="zh-CN" altLang="en-US" sz="1800" dirty="0"/>
              <a:t>家长如果能够看到自己焦虑的根源，便能够减少他们对孩子的负性干扰，真正给孩子营造一个和谐的家庭氛围。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BCB91B2-13BE-52F2-264B-EF51916CAA4F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679440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家长的焦虑源自何处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48A5DA5D-36F7-0211-0C49-8E4A86A71B13}"/>
              </a:ext>
            </a:extLst>
          </p:cNvPr>
          <p:cNvSpPr txBox="1">
            <a:spLocks/>
          </p:cNvSpPr>
          <p:nvPr/>
        </p:nvSpPr>
        <p:spPr>
          <a:xfrm>
            <a:off x="518160" y="1468780"/>
            <a:ext cx="5312855" cy="210768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在家长焦虑的背后有一个可怕的思维模式：很多家长习惯了为孩子而活着，一切都为了孩子。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实际上，带给家长这么大焦虑的并不完全是高考，而是高考这个导火索激活了他们的原始焦虑。</a:t>
            </a:r>
            <a:endParaRPr lang="en-US" altLang="zh-CN" sz="1800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5218FC0-B8DB-68A5-C30D-BA389A70EDCF}"/>
              </a:ext>
            </a:extLst>
          </p:cNvPr>
          <p:cNvSpPr txBox="1">
            <a:spLocks/>
          </p:cNvSpPr>
          <p:nvPr/>
        </p:nvSpPr>
        <p:spPr>
          <a:xfrm>
            <a:off x="6096000" y="1421461"/>
            <a:ext cx="5574792" cy="255408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/>
              <a:t>在多年的中高考个案中，我们发现现在的家庭结构有一个共性模式：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父亲将生活的焦点放在工作上，导致父亲角色缺席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母亲失去了对工作及丈夫的控制，于是便转向孩子，焦虑如影随形。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273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4"/>
            <a:ext cx="11155680" cy="22145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很多孩子中高考前夕出现的问题，其实都与家庭有着密不可分的关系。</a:t>
            </a:r>
          </a:p>
          <a:p>
            <a:pPr marL="0" indent="0">
              <a:buNone/>
            </a:pPr>
            <a:r>
              <a:rPr lang="zh-CN" altLang="en-US" sz="1800" dirty="0"/>
              <a:t>当父母的关系出现问题时，孩子会伤害自己，目的是拯救父母的关系。</a:t>
            </a:r>
          </a:p>
          <a:p>
            <a:pPr marL="0" indent="0">
              <a:buNone/>
            </a:pPr>
            <a:r>
              <a:rPr lang="zh-CN" altLang="en-US" sz="1800" dirty="0"/>
              <a:t>有的孩子长期压抑，难以体会成长的快乐。</a:t>
            </a:r>
          </a:p>
          <a:p>
            <a:pPr marL="0" indent="0">
              <a:buNone/>
            </a:pPr>
            <a:r>
              <a:rPr lang="zh-CN" altLang="en-US" sz="1800" dirty="0"/>
              <a:t>有的孩子会用问题行为将父母置身于风雨同舟的境地。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71122C7-C06B-1644-C1B8-CFDCF9B20041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5122353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孩子考完了，就各自为政？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687430"/>
            <a:ext cx="11149584" cy="290019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、所有的准备都提前到前六个月，而不是一个月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考前一个月才做准备，反而会给考生增加压力，包括饮食和生活习惯的改善，应趋于平常化。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提前一两个月带孩子去熟悉考场环境以及旅馆，中间可以抽空去旅馆住一住。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看考场，看旅馆，看交通路线，讨论一下一旦发生交通堵塞可采取的几种解决方案。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考试的前一天晚上，检查孩子的准考证是否放在备考袋中。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还有其他物品的准备。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C57D2F9-C5F4-A6B0-67AE-BB8E6A3BCEAF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21060E0E-E457-05DA-5DBB-B0276CCFC7DB}"/>
              </a:ext>
            </a:extLst>
          </p:cNvPr>
          <p:cNvSpPr txBox="1">
            <a:spLocks/>
          </p:cNvSpPr>
          <p:nvPr/>
        </p:nvSpPr>
        <p:spPr>
          <a:xfrm>
            <a:off x="515112" y="1578111"/>
            <a:ext cx="11155679" cy="93665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考前家长的心态很重要，平和的心态才能够对孩子起到积极的支持作用。</a:t>
            </a:r>
            <a:endParaRPr lang="en-US" altLang="zh-CN" sz="18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不要给孩子施加过多的精神压力。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B856-58BA-49A6-ED85-20BD4BED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C7B25D-3F0E-2722-E50F-995F717A0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（八）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8537BB8-5C73-740E-F438-B4837B9F987D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EE64210-9D8A-EB92-68A3-810E44228B2F}"/>
              </a:ext>
            </a:extLst>
          </p:cNvPr>
          <p:cNvSpPr txBox="1">
            <a:spLocks/>
          </p:cNvSpPr>
          <p:nvPr/>
        </p:nvSpPr>
        <p:spPr>
          <a:xfrm>
            <a:off x="515111" y="1699406"/>
            <a:ext cx="11155680" cy="397273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、帮助制订复习计划</a:t>
            </a:r>
            <a:endParaRPr lang="en-US" altLang="zh-CN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制订复习计划应以孩子的意见为主，家长可以进行一些必要的指导和提示，但绝不能包办代替。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让孩子充分发挥其自主性。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5790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F422C-8ECB-DB58-59D4-A0000DDAE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1B84DB-2EE5-1EB4-21B8-431A0F01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767350-2128-F5B4-0F78-13102D103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859486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3</a:t>
            </a:r>
            <a:r>
              <a:rPr lang="zh-CN" altLang="en-US" sz="1800" b="1" dirty="0">
                <a:latin typeface="+mn-ea"/>
              </a:rPr>
              <a:t>、创造良好的复习环境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备考阶段，家长要想方设法使家庭的环境相对安静。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不要看太过于吸引孩子的电视节目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不会客，或尽量在家以外的地方会客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尽量少打电话，或通话简短，不要拉家常、闲聊天。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34B4F9BF-1521-2EA5-CF7F-8FCB9974599A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4720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FDF0A-364E-9282-CAD7-A99C57EC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7D56A-A945-1A79-E01C-454E782E2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122E-0816-89AE-B465-11EDCE8CB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4"/>
            <a:ext cx="11155680" cy="3701271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4</a:t>
            </a:r>
            <a:r>
              <a:rPr lang="zh-CN" altLang="en-US" sz="1800" b="1" dirty="0">
                <a:latin typeface="+mn-ea"/>
              </a:rPr>
              <a:t>、督促孩子运动与娱乐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复习期间做必要的、适度的轻微运动。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例如散步、做俯卧撑等，八段锦、打太极，有助于解除疲劳、焕发精力。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还可以在休息期间听听喜欢的音乐。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但不宜看强烈的、有刺激性的节目。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DEA665F-634E-488A-529C-4AD3BD30936C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69890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EC770-15FF-A3B7-B855-BCB2947BE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EA9F81-855B-B35C-C1D6-25FC63E2B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715949-A676-82ED-5864-F9D44B25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229783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5</a:t>
            </a:r>
            <a:r>
              <a:rPr lang="zh-CN" altLang="en-US" sz="1800" dirty="0">
                <a:latin typeface="+mn-ea"/>
              </a:rPr>
              <a:t>、确保孩子身体健康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饮食卫生问题。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空调使用问题。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C634FD4-15B4-18F9-EF8B-EDEE41BEACB4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2565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93EE9-B0D4-A577-A75E-2C57A782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76E41-5CE4-6D5C-5B3E-1D2D5ED7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4526CF-5562-3411-3784-1EA3D2E7D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3629025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6</a:t>
            </a:r>
            <a:r>
              <a:rPr lang="zh-CN" altLang="en-US" sz="1800" b="1" dirty="0">
                <a:latin typeface="+mn-ea"/>
              </a:rPr>
              <a:t>、经常帮助孩子调整心态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孩子在备考阶段出现心态变化情绪是正常的现象，不必过于担心，要以平等的身份从尊重孩子人格的角度出发，帮助孩子及时调整心态。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7</a:t>
            </a:r>
            <a:r>
              <a:rPr lang="zh-CN" altLang="en-US" sz="1800" b="1" dirty="0">
                <a:latin typeface="+mn-ea"/>
              </a:rPr>
              <a:t>、积极关注和鼓励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家长应该多做鼓励和积极暗示。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但不要用过高的期望造成孩子心理压力。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ED51311-2DB4-4AD6-C486-696939849442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1173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C1461-6B34-B4D4-36CF-2403E904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88B20F-274E-D980-4F2E-C2239C8C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FDE198-1736-2D86-56B1-3FD9FCA83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7739" y="1599389"/>
            <a:ext cx="6913054" cy="512921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用中医的情绪管理，</a:t>
            </a:r>
            <a:r>
              <a:rPr lang="zh-CN" altLang="en-US" sz="1800" dirty="0" smtClean="0">
                <a:latin typeface="+mn-ea"/>
              </a:rPr>
              <a:t>让学生</a:t>
            </a:r>
            <a:r>
              <a:rPr lang="zh-CN" altLang="en-US" sz="1800" dirty="0">
                <a:latin typeface="+mn-ea"/>
              </a:rPr>
              <a:t>不稳定的焦虑和抑郁稳定在心房和中脘这里。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用音乐压力免疫接种程序，让学生对铃声、钟声等比较敏感的声音而引起的焦虑进行脱敏。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用心灵排毒的</a:t>
            </a:r>
            <a:r>
              <a:rPr lang="zh-CN" altLang="en-US" sz="1800" dirty="0" smtClean="0">
                <a:latin typeface="+mn-ea"/>
              </a:rPr>
              <a:t>方法配合</a:t>
            </a:r>
            <a:r>
              <a:rPr lang="zh-CN" altLang="en-US" sz="1800" dirty="0">
                <a:latin typeface="+mn-ea"/>
              </a:rPr>
              <a:t>意向，感觉雨水从身体内部淋下去带走疲惫，带走不安。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带着一个社会支持系统的隐喻，出现成熟</a:t>
            </a:r>
            <a:r>
              <a:rPr lang="zh-CN" altLang="en-US" sz="1800">
                <a:latin typeface="+mn-ea"/>
              </a:rPr>
              <a:t>的</a:t>
            </a:r>
            <a:r>
              <a:rPr lang="zh-CN" altLang="en-US" sz="1800" smtClean="0">
                <a:latin typeface="+mn-ea"/>
              </a:rPr>
              <a:t>哼唱声音</a:t>
            </a:r>
            <a:r>
              <a:rPr lang="zh-CN" altLang="en-US" sz="1800" dirty="0">
                <a:latin typeface="+mn-ea"/>
              </a:rPr>
              <a:t>，引导你发现我们每一个人都有的那个一直陪着我们成长不离左右</a:t>
            </a:r>
            <a:r>
              <a:rPr lang="zh-CN" altLang="en-US" sz="1800">
                <a:latin typeface="+mn-ea"/>
              </a:rPr>
              <a:t>的</a:t>
            </a:r>
            <a:r>
              <a:rPr lang="zh-CN" altLang="en-US" sz="1800" smtClean="0">
                <a:latin typeface="+mn-ea"/>
              </a:rPr>
              <a:t>内在支撑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当我们用音乐眼动技术，让学生把注意力放在下脘时，心灵沉稳在地上，既不焦虑，也不抑郁。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3F7A8874-BB96-D533-D060-F937A6A6C778}"/>
              </a:ext>
            </a:extLst>
          </p:cNvPr>
          <p:cNvSpPr txBox="1">
            <a:spLocks/>
          </p:cNvSpPr>
          <p:nvPr/>
        </p:nvSpPr>
        <p:spPr>
          <a:xfrm>
            <a:off x="671513" y="1485901"/>
            <a:ext cx="5574792" cy="51292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共情：前行下降至心窝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抱持：温暖心窝情结完形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安神：人静，降至中脘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稳定：焦虑稳定节奏中脘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激活：激活浓情中脘完形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排毒：滴雨沉静抑郁中下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陪伴：完形、释怀、呼吸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凝神：意象蒸发与下落第三层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训练：下脘呼吸训练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创造：力量狂想曲资源</a:t>
            </a:r>
            <a:r>
              <a:rPr lang="zh-CN" altLang="en-US" sz="1800" dirty="0" smtClean="0">
                <a:latin typeface="+mn-ea"/>
              </a:rPr>
              <a:t>挖掘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固化：时间线焦虑转积极应对</a:t>
            </a:r>
          </a:p>
        </p:txBody>
      </p:sp>
    </p:spTree>
    <p:extLst>
      <p:ext uri="{BB962C8B-B14F-4D97-AF65-F5344CB8AC3E}">
        <p14:creationId xmlns:p14="http://schemas.microsoft.com/office/powerpoint/2010/main" val="1552298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BEB9-6885-B380-FD66-F1CBB7012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523BB7-29D2-D109-1CDF-C13536B09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31253"/>
            <a:ext cx="11155680" cy="233834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密集而连贯的音乐，让考生减少</a:t>
            </a:r>
            <a:r>
              <a:rPr lang="zh-CN" altLang="en-US" sz="1800" dirty="0">
                <a:latin typeface="+mn-ea"/>
              </a:rPr>
              <a:t>理智思考，跟着音乐律动感受</a:t>
            </a:r>
            <a:r>
              <a:rPr lang="zh-CN" altLang="en-US" sz="1800" dirty="0" smtClean="0">
                <a:latin typeface="+mn-ea"/>
              </a:rPr>
              <a:t>，需要自我反复</a:t>
            </a:r>
            <a:r>
              <a:rPr lang="zh-CN" altLang="en-US" sz="1800" dirty="0">
                <a:latin typeface="+mn-ea"/>
              </a:rPr>
              <a:t>强调这一点。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“把注意力专注到音乐中来，防止走神和过于理智化。”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音乐的</a:t>
            </a:r>
            <a:r>
              <a:rPr lang="zh-CN" altLang="en-US" sz="1800" dirty="0" smtClean="0">
                <a:latin typeface="+mn-ea"/>
              </a:rPr>
              <a:t>连贯流畅性</a:t>
            </a:r>
            <a:r>
              <a:rPr lang="zh-CN" altLang="en-US" sz="1800" dirty="0">
                <a:latin typeface="+mn-ea"/>
              </a:rPr>
              <a:t>可以带着我们向前</a:t>
            </a:r>
            <a:r>
              <a:rPr lang="zh-CN" altLang="en-US" sz="1800" dirty="0" smtClean="0">
                <a:latin typeface="+mn-ea"/>
              </a:rPr>
              <a:t>走，犹如一弯流淌的泉水，让情绪也随之流淌起来。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音乐中浮现大量的打击乐，会使我们无序的神经冲动和焦虑变得有序起来。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E1BB057-DB63-1D16-DF25-7D005BE5DDD5}"/>
              </a:ext>
            </a:extLst>
          </p:cNvPr>
          <p:cNvSpPr txBox="1">
            <a:spLocks/>
          </p:cNvSpPr>
          <p:nvPr/>
        </p:nvSpPr>
        <p:spPr>
          <a:xfrm>
            <a:off x="166319" y="5799537"/>
            <a:ext cx="6949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首音乐：共情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前行下降至心窝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16391" y="4299681"/>
            <a:ext cx="1444317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压力环境</a:t>
            </a:r>
            <a:endParaRPr lang="zh-CN" altLang="en-US" sz="18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373242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焦虑（从上往下引）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489267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抑郁（从下往上引）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4" name="直角上箭头 3"/>
          <p:cNvSpPr/>
          <p:nvPr/>
        </p:nvSpPr>
        <p:spPr>
          <a:xfrm>
            <a:off x="2155434" y="4152000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直角上箭头 8"/>
          <p:cNvSpPr/>
          <p:nvPr/>
        </p:nvSpPr>
        <p:spPr>
          <a:xfrm flipV="1">
            <a:off x="2155434" y="4626340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/>
        </p:nvSpPr>
        <p:spPr>
          <a:xfrm>
            <a:off x="3055405" y="4367751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942518" y="432541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音乐</a:t>
            </a:r>
            <a:r>
              <a:rPr lang="zh-CN" altLang="en-US" sz="1800" dirty="0" smtClean="0">
                <a:latin typeface="+mn-ea"/>
              </a:rPr>
              <a:t>扰动前行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5701599" y="437205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6587353" y="4299681"/>
            <a:ext cx="1568893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流畅 </a:t>
            </a:r>
            <a:r>
              <a:rPr lang="en-US" altLang="zh-CN" sz="1800" dirty="0" smtClean="0">
                <a:latin typeface="+mn-ea"/>
              </a:rPr>
              <a:t>/ </a:t>
            </a:r>
            <a:r>
              <a:rPr lang="zh-CN" altLang="en-US" sz="1800" dirty="0" smtClean="0">
                <a:latin typeface="+mn-ea"/>
              </a:rPr>
              <a:t>有序</a:t>
            </a:r>
            <a:endParaRPr lang="zh-CN" altLang="en-US" sz="1800" dirty="0">
              <a:latin typeface="+mn-ea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987" y="4299681"/>
            <a:ext cx="3383901" cy="2257063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7" name="爆炸形 1 16"/>
          <p:cNvSpPr/>
          <p:nvPr/>
        </p:nvSpPr>
        <p:spPr>
          <a:xfrm>
            <a:off x="521208" y="4103493"/>
            <a:ext cx="1634226" cy="1012621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0267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D85BD-1312-7F5A-4154-B3C106ED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499952-96A3-C639-2BB6-12CED330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7E8854-FCA6-723C-09F6-265BCC22C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3023482"/>
            <a:ext cx="8353371" cy="265420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通过闹钟铃声，引起考生敏感的</a:t>
            </a:r>
            <a:r>
              <a:rPr lang="zh-CN" altLang="en-US" sz="1800" dirty="0" smtClean="0">
                <a:latin typeface="+mn-ea"/>
              </a:rPr>
              <a:t>共鸣。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这样做是可以</a:t>
            </a:r>
            <a:r>
              <a:rPr lang="zh-CN" altLang="en-US" sz="1800" dirty="0" smtClean="0">
                <a:latin typeface="+mn-ea"/>
              </a:rPr>
              <a:t>让考生对</a:t>
            </a:r>
            <a:r>
              <a:rPr lang="zh-CN" altLang="en-US" sz="1800" dirty="0">
                <a:latin typeface="+mn-ea"/>
              </a:rPr>
              <a:t>铃声所象征的时间焦虑进行脱敏（行为主义的暴露疗法</a:t>
            </a:r>
            <a:r>
              <a:rPr lang="zh-CN" altLang="en-US" sz="1800" dirty="0" smtClean="0">
                <a:latin typeface="+mn-ea"/>
              </a:rPr>
              <a:t>），之后</a:t>
            </a:r>
            <a:r>
              <a:rPr lang="zh-CN" altLang="en-US" sz="1800" dirty="0">
                <a:latin typeface="+mn-ea"/>
              </a:rPr>
              <a:t>对其进行放松训练。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这种先引诱进入焦虑情景，然后进行脱敏的技术，叫作压力的免疫接种。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接下来的滴滴滴铃声逐渐变成音乐的声音，也就悄悄地</a:t>
            </a:r>
            <a:r>
              <a:rPr lang="zh-CN" altLang="en-US" sz="1800" dirty="0" smtClean="0">
                <a:latin typeface="+mn-ea"/>
              </a:rPr>
              <a:t>在考生潜意识</a:t>
            </a:r>
            <a:r>
              <a:rPr lang="zh-CN" altLang="en-US" sz="1800" dirty="0">
                <a:latin typeface="+mn-ea"/>
              </a:rPr>
              <a:t>中</a:t>
            </a:r>
            <a:r>
              <a:rPr lang="zh-CN" altLang="en-US" sz="1800" dirty="0" smtClean="0">
                <a:latin typeface="+mn-ea"/>
              </a:rPr>
              <a:t>实现从焦虑</a:t>
            </a:r>
            <a:r>
              <a:rPr lang="zh-CN" altLang="en-US" sz="1800" dirty="0">
                <a:latin typeface="+mn-ea"/>
              </a:rPr>
              <a:t>情景到</a:t>
            </a:r>
            <a:r>
              <a:rPr lang="zh-CN" altLang="en-US" sz="1800" dirty="0" smtClean="0">
                <a:latin typeface="+mn-ea"/>
              </a:rPr>
              <a:t>无害音乐</a:t>
            </a:r>
            <a:r>
              <a:rPr lang="zh-CN" altLang="en-US" sz="1800" dirty="0">
                <a:latin typeface="+mn-ea"/>
              </a:rPr>
              <a:t>情景的转化。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1D07D0B-1E1A-E784-A247-568EC076E0C4}"/>
              </a:ext>
            </a:extLst>
          </p:cNvPr>
          <p:cNvSpPr txBox="1">
            <a:spLocks/>
          </p:cNvSpPr>
          <p:nvPr/>
        </p:nvSpPr>
        <p:spPr>
          <a:xfrm>
            <a:off x="166065" y="5803819"/>
            <a:ext cx="73940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2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首音乐：抱持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温暖心窝情结完形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42935" y="1969003"/>
            <a:ext cx="2246270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铃声？焦虑？抑郁？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3322161" y="2036613"/>
            <a:ext cx="55413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089489" y="1838972"/>
            <a:ext cx="2841339" cy="98686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800" dirty="0">
                <a:latin typeface="+mn-ea"/>
              </a:rPr>
              <a:t>免疫</a:t>
            </a:r>
            <a:r>
              <a:rPr lang="zh-CN" altLang="en-US" sz="1800" dirty="0" smtClean="0">
                <a:latin typeface="+mn-ea"/>
              </a:rPr>
              <a:t>接种</a:t>
            </a:r>
            <a:endParaRPr lang="en-US" altLang="zh-CN" sz="1800" dirty="0" smtClean="0">
              <a:latin typeface="+mn-ea"/>
            </a:endParaRPr>
          </a:p>
          <a:p>
            <a:pPr marL="0" indent="0" algn="ctr">
              <a:buNone/>
            </a:pPr>
            <a:r>
              <a:rPr lang="zh-CN" altLang="en-US" sz="1800" dirty="0" smtClean="0">
                <a:latin typeface="+mn-ea"/>
              </a:rPr>
              <a:t>潜意识植入焦虑情境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5126152" y="2009540"/>
            <a:ext cx="571277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5637641" y="1928954"/>
            <a:ext cx="2130349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脱敏</a:t>
            </a:r>
            <a:r>
              <a:rPr lang="en-US" altLang="zh-CN" sz="1800" dirty="0" smtClean="0">
                <a:latin typeface="+mn-ea"/>
              </a:rPr>
              <a:t>/</a:t>
            </a:r>
            <a:r>
              <a:rPr lang="zh-CN" altLang="en-US" sz="1800" dirty="0" smtClean="0">
                <a:latin typeface="+mn-ea"/>
              </a:rPr>
              <a:t>无害化处理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5" name="爆炸形 1 14"/>
          <p:cNvSpPr/>
          <p:nvPr/>
        </p:nvSpPr>
        <p:spPr>
          <a:xfrm>
            <a:off x="521208" y="1621503"/>
            <a:ext cx="2858806" cy="1286890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0255" y="4008665"/>
            <a:ext cx="2438399" cy="2438399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28600" y="242331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焦虑（从上往下引）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40228" y="1464058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抑郁（从下往上引）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8" name="直角上箭头 17"/>
          <p:cNvSpPr/>
          <p:nvPr/>
        </p:nvSpPr>
        <p:spPr>
          <a:xfrm>
            <a:off x="7645061" y="1784459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直角上箭头 18"/>
          <p:cNvSpPr/>
          <p:nvPr/>
        </p:nvSpPr>
        <p:spPr>
          <a:xfrm flipV="1">
            <a:off x="7645061" y="2258799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/>
        </p:nvSpPr>
        <p:spPr>
          <a:xfrm>
            <a:off x="8679199" y="200696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9463222" y="1928954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注意力集中心窝</a:t>
            </a: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05414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B0FA-2305-BD5D-FFB3-FA5CFEFAA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3815DF-5C24-A201-41DA-13F97A50A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5529A2-FF6C-4263-C60E-DBDA698B4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注意力由心房降到中脘位置，我们开始降低焦虑的等级，注意力由头部往下降，调节植物神经变得平和与平缓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中脘穴位于上腹部，脐中上 </a:t>
            </a:r>
            <a:r>
              <a:rPr lang="en-US" altLang="zh-CN" sz="1800" dirty="0">
                <a:latin typeface="+mn-ea"/>
              </a:rPr>
              <a:t>4 </a:t>
            </a:r>
            <a:r>
              <a:rPr lang="zh-CN" altLang="en-US" sz="1800" dirty="0">
                <a:latin typeface="+mn-ea"/>
              </a:rPr>
              <a:t>寸，前正中线上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特别注意：考试</a:t>
            </a:r>
            <a:r>
              <a:rPr lang="zh-CN" altLang="en-US" sz="1800" dirty="0">
                <a:latin typeface="+mn-ea"/>
              </a:rPr>
              <a:t>焦虑和</a:t>
            </a:r>
            <a:r>
              <a:rPr lang="zh-CN" altLang="en-US" sz="1800" dirty="0" smtClean="0">
                <a:latin typeface="+mn-ea"/>
              </a:rPr>
              <a:t>其他应对</a:t>
            </a:r>
            <a:r>
              <a:rPr lang="zh-CN" altLang="en-US" sz="1800" dirty="0">
                <a:latin typeface="+mn-ea"/>
              </a:rPr>
              <a:t>压力的</a:t>
            </a:r>
            <a:r>
              <a:rPr lang="zh-CN" altLang="en-US" sz="1800" dirty="0" smtClean="0">
                <a:latin typeface="+mn-ea"/>
              </a:rPr>
              <a:t>治疗是不一样的，我们并不是让</a:t>
            </a:r>
            <a:r>
              <a:rPr lang="zh-CN" altLang="en-US" sz="1800" dirty="0">
                <a:latin typeface="+mn-ea"/>
              </a:rPr>
              <a:t>考试</a:t>
            </a:r>
            <a:r>
              <a:rPr lang="zh-CN" altLang="en-US" sz="1800" dirty="0" smtClean="0">
                <a:latin typeface="+mn-ea"/>
              </a:rPr>
              <a:t>焦虑得到完全</a:t>
            </a:r>
            <a:r>
              <a:rPr lang="zh-CN" altLang="en-US" sz="1800" dirty="0">
                <a:latin typeface="+mn-ea"/>
              </a:rPr>
              <a:t>缓解</a:t>
            </a:r>
            <a:r>
              <a:rPr lang="zh-CN" altLang="en-US" sz="1800" dirty="0" smtClean="0">
                <a:latin typeface="+mn-ea"/>
              </a:rPr>
              <a:t>，而是要让压力值</a:t>
            </a:r>
            <a:r>
              <a:rPr lang="zh-CN" altLang="en-US" sz="1800" dirty="0">
                <a:latin typeface="+mn-ea"/>
              </a:rPr>
              <a:t>保持一个不超载的</a:t>
            </a:r>
            <a:r>
              <a:rPr lang="zh-CN" altLang="en-US" sz="1800" dirty="0" smtClean="0">
                <a:latin typeface="+mn-ea"/>
              </a:rPr>
              <a:t>限度即可。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60E1E86-735C-A21E-9F7C-601CC8487A2E}"/>
              </a:ext>
            </a:extLst>
          </p:cNvPr>
          <p:cNvSpPr txBox="1">
            <a:spLocks/>
          </p:cNvSpPr>
          <p:nvPr/>
        </p:nvSpPr>
        <p:spPr>
          <a:xfrm>
            <a:off x="166062" y="5804639"/>
            <a:ext cx="677970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3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首音乐：安神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降至中脘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51" y="4196017"/>
            <a:ext cx="3548744" cy="236582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72838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B498-0F90-2667-7B4B-BDA9B3B6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6ECD6F-7E39-874A-E5EB-AAB114DCD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C4A02B-3AF0-2D90-29BB-131060EAB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考试焦虑和其他压力</a:t>
            </a:r>
            <a:r>
              <a:rPr lang="zh-CN" altLang="en-US" sz="1800" dirty="0" smtClean="0">
                <a:latin typeface="+mn-ea"/>
              </a:rPr>
              <a:t>治疗不一样。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考试焦虑</a:t>
            </a:r>
            <a:r>
              <a:rPr lang="zh-CN" altLang="en-US" sz="1800" dirty="0">
                <a:latin typeface="+mn-ea"/>
              </a:rPr>
              <a:t>治疗，</a:t>
            </a:r>
            <a:r>
              <a:rPr lang="zh-CN" altLang="en-US" sz="1800" dirty="0" smtClean="0">
                <a:latin typeface="+mn-ea"/>
              </a:rPr>
              <a:t>并不能让</a:t>
            </a:r>
            <a:r>
              <a:rPr lang="zh-CN" altLang="en-US" sz="1800" dirty="0">
                <a:latin typeface="+mn-ea"/>
              </a:rPr>
              <a:t>焦虑完全缓解，因为考试本身还没有进行，距离考试还有一段时间，要</a:t>
            </a:r>
            <a:r>
              <a:rPr lang="zh-CN" altLang="en-US" sz="1800" dirty="0" smtClean="0">
                <a:latin typeface="+mn-ea"/>
              </a:rPr>
              <a:t>让</a:t>
            </a:r>
            <a:r>
              <a:rPr lang="zh-CN" altLang="en-US" sz="1800" dirty="0">
                <a:latin typeface="+mn-ea"/>
              </a:rPr>
              <a:t>考生</a:t>
            </a:r>
            <a:r>
              <a:rPr lang="zh-CN" altLang="en-US" sz="1800" dirty="0" smtClean="0">
                <a:latin typeface="+mn-ea"/>
              </a:rPr>
              <a:t>认识</a:t>
            </a:r>
            <a:r>
              <a:rPr lang="zh-CN" altLang="en-US" sz="1800" dirty="0">
                <a:latin typeface="+mn-ea"/>
              </a:rPr>
              <a:t>到</a:t>
            </a:r>
            <a:r>
              <a:rPr lang="zh-CN" altLang="en-US" sz="1800" dirty="0" smtClean="0">
                <a:latin typeface="+mn-ea"/>
              </a:rPr>
              <a:t>考试要</a:t>
            </a:r>
            <a:r>
              <a:rPr lang="zh-CN" altLang="en-US" sz="1800" dirty="0">
                <a:latin typeface="+mn-ea"/>
              </a:rPr>
              <a:t>等到</a:t>
            </a:r>
            <a:r>
              <a:rPr lang="en-US" altLang="zh-CN" sz="1800" dirty="0">
                <a:latin typeface="+mn-ea"/>
              </a:rPr>
              <a:t>6</a:t>
            </a:r>
            <a:r>
              <a:rPr lang="zh-CN" altLang="en-US" sz="1800" dirty="0">
                <a:latin typeface="+mn-ea"/>
              </a:rPr>
              <a:t>月份</a:t>
            </a:r>
            <a:r>
              <a:rPr lang="zh-CN" altLang="en-US" sz="1800" dirty="0" smtClean="0">
                <a:latin typeface="+mn-ea"/>
              </a:rPr>
              <a:t>，在此期间不能</a:t>
            </a:r>
            <a:r>
              <a:rPr lang="zh-CN" altLang="en-US" sz="1800" dirty="0">
                <a:latin typeface="+mn-ea"/>
              </a:rPr>
              <a:t>做到完全消除压力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这首音乐取材于动漫</a:t>
            </a:r>
            <a:r>
              <a:rPr lang="zh-CN" altLang="en-US" sz="1800" dirty="0" smtClean="0">
                <a:latin typeface="+mn-ea"/>
              </a:rPr>
              <a:t>，通过年轻人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文化来激活</a:t>
            </a:r>
            <a:r>
              <a:rPr lang="zh-CN" altLang="en-US" sz="1800" dirty="0">
                <a:latin typeface="+mn-ea"/>
              </a:rPr>
              <a:t>年轻人。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同样这</a:t>
            </a:r>
            <a:r>
              <a:rPr lang="zh-CN" altLang="en-US" sz="1800" dirty="0">
                <a:latin typeface="+mn-ea"/>
              </a:rPr>
              <a:t>首</a:t>
            </a:r>
            <a:r>
              <a:rPr lang="zh-CN" altLang="en-US" sz="1800" dirty="0" smtClean="0">
                <a:latin typeface="+mn-ea"/>
              </a:rPr>
              <a:t>音乐需要让考生将注意力</a:t>
            </a:r>
            <a:r>
              <a:rPr lang="zh-CN" altLang="en-US" sz="1800" dirty="0">
                <a:latin typeface="+mn-ea"/>
              </a:rPr>
              <a:t>放在中脘部位，让压力值保持不超载的</a:t>
            </a:r>
            <a:r>
              <a:rPr lang="zh-CN" altLang="en-US" sz="1800" dirty="0" smtClean="0">
                <a:latin typeface="+mn-ea"/>
              </a:rPr>
              <a:t>限度，不要高压力，也不要压力过小甚至没有压力。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B212C4F-D082-03E8-63B2-CB7ACCDD6583}"/>
              </a:ext>
            </a:extLst>
          </p:cNvPr>
          <p:cNvSpPr txBox="1">
            <a:spLocks/>
          </p:cNvSpPr>
          <p:nvPr/>
        </p:nvSpPr>
        <p:spPr>
          <a:xfrm>
            <a:off x="264033" y="5558891"/>
            <a:ext cx="7432167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4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首音乐：稳定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焦虑稳定节奏中脘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279" y="3879004"/>
            <a:ext cx="3041850" cy="267074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1733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D3571-8426-210D-6BE0-3A4AC970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6C47AA-D935-D30A-712C-2979E2AF2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E9DB53-EF7B-4CEB-9BAF-118D4A98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一</a:t>
            </a:r>
            <a:r>
              <a:rPr lang="zh-CN" altLang="en-US" sz="1800" dirty="0">
                <a:latin typeface="+mn-ea"/>
              </a:rPr>
              <a:t>首钢琴曲，节奏慢慢地趋于缓和，给人一种淡淡的忧伤的感觉，让人不自觉地想长嘘一口气。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虽然音乐的节奏让人平缓，但是起伏的旋律仍然让考生的情结此起彼伏，这就是考前的正常状态。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随着第一小节音乐结束，刚好在</a:t>
            </a:r>
            <a:r>
              <a:rPr lang="en-US" altLang="zh-CN" sz="1800" dirty="0">
                <a:latin typeface="+mn-ea"/>
              </a:rPr>
              <a:t>40</a:t>
            </a:r>
            <a:r>
              <a:rPr lang="zh-CN" altLang="en-US" sz="1800" dirty="0">
                <a:latin typeface="+mn-ea"/>
              </a:rPr>
              <a:t>秒时，就完成了一个循环。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这种完整的轮回，在音乐心理学里叫作格式塔，也是一种释怀，即情结上的完形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焦虑的节奏缓和下来，我们还不能把考试这件事情给完全放松，只能是舒缓烦躁情绪，到达一个合适的程度。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在音乐层层递进中，一个又一个靓丽的高音出现，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好像</a:t>
            </a:r>
            <a:r>
              <a:rPr lang="zh-CN" altLang="en-US" sz="1800" dirty="0">
                <a:latin typeface="+mn-ea"/>
              </a:rPr>
              <a:t>阴霾的</a:t>
            </a:r>
            <a:r>
              <a:rPr lang="zh-CN" altLang="en-US" sz="1800" dirty="0" smtClean="0">
                <a:latin typeface="+mn-ea"/>
              </a:rPr>
              <a:t>天空突然一缕明媚的阳光</a:t>
            </a:r>
            <a:r>
              <a:rPr lang="zh-CN" altLang="en-US" sz="1800" dirty="0">
                <a:latin typeface="+mn-ea"/>
              </a:rPr>
              <a:t>照</a:t>
            </a:r>
            <a:r>
              <a:rPr lang="zh-CN" altLang="en-US" sz="1800" dirty="0" smtClean="0">
                <a:latin typeface="+mn-ea"/>
              </a:rPr>
              <a:t>在脸上，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让我们觉得生活有了希望，这就是音乐的象征意义。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88A3104-2FDF-3960-AE50-A433E2F8487F}"/>
              </a:ext>
            </a:extLst>
          </p:cNvPr>
          <p:cNvSpPr txBox="1">
            <a:spLocks/>
          </p:cNvSpPr>
          <p:nvPr/>
        </p:nvSpPr>
        <p:spPr>
          <a:xfrm>
            <a:off x="206205" y="5850564"/>
            <a:ext cx="74956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5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首音乐：激活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激活浓情中脘完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型</a:t>
            </a: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771" y="4114801"/>
            <a:ext cx="4051801" cy="2479702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6828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0798-C07B-8343-52AC-CED14F4AC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E56-C504-7E11-4CA6-4E09136A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070BF1-110F-5573-5335-532561540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21854"/>
            <a:ext cx="11155681" cy="400131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音乐背景</a:t>
            </a:r>
            <a:r>
              <a:rPr lang="zh-CN" altLang="en-US" sz="1800" dirty="0">
                <a:latin typeface="+mn-ea"/>
              </a:rPr>
              <a:t>是雨声，</a:t>
            </a:r>
            <a:r>
              <a:rPr lang="zh-CN" altLang="en-US" sz="1800" dirty="0" smtClean="0">
                <a:latin typeface="+mn-ea"/>
              </a:rPr>
              <a:t>配合钢琴</a:t>
            </a:r>
            <a:r>
              <a:rPr lang="zh-CN" altLang="en-US" sz="1800" dirty="0">
                <a:latin typeface="+mn-ea"/>
              </a:rPr>
              <a:t>声给人的</a:t>
            </a:r>
            <a:r>
              <a:rPr lang="zh-CN" altLang="en-US" sz="1800" dirty="0" smtClean="0">
                <a:latin typeface="+mn-ea"/>
              </a:rPr>
              <a:t>感觉有一些</a:t>
            </a:r>
            <a:r>
              <a:rPr lang="zh-CN" altLang="en-US" sz="1800" dirty="0">
                <a:latin typeface="+mn-ea"/>
              </a:rPr>
              <a:t>抑郁，对于一个焦虑的人</a:t>
            </a:r>
            <a:r>
              <a:rPr lang="zh-CN" altLang="en-US" sz="1800" dirty="0" smtClean="0">
                <a:latin typeface="+mn-ea"/>
              </a:rPr>
              <a:t>，能</a:t>
            </a:r>
            <a:r>
              <a:rPr lang="zh-CN" altLang="en-US" sz="1800" dirty="0">
                <a:latin typeface="+mn-ea"/>
              </a:rPr>
              <a:t>让他沉浸下来。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雨水给他提供一个可以让他的情绪静下来的情境。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水能让他安静清灵，同时配合意象，感觉雨水</a:t>
            </a:r>
            <a:r>
              <a:rPr lang="zh-CN" altLang="en-US" sz="1800" dirty="0" smtClean="0">
                <a:latin typeface="+mn-ea"/>
              </a:rPr>
              <a:t>从身上</a:t>
            </a:r>
            <a:r>
              <a:rPr lang="zh-CN" altLang="en-US" sz="1800" dirty="0">
                <a:latin typeface="+mn-ea"/>
              </a:rPr>
              <a:t>滑落，带走疲惫和不安，这个过程叫作心灵的排毒。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同时，在这首音乐中，对于焦虑和抑郁的情绪</a:t>
            </a:r>
            <a:r>
              <a:rPr lang="zh-CN" altLang="en-US" sz="1800" dirty="0" smtClean="0">
                <a:latin typeface="+mn-ea"/>
              </a:rPr>
              <a:t>，我们</a:t>
            </a:r>
            <a:r>
              <a:rPr lang="zh-CN" altLang="en-US" sz="1800" dirty="0">
                <a:latin typeface="+mn-ea"/>
              </a:rPr>
              <a:t>都可以</a:t>
            </a:r>
            <a:r>
              <a:rPr lang="zh-CN" altLang="en-US" sz="1800" dirty="0" smtClean="0">
                <a:latin typeface="+mn-ea"/>
              </a:rPr>
              <a:t>让考生配合</a:t>
            </a:r>
            <a:r>
              <a:rPr lang="zh-CN" altLang="en-US" sz="1800" dirty="0">
                <a:latin typeface="+mn-ea"/>
              </a:rPr>
              <a:t>着呼吸</a:t>
            </a:r>
            <a:r>
              <a:rPr lang="zh-CN" altLang="en-US" sz="1800" dirty="0" smtClean="0">
                <a:latin typeface="+mn-ea"/>
              </a:rPr>
              <a:t>，呼吸</a:t>
            </a:r>
            <a:r>
              <a:rPr lang="zh-CN" altLang="en-US" sz="1800" dirty="0">
                <a:latin typeface="+mn-ea"/>
              </a:rPr>
              <a:t>能给人身体的植物神经系统一个放松休息的机会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当然这个呼吸</a:t>
            </a:r>
            <a:r>
              <a:rPr lang="zh-CN" altLang="en-US" sz="1800" dirty="0" smtClean="0">
                <a:latin typeface="+mn-ea"/>
              </a:rPr>
              <a:t>不是最重要的，最重要</a:t>
            </a:r>
            <a:r>
              <a:rPr lang="zh-CN" altLang="en-US" sz="1800" dirty="0">
                <a:latin typeface="+mn-ea"/>
              </a:rPr>
              <a:t>是这个时候给他一个</a:t>
            </a:r>
            <a:r>
              <a:rPr lang="zh-CN" altLang="en-US" sz="1800" dirty="0" smtClean="0">
                <a:latin typeface="+mn-ea"/>
              </a:rPr>
              <a:t>空间，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让他可以暂时停下来休息。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97E3EF3-47F3-C58D-7216-10CA45E50F62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75718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6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首音乐：排毒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滴雨沉静抑郁中下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5900" y="4039255"/>
            <a:ext cx="3751735" cy="2502407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243037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C1EAC-E2EF-5A5E-BBD2-2E09DCE7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3B885-88C1-C678-9F31-B80AD3CF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F97769-C781-5E06-B212-694692885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62675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音乐中加入了人声</a:t>
            </a:r>
            <a:r>
              <a:rPr lang="zh-CN" altLang="en-US" sz="1800" dirty="0">
                <a:latin typeface="+mn-ea"/>
              </a:rPr>
              <a:t>，</a:t>
            </a:r>
            <a:r>
              <a:rPr lang="zh-CN" altLang="en-US" sz="1800" dirty="0" smtClean="0">
                <a:latin typeface="+mn-ea"/>
              </a:rPr>
              <a:t>是一种社会支持</a:t>
            </a:r>
            <a:r>
              <a:rPr lang="zh-CN" altLang="en-US" sz="1800" dirty="0">
                <a:latin typeface="+mn-ea"/>
              </a:rPr>
              <a:t>系统的隐喻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它的象征价值</a:t>
            </a:r>
            <a:r>
              <a:rPr lang="zh-CN" altLang="en-US" sz="1800" dirty="0" smtClean="0">
                <a:latin typeface="+mn-ea"/>
              </a:rPr>
              <a:t>就如有一个人在支持着你，让人感觉很安稳。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此外音乐中又是女性声音，可以让人产生投射，进而有陪伴的感觉，可以让人退行，这时可以让考生尝试</a:t>
            </a:r>
            <a:r>
              <a:rPr lang="zh-CN" altLang="en-US" sz="1800" dirty="0">
                <a:latin typeface="+mn-ea"/>
              </a:rPr>
              <a:t>放松</a:t>
            </a:r>
            <a:r>
              <a:rPr lang="zh-CN" altLang="en-US" sz="1800" dirty="0" smtClean="0">
                <a:latin typeface="+mn-ea"/>
              </a:rPr>
              <a:t>下来，允许考生睡一会儿也是</a:t>
            </a:r>
            <a:r>
              <a:rPr lang="en-US" altLang="zh-CN" sz="1800" dirty="0" smtClean="0">
                <a:latin typeface="+mn-ea"/>
              </a:rPr>
              <a:t>OK</a:t>
            </a:r>
            <a:r>
              <a:rPr lang="zh-CN" altLang="en-US" sz="1800" dirty="0" smtClean="0">
                <a:latin typeface="+mn-ea"/>
              </a:rPr>
              <a:t>的。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此时配合</a:t>
            </a:r>
            <a:r>
              <a:rPr lang="zh-CN" altLang="en-US" sz="1800" dirty="0">
                <a:latin typeface="+mn-ea"/>
              </a:rPr>
              <a:t>呼吸做一个呼吸</a:t>
            </a:r>
            <a:r>
              <a:rPr lang="zh-CN" altLang="en-US" sz="1800" dirty="0" smtClean="0">
                <a:latin typeface="+mn-ea"/>
              </a:rPr>
              <a:t>训练，呼吸的</a:t>
            </a:r>
            <a:r>
              <a:rPr lang="zh-CN" altLang="en-US" sz="1800" dirty="0">
                <a:latin typeface="+mn-ea"/>
              </a:rPr>
              <a:t>节奏和音乐节奏</a:t>
            </a:r>
            <a:r>
              <a:rPr lang="zh-CN" altLang="en-US" sz="1800" dirty="0" smtClean="0">
                <a:latin typeface="+mn-ea"/>
              </a:rPr>
              <a:t>相同，尝试注意</a:t>
            </a:r>
            <a:r>
              <a:rPr lang="zh-CN" altLang="en-US" sz="1800" dirty="0">
                <a:latin typeface="+mn-ea"/>
              </a:rPr>
              <a:t>你的</a:t>
            </a:r>
            <a:r>
              <a:rPr lang="zh-CN" altLang="en-US" sz="1800" dirty="0" smtClean="0">
                <a:latin typeface="+mn-ea"/>
              </a:rPr>
              <a:t>呼吸。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当我们注意到自己身体的</a:t>
            </a:r>
            <a:r>
              <a:rPr lang="zh-CN" altLang="en-US" sz="1800" dirty="0" smtClean="0">
                <a:latin typeface="+mn-ea"/>
              </a:rPr>
              <a:t>时候，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</a:t>
            </a:r>
            <a:r>
              <a:rPr lang="zh-CN" altLang="en-US" sz="1800" dirty="0">
                <a:latin typeface="+mn-ea"/>
              </a:rPr>
              <a:t>就能知道自己</a:t>
            </a:r>
            <a:r>
              <a:rPr lang="zh-CN" altLang="en-US" sz="1800" dirty="0" smtClean="0">
                <a:latin typeface="+mn-ea"/>
              </a:rPr>
              <a:t>身体紧张</a:t>
            </a:r>
            <a:r>
              <a:rPr lang="zh-CN" altLang="en-US" sz="1800" dirty="0">
                <a:latin typeface="+mn-ea"/>
              </a:rPr>
              <a:t>还是不紧张</a:t>
            </a:r>
            <a:r>
              <a:rPr lang="zh-CN" altLang="en-US" sz="1800" dirty="0" smtClean="0">
                <a:latin typeface="+mn-ea"/>
              </a:rPr>
              <a:t>了。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因为只有当</a:t>
            </a:r>
            <a:r>
              <a:rPr lang="zh-CN" altLang="en-US" sz="1800" dirty="0">
                <a:latin typeface="+mn-ea"/>
              </a:rPr>
              <a:t>我们注意到</a:t>
            </a:r>
            <a:r>
              <a:rPr lang="zh-CN" altLang="en-US" sz="1800" dirty="0" smtClean="0">
                <a:latin typeface="+mn-ea"/>
              </a:rPr>
              <a:t>自己紧张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时候，紧张</a:t>
            </a:r>
            <a:r>
              <a:rPr lang="zh-CN" altLang="en-US" sz="1800" dirty="0">
                <a:latin typeface="+mn-ea"/>
              </a:rPr>
              <a:t>就</a:t>
            </a:r>
            <a:r>
              <a:rPr lang="zh-CN" altLang="en-US" sz="1800" dirty="0" smtClean="0">
                <a:latin typeface="+mn-ea"/>
              </a:rPr>
              <a:t>会得到缓解。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1CC3E51-14A1-23B7-405B-661282B38CF1}"/>
              </a:ext>
            </a:extLst>
          </p:cNvPr>
          <p:cNvSpPr txBox="1">
            <a:spLocks/>
          </p:cNvSpPr>
          <p:nvPr/>
        </p:nvSpPr>
        <p:spPr>
          <a:xfrm>
            <a:off x="264033" y="5558891"/>
            <a:ext cx="84084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7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首音乐：陪伴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中下释怀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完型配呼吸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583" y="4162033"/>
            <a:ext cx="3662479" cy="2442874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740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BC15-10F8-3ABE-AE3A-F7516F15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B04C81-5A33-4F87-2C6E-37C7CA74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AA4650-638A-492D-EA61-F527BBE3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859130"/>
            <a:ext cx="11155681" cy="356195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我们会让考生做两个音乐</a:t>
            </a:r>
            <a:r>
              <a:rPr lang="zh-CN" altLang="en-US" sz="1800" dirty="0">
                <a:latin typeface="+mn-ea"/>
              </a:rPr>
              <a:t>治疗里面的经典技术，音乐眼动和音乐呼吸技术。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要求考生完成</a:t>
            </a:r>
            <a:r>
              <a:rPr lang="zh-CN" altLang="en-US" sz="1800" dirty="0">
                <a:latin typeface="+mn-ea"/>
              </a:rPr>
              <a:t>一个意象，想象手中捧着很多羽毛，有的羽毛很轻，飞向天空，有的则很重，</a:t>
            </a:r>
            <a:r>
              <a:rPr lang="zh-CN" altLang="en-US" sz="1800" dirty="0" smtClean="0">
                <a:latin typeface="+mn-ea"/>
              </a:rPr>
              <a:t>往下落。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它们自由舒展，寻找</a:t>
            </a:r>
            <a:r>
              <a:rPr lang="zh-CN" altLang="en-US" sz="1800" dirty="0" smtClean="0">
                <a:latin typeface="+mn-ea"/>
              </a:rPr>
              <a:t>各自需要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地方，眼睛就不自觉地跟随这些羽毛。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</a:t>
            </a:r>
            <a:r>
              <a:rPr lang="zh-CN" altLang="en-US" sz="1800" dirty="0" smtClean="0">
                <a:latin typeface="+mn-ea"/>
              </a:rPr>
              <a:t>是道教</a:t>
            </a:r>
            <a:r>
              <a:rPr lang="zh-CN" altLang="en-US" sz="1800" dirty="0">
                <a:latin typeface="+mn-ea"/>
              </a:rPr>
              <a:t>阴阳分离的一个隐喻，同时也是将自己的焦虑降下来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</a:t>
            </a:r>
            <a:r>
              <a:rPr lang="zh-CN" altLang="en-US" sz="1800" dirty="0">
                <a:latin typeface="+mn-ea"/>
              </a:rPr>
              <a:t>自己的抑郁升上去的一个象征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此时考生的注意力应该由中脘渐渐向下移。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C4202EA-1B28-21B7-1AF9-A9F789082FC6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101753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8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首音乐：凝神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手动跟随意象蒸发与下落第三层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7328" y="3543705"/>
            <a:ext cx="3166109" cy="2015186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8342023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E0A32-45EE-39E4-596B-4DDD189B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F111F7-1E77-E856-3F1D-B622195D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913DCB-BACD-1244-2AF4-7D6F120F8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262154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逐步</a:t>
            </a:r>
            <a:r>
              <a:rPr lang="zh-CN" altLang="en-US" sz="1800" dirty="0" smtClean="0">
                <a:latin typeface="+mn-ea"/>
              </a:rPr>
              <a:t>让考生把</a:t>
            </a:r>
            <a:r>
              <a:rPr lang="zh-CN" altLang="en-US" sz="1800" dirty="0">
                <a:latin typeface="+mn-ea"/>
              </a:rPr>
              <a:t>注意力集中到下脘。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让自己情绪飞扬到</a:t>
            </a:r>
            <a:r>
              <a:rPr lang="zh-CN" altLang="en-US" sz="1800" dirty="0" smtClean="0">
                <a:latin typeface="+mn-ea"/>
              </a:rPr>
              <a:t>天上</a:t>
            </a:r>
            <a:r>
              <a:rPr lang="zh-CN" altLang="en-US" sz="1800" dirty="0">
                <a:latin typeface="+mn-ea"/>
              </a:rPr>
              <a:t>，让心灵沉稳在地上，这样既不焦虑，也不抑郁，这才是音乐减压的核心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</a:t>
            </a:r>
            <a:r>
              <a:rPr lang="zh-CN" altLang="en-US" sz="1800" dirty="0" smtClean="0">
                <a:latin typeface="+mn-ea"/>
              </a:rPr>
              <a:t>听，尝试看看如何让自己的</a:t>
            </a:r>
            <a:r>
              <a:rPr lang="zh-CN" altLang="en-US" sz="1800" dirty="0">
                <a:latin typeface="+mn-ea"/>
              </a:rPr>
              <a:t>情绪</a:t>
            </a:r>
            <a:r>
              <a:rPr lang="zh-CN" altLang="en-US" sz="1800" dirty="0" smtClean="0">
                <a:latin typeface="+mn-ea"/>
              </a:rPr>
              <a:t>和心灵分开。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我们会发现，情绪和心灵分层了，低</a:t>
            </a:r>
            <a:r>
              <a:rPr lang="zh-CN" altLang="en-US" sz="1800" dirty="0">
                <a:latin typeface="+mn-ea"/>
              </a:rPr>
              <a:t>的在低的</a:t>
            </a:r>
            <a:r>
              <a:rPr lang="zh-CN" altLang="en-US" sz="1800" dirty="0" smtClean="0">
                <a:latin typeface="+mn-ea"/>
              </a:rPr>
              <a:t>地方，高在高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地方，然后</a:t>
            </a:r>
            <a:r>
              <a:rPr lang="zh-CN" altLang="en-US" sz="1800" dirty="0">
                <a:latin typeface="+mn-ea"/>
              </a:rPr>
              <a:t>很</a:t>
            </a:r>
            <a:r>
              <a:rPr lang="zh-CN" altLang="en-US" sz="1800" dirty="0" smtClean="0">
                <a:latin typeface="+mn-ea"/>
              </a:rPr>
              <a:t>稳定地往前走。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这样的话，我们的</a:t>
            </a:r>
            <a:r>
              <a:rPr lang="zh-CN" altLang="en-US" sz="1800" dirty="0" smtClean="0">
                <a:latin typeface="+mn-ea"/>
              </a:rPr>
              <a:t>情绪稳定了，心灵</a:t>
            </a:r>
            <a:r>
              <a:rPr lang="zh-CN" altLang="en-US" sz="1800" dirty="0">
                <a:latin typeface="+mn-ea"/>
              </a:rPr>
              <a:t>也稳定</a:t>
            </a:r>
            <a:r>
              <a:rPr lang="zh-CN" altLang="en-US" sz="1800" dirty="0" smtClean="0">
                <a:latin typeface="+mn-ea"/>
              </a:rPr>
              <a:t>了。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CB5E1C1-EA11-6FF3-12DD-05CC1D974455}"/>
              </a:ext>
            </a:extLst>
          </p:cNvPr>
          <p:cNvSpPr txBox="1">
            <a:spLocks/>
          </p:cNvSpPr>
          <p:nvPr/>
        </p:nvSpPr>
        <p:spPr>
          <a:xfrm>
            <a:off x="264033" y="5558891"/>
            <a:ext cx="96657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9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首音乐：训练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慢摇节奏下脘呼吸训练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649" y="4024993"/>
            <a:ext cx="3362143" cy="224254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22634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01F7-C629-1F86-E915-A2D099B85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FB6793-3906-D2A3-7FFC-F2BBA1BB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12565D-DE47-5297-BEE1-9395D04CE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引导考生走向认知层面，让考生想起自己的潜力与资源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不要过多地把生活和考试分割</a:t>
            </a:r>
            <a:r>
              <a:rPr lang="zh-CN" altLang="en-US" sz="1800" dirty="0" smtClean="0">
                <a:latin typeface="+mn-ea"/>
              </a:rPr>
              <a:t>开来，我们生活中的很多资源、感受和经验，都会转化为一部分学习的内容，转化为考试的素材。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这首音乐隐喻为狂想曲，潜台词是你什么都可以试试</a:t>
            </a:r>
            <a:r>
              <a:rPr lang="zh-CN" altLang="en-US" sz="1800" dirty="0">
                <a:latin typeface="+mn-ea"/>
              </a:rPr>
              <a:t>，它可以帮助我们发现内心的</a:t>
            </a:r>
            <a:r>
              <a:rPr lang="zh-CN" altLang="en-US" sz="1800" dirty="0" smtClean="0">
                <a:latin typeface="+mn-ea"/>
              </a:rPr>
              <a:t>资源</a:t>
            </a:r>
            <a:r>
              <a:rPr lang="zh-CN" altLang="en-US" sz="1800" dirty="0" smtClean="0">
                <a:latin typeface="+mn-ea"/>
              </a:rPr>
              <a:t>，最大限度</a:t>
            </a:r>
            <a:r>
              <a:rPr lang="zh-CN" altLang="en-US" sz="1800" dirty="0">
                <a:latin typeface="+mn-ea"/>
              </a:rPr>
              <a:t>地去发挥自己的潜能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另外还可以进一步地挖掘资源，突破自己的瓶颈寻找到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更多更好的复习和备考的资源和方法。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这</a:t>
            </a:r>
            <a:r>
              <a:rPr lang="zh-CN" altLang="en-US" sz="1800" dirty="0">
                <a:latin typeface="+mn-ea"/>
              </a:rPr>
              <a:t>也是中高考音乐减压中的高峰体验。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E4B0D78-F8B5-6E7D-D0DD-9EB84D120C9D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8092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10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首音乐：创造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力量狂想曲资源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挖掘</a:t>
            </a: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701" y="3951514"/>
            <a:ext cx="3477139" cy="2316241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141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DB3-73F6-3F69-39CD-F1847D89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647D87-7C2D-9DDD-D2DA-919338524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AAAC6-EE28-4F76-FF7A-F37077384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此处</a:t>
            </a:r>
            <a:r>
              <a:rPr lang="zh-CN" altLang="en-US" sz="1800" dirty="0" smtClean="0">
                <a:latin typeface="+mn-ea"/>
              </a:rPr>
              <a:t>运用</a:t>
            </a:r>
            <a:r>
              <a:rPr lang="zh-CN" altLang="en-US" sz="1800" dirty="0">
                <a:latin typeface="+mn-ea"/>
              </a:rPr>
              <a:t>了音乐治疗的格式塔时间线技术。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隐喻</a:t>
            </a:r>
            <a:r>
              <a:rPr lang="zh-CN" altLang="en-US" sz="1800" dirty="0">
                <a:latin typeface="+mn-ea"/>
              </a:rPr>
              <a:t>是轻松愉快的夏天，对考生来说意味着考试结束，他们可以享受这个自由的暑假。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这</a:t>
            </a:r>
            <a:r>
              <a:rPr lang="zh-CN" altLang="en-US" sz="1800" dirty="0">
                <a:latin typeface="+mn-ea"/>
              </a:rPr>
              <a:t>首音乐是儿歌类型的音乐，特点是成对出现的音乐结构化要素配对，这样的节奏让人容易把握，同时很容易调动人的情绪，让他们回忆起童年的一些美好记忆，整个人都放松起来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紧接着在</a:t>
            </a:r>
            <a:r>
              <a:rPr lang="zh-CN" altLang="en-US" sz="1800" dirty="0">
                <a:latin typeface="+mn-ea"/>
              </a:rPr>
              <a:t>认知上引导</a:t>
            </a:r>
            <a:r>
              <a:rPr lang="zh-CN" altLang="en-US" sz="1800" dirty="0" smtClean="0">
                <a:latin typeface="+mn-ea"/>
              </a:rPr>
              <a:t>，可以</a:t>
            </a:r>
            <a:r>
              <a:rPr lang="zh-CN" altLang="en-US" sz="1800" dirty="0">
                <a:latin typeface="+mn-ea"/>
              </a:rPr>
              <a:t>让</a:t>
            </a:r>
            <a:r>
              <a:rPr lang="zh-CN" altLang="en-US" sz="1800" dirty="0" smtClean="0">
                <a:latin typeface="+mn-ea"/>
              </a:rPr>
              <a:t>考生产生积极想象，让他们回想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目前的</a:t>
            </a:r>
            <a:r>
              <a:rPr lang="zh-CN" altLang="en-US" sz="1800" dirty="0">
                <a:latin typeface="+mn-ea"/>
              </a:rPr>
              <a:t>学习方法中</a:t>
            </a:r>
            <a:r>
              <a:rPr lang="zh-CN" altLang="en-US" sz="1800" dirty="0" smtClean="0">
                <a:latin typeface="+mn-ea"/>
              </a:rPr>
              <a:t>，和应对</a:t>
            </a:r>
            <a:r>
              <a:rPr lang="zh-CN" altLang="en-US" sz="1800" dirty="0">
                <a:latin typeface="+mn-ea"/>
              </a:rPr>
              <a:t>考试方案中，哪些是消极</a:t>
            </a:r>
            <a:r>
              <a:rPr lang="zh-CN" altLang="en-US" sz="1800" dirty="0" smtClean="0">
                <a:latin typeface="+mn-ea"/>
              </a:rPr>
              <a:t>的方式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比如失眠、焦虑，比如停在某个地方很着急</a:t>
            </a:r>
            <a:r>
              <a:rPr lang="zh-CN" altLang="en-US" sz="1800" dirty="0" smtClean="0">
                <a:latin typeface="+mn-ea"/>
              </a:rPr>
              <a:t>，却</a:t>
            </a:r>
            <a:r>
              <a:rPr lang="zh-CN" altLang="en-US" sz="1800" dirty="0">
                <a:latin typeface="+mn-ea"/>
              </a:rPr>
              <a:t>什么都没有做成。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考生通过想象</a:t>
            </a:r>
            <a:r>
              <a:rPr lang="zh-CN" altLang="en-US" sz="1800" dirty="0">
                <a:latin typeface="+mn-ea"/>
              </a:rPr>
              <a:t>，将消极</a:t>
            </a:r>
            <a:r>
              <a:rPr lang="zh-CN" altLang="en-US" sz="1800" dirty="0" smtClean="0">
                <a:latin typeface="+mn-ea"/>
              </a:rPr>
              <a:t>应对转变为积极</a:t>
            </a:r>
            <a:r>
              <a:rPr lang="zh-CN" altLang="en-US" sz="1800" dirty="0">
                <a:latin typeface="+mn-ea"/>
              </a:rPr>
              <a:t>记忆应对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想象</a:t>
            </a:r>
            <a:r>
              <a:rPr lang="zh-CN" altLang="en-US" sz="1800" dirty="0">
                <a:latin typeface="+mn-ea"/>
              </a:rPr>
              <a:t>将迎来一个非常美好的</a:t>
            </a:r>
            <a:r>
              <a:rPr lang="zh-CN" altLang="en-US" sz="1800" dirty="0" smtClean="0">
                <a:latin typeface="+mn-ea"/>
              </a:rPr>
              <a:t>暑假，用</a:t>
            </a:r>
            <a:r>
              <a:rPr lang="zh-CN" altLang="en-US" sz="1800" dirty="0">
                <a:latin typeface="+mn-ea"/>
              </a:rPr>
              <a:t>具体的行动来代替失眠和焦虑。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4BA88AA-2095-F4AA-2ACF-15AF6BFDD16F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100864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首音乐：固化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焦虑转积极因对意象夏天未来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9209" y="3372612"/>
            <a:ext cx="3634631" cy="235147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882102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E96D8-2F8F-FAB5-9204-2D1B3C73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D0CE5-B6AC-FFD7-4BE6-29AB060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9B5C81-6015-B3A9-1A09-A912C24AB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8228838" cy="427521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音乐价值观澄清技术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通过音乐潜意识扰动与激活，对人们的行为取向及对事物的评价、态度，世界观的核心等驱使人们行为的内驱力进行音乐价值观澄清。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通过音乐厘清自己的人生价值观，寻找自己存在的意义，解决死亡焦虑。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操作引导：闭上眼睛，如同天上掉下的珍珠一样，伸开你的双手去接，能接住多少？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如果每颗珍珠上都写着字，看看是什么。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7EDD007-AD47-DB4A-1B27-D5168D78C0C0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347239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第一剑：中冲剑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C43F210-158A-48C3-C8E1-8CF4847D408D}"/>
              </a:ext>
            </a:extLst>
          </p:cNvPr>
          <p:cNvSpPr txBox="1">
            <a:spLocks/>
          </p:cNvSpPr>
          <p:nvPr/>
        </p:nvSpPr>
        <p:spPr>
          <a:xfrm>
            <a:off x="8853488" y="1599390"/>
            <a:ext cx="2690813" cy="363027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对以下进行自由联想：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我觉得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我害怕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我需要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不要以为我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我悄悄渴望着</a:t>
            </a:r>
            <a:r>
              <a:rPr lang="en-US" altLang="zh-CN" sz="1800" dirty="0">
                <a:latin typeface="+mn-ea"/>
              </a:rPr>
              <a:t>……</a:t>
            </a:r>
            <a:endParaRPr lang="zh-CN" altLang="en-US" sz="18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1283F9DD-585F-7A65-C41B-F845ED33FB03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5580888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盘点过往，巩固江山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知识体系查漏训练</a:t>
            </a:r>
          </a:p>
        </p:txBody>
      </p:sp>
      <p:pic>
        <p:nvPicPr>
          <p:cNvPr id="9" name="图片 8" descr="图片包含 游戏机&#10;&#10;AI 生成的内容可能不正确。">
            <a:extLst>
              <a:ext uri="{FF2B5EF4-FFF2-40B4-BE49-F238E27FC236}">
                <a16:creationId xmlns:a16="http://schemas.microsoft.com/office/drawing/2014/main" id="{D8CA0634-BFC4-9AD0-95EC-1263D113C41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28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33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3ADD0-5B05-53BC-8F80-7EACDF9B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E5BEC-7454-2747-9575-D094EA746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5E1A4-BC1D-32EC-2587-DAA9F55E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3428999"/>
            <a:ext cx="5580888" cy="212894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少商剑式</a:t>
            </a: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：音乐贵人技术</a:t>
            </a: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操作：首先在白纸上画一棵大树，这棵大树没有根，然后戴上眼罩。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当音乐响起的时候，回忆一下过往生活中帮助过自己的人，每想到一个在树的根部画一个小小的分支。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当你想到他后，默默在心里对他说一声谢谢，并在树上画一个果实。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通过贵人寻找生命支持系统，进而获得力量。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FE35245-EF9D-CE78-A8B9-3929A21CB59D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353545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第二剑：少商剑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E48CDD57-A249-B1F0-832B-6D9AC7E2D9EC}"/>
              </a:ext>
            </a:extLst>
          </p:cNvPr>
          <p:cNvSpPr txBox="1">
            <a:spLocks/>
          </p:cNvSpPr>
          <p:nvPr/>
        </p:nvSpPr>
        <p:spPr>
          <a:xfrm>
            <a:off x="6229350" y="1599388"/>
            <a:ext cx="5815013" cy="49157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少商剑式</a:t>
            </a: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：内在资源激活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通过音乐激活小时候的记忆，将快乐的记忆整合成力量，使自己保持初心，迎接中高考。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）画上你幼年时熟悉的铁轨或者海边。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）将你的耳朵贴近你画的铁轨或者海边。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）引导语：每个人都充分躺在地上，闭上眼睛，保持正常呼吸，想象着你会随着音乐的指引，将你的注意力集中到你的耳部，静静地聆听它带来的信息。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如果是好的，保持下来，如果是坏的，让他随着火车远去。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音乐：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dirty="0">
                <a:latin typeface="+mn-ea"/>
              </a:rPr>
              <a:t>-212 </a:t>
            </a:r>
            <a:r>
              <a:rPr lang="zh-CN" altLang="en-US" sz="1200" dirty="0">
                <a:latin typeface="+mn-ea"/>
              </a:rPr>
              <a:t>火车原型回忆版口琴忘忧草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dirty="0">
                <a:latin typeface="+mn-ea"/>
              </a:rPr>
              <a:t>-39 </a:t>
            </a:r>
            <a:r>
              <a:rPr lang="zh-CN" altLang="en-US" sz="1200" dirty="0">
                <a:latin typeface="+mn-ea"/>
              </a:rPr>
              <a:t>火车原型车站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368DC68-EA18-DC3A-885C-394C56B0B13A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5580889" cy="182961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一个人的社会资源即他的社会支持系统，指的是一个人在自己的社会关系网络中所获得的，来自他人的物质和精神上的帮助和支援。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考生在紧张的复习备考中，往往会忽略自己的社会支持系统，通过对他们的社会支持系统进行管理训练，可以提升他们的感受度和利用度，对他们复习备考来说无疑是一件锦上添花的事。</a:t>
            </a:r>
          </a:p>
        </p:txBody>
      </p:sp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10B1456C-28C8-388F-3743-DC37EDDC944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0701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BD0B8152-5359-07D5-B35E-BC94855A0105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剑路雄劲，石破天惊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社会支持系统与心理资源管理训练</a:t>
            </a:r>
          </a:p>
        </p:txBody>
      </p:sp>
    </p:spTree>
    <p:extLst>
      <p:ext uri="{BB962C8B-B14F-4D97-AF65-F5344CB8AC3E}">
        <p14:creationId xmlns:p14="http://schemas.microsoft.com/office/powerpoint/2010/main" val="2007467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4437-C306-2643-D3EF-627830DA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4907B-A13F-8039-27D7-1AE2B0860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EC5EF4-4D82-FE16-6C6D-5ED580874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4939" y="1599388"/>
            <a:ext cx="6455852" cy="491781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中高考免疫接种程序：</a:t>
            </a:r>
          </a:p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、看见考场大门，我的心紧张，跳得更快了</a:t>
            </a:r>
            <a:r>
              <a:rPr lang="en-US" altLang="zh-CN" sz="1200" dirty="0">
                <a:latin typeface="+mn-ea"/>
              </a:rPr>
              <a:t>——</a:t>
            </a:r>
            <a:r>
              <a:rPr lang="zh-CN" altLang="en-US" sz="1200" dirty="0">
                <a:latin typeface="+mn-ea"/>
              </a:rPr>
              <a:t>这样的感觉是大家都有的，是正常的，没有关系，适当的压力可以让我们有更佳的发挥。</a:t>
            </a:r>
          </a:p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、看见那么多考生，大家在交头接耳，我感觉心一紧，手也有点紧张，开始抖动</a:t>
            </a:r>
            <a:r>
              <a:rPr lang="en-US" altLang="zh-CN" sz="1200" dirty="0">
                <a:latin typeface="+mn-ea"/>
              </a:rPr>
              <a:t>——</a:t>
            </a:r>
            <a:r>
              <a:rPr lang="zh-CN" altLang="en-US" sz="1200" dirty="0">
                <a:latin typeface="+mn-ea"/>
              </a:rPr>
              <a:t>我允许我的手抖动，并且让这种抖动更加有规律，这种规律是我可以控制的，然后变成优美的挥舞动作。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其实大家都紧张，我这样做，悠然彼得，没有人知道我的紧张，我接受我适度的紧张。</a:t>
            </a:r>
          </a:p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、铃声响了</a:t>
            </a:r>
            <a:r>
              <a:rPr lang="en-US" altLang="zh-CN" sz="1200" dirty="0">
                <a:latin typeface="+mn-ea"/>
              </a:rPr>
              <a:t>——</a:t>
            </a:r>
            <a:r>
              <a:rPr lang="zh-CN" altLang="en-US" sz="1200" dirty="0">
                <a:latin typeface="+mn-ea"/>
              </a:rPr>
              <a:t>我再一次感动紧张，你现在再体会一下自己紧张的感觉（跟随来访者，而不是固定来访者的感觉）。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4</a:t>
            </a:r>
            <a:r>
              <a:rPr lang="zh-CN" altLang="en-US" sz="1200" dirty="0">
                <a:latin typeface="+mn-ea"/>
              </a:rPr>
              <a:t>、发考卷了，我再一次感到紧张，你现在再体会一下自己紧张的感觉，想想自己要怎么做一下深呼吸，感觉轻松了一口气，可以稳定地进入考试状态了（来访者说自己怎么做也行）</a:t>
            </a:r>
            <a:r>
              <a:rPr lang="en-US" altLang="zh-CN" sz="1200" dirty="0">
                <a:latin typeface="+mn-ea"/>
              </a:rPr>
              <a:t>——</a:t>
            </a:r>
            <a:r>
              <a:rPr lang="zh-CN" altLang="en-US" sz="1200" dirty="0">
                <a:latin typeface="+mn-ea"/>
              </a:rPr>
              <a:t>用一套正面积极的对话语言去替换自己原来那一套负面语言。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A72C6EC-2A83-089F-FD67-43A7E3A6AF86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3756173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第三剑：商阳剑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031131F2-E125-1C2D-D1B1-6378FEA856AA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4856989" cy="395855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中高考行为预演又叫作中、高考免疫接种程序，是对中高考焦虑进行脱敏的有效方式。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免疫接种如同疫苗一样，给焦虑考生接种一个无害的压力进去，作为疫苗，植入以使稳定、安全，成为一种积极的情绪支撑。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让他们提前经历焦虑，并且把焦虑变为一种安全稳定的因素，这样面对考试他们就不会那么紧张，可以最大限度地发挥出自己的真实水平。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美国第</a:t>
            </a:r>
            <a:r>
              <a:rPr lang="en-US" altLang="zh-CN" sz="1200" dirty="0">
                <a:latin typeface="+mn-ea"/>
              </a:rPr>
              <a:t>44</a:t>
            </a:r>
            <a:r>
              <a:rPr lang="zh-CN" altLang="en-US" sz="1200" dirty="0">
                <a:latin typeface="+mn-ea"/>
              </a:rPr>
              <a:t>任总统奥巴马，在开会之前总是先把新闻助理及主要政策顾问找来讨论，然后在正式开会时就能够面对记者时应付自如。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操作流程：想象自己参加中高考的过程以及一些重要的场景，感受一下自己的焦虑值，同时用内化语言程序进行积极的自我暗示。</a:t>
            </a:r>
          </a:p>
        </p:txBody>
      </p:sp>
      <p:pic>
        <p:nvPicPr>
          <p:cNvPr id="10" name="图片 9" descr="图标&#10;&#10;AI 生成的内容可能不正确。">
            <a:extLst>
              <a:ext uri="{FF2B5EF4-FFF2-40B4-BE49-F238E27FC236}">
                <a16:creationId xmlns:a16="http://schemas.microsoft.com/office/drawing/2014/main" id="{3E756A3C-3525-5DA8-2FC7-23109B91DB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6390" y="5608393"/>
            <a:ext cx="914400" cy="914400"/>
          </a:xfrm>
          <a:prstGeom prst="rect">
            <a:avLst/>
          </a:prstGeom>
        </p:spPr>
      </p:pic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4E43D12E-3A01-EEB1-119C-8F0BEC099F96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巧妙灵活，难以捉摸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考试行为预演训练</a:t>
            </a:r>
          </a:p>
        </p:txBody>
      </p:sp>
    </p:spTree>
    <p:extLst>
      <p:ext uri="{BB962C8B-B14F-4D97-AF65-F5344CB8AC3E}">
        <p14:creationId xmlns:p14="http://schemas.microsoft.com/office/powerpoint/2010/main" val="13309914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2BF1A-63FF-C135-9CEF-401EA626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AC5D61-1D00-11E6-EB12-BF2508E37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FD3207-B4C0-FE16-0AA8-4767631C4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780248"/>
            <a:ext cx="4714114" cy="1979752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、知识提取训练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理论基础：内隐记忆指在不需要意识或有意回忆的条件下，个体的过去经验对当前任务自动产生影响的现象。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心理学家对内隐记忆的发现和研究让我们意识到，很多时候人不是不记得了，而是提取不出来。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记忆形成步骤：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、编码，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、储存，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、提取。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9631DB6-530E-8D8D-45B0-2633C35D0DD5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408724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第四剑：少泽剑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B0F1529-3753-D7A1-CD9A-A51FF60C7060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7966737" cy="218086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对于一个考生而言，考前最重要的不是你能不能记住新的知识点，而是能不能把已经掌握的知识有效提取出来，这在认知心理学上叫作知识提取，即从记忆中提取相应的知识和解决问题策略的过程。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很多考生都有这样一个经历：明明会做的题，就是想不起来怎么作答，下考场后反而能想起来，就是知识提取失败。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通常压力大，提取就会越困难，提取就会失败。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我们不是不记得，而是没有编码，通过知识提取训练，可以帮助考生有效整理自己的记忆仓库。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F6F7F64D-709B-DCA1-97E9-799C9C62722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2807"/>
            <a:ext cx="914400" cy="914400"/>
          </a:xfrm>
          <a:prstGeom prst="rect">
            <a:avLst/>
          </a:prstGeom>
        </p:spPr>
      </p:pic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BFC7449-5988-BA9C-1BD6-D8DB5F6EB13B}"/>
              </a:ext>
            </a:extLst>
          </p:cNvPr>
          <p:cNvSpPr txBox="1">
            <a:spLocks/>
          </p:cNvSpPr>
          <p:nvPr/>
        </p:nvSpPr>
        <p:spPr>
          <a:xfrm>
            <a:off x="8339959" y="1599387"/>
            <a:ext cx="3844564" cy="321883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在知识存储的时候，可以采用以下方式，记忆更加牢固。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）微笑着想像记忆对象的想象与结构。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）覆盖关键部分记忆法。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）利用好首因效应和近因效应。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4</a:t>
            </a:r>
            <a:r>
              <a:rPr lang="zh-CN" altLang="en-US" sz="1200" dirty="0">
                <a:latin typeface="+mn-ea"/>
              </a:rPr>
              <a:t>）紧迫记忆法。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5</a:t>
            </a:r>
            <a:r>
              <a:rPr lang="zh-CN" altLang="en-US" sz="1200" dirty="0">
                <a:latin typeface="+mn-ea"/>
              </a:rPr>
              <a:t>）改错记忆法，通过改错建立正确的认识和记忆。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）撕书记忆法。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CD6B89A7-5F91-DA22-3D1E-554AB54898F0}"/>
              </a:ext>
            </a:extLst>
          </p:cNvPr>
          <p:cNvSpPr txBox="1">
            <a:spLocks/>
          </p:cNvSpPr>
          <p:nvPr/>
        </p:nvSpPr>
        <p:spPr>
          <a:xfrm>
            <a:off x="5684957" y="4495117"/>
            <a:ext cx="5534731" cy="166539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、运用音乐治疗进行知识提取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引导语：在音乐的想象中，你会看到一个屏幕，有很多水珠滑落下来。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用你的手指去点，每点中一个水珠，你就会看到一个知识点弹出在你的眼前，随着音乐的速度越来越快，你提取知识的速度也越来越快。（音乐编号 </a:t>
            </a:r>
            <a:r>
              <a:rPr lang="en-US" altLang="zh-CN" sz="1200" dirty="0">
                <a:latin typeface="+mn-ea"/>
              </a:rPr>
              <a:t>-8 </a:t>
            </a:r>
            <a:r>
              <a:rPr lang="zh-CN" altLang="en-US" sz="1200" dirty="0">
                <a:latin typeface="+mn-ea"/>
              </a:rPr>
              <a:t>手动跟随守候）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3F47905D-D569-305E-5263-75A48F2BBD84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忽来忽去，变化精微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知识点提取训练</a:t>
            </a:r>
          </a:p>
        </p:txBody>
      </p:sp>
    </p:spTree>
    <p:extLst>
      <p:ext uri="{BB962C8B-B14F-4D97-AF65-F5344CB8AC3E}">
        <p14:creationId xmlns:p14="http://schemas.microsoft.com/office/powerpoint/2010/main" val="2546604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E36C7-9C16-4E47-053E-10573A6C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DA74EE-D841-EFAB-11BC-D19EFA06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C077BE-16BF-BA61-2B98-B63356F4B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831020"/>
            <a:ext cx="5948752" cy="194112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注意力训练</a:t>
            </a:r>
            <a:r>
              <a:rPr lang="en-US" altLang="zh-CN" sz="1400" b="1" dirty="0">
                <a:latin typeface="+mn-ea"/>
              </a:rPr>
              <a:t>1</a:t>
            </a:r>
            <a:r>
              <a:rPr lang="zh-CN" altLang="en-US" sz="1400" b="1" dirty="0">
                <a:latin typeface="+mn-ea"/>
              </a:rPr>
              <a:t>：光影训练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引导语：闭上眼睛想象，你的手在水里自由地滑动，有光有影，跟随着音乐的节奏，自由滑动起来</a:t>
            </a:r>
            <a:r>
              <a:rPr lang="en-US" altLang="zh-CN" sz="1400" dirty="0">
                <a:latin typeface="+mn-ea"/>
              </a:rPr>
              <a:t>……</a:t>
            </a:r>
            <a:r>
              <a:rPr lang="zh-CN" altLang="en-US" sz="1400" dirty="0">
                <a:latin typeface="+mn-ea"/>
              </a:rPr>
              <a:t>（音乐编号 </a:t>
            </a:r>
            <a:r>
              <a:rPr lang="en-US" altLang="zh-CN" sz="1400" dirty="0">
                <a:latin typeface="+mn-ea"/>
              </a:rPr>
              <a:t>-5 </a:t>
            </a:r>
            <a:r>
              <a:rPr lang="zh-CN" altLang="en-US" sz="1400" dirty="0">
                <a:latin typeface="+mn-ea"/>
              </a:rPr>
              <a:t>光影水）</a:t>
            </a:r>
          </a:p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注意力训练</a:t>
            </a:r>
            <a:r>
              <a:rPr lang="en-US" altLang="zh-CN" sz="1400" b="1" dirty="0">
                <a:latin typeface="+mn-ea"/>
              </a:rPr>
              <a:t>2</a:t>
            </a:r>
            <a:r>
              <a:rPr lang="zh-CN" altLang="en-US" sz="1400" b="1" dirty="0">
                <a:latin typeface="+mn-ea"/>
              </a:rPr>
              <a:t>：旋律线技术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引导语：你会听到一段旋律，尝试着集中注意力，把这个旋律画出来。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FF0747B-193D-B31C-84E3-870268504AE0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3522154" cy="757207"/>
          </a:xfrm>
          <a:prstGeom prst="rect">
            <a:avLst/>
          </a:prstGeom>
        </p:spPr>
        <p:txBody>
          <a:bodyPr lIns="109728" tIns="109728" rIns="109728" bIns="91440"/>
          <a:lstStyle>
            <a:defPPr>
              <a:defRPr lang="zh-CN"/>
            </a:defPPr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spc="16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第五剑：关冲剑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3E1F8889-026C-B2D0-6477-809C11EB4502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5580890" cy="242081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原理：通过音乐治疗进行注意力训练运用的是心理学中的迁移原理。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在做音乐治疗的时候，通过以下三个维度调整情绪、植入记忆并且训练注意力。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）通过音乐行为训练，改变肌肉记忆。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）通过改变情绪记忆，将音乐悄悄打包进入潜意识。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）通过训练音乐行为将注意力聚集在当下，打破注意力怪圈和死循环。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D867DA04-295D-539A-4F15-05046C852DAA}"/>
              </a:ext>
            </a:extLst>
          </p:cNvPr>
          <p:cNvSpPr txBox="1">
            <a:spLocks/>
          </p:cNvSpPr>
          <p:nvPr/>
        </p:nvSpPr>
        <p:spPr>
          <a:xfrm>
            <a:off x="6321972" y="1542056"/>
            <a:ext cx="5421973" cy="472258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3</a:t>
            </a:r>
            <a:r>
              <a:rPr lang="zh-CN" altLang="en-US" sz="1200" b="1" dirty="0">
                <a:latin typeface="+mn-ea"/>
              </a:rPr>
              <a:t>：艺术梅花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引导语：接下来你将在音乐中完成一幅作品，这首音乐叫作梅花之神。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听完这首歌曲，想象一下你在画这首歌旋律的发展，就像是在画梅花一样，按照音乐的发展来画梅花</a:t>
            </a: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4</a:t>
            </a:r>
            <a:r>
              <a:rPr lang="zh-CN" altLang="en-US" sz="1200" b="1" dirty="0">
                <a:latin typeface="+mn-ea"/>
              </a:rPr>
              <a:t>：音乐演奏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引导语：在音乐中，哼唱并配合左手指挥，根据旋律的抖动，模拟弹奏（音乐编号 </a:t>
            </a:r>
            <a:r>
              <a:rPr lang="en-US" altLang="zh-CN" sz="1200" dirty="0">
                <a:latin typeface="+mn-ea"/>
              </a:rPr>
              <a:t>-589 </a:t>
            </a:r>
            <a:r>
              <a:rPr lang="zh-CN" altLang="en-US" sz="1200" dirty="0">
                <a:latin typeface="+mn-ea"/>
              </a:rPr>
              <a:t>象征指挥大号）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5</a:t>
            </a:r>
            <a:r>
              <a:rPr lang="zh-CN" altLang="en-US" sz="1200" b="1" dirty="0">
                <a:latin typeface="+mn-ea"/>
              </a:rPr>
              <a:t>：音乐行为训练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用彩色卡纸剪出黄、红、蓝三个小圆，贴在文具盒上，背景播放任何一种扰动音乐。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）先注视黄色小点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秒钟，进入一种专注状态。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）在感觉自己效率低下时，转而注视红色圆点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）当感觉自己心情烦躁或急躁时，转而注意蓝色圆点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</p:txBody>
      </p:sp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A7C9AE27-E410-884F-4480-7470B72B33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2807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28952A7-7107-F6F4-77BB-F259E7F0ACF4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以拙胜巧，古朴取胜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注意力专注训练</a:t>
            </a:r>
          </a:p>
        </p:txBody>
      </p:sp>
    </p:spTree>
    <p:extLst>
      <p:ext uri="{BB962C8B-B14F-4D97-AF65-F5344CB8AC3E}">
        <p14:creationId xmlns:p14="http://schemas.microsoft.com/office/powerpoint/2010/main" val="24676026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B8863-3903-AA6B-1435-7334CD5C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BAD42E-C2CB-8F0F-26BF-DE24E3764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EAFC96-A21B-40B4-AC09-29308B408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99387"/>
            <a:ext cx="4230310" cy="395950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原理：运用音乐对人的外显行为的影响，音乐会提升人的自尊，具有代替价值。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通过人格适度内聚，健康自信音乐适度内聚又同时允许别人存在，是一种积极健康的自信状态。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引导语：大家随着音乐节奏吹口哨，随着口哨的声音头一点点往上扬起来，每次都一点点把头抬高。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CFD36E5-53A7-C23E-B2DD-978CD5C40375}"/>
              </a:ext>
            </a:extLst>
          </p:cNvPr>
          <p:cNvSpPr txBox="1">
            <a:spLocks/>
          </p:cNvSpPr>
          <p:nvPr/>
        </p:nvSpPr>
        <p:spPr>
          <a:xfrm>
            <a:off x="288000" y="5760000"/>
            <a:ext cx="4057267" cy="75600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第六剑：少冲剑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8A2A8B3C-A192-F6B1-DE96-0BE4A5BDCF63}"/>
              </a:ext>
            </a:extLst>
          </p:cNvPr>
          <p:cNvSpPr txBox="1">
            <a:spLocks/>
          </p:cNvSpPr>
          <p:nvPr/>
        </p:nvSpPr>
        <p:spPr>
          <a:xfrm>
            <a:off x="4838971" y="1563505"/>
            <a:ext cx="6957744" cy="490142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原理：从存在主义角度出发，鼓励来访者像一个乐队指挥一样，对音乐作品中的每一个角色、音符、演奏进行探索。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无论他指挥什么都不重要，不管是节奏还是旋律，重要的是他与音乐在一起。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指挥过程中会指挥出力度速度的变化，当他在这样做的时候，就与音乐的情绪在一起了，同时获得一种自尊的体验。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引导语：随着音乐节奏的响起，想象一下你站在舞台上，指挥着一场盛大的音乐会，你用你独一无二的指令掌控着一切。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419A6B14-84F5-D5FB-699D-975704C1759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586413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F393040A-D433-F8A5-09DB-765C85FC089A}"/>
              </a:ext>
            </a:extLst>
          </p:cNvPr>
          <p:cNvSpPr txBox="1">
            <a:spLocks/>
          </p:cNvSpPr>
          <p:nvPr/>
        </p:nvSpPr>
        <p:spPr>
          <a:xfrm>
            <a:off x="358938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轻灵迅速，开发潜力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自信心提高训练</a:t>
            </a:r>
          </a:p>
        </p:txBody>
      </p:sp>
    </p:spTree>
    <p:extLst>
      <p:ext uri="{BB962C8B-B14F-4D97-AF65-F5344CB8AC3E}">
        <p14:creationId xmlns:p14="http://schemas.microsoft.com/office/powerpoint/2010/main" val="3880432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FE38-8721-8301-D40A-EB61CE332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A536B-5E44-91ED-44E1-B4214FA8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中高考音乐减压的其他注意事项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43D66D-0291-6F3D-52B5-30F877823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8156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中高考个体音乐减压，主要分短程、中程和长程三种。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短程音乐减压是针对临考前紧张、焦虑情绪推出的治疗方案，一般在</a:t>
            </a:r>
            <a:r>
              <a:rPr lang="zh-CN" altLang="en-US" sz="1800" b="1" dirty="0">
                <a:latin typeface="+mn-ea"/>
              </a:rPr>
              <a:t>考前三个月开始</a:t>
            </a:r>
            <a:r>
              <a:rPr lang="zh-CN" altLang="en-US" sz="1800" dirty="0">
                <a:latin typeface="+mn-ea"/>
              </a:rPr>
              <a:t>，主要针对考前焦虑恐惧，可以通过音乐催眠减压实现。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中程音乐减压，一般</a:t>
            </a:r>
            <a:r>
              <a:rPr lang="zh-CN" altLang="en-US" sz="1800" b="1" dirty="0">
                <a:latin typeface="+mn-ea"/>
              </a:rPr>
              <a:t>从春节后开始</a:t>
            </a:r>
            <a:r>
              <a:rPr lang="zh-CN" altLang="en-US" sz="1800" dirty="0">
                <a:latin typeface="+mn-ea"/>
              </a:rPr>
              <a:t>，针对期末考试后出现的各种综合征的恢复性治疗，包括自信心提升训练和考前冲刺音乐减压。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长程音乐减压，</a:t>
            </a:r>
            <a:r>
              <a:rPr lang="zh-CN" altLang="en-US" sz="1800" b="1" dirty="0">
                <a:latin typeface="+mn-ea"/>
              </a:rPr>
              <a:t>时间一般为一年</a:t>
            </a:r>
            <a:r>
              <a:rPr lang="zh-CN" altLang="en-US" sz="1800" dirty="0">
                <a:latin typeface="+mn-ea"/>
              </a:rPr>
              <a:t>，侧重于中高考学子的情绪管理，专为中高考学子量身定做的减压安排，包括考前目标澄清、应考自信心建立、逻辑思维训练、注意力与记忆力快速提升、高考减压系统减压、考前情绪管理与身心减压、放飞梦想与轻松迎考一个阶段的辅导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050759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</TotalTime>
  <Words>5223</Words>
  <Application>Microsoft Office PowerPoint</Application>
  <PresentationFormat>宽屏</PresentationFormat>
  <Paragraphs>341</Paragraphs>
  <Slides>32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38" baseType="lpstr">
      <vt:lpstr>Bierstadt</vt:lpstr>
      <vt:lpstr>等线</vt:lpstr>
      <vt:lpstr>微软雅黑</vt:lpstr>
      <vt:lpstr>Arial</vt:lpstr>
      <vt:lpstr>Wingdings</vt:lpstr>
      <vt:lpstr>GestaltVTI</vt:lpstr>
      <vt:lpstr>中高考减压音乐训练</vt:lpstr>
      <vt:lpstr>摆渡技术：考前心理总动员家长篇（一）</vt:lpstr>
      <vt:lpstr>摆渡技术：考前心理总动员家长篇（二）</vt:lpstr>
      <vt:lpstr>摆渡技术：考前心理总动员家长篇（三）</vt:lpstr>
      <vt:lpstr>摆渡技术：考前心理总动员家长篇（四）</vt:lpstr>
      <vt:lpstr>摆渡技术：考前心理总动员家长篇（五）</vt:lpstr>
      <vt:lpstr>摆渡技术：考前心理总动员家长篇（六）</vt:lpstr>
      <vt:lpstr>摆渡技术：考前心理总动员家长篇（七）</vt:lpstr>
      <vt:lpstr>摆渡技术：考前心理总动员家长篇（八）</vt:lpstr>
      <vt:lpstr>摆渡技术：考前心理总动员家长篇（九）</vt:lpstr>
      <vt:lpstr>摆渡技术：考前心理总动员家长篇（十）</vt:lpstr>
      <vt:lpstr>摆渡技术：考前心理总动员家长篇（十一）</vt:lpstr>
      <vt:lpstr>摆渡技术：考前心理总动员家长篇（十二）</vt:lpstr>
      <vt:lpstr>中高考减压音乐摆渡的原理（一）</vt:lpstr>
      <vt:lpstr>中高考减压音乐摆渡的原理（二）</vt:lpstr>
      <vt:lpstr>中高考减压音乐摆渡的原理（三）</vt:lpstr>
      <vt:lpstr>中高考减压音乐摆渡的原理（四）</vt:lpstr>
      <vt:lpstr>中高考减压音乐摆渡的原理（五）</vt:lpstr>
      <vt:lpstr>中高考减压音乐摆渡的原理（六）</vt:lpstr>
      <vt:lpstr>中高考减压音乐摆渡的原理（七）</vt:lpstr>
      <vt:lpstr>中高考减压音乐摆渡的原理（八）</vt:lpstr>
      <vt:lpstr>中高考减压音乐摆渡的原理（九）</vt:lpstr>
      <vt:lpstr>中高考减压音乐摆渡的原理（十）</vt:lpstr>
      <vt:lpstr>中高考减压音乐摆渡的原理（十一）</vt:lpstr>
      <vt:lpstr>中高考减压音乐摆渡的原理（十二）</vt:lpstr>
      <vt:lpstr>中高考音乐减压之秘籍：六脉神剑（一）</vt:lpstr>
      <vt:lpstr>中高考音乐减压之秘籍：六脉神剑（二）</vt:lpstr>
      <vt:lpstr>中高考音乐减压之秘籍：六脉神剑（三）</vt:lpstr>
      <vt:lpstr>中高考音乐减压之秘籍：六脉神剑（四）</vt:lpstr>
      <vt:lpstr>中高考音乐减压之秘籍：六脉神剑（五）</vt:lpstr>
      <vt:lpstr>中高考音乐减压之秘籍：六脉神剑（六）</vt:lpstr>
      <vt:lpstr>中高考音乐减压的其他注意事项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John</cp:lastModifiedBy>
  <cp:revision>393</cp:revision>
  <dcterms:created xsi:type="dcterms:W3CDTF">2025-09-26T07:10:55Z</dcterms:created>
  <dcterms:modified xsi:type="dcterms:W3CDTF">2025-12-20T12:58:46Z</dcterms:modified>
</cp:coreProperties>
</file>