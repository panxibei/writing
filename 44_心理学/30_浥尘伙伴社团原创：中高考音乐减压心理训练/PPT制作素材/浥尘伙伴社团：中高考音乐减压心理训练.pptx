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5"/>
  </p:notesMasterIdLst>
  <p:sldIdLst>
    <p:sldId id="256" r:id="rId2"/>
    <p:sldId id="257" r:id="rId3"/>
    <p:sldId id="314" r:id="rId4"/>
    <p:sldId id="298" r:id="rId5"/>
    <p:sldId id="297" r:id="rId6"/>
    <p:sldId id="261" r:id="rId7"/>
    <p:sldId id="264" r:id="rId8"/>
    <p:sldId id="262" r:id="rId9"/>
    <p:sldId id="299" r:id="rId10"/>
    <p:sldId id="293" r:id="rId11"/>
    <p:sldId id="294" r:id="rId12"/>
    <p:sldId id="295" r:id="rId13"/>
    <p:sldId id="296"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315" r:id="rId29"/>
    <p:sldId id="316" r:id="rId30"/>
    <p:sldId id="317" r:id="rId31"/>
    <p:sldId id="318" r:id="rId32"/>
    <p:sldId id="319" r:id="rId33"/>
    <p:sldId id="320"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3034E8-7B60-43FC-987C-A54D5D393751}" type="datetimeFigureOut">
              <a:rPr lang="zh-CN" altLang="en-US" smtClean="0"/>
              <a:t>2025/12/19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FCB7D-42D9-486B-87B3-4BC90113BD50}" type="slidenum">
              <a:rPr lang="zh-CN" altLang="en-US" smtClean="0"/>
              <a:t>‹#›</a:t>
            </a:fld>
            <a:endParaRPr lang="zh-CN" altLang="en-US"/>
          </a:p>
        </p:txBody>
      </p:sp>
    </p:spTree>
    <p:extLst>
      <p:ext uri="{BB962C8B-B14F-4D97-AF65-F5344CB8AC3E}">
        <p14:creationId xmlns:p14="http://schemas.microsoft.com/office/powerpoint/2010/main" val="340338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BDFCB7D-42D9-486B-87B3-4BC90113BD50}" type="slidenum">
              <a:rPr lang="zh-CN" altLang="en-US" smtClean="0"/>
              <a:t>6</a:t>
            </a:fld>
            <a:endParaRPr lang="zh-CN" altLang="en-US"/>
          </a:p>
        </p:txBody>
      </p:sp>
    </p:spTree>
    <p:extLst>
      <p:ext uri="{BB962C8B-B14F-4D97-AF65-F5344CB8AC3E}">
        <p14:creationId xmlns:p14="http://schemas.microsoft.com/office/powerpoint/2010/main" val="2105266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xmlns=""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b"/>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7280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a:xfrm>
            <a:off x="521208" y="762753"/>
            <a:ext cx="11155680" cy="936652"/>
          </a:xfrm>
        </p:spPr>
        <p:txBody>
          <a:bodyPr/>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a:xfrm>
            <a:off x="521208" y="1828800"/>
            <a:ext cx="11155680" cy="4517136"/>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55055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87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30444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6127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2856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37288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3917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3144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06371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12/19/2025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449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15403" y="730521"/>
            <a:ext cx="11155680" cy="988415"/>
          </a:xfrm>
          <a:prstGeom prst="rect">
            <a:avLst/>
          </a:prstGeom>
        </p:spPr>
        <p:txBody>
          <a:bodyPr lIns="109728" tIns="109728" rIns="109728" bIns="91440" anchor="t"/>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1792088"/>
            <a:ext cx="11155680" cy="4553848"/>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lIns="109728" tIns="109728" rIns="109728" bIns="91440" anchor="ctr"/>
          <a:lstStyle>
            <a:lvl1pPr algn="l">
              <a:defRPr sz="1000" spc="180">
                <a:solidFill>
                  <a:schemeClr val="tx1"/>
                </a:solidFill>
              </a:defRPr>
            </a:lvl1pPr>
          </a:lstStyle>
          <a:p>
            <a:fld id="{E80C50CD-E178-4744-9B35-B2F624D6C5E9}" type="datetimeFigureOut">
              <a:rPr lang="en-US" smtClean="0"/>
              <a:pPr/>
              <a:t>12/19/2025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lIns="109728" tIns="109728" rIns="109728" bIns="91440" anchor="ctr"/>
          <a:lstStyle>
            <a:lvl1pPr algn="l">
              <a:defRPr sz="1000" spc="18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lIns="109728" tIns="109728" rIns="109728" bIns="91440" anchor="ctr"/>
          <a:lstStyle>
            <a:lvl1pPr algn="r">
              <a:defRPr sz="10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xmlns=""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272326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txStyles>
    <p:titleStyle>
      <a:lvl1pPr algn="l" defTabSz="914400" rtl="0" eaLnBrk="1" latinLnBrk="0" hangingPunct="1">
        <a:lnSpc>
          <a:spcPct val="100000"/>
        </a:lnSpc>
        <a:spcBef>
          <a:spcPct val="0"/>
        </a:spcBef>
        <a:buNone/>
        <a:defRPr sz="4800" b="1" kern="1200" spc="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抽象遗传概念">
            <a:extLst>
              <a:ext uri="{FF2B5EF4-FFF2-40B4-BE49-F238E27FC236}">
                <a16:creationId xmlns:a16="http://schemas.microsoft.com/office/drawing/2014/main" id="{99060100-A8AA-6674-2EEF-E313A8EA5A06}"/>
              </a:ext>
            </a:extLst>
          </p:cNvPr>
          <p:cNvPicPr>
            <a:picLocks noChangeAspect="1"/>
          </p:cNvPicPr>
          <p:nvPr/>
        </p:nvPicPr>
        <p:blipFill>
          <a:blip r:embed="rId2"/>
          <a:srcRect t="32657" b="11093"/>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标题 1">
            <a:extLst>
              <a:ext uri="{FF2B5EF4-FFF2-40B4-BE49-F238E27FC236}">
                <a16:creationId xmlns:a16="http://schemas.microsoft.com/office/drawing/2014/main" id="{62077292-5498-36F7-C035-FCC8AE38380B}"/>
              </a:ext>
            </a:extLst>
          </p:cNvPr>
          <p:cNvSpPr>
            <a:spLocks noGrp="1"/>
          </p:cNvSpPr>
          <p:nvPr>
            <p:ph type="ctrTitle"/>
          </p:nvPr>
        </p:nvSpPr>
        <p:spPr>
          <a:xfrm>
            <a:off x="320039" y="5739969"/>
            <a:ext cx="8178501" cy="960120"/>
          </a:xfrm>
          <a:ln>
            <a:noFill/>
          </a:ln>
        </p:spPr>
        <p:txBody>
          <a:bodyPr anchor="ctr">
            <a:noAutofit/>
          </a:bodyPr>
          <a:lstStyle/>
          <a:p>
            <a:r>
              <a:rPr lang="zh-CN" altLang="en-US" sz="5400" dirty="0"/>
              <a:t>中高考减压音乐训练</a:t>
            </a:r>
          </a:p>
        </p:txBody>
      </p:sp>
      <p:sp>
        <p:nvSpPr>
          <p:cNvPr id="3" name="副标题 2">
            <a:extLst>
              <a:ext uri="{FF2B5EF4-FFF2-40B4-BE49-F238E27FC236}">
                <a16:creationId xmlns:a16="http://schemas.microsoft.com/office/drawing/2014/main" id="{6673B8A1-D398-BE75-6533-FFFB3C95EA5F}"/>
              </a:ext>
            </a:extLst>
          </p:cNvPr>
          <p:cNvSpPr>
            <a:spLocks noGrp="1"/>
          </p:cNvSpPr>
          <p:nvPr>
            <p:ph type="subTitle" idx="1"/>
          </p:nvPr>
        </p:nvSpPr>
        <p:spPr>
          <a:xfrm>
            <a:off x="7386639" y="5739969"/>
            <a:ext cx="4610646" cy="960120"/>
          </a:xfrm>
        </p:spPr>
        <p:txBody>
          <a:bodyPr anchor="ctr">
            <a:normAutofit fontScale="92500" lnSpcReduction="10000"/>
          </a:bodyPr>
          <a:lstStyle/>
          <a:p>
            <a:pPr algn="r"/>
            <a:r>
              <a:rPr lang="zh-CN" altLang="en-US" sz="1900" dirty="0"/>
              <a:t>浥尘伙伴社团内部密训课程</a:t>
            </a:r>
            <a:endParaRPr lang="en-US" altLang="zh-CN" sz="1900" dirty="0"/>
          </a:p>
          <a:p>
            <a:pPr algn="r"/>
            <a:r>
              <a:rPr lang="en-US" altLang="zh-CN" sz="1900" dirty="0"/>
              <a:t>2026</a:t>
            </a:r>
            <a:r>
              <a:rPr lang="zh-CN" altLang="en-US" sz="1900" dirty="0"/>
              <a:t>年</a:t>
            </a:r>
            <a:r>
              <a:rPr lang="en-US" altLang="zh-CN" sz="1900" dirty="0"/>
              <a:t>1</a:t>
            </a:r>
            <a:r>
              <a:rPr lang="zh-CN" altLang="en-US" sz="1900" dirty="0"/>
              <a:t>月</a:t>
            </a:r>
          </a:p>
        </p:txBody>
      </p:sp>
    </p:spTree>
    <p:extLst>
      <p:ext uri="{BB962C8B-B14F-4D97-AF65-F5344CB8AC3E}">
        <p14:creationId xmlns:p14="http://schemas.microsoft.com/office/powerpoint/2010/main" val="22892823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11E1E6-6BB0-22D9-BC45-494D62AE4162}"/>
              </a:ext>
            </a:extLst>
          </p:cNvPr>
          <p:cNvSpPr>
            <a:spLocks noGrp="1"/>
          </p:cNvSpPr>
          <p:nvPr>
            <p:ph type="title"/>
          </p:nvPr>
        </p:nvSpPr>
        <p:spPr>
          <a:xfrm>
            <a:off x="521208" y="662740"/>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（一）</a:t>
            </a:r>
          </a:p>
        </p:txBody>
      </p:sp>
      <p:sp>
        <p:nvSpPr>
          <p:cNvPr id="3" name="内容占位符 2">
            <a:extLst>
              <a:ext uri="{FF2B5EF4-FFF2-40B4-BE49-F238E27FC236}">
                <a16:creationId xmlns:a16="http://schemas.microsoft.com/office/drawing/2014/main" id="{A2C68CB0-C8C5-260C-C325-BE4AA61114DE}"/>
              </a:ext>
            </a:extLst>
          </p:cNvPr>
          <p:cNvSpPr>
            <a:spLocks noGrp="1"/>
          </p:cNvSpPr>
          <p:nvPr>
            <p:ph idx="1"/>
          </p:nvPr>
        </p:nvSpPr>
        <p:spPr>
          <a:xfrm>
            <a:off x="515112" y="1576785"/>
            <a:ext cx="11500677" cy="3989337"/>
          </a:xfrm>
        </p:spPr>
        <p:txBody>
          <a:bodyPr/>
          <a:lstStyle/>
          <a:p>
            <a:pPr marL="0" indent="0">
              <a:buNone/>
            </a:pPr>
            <a:r>
              <a:rPr lang="zh-CN" altLang="en-US" sz="1800" dirty="0">
                <a:latin typeface="+mn-ea"/>
              </a:rPr>
              <a:t>以原始人胆大死亡，胆小生存，基因传承为例子，来说明我们在考前有一定的紧张焦虑是为了提醒考试的到来，是属于正常的心理活动反应。</a:t>
            </a:r>
          </a:p>
          <a:p>
            <a:pPr marL="0" indent="0">
              <a:buNone/>
            </a:pPr>
            <a:endParaRPr lang="zh-CN" altLang="en-US" sz="1800" dirty="0">
              <a:latin typeface="+mn-ea"/>
            </a:endParaRPr>
          </a:p>
          <a:p>
            <a:pPr marL="0" indent="0">
              <a:buNone/>
            </a:pPr>
            <a:r>
              <a:rPr lang="zh-CN" altLang="en-US" sz="1800" dirty="0">
                <a:latin typeface="+mn-ea"/>
              </a:rPr>
              <a:t>我们要以正确的方式去防范风险，以积极的应对方式来缓解自身的焦虑。</a:t>
            </a:r>
          </a:p>
          <a:p>
            <a:pPr marL="0" indent="0">
              <a:buNone/>
            </a:pPr>
            <a:endParaRPr lang="zh-CN" altLang="en-US" sz="1800" dirty="0">
              <a:latin typeface="+mn-ea"/>
            </a:endParaRPr>
          </a:p>
          <a:p>
            <a:pPr marL="0" indent="0">
              <a:buNone/>
            </a:pPr>
            <a:r>
              <a:rPr lang="zh-CN" altLang="en-US" sz="1800" dirty="0">
                <a:latin typeface="+mn-ea"/>
              </a:rPr>
              <a:t>关键就是要把握好这个度。</a:t>
            </a:r>
          </a:p>
        </p:txBody>
      </p:sp>
      <p:sp>
        <p:nvSpPr>
          <p:cNvPr id="14" name="内容占位符 2">
            <a:extLst>
              <a:ext uri="{FF2B5EF4-FFF2-40B4-BE49-F238E27FC236}">
                <a16:creationId xmlns:a16="http://schemas.microsoft.com/office/drawing/2014/main" id="{AC9DD4A8-BC3C-72D4-B9F5-C6F63B8E2272}"/>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如何正确认识考前减压？</a:t>
            </a:r>
          </a:p>
        </p:txBody>
      </p:sp>
    </p:spTree>
    <p:extLst>
      <p:ext uri="{BB962C8B-B14F-4D97-AF65-F5344CB8AC3E}">
        <p14:creationId xmlns:p14="http://schemas.microsoft.com/office/powerpoint/2010/main" val="18569056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EB0A-1568-82B6-45BF-D7ADF0FEC57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DC7523-8ECE-FC4B-06C8-3F17349D1C9D}"/>
              </a:ext>
            </a:extLst>
          </p:cNvPr>
          <p:cNvSpPr>
            <a:spLocks noGrp="1"/>
          </p:cNvSpPr>
          <p:nvPr>
            <p:ph type="title"/>
          </p:nvPr>
        </p:nvSpPr>
        <p:spPr>
          <a:xfrm>
            <a:off x="521208" y="662740"/>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（二）</a:t>
            </a:r>
          </a:p>
        </p:txBody>
      </p:sp>
      <p:sp>
        <p:nvSpPr>
          <p:cNvPr id="3" name="内容占位符 2">
            <a:extLst>
              <a:ext uri="{FF2B5EF4-FFF2-40B4-BE49-F238E27FC236}">
                <a16:creationId xmlns:a16="http://schemas.microsoft.com/office/drawing/2014/main" id="{96E27522-2D0B-29FC-C83D-1E1789D0FA97}"/>
              </a:ext>
            </a:extLst>
          </p:cNvPr>
          <p:cNvSpPr>
            <a:spLocks noGrp="1"/>
          </p:cNvSpPr>
          <p:nvPr>
            <p:ph idx="1"/>
          </p:nvPr>
        </p:nvSpPr>
        <p:spPr>
          <a:xfrm>
            <a:off x="5043489" y="1576785"/>
            <a:ext cx="6972300" cy="4746544"/>
          </a:xfrm>
        </p:spPr>
        <p:txBody>
          <a:bodyPr/>
          <a:lstStyle/>
          <a:p>
            <a:pPr marL="0" indent="0">
              <a:buNone/>
            </a:pPr>
            <a:r>
              <a:rPr lang="zh-CN" altLang="en-US" sz="1800" dirty="0">
                <a:latin typeface="+mn-ea"/>
              </a:rPr>
              <a:t>人的压力水平和动机、任务难度直接相关，动机是促使问题解决的动力因素。</a:t>
            </a:r>
          </a:p>
          <a:p>
            <a:pPr marL="0" indent="0">
              <a:buNone/>
            </a:pPr>
            <a:r>
              <a:rPr lang="zh-CN" altLang="en-US" sz="1800" dirty="0">
                <a:latin typeface="+mn-ea"/>
              </a:rPr>
              <a:t>动机强 </a:t>
            </a:r>
            <a:r>
              <a:rPr lang="en-US" altLang="zh-CN" sz="1800" dirty="0">
                <a:latin typeface="+mn-ea"/>
                <a:sym typeface="Wingdings" panose="05000000000000000000" pitchFamily="2" charset="2"/>
              </a:rPr>
              <a:t> </a:t>
            </a:r>
            <a:r>
              <a:rPr lang="zh-CN" altLang="en-US" sz="1800" dirty="0">
                <a:latin typeface="+mn-ea"/>
              </a:rPr>
              <a:t>思维活跃，反之，动机弱 </a:t>
            </a:r>
            <a:r>
              <a:rPr lang="en-US" altLang="zh-CN" sz="1800" dirty="0">
                <a:latin typeface="+mn-ea"/>
                <a:sym typeface="Wingdings" panose="05000000000000000000" pitchFamily="2" charset="2"/>
              </a:rPr>
              <a:t> </a:t>
            </a:r>
            <a:r>
              <a:rPr lang="zh-CN" altLang="en-US" sz="1800" dirty="0">
                <a:latin typeface="+mn-ea"/>
              </a:rPr>
              <a:t>思维不活跃。</a:t>
            </a:r>
          </a:p>
          <a:p>
            <a:pPr marL="0" indent="0">
              <a:buNone/>
            </a:pPr>
            <a:r>
              <a:rPr lang="zh-CN" altLang="en-US" sz="1800" dirty="0">
                <a:latin typeface="+mn-ea"/>
              </a:rPr>
              <a:t>但是，</a:t>
            </a:r>
            <a:r>
              <a:rPr lang="zh-CN" altLang="en-US" sz="1800" b="1" dirty="0">
                <a:latin typeface="+mn-ea"/>
              </a:rPr>
              <a:t>动机强度</a:t>
            </a:r>
            <a:r>
              <a:rPr lang="zh-CN" altLang="en-US" sz="1800" dirty="0">
                <a:latin typeface="+mn-ea"/>
              </a:rPr>
              <a:t>与解决问题的</a:t>
            </a:r>
            <a:r>
              <a:rPr lang="zh-CN" altLang="en-US" sz="1800" b="1" dirty="0">
                <a:latin typeface="+mn-ea"/>
              </a:rPr>
              <a:t>思维活动效率</a:t>
            </a:r>
            <a:r>
              <a:rPr lang="zh-CN" altLang="en-US" sz="1800" dirty="0">
                <a:latin typeface="+mn-ea"/>
              </a:rPr>
              <a:t>之间并不总是呈正相关。</a:t>
            </a:r>
          </a:p>
          <a:p>
            <a:pPr marL="0" indent="0">
              <a:buNone/>
            </a:pPr>
            <a:r>
              <a:rPr lang="zh-CN" altLang="en-US" sz="1800" dirty="0">
                <a:latin typeface="+mn-ea"/>
              </a:rPr>
              <a:t>动机强弱与解决问题的关系，是一条“倒转的</a:t>
            </a:r>
            <a:r>
              <a:rPr lang="en-US" altLang="zh-CN" sz="1800" dirty="0">
                <a:latin typeface="+mn-ea"/>
              </a:rPr>
              <a:t>U</a:t>
            </a:r>
            <a:r>
              <a:rPr lang="zh-CN" altLang="en-US" sz="1800" dirty="0">
                <a:latin typeface="+mn-ea"/>
              </a:rPr>
              <a:t>形曲线” 。</a:t>
            </a:r>
          </a:p>
          <a:p>
            <a:pPr marL="0" indent="0">
              <a:buNone/>
            </a:pPr>
            <a:r>
              <a:rPr lang="zh-CN" altLang="en-US" sz="1800" dirty="0">
                <a:latin typeface="+mn-ea"/>
              </a:rPr>
              <a:t>动机过强，会造成很大的心理压力。</a:t>
            </a:r>
          </a:p>
          <a:p>
            <a:pPr marL="0" indent="0">
              <a:buNone/>
            </a:pPr>
            <a:r>
              <a:rPr lang="zh-CN" altLang="en-US" sz="1800" dirty="0">
                <a:latin typeface="+mn-ea"/>
              </a:rPr>
              <a:t>压力在到一定程度，甚至会引起严重的心理问题。</a:t>
            </a:r>
          </a:p>
        </p:txBody>
      </p:sp>
      <p:pic>
        <p:nvPicPr>
          <p:cNvPr id="12" name="图片 11">
            <a:extLst>
              <a:ext uri="{FF2B5EF4-FFF2-40B4-BE49-F238E27FC236}">
                <a16:creationId xmlns:a16="http://schemas.microsoft.com/office/drawing/2014/main" id="{CE065CE6-96A8-2831-1524-850E07A93DB1}"/>
              </a:ext>
            </a:extLst>
          </p:cNvPr>
          <p:cNvPicPr>
            <a:picLocks noChangeAspect="1"/>
          </p:cNvPicPr>
          <p:nvPr/>
        </p:nvPicPr>
        <p:blipFill>
          <a:blip r:embed="rId2"/>
          <a:stretch>
            <a:fillRect/>
          </a:stretch>
        </p:blipFill>
        <p:spPr>
          <a:xfrm>
            <a:off x="386771" y="1813926"/>
            <a:ext cx="4123809" cy="3209524"/>
          </a:xfrm>
          <a:prstGeom prst="rect">
            <a:avLst/>
          </a:prstGeom>
        </p:spPr>
      </p:pic>
      <p:sp>
        <p:nvSpPr>
          <p:cNvPr id="13" name="内容占位符 2">
            <a:extLst>
              <a:ext uri="{FF2B5EF4-FFF2-40B4-BE49-F238E27FC236}">
                <a16:creationId xmlns:a16="http://schemas.microsoft.com/office/drawing/2014/main" id="{EE37F115-E081-0AD7-00B3-02DD3A0EB028}"/>
              </a:ext>
            </a:extLst>
          </p:cNvPr>
          <p:cNvSpPr txBox="1">
            <a:spLocks/>
          </p:cNvSpPr>
          <p:nvPr/>
        </p:nvSpPr>
        <p:spPr>
          <a:xfrm>
            <a:off x="264035" y="5023450"/>
            <a:ext cx="4779454" cy="47031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mn-ea"/>
              </a:rPr>
              <a:t>耶克斯*多德森定律：压力与“倒转的</a:t>
            </a:r>
            <a:r>
              <a:rPr lang="en-US" altLang="zh-CN" dirty="0">
                <a:latin typeface="+mn-ea"/>
              </a:rPr>
              <a:t>U</a:t>
            </a:r>
            <a:r>
              <a:rPr lang="zh-CN" altLang="en-US" dirty="0">
                <a:latin typeface="+mn-ea"/>
              </a:rPr>
              <a:t>形曲线”</a:t>
            </a:r>
          </a:p>
        </p:txBody>
      </p:sp>
      <p:sp>
        <p:nvSpPr>
          <p:cNvPr id="14" name="内容占位符 2">
            <a:extLst>
              <a:ext uri="{FF2B5EF4-FFF2-40B4-BE49-F238E27FC236}">
                <a16:creationId xmlns:a16="http://schemas.microsoft.com/office/drawing/2014/main" id="{CC2228D3-CF5E-CF4C-D66A-92953E432E2F}"/>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如何正确认识考前减压？</a:t>
            </a:r>
          </a:p>
        </p:txBody>
      </p:sp>
    </p:spTree>
    <p:extLst>
      <p:ext uri="{BB962C8B-B14F-4D97-AF65-F5344CB8AC3E}">
        <p14:creationId xmlns:p14="http://schemas.microsoft.com/office/powerpoint/2010/main" val="319828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FA6E-3095-346D-8365-EC2D25E136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FCB162-1BBE-ABF7-8666-782C7E5BC844}"/>
              </a:ext>
            </a:extLst>
          </p:cNvPr>
          <p:cNvSpPr>
            <a:spLocks noGrp="1"/>
          </p:cNvSpPr>
          <p:nvPr>
            <p:ph type="title"/>
          </p:nvPr>
        </p:nvSpPr>
        <p:spPr>
          <a:xfrm>
            <a:off x="521208" y="662740"/>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（三）</a:t>
            </a:r>
          </a:p>
        </p:txBody>
      </p:sp>
      <p:sp>
        <p:nvSpPr>
          <p:cNvPr id="3" name="内容占位符 2">
            <a:extLst>
              <a:ext uri="{FF2B5EF4-FFF2-40B4-BE49-F238E27FC236}">
                <a16:creationId xmlns:a16="http://schemas.microsoft.com/office/drawing/2014/main" id="{29267B40-3434-E64E-51FD-D0C5F1494FF5}"/>
              </a:ext>
            </a:extLst>
          </p:cNvPr>
          <p:cNvSpPr>
            <a:spLocks noGrp="1"/>
          </p:cNvSpPr>
          <p:nvPr>
            <p:ph idx="1"/>
          </p:nvPr>
        </p:nvSpPr>
        <p:spPr>
          <a:xfrm>
            <a:off x="5043489" y="1576785"/>
            <a:ext cx="7015160" cy="5038328"/>
          </a:xfrm>
        </p:spPr>
        <p:txBody>
          <a:bodyPr/>
          <a:lstStyle/>
          <a:p>
            <a:pPr marL="0" indent="0">
              <a:buNone/>
            </a:pPr>
            <a:r>
              <a:rPr lang="zh-CN" altLang="en-US" sz="1800" dirty="0">
                <a:latin typeface="+mn-ea"/>
              </a:rPr>
              <a:t>动力不足的要加压，动力太高的要减压。</a:t>
            </a:r>
          </a:p>
          <a:p>
            <a:pPr marL="0" indent="0">
              <a:buNone/>
            </a:pPr>
            <a:r>
              <a:rPr lang="zh-CN" altLang="en-US" sz="1800" dirty="0">
                <a:latin typeface="+mn-ea"/>
              </a:rPr>
              <a:t>因此，理想的情况是这个学生想考上一所好大学，但是又不至于因为期望过高、压力过大而影响学习效率，因此考前的学生要学会心理调节。</a:t>
            </a:r>
            <a:endParaRPr lang="en-US" altLang="zh-CN" sz="1800" dirty="0">
              <a:latin typeface="+mn-ea"/>
            </a:endParaRPr>
          </a:p>
          <a:p>
            <a:pPr marL="0" indent="0">
              <a:buNone/>
            </a:pPr>
            <a:endParaRPr lang="zh-CN" altLang="en-US" sz="1800" dirty="0">
              <a:latin typeface="+mn-ea"/>
            </a:endParaRPr>
          </a:p>
          <a:p>
            <a:pPr marL="0" indent="0">
              <a:buNone/>
            </a:pPr>
            <a:r>
              <a:rPr lang="zh-CN" altLang="en-US" sz="1800" dirty="0">
                <a:latin typeface="+mn-ea"/>
              </a:rPr>
              <a:t>在</a:t>
            </a:r>
            <a:r>
              <a:rPr lang="en-US" altLang="zh-CN" sz="1800" dirty="0">
                <a:latin typeface="+mn-ea"/>
              </a:rPr>
              <a:t>20</a:t>
            </a:r>
            <a:r>
              <a:rPr lang="zh-CN" altLang="en-US" sz="1800" dirty="0">
                <a:latin typeface="+mn-ea"/>
              </a:rPr>
              <a:t>项决定高考因素中，前五项因素是：</a:t>
            </a:r>
            <a:endParaRPr lang="en-US" altLang="zh-CN" sz="1800" dirty="0">
              <a:latin typeface="+mn-ea"/>
            </a:endParaRPr>
          </a:p>
          <a:p>
            <a:pPr lvl="1">
              <a:buFont typeface="Wingdings" panose="05000000000000000000" pitchFamily="2" charset="2"/>
              <a:buChar char="ü"/>
            </a:pPr>
            <a:r>
              <a:rPr lang="zh-CN" altLang="en-US" sz="1800" dirty="0">
                <a:latin typeface="+mn-ea"/>
              </a:rPr>
              <a:t>考场心态</a:t>
            </a:r>
            <a:endParaRPr lang="en-US" altLang="zh-CN" sz="1800" dirty="0">
              <a:latin typeface="+mn-ea"/>
            </a:endParaRPr>
          </a:p>
          <a:p>
            <a:pPr lvl="1">
              <a:buFont typeface="Wingdings" panose="05000000000000000000" pitchFamily="2" charset="2"/>
              <a:buChar char="ü"/>
            </a:pPr>
            <a:r>
              <a:rPr lang="zh-CN" altLang="en-US" sz="1800" dirty="0">
                <a:latin typeface="+mn-ea"/>
              </a:rPr>
              <a:t>考前心态</a:t>
            </a:r>
            <a:endParaRPr lang="en-US" altLang="zh-CN" sz="1800" dirty="0">
              <a:latin typeface="+mn-ea"/>
            </a:endParaRPr>
          </a:p>
          <a:p>
            <a:pPr lvl="1">
              <a:buFont typeface="Wingdings" panose="05000000000000000000" pitchFamily="2" charset="2"/>
              <a:buChar char="ü"/>
            </a:pPr>
            <a:r>
              <a:rPr lang="zh-CN" altLang="en-US" sz="1800" dirty="0">
                <a:latin typeface="+mn-ea"/>
              </a:rPr>
              <a:t>学习方法</a:t>
            </a:r>
            <a:endParaRPr lang="en-US" altLang="zh-CN" sz="1800" dirty="0">
              <a:latin typeface="+mn-ea"/>
            </a:endParaRPr>
          </a:p>
          <a:p>
            <a:pPr lvl="1">
              <a:buFont typeface="Wingdings" panose="05000000000000000000" pitchFamily="2" charset="2"/>
              <a:buChar char="ü"/>
            </a:pPr>
            <a:r>
              <a:rPr lang="zh-CN" altLang="en-US" sz="1800" dirty="0">
                <a:latin typeface="+mn-ea"/>
              </a:rPr>
              <a:t>学习基础</a:t>
            </a:r>
            <a:endParaRPr lang="en-US" altLang="zh-CN" sz="1800" dirty="0">
              <a:latin typeface="+mn-ea"/>
            </a:endParaRPr>
          </a:p>
          <a:p>
            <a:pPr lvl="1">
              <a:buFont typeface="Wingdings" panose="05000000000000000000" pitchFamily="2" charset="2"/>
              <a:buChar char="ü"/>
            </a:pPr>
            <a:r>
              <a:rPr lang="zh-CN" altLang="en-US" sz="1800" dirty="0">
                <a:latin typeface="+mn-ea"/>
              </a:rPr>
              <a:t>学习态度</a:t>
            </a:r>
          </a:p>
        </p:txBody>
      </p:sp>
      <p:pic>
        <p:nvPicPr>
          <p:cNvPr id="12" name="图片 11">
            <a:extLst>
              <a:ext uri="{FF2B5EF4-FFF2-40B4-BE49-F238E27FC236}">
                <a16:creationId xmlns:a16="http://schemas.microsoft.com/office/drawing/2014/main" id="{7542F787-EE60-63D7-489F-3D137154CEB3}"/>
              </a:ext>
            </a:extLst>
          </p:cNvPr>
          <p:cNvPicPr>
            <a:picLocks noChangeAspect="1"/>
          </p:cNvPicPr>
          <p:nvPr/>
        </p:nvPicPr>
        <p:blipFill>
          <a:blip r:embed="rId2"/>
          <a:stretch>
            <a:fillRect/>
          </a:stretch>
        </p:blipFill>
        <p:spPr>
          <a:xfrm>
            <a:off x="386771" y="1813926"/>
            <a:ext cx="4123809" cy="3209524"/>
          </a:xfrm>
          <a:prstGeom prst="rect">
            <a:avLst/>
          </a:prstGeom>
        </p:spPr>
      </p:pic>
      <p:sp>
        <p:nvSpPr>
          <p:cNvPr id="13" name="内容占位符 2">
            <a:extLst>
              <a:ext uri="{FF2B5EF4-FFF2-40B4-BE49-F238E27FC236}">
                <a16:creationId xmlns:a16="http://schemas.microsoft.com/office/drawing/2014/main" id="{760BA3FC-CCEB-8E96-465B-D73928DD23C7}"/>
              </a:ext>
            </a:extLst>
          </p:cNvPr>
          <p:cNvSpPr txBox="1">
            <a:spLocks/>
          </p:cNvSpPr>
          <p:nvPr/>
        </p:nvSpPr>
        <p:spPr>
          <a:xfrm>
            <a:off x="264035" y="5013148"/>
            <a:ext cx="4779454" cy="47031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mn-ea"/>
              </a:rPr>
              <a:t>耶克斯*多德森定律：压力与“倒转的</a:t>
            </a:r>
            <a:r>
              <a:rPr lang="en-US" altLang="zh-CN" dirty="0">
                <a:latin typeface="+mn-ea"/>
              </a:rPr>
              <a:t>U</a:t>
            </a:r>
            <a:r>
              <a:rPr lang="zh-CN" altLang="en-US" dirty="0">
                <a:latin typeface="+mn-ea"/>
              </a:rPr>
              <a:t>形曲线”</a:t>
            </a:r>
          </a:p>
        </p:txBody>
      </p:sp>
      <p:sp>
        <p:nvSpPr>
          <p:cNvPr id="14" name="内容占位符 2">
            <a:extLst>
              <a:ext uri="{FF2B5EF4-FFF2-40B4-BE49-F238E27FC236}">
                <a16:creationId xmlns:a16="http://schemas.microsoft.com/office/drawing/2014/main" id="{6CE27A2D-FD12-DE10-9760-CC5CA7543472}"/>
              </a:ext>
            </a:extLst>
          </p:cNvPr>
          <p:cNvSpPr txBox="1">
            <a:spLocks/>
          </p:cNvSpPr>
          <p:nvPr/>
        </p:nvSpPr>
        <p:spPr>
          <a:xfrm>
            <a:off x="264035" y="5558891"/>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如何正确认识考前减压？</a:t>
            </a:r>
          </a:p>
        </p:txBody>
      </p:sp>
    </p:spTree>
    <p:extLst>
      <p:ext uri="{BB962C8B-B14F-4D97-AF65-F5344CB8AC3E}">
        <p14:creationId xmlns:p14="http://schemas.microsoft.com/office/powerpoint/2010/main" val="2774609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5101A-54FD-9CD1-7987-DE55C9D8356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C866E9-F7E6-15CA-A033-5C12B4988FB5}"/>
              </a:ext>
            </a:extLst>
          </p:cNvPr>
          <p:cNvSpPr>
            <a:spLocks noGrp="1"/>
          </p:cNvSpPr>
          <p:nvPr>
            <p:ph type="title"/>
          </p:nvPr>
        </p:nvSpPr>
        <p:spPr>
          <a:xfrm>
            <a:off x="518160" y="634165"/>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（四）</a:t>
            </a:r>
          </a:p>
        </p:txBody>
      </p:sp>
      <p:sp>
        <p:nvSpPr>
          <p:cNvPr id="3" name="内容占位符 2">
            <a:extLst>
              <a:ext uri="{FF2B5EF4-FFF2-40B4-BE49-F238E27FC236}">
                <a16:creationId xmlns:a16="http://schemas.microsoft.com/office/drawing/2014/main" id="{44B1E305-C001-B0E0-FC54-CDDBE895369F}"/>
              </a:ext>
            </a:extLst>
          </p:cNvPr>
          <p:cNvSpPr>
            <a:spLocks noGrp="1"/>
          </p:cNvSpPr>
          <p:nvPr>
            <p:ph idx="1"/>
          </p:nvPr>
        </p:nvSpPr>
        <p:spPr>
          <a:xfrm>
            <a:off x="518160" y="1570817"/>
            <a:ext cx="11155680" cy="936652"/>
          </a:xfrm>
        </p:spPr>
        <p:txBody>
          <a:bodyPr/>
          <a:lstStyle/>
          <a:p>
            <a:pPr marL="0" indent="0">
              <a:buNone/>
            </a:pPr>
            <a:r>
              <a:rPr lang="zh-CN" altLang="en-US" sz="1800" dirty="0">
                <a:latin typeface="+mn-ea"/>
              </a:rPr>
              <a:t>对处于紧张焦虑状态中的考生，如果简单地给他们做放松训练，不但没有改善的可能，而且会进一步强化他们的无力感和无助感。</a:t>
            </a:r>
          </a:p>
        </p:txBody>
      </p:sp>
      <p:sp>
        <p:nvSpPr>
          <p:cNvPr id="4" name="内容占位符 2">
            <a:extLst>
              <a:ext uri="{FF2B5EF4-FFF2-40B4-BE49-F238E27FC236}">
                <a16:creationId xmlns:a16="http://schemas.microsoft.com/office/drawing/2014/main" id="{5E154557-791B-3F98-3C92-58C7D7CC9AC8}"/>
              </a:ext>
            </a:extLst>
          </p:cNvPr>
          <p:cNvSpPr txBox="1">
            <a:spLocks/>
          </p:cNvSpPr>
          <p:nvPr/>
        </p:nvSpPr>
        <p:spPr>
          <a:xfrm>
            <a:off x="264035" y="5558891"/>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如何给考前学生减压呢？</a:t>
            </a: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5" name="内容占位符 2">
            <a:extLst>
              <a:ext uri="{FF2B5EF4-FFF2-40B4-BE49-F238E27FC236}">
                <a16:creationId xmlns:a16="http://schemas.microsoft.com/office/drawing/2014/main" id="{F84606FA-77CD-9925-307F-7A43AFEB372A}"/>
              </a:ext>
            </a:extLst>
          </p:cNvPr>
          <p:cNvSpPr txBox="1">
            <a:spLocks/>
          </p:cNvSpPr>
          <p:nvPr/>
        </p:nvSpPr>
        <p:spPr>
          <a:xfrm>
            <a:off x="518160" y="2507469"/>
            <a:ext cx="3253740" cy="214869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i="1" dirty="0">
                <a:latin typeface="+mn-ea"/>
              </a:rPr>
              <a:t>目前在中高考减压认识中，存在三个误区：</a:t>
            </a:r>
            <a:endParaRPr lang="en-US" altLang="zh-CN" sz="1800" i="1" dirty="0">
              <a:latin typeface="+mn-ea"/>
            </a:endParaRPr>
          </a:p>
          <a:p>
            <a:pPr>
              <a:buFont typeface="Wingdings" panose="05000000000000000000" pitchFamily="2" charset="2"/>
              <a:buChar char="l"/>
            </a:pPr>
            <a:r>
              <a:rPr lang="zh-CN" altLang="en-US" sz="1800" i="1" dirty="0">
                <a:latin typeface="+mn-ea"/>
              </a:rPr>
              <a:t>压力减为零</a:t>
            </a:r>
            <a:endParaRPr lang="en-US" altLang="zh-CN" sz="1800" i="1" dirty="0">
              <a:latin typeface="+mn-ea"/>
            </a:endParaRPr>
          </a:p>
          <a:p>
            <a:pPr>
              <a:buFont typeface="Wingdings" panose="05000000000000000000" pitchFamily="2" charset="2"/>
              <a:buChar char="l"/>
            </a:pPr>
            <a:r>
              <a:rPr lang="zh-CN" altLang="en-US" sz="1800" i="1" dirty="0">
                <a:latin typeface="+mn-ea"/>
              </a:rPr>
              <a:t>越早减压越好</a:t>
            </a:r>
            <a:endParaRPr lang="en-US" altLang="zh-CN" sz="1800" i="1" dirty="0">
              <a:latin typeface="+mn-ea"/>
            </a:endParaRPr>
          </a:p>
          <a:p>
            <a:pPr>
              <a:buFont typeface="Wingdings" panose="05000000000000000000" pitchFamily="2" charset="2"/>
              <a:buChar char="l"/>
            </a:pPr>
            <a:r>
              <a:rPr lang="zh-CN" altLang="en-US" sz="1800" i="1" dirty="0">
                <a:latin typeface="+mn-ea"/>
              </a:rPr>
              <a:t>人人都要减压</a:t>
            </a:r>
          </a:p>
        </p:txBody>
      </p:sp>
      <p:sp>
        <p:nvSpPr>
          <p:cNvPr id="6" name="内容占位符 2">
            <a:extLst>
              <a:ext uri="{FF2B5EF4-FFF2-40B4-BE49-F238E27FC236}">
                <a16:creationId xmlns:a16="http://schemas.microsoft.com/office/drawing/2014/main" id="{8A8FF03A-753D-064E-9FDF-46D4357FA9E6}"/>
              </a:ext>
            </a:extLst>
          </p:cNvPr>
          <p:cNvSpPr txBox="1">
            <a:spLocks/>
          </p:cNvSpPr>
          <p:nvPr/>
        </p:nvSpPr>
        <p:spPr>
          <a:xfrm>
            <a:off x="3796431" y="2507469"/>
            <a:ext cx="3886201" cy="214869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latin typeface="+mn-ea"/>
              </a:rPr>
              <a:t>根据中国心理音乐治疗师协会多年积累的数据表明，科学减压的流程：</a:t>
            </a:r>
            <a:endParaRPr lang="en-US" altLang="zh-CN" sz="1800" dirty="0">
              <a:latin typeface="+mn-ea"/>
            </a:endParaRPr>
          </a:p>
          <a:p>
            <a:pPr marL="342900" indent="-342900">
              <a:buFont typeface="+mj-ea"/>
              <a:buAutoNum type="circleNumDbPlain"/>
            </a:pPr>
            <a:r>
              <a:rPr lang="zh-CN" altLang="en-US" sz="1800" dirty="0">
                <a:latin typeface="+mn-ea"/>
              </a:rPr>
              <a:t>正确评估考生心理状态</a:t>
            </a:r>
            <a:endParaRPr lang="en-US" altLang="zh-CN" sz="1800" dirty="0">
              <a:latin typeface="+mn-ea"/>
            </a:endParaRPr>
          </a:p>
          <a:p>
            <a:pPr marL="342900" indent="-342900">
              <a:buFont typeface="+mj-ea"/>
              <a:buAutoNum type="circleNumDbPlain"/>
            </a:pPr>
            <a:r>
              <a:rPr lang="zh-CN" altLang="en-US" sz="1800" dirty="0">
                <a:latin typeface="+mn-ea"/>
              </a:rPr>
              <a:t>早期增压</a:t>
            </a:r>
            <a:endParaRPr lang="en-US" altLang="zh-CN" sz="1800" dirty="0">
              <a:latin typeface="+mn-ea"/>
            </a:endParaRPr>
          </a:p>
          <a:p>
            <a:pPr marL="342900" indent="-342900">
              <a:buFont typeface="+mj-ea"/>
              <a:buAutoNum type="circleNumDbPlain"/>
            </a:pPr>
            <a:r>
              <a:rPr lang="zh-CN" altLang="en-US" sz="1800" dirty="0">
                <a:latin typeface="+mn-ea"/>
              </a:rPr>
              <a:t>中期放松</a:t>
            </a:r>
            <a:endParaRPr lang="en-US" altLang="zh-CN" sz="1800" dirty="0">
              <a:latin typeface="+mn-ea"/>
            </a:endParaRPr>
          </a:p>
          <a:p>
            <a:pPr marL="342900" indent="-342900">
              <a:buFont typeface="+mj-ea"/>
              <a:buAutoNum type="circleNumDbPlain"/>
            </a:pPr>
            <a:r>
              <a:rPr lang="zh-CN" altLang="en-US" sz="1800" dirty="0">
                <a:latin typeface="+mn-ea"/>
              </a:rPr>
              <a:t>后期减压</a:t>
            </a:r>
            <a:endParaRPr lang="zh-CN" altLang="en-US" sz="1800" i="1" dirty="0">
              <a:latin typeface="+mn-ea"/>
            </a:endParaRPr>
          </a:p>
        </p:txBody>
      </p:sp>
      <p:sp>
        <p:nvSpPr>
          <p:cNvPr id="7" name="内容占位符 2">
            <a:extLst>
              <a:ext uri="{FF2B5EF4-FFF2-40B4-BE49-F238E27FC236}">
                <a16:creationId xmlns:a16="http://schemas.microsoft.com/office/drawing/2014/main" id="{DAC707A0-C4A3-D5DC-2A24-CFA9EAAD28A8}"/>
              </a:ext>
            </a:extLst>
          </p:cNvPr>
          <p:cNvSpPr txBox="1">
            <a:spLocks/>
          </p:cNvSpPr>
          <p:nvPr/>
        </p:nvSpPr>
        <p:spPr>
          <a:xfrm>
            <a:off x="7707162" y="2507469"/>
            <a:ext cx="4365775" cy="214869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中高考学生减压的方法，包括生理减压和心理减压。</a:t>
            </a:r>
          </a:p>
          <a:p>
            <a:pPr marL="342900" indent="-342900">
              <a:buFont typeface="+mj-lt"/>
              <a:buAutoNum type="alphaLcParenR"/>
            </a:pPr>
            <a:r>
              <a:rPr lang="zh-CN" altLang="en-US" sz="1800" dirty="0">
                <a:latin typeface="+mn-ea"/>
              </a:rPr>
              <a:t>生理减压：药物、饮食和运动等</a:t>
            </a:r>
            <a:endParaRPr lang="en-US" altLang="zh-CN" sz="1800" dirty="0">
              <a:latin typeface="+mn-ea"/>
            </a:endParaRPr>
          </a:p>
          <a:p>
            <a:pPr marL="342900" indent="-342900">
              <a:buFont typeface="+mj-lt"/>
              <a:buAutoNum type="alphaLcParenR"/>
            </a:pPr>
            <a:r>
              <a:rPr lang="zh-CN" altLang="en-US" sz="1800" dirty="0">
                <a:latin typeface="+mn-ea"/>
              </a:rPr>
              <a:t>心理减压：运用心理学技术和手段</a:t>
            </a:r>
          </a:p>
        </p:txBody>
      </p:sp>
      <p:sp>
        <p:nvSpPr>
          <p:cNvPr id="8" name="内容占位符 2">
            <a:extLst>
              <a:ext uri="{FF2B5EF4-FFF2-40B4-BE49-F238E27FC236}">
                <a16:creationId xmlns:a16="http://schemas.microsoft.com/office/drawing/2014/main" id="{BB415FB3-97E6-2874-2DAC-65FE7B0954A7}"/>
              </a:ext>
            </a:extLst>
          </p:cNvPr>
          <p:cNvSpPr txBox="1">
            <a:spLocks/>
          </p:cNvSpPr>
          <p:nvPr/>
        </p:nvSpPr>
        <p:spPr>
          <a:xfrm>
            <a:off x="6636828" y="5413406"/>
            <a:ext cx="5291137" cy="90269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latin typeface="+mn-ea"/>
              </a:rPr>
              <a:t>辅助学生做恰当的生涯规划，明确前进方向，拥有现实感，以达到减缓压力的目的。</a:t>
            </a:r>
            <a:endParaRPr lang="en-US" altLang="zh-CN" sz="1800" dirty="0">
              <a:latin typeface="+mn-ea"/>
            </a:endParaRPr>
          </a:p>
        </p:txBody>
      </p:sp>
    </p:spTree>
    <p:extLst>
      <p:ext uri="{BB962C8B-B14F-4D97-AF65-F5344CB8AC3E}">
        <p14:creationId xmlns:p14="http://schemas.microsoft.com/office/powerpoint/2010/main" val="896693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38B2-215C-B133-E415-26BB5A0C83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96B343-CD74-ED13-0C99-2857EF5FDBD0}"/>
              </a:ext>
            </a:extLst>
          </p:cNvPr>
          <p:cNvSpPr>
            <a:spLocks noGrp="1"/>
          </p:cNvSpPr>
          <p:nvPr>
            <p:ph type="title"/>
          </p:nvPr>
        </p:nvSpPr>
        <p:spPr>
          <a:xfrm>
            <a:off x="518160" y="661929"/>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（五）</a:t>
            </a:r>
          </a:p>
        </p:txBody>
      </p:sp>
      <p:sp>
        <p:nvSpPr>
          <p:cNvPr id="3" name="内容占位符 2">
            <a:extLst>
              <a:ext uri="{FF2B5EF4-FFF2-40B4-BE49-F238E27FC236}">
                <a16:creationId xmlns:a16="http://schemas.microsoft.com/office/drawing/2014/main" id="{6F4A103E-2D53-8E44-196E-0FD8059B0839}"/>
              </a:ext>
            </a:extLst>
          </p:cNvPr>
          <p:cNvSpPr>
            <a:spLocks noGrp="1"/>
          </p:cNvSpPr>
          <p:nvPr>
            <p:ph idx="1"/>
          </p:nvPr>
        </p:nvSpPr>
        <p:spPr>
          <a:xfrm>
            <a:off x="4985006" y="3914992"/>
            <a:ext cx="6733413" cy="2401106"/>
          </a:xfrm>
        </p:spPr>
        <p:txBody>
          <a:bodyPr/>
          <a:lstStyle/>
          <a:p>
            <a:pPr marL="0" indent="0">
              <a:buNone/>
            </a:pPr>
            <a:r>
              <a:rPr lang="zh-CN" altLang="en-US" sz="1800" dirty="0"/>
              <a:t>而这种情况下，孩子的青春期会延长，叛逆，失控。</a:t>
            </a:r>
          </a:p>
          <a:p>
            <a:pPr marL="0" indent="0">
              <a:buNone/>
            </a:pPr>
            <a:r>
              <a:rPr lang="zh-CN" altLang="en-US" sz="1800" dirty="0"/>
              <a:t>很多时候，家长的焦虑并不完全是担忧孩子的未来，更有很多隐形的焦虑潜藏在家庭结构中。</a:t>
            </a:r>
          </a:p>
          <a:p>
            <a:pPr marL="0" indent="0">
              <a:buNone/>
            </a:pPr>
            <a:r>
              <a:rPr lang="zh-CN" altLang="en-US" sz="1800" dirty="0"/>
              <a:t>家长如果能够看到自己焦虑的根源，便能够减少他们对孩子的负性干扰，真正给孩子营造一个和谐的家庭氛围。</a:t>
            </a:r>
          </a:p>
        </p:txBody>
      </p:sp>
      <p:sp>
        <p:nvSpPr>
          <p:cNvPr id="5" name="内容占位符 2">
            <a:extLst>
              <a:ext uri="{FF2B5EF4-FFF2-40B4-BE49-F238E27FC236}">
                <a16:creationId xmlns:a16="http://schemas.microsoft.com/office/drawing/2014/main" id="{2BCB91B2-13BE-52F2-264B-EF51916CAA4F}"/>
              </a:ext>
            </a:extLst>
          </p:cNvPr>
          <p:cNvSpPr txBox="1">
            <a:spLocks/>
          </p:cNvSpPr>
          <p:nvPr/>
        </p:nvSpPr>
        <p:spPr>
          <a:xfrm>
            <a:off x="264035" y="5558891"/>
            <a:ext cx="4679440"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家长的焦虑源自何处</a:t>
            </a:r>
            <a:r>
              <a:rPr lang="zh-CN" altLang="en-US" sz="3200" dirty="0">
                <a:effectLst>
                  <a:outerShdw blurRad="38100" dist="38100" dir="2700000" algn="tl">
                    <a:srgbClr val="000000">
                      <a:alpha val="43137"/>
                    </a:srgbClr>
                  </a:outerShdw>
                </a:effectLst>
                <a:latin typeface="+mn-ea"/>
              </a:rPr>
              <a:t>？</a:t>
            </a: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6" name="内容占位符 2">
            <a:extLst>
              <a:ext uri="{FF2B5EF4-FFF2-40B4-BE49-F238E27FC236}">
                <a16:creationId xmlns:a16="http://schemas.microsoft.com/office/drawing/2014/main" id="{48A5DA5D-36F7-0211-0C49-8E4A86A71B13}"/>
              </a:ext>
            </a:extLst>
          </p:cNvPr>
          <p:cNvSpPr txBox="1">
            <a:spLocks/>
          </p:cNvSpPr>
          <p:nvPr/>
        </p:nvSpPr>
        <p:spPr>
          <a:xfrm>
            <a:off x="518160" y="1468780"/>
            <a:ext cx="5312855" cy="210768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t>在家长焦虑的背后有一个可怕的思维模式：很多家长习惯了为孩子而活着，一切都为了孩子。</a:t>
            </a:r>
          </a:p>
          <a:p>
            <a:pPr marL="0" indent="0">
              <a:buFont typeface="Arial" panose="020B0604020202020204" pitchFamily="34" charset="0"/>
              <a:buNone/>
            </a:pPr>
            <a:r>
              <a:rPr lang="zh-CN" altLang="en-US" sz="1800" dirty="0"/>
              <a:t>实际上，带给家长这么大焦虑的并不完全是高考，而是高考这个导火索激活了他们的原始焦虑。</a:t>
            </a:r>
            <a:endParaRPr lang="en-US" altLang="zh-CN" sz="1800" dirty="0"/>
          </a:p>
        </p:txBody>
      </p:sp>
      <p:sp>
        <p:nvSpPr>
          <p:cNvPr id="7" name="内容占位符 2">
            <a:extLst>
              <a:ext uri="{FF2B5EF4-FFF2-40B4-BE49-F238E27FC236}">
                <a16:creationId xmlns:a16="http://schemas.microsoft.com/office/drawing/2014/main" id="{A5218FC0-B8DB-68A5-C30D-BA389A70EDCF}"/>
              </a:ext>
            </a:extLst>
          </p:cNvPr>
          <p:cNvSpPr txBox="1">
            <a:spLocks/>
          </p:cNvSpPr>
          <p:nvPr/>
        </p:nvSpPr>
        <p:spPr>
          <a:xfrm>
            <a:off x="6096000" y="1421461"/>
            <a:ext cx="5574792" cy="255408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t>在多年的中高考个案中，我们发现现在的家庭结构有一个共性模式：</a:t>
            </a:r>
            <a:endParaRPr lang="en-US" altLang="zh-CN" sz="1800" dirty="0"/>
          </a:p>
          <a:p>
            <a:pPr>
              <a:buFont typeface="Wingdings" panose="05000000000000000000" pitchFamily="2" charset="2"/>
              <a:buChar char="l"/>
            </a:pPr>
            <a:r>
              <a:rPr lang="zh-CN" altLang="en-US" sz="1800" dirty="0"/>
              <a:t>父亲将生活的焦点放在工作上，导致父亲角色缺席</a:t>
            </a:r>
            <a:endParaRPr lang="en-US" altLang="zh-CN" sz="1800" dirty="0"/>
          </a:p>
          <a:p>
            <a:pPr>
              <a:buFont typeface="Wingdings" panose="05000000000000000000" pitchFamily="2" charset="2"/>
              <a:buChar char="l"/>
            </a:pPr>
            <a:r>
              <a:rPr lang="zh-CN" altLang="en-US" sz="1800" dirty="0"/>
              <a:t>母亲失去了对工作及丈夫的控制，于是便转向孩子，焦虑如影随形。</a:t>
            </a:r>
          </a:p>
        </p:txBody>
      </p:sp>
    </p:spTree>
    <p:extLst>
      <p:ext uri="{BB962C8B-B14F-4D97-AF65-F5344CB8AC3E}">
        <p14:creationId xmlns:p14="http://schemas.microsoft.com/office/powerpoint/2010/main" val="4233342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70365-2299-B2AA-5924-DEE980176D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694D40-A61A-DF0D-1BA2-53D6E9D6EF2D}"/>
              </a:ext>
            </a:extLst>
          </p:cNvPr>
          <p:cNvSpPr>
            <a:spLocks noGrp="1"/>
          </p:cNvSpPr>
          <p:nvPr>
            <p:ph type="title"/>
          </p:nvPr>
        </p:nvSpPr>
        <p:spPr>
          <a:xfrm>
            <a:off x="518160" y="662739"/>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（六）</a:t>
            </a:r>
          </a:p>
        </p:txBody>
      </p:sp>
      <p:sp>
        <p:nvSpPr>
          <p:cNvPr id="3" name="内容占位符 2">
            <a:extLst>
              <a:ext uri="{FF2B5EF4-FFF2-40B4-BE49-F238E27FC236}">
                <a16:creationId xmlns:a16="http://schemas.microsoft.com/office/drawing/2014/main" id="{A45FE186-0B6B-82CB-FCA6-9F09E55C68EF}"/>
              </a:ext>
            </a:extLst>
          </p:cNvPr>
          <p:cNvSpPr>
            <a:spLocks noGrp="1"/>
          </p:cNvSpPr>
          <p:nvPr>
            <p:ph idx="1"/>
          </p:nvPr>
        </p:nvSpPr>
        <p:spPr>
          <a:xfrm>
            <a:off x="521208" y="1814514"/>
            <a:ext cx="11155680" cy="2214562"/>
          </a:xfrm>
        </p:spPr>
        <p:txBody>
          <a:bodyPr/>
          <a:lstStyle/>
          <a:p>
            <a:pPr marL="0" indent="0">
              <a:buNone/>
            </a:pPr>
            <a:r>
              <a:rPr lang="zh-CN" altLang="en-US" sz="1800" dirty="0"/>
              <a:t>很多孩子中高考前夕出现的问题，其实都与家庭有着密不可分的关系。</a:t>
            </a:r>
          </a:p>
          <a:p>
            <a:pPr marL="0" indent="0">
              <a:buNone/>
            </a:pPr>
            <a:r>
              <a:rPr lang="zh-CN" altLang="en-US" sz="1800" dirty="0"/>
              <a:t>当父母的关系出现问题时，孩子会伤害自己，目的是拯救父母的关系。</a:t>
            </a:r>
          </a:p>
          <a:p>
            <a:pPr marL="0" indent="0">
              <a:buNone/>
            </a:pPr>
            <a:r>
              <a:rPr lang="zh-CN" altLang="en-US" sz="1800" dirty="0"/>
              <a:t>有的孩子长期压抑，难以体会成长的快乐。</a:t>
            </a:r>
          </a:p>
          <a:p>
            <a:pPr marL="0" indent="0">
              <a:buNone/>
            </a:pPr>
            <a:r>
              <a:rPr lang="zh-CN" altLang="en-US" sz="1800" dirty="0"/>
              <a:t>有的孩子会用问题行为将父母置身于风雨同舟的境地。</a:t>
            </a:r>
          </a:p>
        </p:txBody>
      </p:sp>
      <p:sp>
        <p:nvSpPr>
          <p:cNvPr id="4" name="内容占位符 2">
            <a:extLst>
              <a:ext uri="{FF2B5EF4-FFF2-40B4-BE49-F238E27FC236}">
                <a16:creationId xmlns:a16="http://schemas.microsoft.com/office/drawing/2014/main" id="{471122C7-C06B-1644-C1B8-CFDCF9B20041}"/>
              </a:ext>
            </a:extLst>
          </p:cNvPr>
          <p:cNvSpPr txBox="1">
            <a:spLocks/>
          </p:cNvSpPr>
          <p:nvPr/>
        </p:nvSpPr>
        <p:spPr>
          <a:xfrm>
            <a:off x="264034" y="5558891"/>
            <a:ext cx="5122353"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孩子考完了，就各自为政？</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056164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1647B-66A0-660F-BBF8-5044AEFB19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549644-A754-9445-E6E2-20A3BD3549D6}"/>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（七）</a:t>
            </a:r>
          </a:p>
        </p:txBody>
      </p:sp>
      <p:sp>
        <p:nvSpPr>
          <p:cNvPr id="3" name="内容占位符 2">
            <a:extLst>
              <a:ext uri="{FF2B5EF4-FFF2-40B4-BE49-F238E27FC236}">
                <a16:creationId xmlns:a16="http://schemas.microsoft.com/office/drawing/2014/main" id="{B2413F73-0C0C-1295-A54B-CCE12118F499}"/>
              </a:ext>
            </a:extLst>
          </p:cNvPr>
          <p:cNvSpPr>
            <a:spLocks noGrp="1"/>
          </p:cNvSpPr>
          <p:nvPr>
            <p:ph idx="1"/>
          </p:nvPr>
        </p:nvSpPr>
        <p:spPr>
          <a:xfrm>
            <a:off x="521207" y="2687430"/>
            <a:ext cx="11149584" cy="2900199"/>
          </a:xfrm>
        </p:spPr>
        <p:txBody>
          <a:bodyPr/>
          <a:lstStyle/>
          <a:p>
            <a:pPr marL="0" indent="0">
              <a:buNone/>
            </a:pPr>
            <a:r>
              <a:rPr lang="en-US" altLang="zh-CN" sz="1800" b="1" dirty="0">
                <a:latin typeface="+mn-ea"/>
              </a:rPr>
              <a:t>1</a:t>
            </a:r>
            <a:r>
              <a:rPr lang="zh-CN" altLang="en-US" sz="1800" b="1" dirty="0">
                <a:latin typeface="+mn-ea"/>
              </a:rPr>
              <a:t>、所有的准备都提前到前六个月，而不是一个月</a:t>
            </a:r>
          </a:p>
          <a:p>
            <a:pPr marL="0" indent="0">
              <a:buNone/>
            </a:pPr>
            <a:r>
              <a:rPr lang="zh-CN" altLang="en-US" sz="1800" dirty="0">
                <a:latin typeface="+mn-ea"/>
              </a:rPr>
              <a:t>考前一个月才做准备，反而会给考生增加压力，包括饮食和生活习惯的改善，应趋于平常化。</a:t>
            </a:r>
          </a:p>
          <a:p>
            <a:pPr marL="0" indent="0">
              <a:buNone/>
            </a:pPr>
            <a:r>
              <a:rPr lang="zh-CN" altLang="en-US" sz="1800" dirty="0">
                <a:latin typeface="+mn-ea"/>
              </a:rPr>
              <a:t>提前一两个月带孩子去熟悉考场环境以及旅馆，中间可以抽空去旅馆住一住。</a:t>
            </a:r>
          </a:p>
          <a:p>
            <a:pPr marL="0" indent="0">
              <a:buNone/>
            </a:pPr>
            <a:r>
              <a:rPr lang="zh-CN" altLang="en-US" sz="1800" dirty="0">
                <a:latin typeface="+mn-ea"/>
              </a:rPr>
              <a:t>看考场，看旅馆，看交通路线，讨论一下一旦发生交通堵塞可采取的几种解决方案。</a:t>
            </a:r>
          </a:p>
          <a:p>
            <a:pPr marL="0" indent="0">
              <a:buNone/>
            </a:pPr>
            <a:r>
              <a:rPr lang="zh-CN" altLang="en-US" sz="1800" dirty="0">
                <a:latin typeface="+mn-ea"/>
              </a:rPr>
              <a:t>考试的前一天晚上，检查孩子的准考证是否放在备考袋中。</a:t>
            </a:r>
          </a:p>
          <a:p>
            <a:pPr marL="0" indent="0">
              <a:buNone/>
            </a:pPr>
            <a:r>
              <a:rPr lang="zh-CN" altLang="en-US" sz="1800" dirty="0">
                <a:latin typeface="+mn-ea"/>
              </a:rPr>
              <a:t>还有其他物品的准备。</a:t>
            </a:r>
          </a:p>
          <a:p>
            <a:pPr marL="0" indent="0">
              <a:buNone/>
            </a:pPr>
            <a:endParaRPr lang="zh-CN" altLang="en-US" sz="1800" dirty="0">
              <a:latin typeface="+mn-ea"/>
            </a:endParaRPr>
          </a:p>
          <a:p>
            <a:pPr marL="0" indent="0">
              <a:buNone/>
            </a:pPr>
            <a:endParaRPr lang="zh-CN" altLang="en-US" sz="1800" dirty="0">
              <a:latin typeface="+mn-ea"/>
            </a:endParaRPr>
          </a:p>
        </p:txBody>
      </p:sp>
      <p:sp>
        <p:nvSpPr>
          <p:cNvPr id="4" name="内容占位符 2">
            <a:extLst>
              <a:ext uri="{FF2B5EF4-FFF2-40B4-BE49-F238E27FC236}">
                <a16:creationId xmlns:a16="http://schemas.microsoft.com/office/drawing/2014/main" id="{7C57D2F9-C5F4-A6B0-67AE-BB8E6A3BCEAF}"/>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endParaRP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6" name="内容占位符 2">
            <a:extLst>
              <a:ext uri="{FF2B5EF4-FFF2-40B4-BE49-F238E27FC236}">
                <a16:creationId xmlns:a16="http://schemas.microsoft.com/office/drawing/2014/main" id="{21060E0E-E457-05DA-5DBB-B0276CCFC7DB}"/>
              </a:ext>
            </a:extLst>
          </p:cNvPr>
          <p:cNvSpPr txBox="1">
            <a:spLocks/>
          </p:cNvSpPr>
          <p:nvPr/>
        </p:nvSpPr>
        <p:spPr>
          <a:xfrm>
            <a:off x="515112" y="1578111"/>
            <a:ext cx="11155679" cy="93665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i="1" dirty="0"/>
              <a:t>考前家长的心态很重要，平和的心态才能够对孩子起到积极的支持作用。</a:t>
            </a:r>
            <a:endParaRPr lang="en-US" altLang="zh-CN" sz="1800" i="1" dirty="0"/>
          </a:p>
          <a:p>
            <a:pPr marL="0" indent="0">
              <a:buFont typeface="Arial" panose="020B0604020202020204" pitchFamily="34" charset="0"/>
              <a:buNone/>
            </a:pPr>
            <a:r>
              <a:rPr lang="zh-CN" altLang="en-US" sz="1800" i="1" dirty="0"/>
              <a:t>不要给孩子施加过多的精神压力。</a:t>
            </a:r>
          </a:p>
        </p:txBody>
      </p:sp>
    </p:spTree>
    <p:extLst>
      <p:ext uri="{BB962C8B-B14F-4D97-AF65-F5344CB8AC3E}">
        <p14:creationId xmlns:p14="http://schemas.microsoft.com/office/powerpoint/2010/main" val="986969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B856-58BA-49A6-ED85-20BD4BED35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C7B25D-3F0E-2722-E50F-995F717A0D18}"/>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（八）</a:t>
            </a:r>
          </a:p>
        </p:txBody>
      </p:sp>
      <p:sp>
        <p:nvSpPr>
          <p:cNvPr id="4" name="内容占位符 2">
            <a:extLst>
              <a:ext uri="{FF2B5EF4-FFF2-40B4-BE49-F238E27FC236}">
                <a16:creationId xmlns:a16="http://schemas.microsoft.com/office/drawing/2014/main" id="{68537BB8-5C73-740E-F438-B4837B9F987D}"/>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5" name="内容占位符 2">
            <a:extLst>
              <a:ext uri="{FF2B5EF4-FFF2-40B4-BE49-F238E27FC236}">
                <a16:creationId xmlns:a16="http://schemas.microsoft.com/office/drawing/2014/main" id="{5EE64210-9D8A-EB92-68A3-810E44228B2F}"/>
              </a:ext>
            </a:extLst>
          </p:cNvPr>
          <p:cNvSpPr txBox="1">
            <a:spLocks/>
          </p:cNvSpPr>
          <p:nvPr/>
        </p:nvSpPr>
        <p:spPr>
          <a:xfrm>
            <a:off x="515111" y="1699406"/>
            <a:ext cx="11155680" cy="397273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latin typeface="+mn-ea"/>
              </a:rPr>
              <a:t>2</a:t>
            </a:r>
            <a:r>
              <a:rPr lang="zh-CN" altLang="en-US" sz="1800" b="1" dirty="0">
                <a:latin typeface="+mn-ea"/>
              </a:rPr>
              <a:t>、帮助制订复习计划</a:t>
            </a:r>
            <a:endParaRPr lang="en-US" altLang="zh-CN" sz="1800" b="1" dirty="0">
              <a:latin typeface="+mn-ea"/>
            </a:endParaRPr>
          </a:p>
          <a:p>
            <a:pPr marL="0" indent="0">
              <a:buFont typeface="Arial" panose="020B0604020202020204" pitchFamily="34" charset="0"/>
              <a:buNone/>
            </a:pPr>
            <a:endParaRPr lang="zh-CN" altLang="en-US" sz="1800" b="1" dirty="0">
              <a:latin typeface="+mn-ea"/>
            </a:endParaRPr>
          </a:p>
          <a:p>
            <a:pPr marL="0" indent="0">
              <a:buFont typeface="Arial" panose="020B0604020202020204" pitchFamily="34" charset="0"/>
              <a:buNone/>
            </a:pPr>
            <a:r>
              <a:rPr lang="zh-CN" altLang="en-US" sz="1800" dirty="0">
                <a:latin typeface="+mn-ea"/>
              </a:rPr>
              <a:t>制订复习计划应以孩子的意见为主，家长可以进行一些必要的指导和提示，但绝不能包办代替。</a:t>
            </a: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r>
              <a:rPr lang="zh-CN" altLang="en-US" sz="1800" dirty="0">
                <a:latin typeface="+mn-ea"/>
              </a:rPr>
              <a:t>让孩子充分发挥其自主性。</a:t>
            </a: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endParaRPr lang="zh-CN" altLang="en-US" sz="1800" dirty="0">
              <a:latin typeface="+mn-ea"/>
            </a:endParaRPr>
          </a:p>
        </p:txBody>
      </p:sp>
    </p:spTree>
    <p:extLst>
      <p:ext uri="{BB962C8B-B14F-4D97-AF65-F5344CB8AC3E}">
        <p14:creationId xmlns:p14="http://schemas.microsoft.com/office/powerpoint/2010/main" val="1095790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422C-8ECB-DB58-59D4-A0000DDAEB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1B84DB-2EE5-1EB4-21B8-431A0F01DD5D}"/>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（九）</a:t>
            </a:r>
          </a:p>
        </p:txBody>
      </p:sp>
      <p:sp>
        <p:nvSpPr>
          <p:cNvPr id="3" name="内容占位符 2">
            <a:extLst>
              <a:ext uri="{FF2B5EF4-FFF2-40B4-BE49-F238E27FC236}">
                <a16:creationId xmlns:a16="http://schemas.microsoft.com/office/drawing/2014/main" id="{91767350-2128-F5B4-0F78-13102D1038D7}"/>
              </a:ext>
            </a:extLst>
          </p:cNvPr>
          <p:cNvSpPr>
            <a:spLocks noGrp="1"/>
          </p:cNvSpPr>
          <p:nvPr>
            <p:ph idx="1"/>
          </p:nvPr>
        </p:nvSpPr>
        <p:spPr>
          <a:xfrm>
            <a:off x="521208" y="1699405"/>
            <a:ext cx="11155680" cy="3859486"/>
          </a:xfrm>
        </p:spPr>
        <p:txBody>
          <a:bodyPr/>
          <a:lstStyle/>
          <a:p>
            <a:pPr marL="0" indent="0">
              <a:buNone/>
            </a:pPr>
            <a:r>
              <a:rPr lang="en-US" altLang="zh-CN" sz="1800" b="1" dirty="0">
                <a:latin typeface="+mn-ea"/>
              </a:rPr>
              <a:t>3</a:t>
            </a:r>
            <a:r>
              <a:rPr lang="zh-CN" altLang="en-US" sz="1800" b="1" dirty="0">
                <a:latin typeface="+mn-ea"/>
              </a:rPr>
              <a:t>、创造良好的复习环境</a:t>
            </a:r>
          </a:p>
          <a:p>
            <a:pPr marL="0" indent="0">
              <a:buNone/>
            </a:pPr>
            <a:endParaRPr lang="zh-CN" altLang="en-US" sz="1800" dirty="0">
              <a:latin typeface="+mn-ea"/>
            </a:endParaRPr>
          </a:p>
          <a:p>
            <a:pPr marL="0" indent="0">
              <a:buNone/>
            </a:pPr>
            <a:r>
              <a:rPr lang="zh-CN" altLang="en-US" sz="1800" dirty="0">
                <a:latin typeface="+mn-ea"/>
              </a:rPr>
              <a:t>备考阶段，家长要想方设法使家庭的环境相对安静。</a:t>
            </a:r>
          </a:p>
          <a:p>
            <a:pPr marL="0" indent="0">
              <a:buNone/>
            </a:pPr>
            <a:endParaRPr lang="zh-CN" altLang="en-US" sz="1800" dirty="0">
              <a:latin typeface="+mn-ea"/>
            </a:endParaRPr>
          </a:p>
          <a:p>
            <a:pPr lvl="1">
              <a:buFont typeface="Wingdings" panose="05000000000000000000" pitchFamily="2" charset="2"/>
              <a:buChar char="ü"/>
            </a:pPr>
            <a:r>
              <a:rPr lang="zh-CN" altLang="en-US" sz="1800" dirty="0">
                <a:latin typeface="+mn-ea"/>
              </a:rPr>
              <a:t>不要看太过于吸引孩子的电视节目</a:t>
            </a:r>
            <a:endParaRPr lang="en-US" altLang="zh-CN" sz="1800" dirty="0">
              <a:latin typeface="+mn-ea"/>
            </a:endParaRPr>
          </a:p>
          <a:p>
            <a:pPr lvl="1">
              <a:buFont typeface="Wingdings" panose="05000000000000000000" pitchFamily="2" charset="2"/>
              <a:buChar char="ü"/>
            </a:pPr>
            <a:r>
              <a:rPr lang="zh-CN" altLang="en-US" sz="1800" dirty="0">
                <a:latin typeface="+mn-ea"/>
              </a:rPr>
              <a:t>不会客，或尽量在家以外的地方会客</a:t>
            </a:r>
            <a:endParaRPr lang="en-US" altLang="zh-CN" sz="1800" dirty="0">
              <a:latin typeface="+mn-ea"/>
            </a:endParaRPr>
          </a:p>
          <a:p>
            <a:pPr lvl="1">
              <a:buFont typeface="Wingdings" panose="05000000000000000000" pitchFamily="2" charset="2"/>
              <a:buChar char="ü"/>
            </a:pPr>
            <a:r>
              <a:rPr lang="zh-CN" altLang="en-US" sz="1800" dirty="0">
                <a:latin typeface="+mn-ea"/>
              </a:rPr>
              <a:t>尽量少打电话，或通话简短，不要拉家常、闲聊天。</a:t>
            </a:r>
          </a:p>
          <a:p>
            <a:pPr marL="0" indent="0">
              <a:buNone/>
            </a:pPr>
            <a:endParaRPr lang="zh-CN" altLang="en-US" sz="1800" dirty="0">
              <a:latin typeface="+mn-ea"/>
            </a:endParaRPr>
          </a:p>
          <a:p>
            <a:pPr marL="0" indent="0">
              <a:buNone/>
            </a:pPr>
            <a:endParaRPr lang="zh-CN" altLang="en-US" sz="1800" dirty="0">
              <a:latin typeface="+mn-ea"/>
            </a:endParaRPr>
          </a:p>
        </p:txBody>
      </p:sp>
      <p:sp>
        <p:nvSpPr>
          <p:cNvPr id="4" name="内容占位符 2">
            <a:extLst>
              <a:ext uri="{FF2B5EF4-FFF2-40B4-BE49-F238E27FC236}">
                <a16:creationId xmlns:a16="http://schemas.microsoft.com/office/drawing/2014/main" id="{34B4F9BF-1521-2EA5-CF7F-8FCB9974599A}"/>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947208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FDF0A-364E-9282-CAD7-A99C57EC59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77D56A-A945-1A79-E01C-454E782E2DDE}"/>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（十）</a:t>
            </a:r>
          </a:p>
        </p:txBody>
      </p:sp>
      <p:sp>
        <p:nvSpPr>
          <p:cNvPr id="3" name="内容占位符 2">
            <a:extLst>
              <a:ext uri="{FF2B5EF4-FFF2-40B4-BE49-F238E27FC236}">
                <a16:creationId xmlns:a16="http://schemas.microsoft.com/office/drawing/2014/main" id="{30DD122E-0816-89AE-B465-11EDCE8CBD69}"/>
              </a:ext>
            </a:extLst>
          </p:cNvPr>
          <p:cNvSpPr>
            <a:spLocks noGrp="1"/>
          </p:cNvSpPr>
          <p:nvPr>
            <p:ph idx="1"/>
          </p:nvPr>
        </p:nvSpPr>
        <p:spPr>
          <a:xfrm>
            <a:off x="521208" y="1699404"/>
            <a:ext cx="11155680" cy="3701271"/>
          </a:xfrm>
        </p:spPr>
        <p:txBody>
          <a:bodyPr/>
          <a:lstStyle/>
          <a:p>
            <a:pPr marL="0" indent="0">
              <a:buNone/>
            </a:pPr>
            <a:r>
              <a:rPr lang="en-US" altLang="zh-CN" sz="1800" b="1" dirty="0">
                <a:latin typeface="+mn-ea"/>
              </a:rPr>
              <a:t>4</a:t>
            </a:r>
            <a:r>
              <a:rPr lang="zh-CN" altLang="en-US" sz="1800" b="1" dirty="0">
                <a:latin typeface="+mn-ea"/>
              </a:rPr>
              <a:t>、督促孩子运动与娱乐</a:t>
            </a:r>
          </a:p>
          <a:p>
            <a:pPr marL="0" indent="0">
              <a:buNone/>
            </a:pPr>
            <a:endParaRPr lang="zh-CN" altLang="en-US" sz="1800" dirty="0">
              <a:latin typeface="+mn-ea"/>
            </a:endParaRPr>
          </a:p>
          <a:p>
            <a:pPr marL="0" indent="0">
              <a:buNone/>
            </a:pPr>
            <a:r>
              <a:rPr lang="zh-CN" altLang="en-US" sz="1800" dirty="0">
                <a:latin typeface="+mn-ea"/>
              </a:rPr>
              <a:t>复习期间做必要的、适度的轻微运动。</a:t>
            </a:r>
          </a:p>
          <a:p>
            <a:pPr marL="0" indent="0">
              <a:buNone/>
            </a:pPr>
            <a:endParaRPr lang="zh-CN" altLang="en-US" sz="1800" dirty="0">
              <a:latin typeface="+mn-ea"/>
            </a:endParaRPr>
          </a:p>
          <a:p>
            <a:pPr marL="0" indent="0">
              <a:buNone/>
            </a:pPr>
            <a:r>
              <a:rPr lang="zh-CN" altLang="en-US" sz="1800" dirty="0">
                <a:latin typeface="+mn-ea"/>
              </a:rPr>
              <a:t>例如散步、做俯卧撑等，八段锦、打太极，有助于解除疲劳、焕发精力。</a:t>
            </a:r>
          </a:p>
          <a:p>
            <a:pPr marL="0" indent="0">
              <a:buNone/>
            </a:pPr>
            <a:r>
              <a:rPr lang="zh-CN" altLang="en-US" sz="1800" dirty="0">
                <a:latin typeface="+mn-ea"/>
              </a:rPr>
              <a:t>还可以在休息期间听听喜欢的音乐。</a:t>
            </a:r>
          </a:p>
          <a:p>
            <a:pPr marL="0" indent="0">
              <a:buNone/>
            </a:pPr>
            <a:r>
              <a:rPr lang="zh-CN" altLang="en-US" sz="1800" dirty="0">
                <a:latin typeface="+mn-ea"/>
              </a:rPr>
              <a:t>但不宜看强烈的、有刺激性的节目。</a:t>
            </a:r>
          </a:p>
        </p:txBody>
      </p:sp>
      <p:sp>
        <p:nvSpPr>
          <p:cNvPr id="4" name="内容占位符 2">
            <a:extLst>
              <a:ext uri="{FF2B5EF4-FFF2-40B4-BE49-F238E27FC236}">
                <a16:creationId xmlns:a16="http://schemas.microsoft.com/office/drawing/2014/main" id="{FDEA665F-634E-488A-529C-4AD3BD30936C}"/>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66989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C770-15FF-A3B7-B855-BCB2947BEC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EA9F81-855B-B35C-C1D6-25FC63E2B590}"/>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（十一）</a:t>
            </a:r>
          </a:p>
        </p:txBody>
      </p:sp>
      <p:sp>
        <p:nvSpPr>
          <p:cNvPr id="3" name="内容占位符 2">
            <a:extLst>
              <a:ext uri="{FF2B5EF4-FFF2-40B4-BE49-F238E27FC236}">
                <a16:creationId xmlns:a16="http://schemas.microsoft.com/office/drawing/2014/main" id="{7C715949-A676-82ED-5864-F9D44B25D6B8}"/>
              </a:ext>
            </a:extLst>
          </p:cNvPr>
          <p:cNvSpPr>
            <a:spLocks noGrp="1"/>
          </p:cNvSpPr>
          <p:nvPr>
            <p:ph idx="1"/>
          </p:nvPr>
        </p:nvSpPr>
        <p:spPr>
          <a:xfrm>
            <a:off x="521208" y="1699405"/>
            <a:ext cx="11155680" cy="3229783"/>
          </a:xfrm>
        </p:spPr>
        <p:txBody>
          <a:bodyPr/>
          <a:lstStyle/>
          <a:p>
            <a:pPr marL="0" indent="0">
              <a:buNone/>
            </a:pPr>
            <a:r>
              <a:rPr lang="en-US" altLang="zh-CN" sz="1800" dirty="0">
                <a:latin typeface="+mn-ea"/>
              </a:rPr>
              <a:t>5</a:t>
            </a:r>
            <a:r>
              <a:rPr lang="zh-CN" altLang="en-US" sz="1800" dirty="0">
                <a:latin typeface="+mn-ea"/>
              </a:rPr>
              <a:t>、确保孩子身体健康</a:t>
            </a:r>
          </a:p>
          <a:p>
            <a:pPr marL="0" indent="0">
              <a:buNone/>
            </a:pPr>
            <a:endParaRPr lang="zh-CN" altLang="en-US" sz="1800" dirty="0">
              <a:latin typeface="+mn-ea"/>
            </a:endParaRPr>
          </a:p>
          <a:p>
            <a:pPr marL="0" indent="0">
              <a:buNone/>
            </a:pPr>
            <a:r>
              <a:rPr lang="zh-CN" altLang="en-US" sz="1800" dirty="0">
                <a:latin typeface="+mn-ea"/>
              </a:rPr>
              <a:t>饮食卫生问题。</a:t>
            </a:r>
          </a:p>
          <a:p>
            <a:pPr marL="0" indent="0">
              <a:buNone/>
            </a:pPr>
            <a:r>
              <a:rPr lang="zh-CN" altLang="en-US" sz="1800" dirty="0">
                <a:latin typeface="+mn-ea"/>
              </a:rPr>
              <a:t>空调使用问题。</a:t>
            </a:r>
          </a:p>
        </p:txBody>
      </p:sp>
      <p:sp>
        <p:nvSpPr>
          <p:cNvPr id="4" name="内容占位符 2">
            <a:extLst>
              <a:ext uri="{FF2B5EF4-FFF2-40B4-BE49-F238E27FC236}">
                <a16:creationId xmlns:a16="http://schemas.microsoft.com/office/drawing/2014/main" id="{DC634FD4-15B4-18F9-EF8B-EDEE41BEACB4}"/>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612565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93EE9-B0D4-A577-A75E-2C57A78277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A76E41-5CE4-6D5C-5B3E-1D2D5ED70A66}"/>
              </a:ext>
            </a:extLst>
          </p:cNvPr>
          <p:cNvSpPr>
            <a:spLocks noGrp="1"/>
          </p:cNvSpPr>
          <p:nvPr>
            <p:ph type="title"/>
          </p:nvPr>
        </p:nvSpPr>
        <p:spPr>
          <a:xfrm>
            <a:off x="521208" y="662737"/>
            <a:ext cx="11155680" cy="936652"/>
          </a:xfrm>
        </p:spPr>
        <p:txBody>
          <a:bodyPr/>
          <a:lstStyle/>
          <a:p>
            <a:r>
              <a:rPr lang="zh-CN" altLang="en-US" sz="4400" dirty="0"/>
              <a:t>摆渡技术：考前心理总动员</a:t>
            </a:r>
            <a:r>
              <a:rPr lang="zh-CN" altLang="en-US" sz="4400" dirty="0">
                <a:latin typeface="+mn-ea"/>
              </a:rPr>
              <a:t>家长篇</a:t>
            </a:r>
            <a:r>
              <a:rPr lang="zh-CN" altLang="en-US" sz="4400" dirty="0"/>
              <a:t>（十二）</a:t>
            </a:r>
          </a:p>
        </p:txBody>
      </p:sp>
      <p:sp>
        <p:nvSpPr>
          <p:cNvPr id="3" name="内容占位符 2">
            <a:extLst>
              <a:ext uri="{FF2B5EF4-FFF2-40B4-BE49-F238E27FC236}">
                <a16:creationId xmlns:a16="http://schemas.microsoft.com/office/drawing/2014/main" id="{E24526CF-5562-3411-3784-1EA3D2E7DFCB}"/>
              </a:ext>
            </a:extLst>
          </p:cNvPr>
          <p:cNvSpPr>
            <a:spLocks noGrp="1"/>
          </p:cNvSpPr>
          <p:nvPr>
            <p:ph idx="1"/>
          </p:nvPr>
        </p:nvSpPr>
        <p:spPr>
          <a:xfrm>
            <a:off x="521208" y="1828800"/>
            <a:ext cx="11155680" cy="3629025"/>
          </a:xfrm>
        </p:spPr>
        <p:txBody>
          <a:bodyPr/>
          <a:lstStyle/>
          <a:p>
            <a:pPr marL="0" indent="0">
              <a:buNone/>
            </a:pPr>
            <a:r>
              <a:rPr lang="en-US" altLang="zh-CN" sz="1800" b="1" dirty="0">
                <a:latin typeface="+mn-ea"/>
              </a:rPr>
              <a:t>6</a:t>
            </a:r>
            <a:r>
              <a:rPr lang="zh-CN" altLang="en-US" sz="1800" b="1" dirty="0">
                <a:latin typeface="+mn-ea"/>
              </a:rPr>
              <a:t>、经常帮助孩子调整心态</a:t>
            </a:r>
          </a:p>
          <a:p>
            <a:pPr marL="0" indent="0">
              <a:buNone/>
            </a:pPr>
            <a:r>
              <a:rPr lang="zh-CN" altLang="en-US" sz="1800" dirty="0">
                <a:latin typeface="+mn-ea"/>
              </a:rPr>
              <a:t>孩子在备考阶段出现心态变化情绪是正常的现象，不必过于担心，要以平等的身份从尊重孩子人格的角度出发，帮助孩子及时调整心态。</a:t>
            </a:r>
            <a:endParaRPr lang="en-US" altLang="zh-CN" sz="1800" dirty="0">
              <a:latin typeface="+mn-ea"/>
            </a:endParaRPr>
          </a:p>
          <a:p>
            <a:pPr marL="0" indent="0">
              <a:buNone/>
            </a:pPr>
            <a:endParaRPr lang="en-US" altLang="zh-CN" sz="1800" dirty="0">
              <a:latin typeface="+mn-ea"/>
            </a:endParaRPr>
          </a:p>
          <a:p>
            <a:pPr marL="0" indent="0">
              <a:buNone/>
            </a:pPr>
            <a:r>
              <a:rPr lang="en-US" altLang="zh-CN" sz="1800" b="1" dirty="0">
                <a:latin typeface="+mn-ea"/>
              </a:rPr>
              <a:t>7</a:t>
            </a:r>
            <a:r>
              <a:rPr lang="zh-CN" altLang="en-US" sz="1800" b="1" dirty="0">
                <a:latin typeface="+mn-ea"/>
              </a:rPr>
              <a:t>、积极关注和鼓励</a:t>
            </a:r>
          </a:p>
          <a:p>
            <a:pPr marL="0" indent="0">
              <a:buNone/>
            </a:pPr>
            <a:r>
              <a:rPr lang="zh-CN" altLang="en-US" sz="1800" dirty="0">
                <a:latin typeface="+mn-ea"/>
              </a:rPr>
              <a:t>家长应该多做鼓励和积极暗示。</a:t>
            </a:r>
          </a:p>
          <a:p>
            <a:pPr marL="0" indent="0">
              <a:buNone/>
            </a:pPr>
            <a:r>
              <a:rPr lang="zh-CN" altLang="en-US" sz="1800" dirty="0">
                <a:latin typeface="+mn-ea"/>
              </a:rPr>
              <a:t>但不要用过高的期望造成孩子心理压力。</a:t>
            </a:r>
          </a:p>
          <a:p>
            <a:pPr marL="0" indent="0">
              <a:buNone/>
            </a:pPr>
            <a:endParaRPr lang="zh-CN" altLang="en-US" sz="1800" dirty="0">
              <a:latin typeface="+mn-ea"/>
            </a:endParaRPr>
          </a:p>
        </p:txBody>
      </p:sp>
      <p:sp>
        <p:nvSpPr>
          <p:cNvPr id="4" name="内容占位符 2">
            <a:extLst>
              <a:ext uri="{FF2B5EF4-FFF2-40B4-BE49-F238E27FC236}">
                <a16:creationId xmlns:a16="http://schemas.microsoft.com/office/drawing/2014/main" id="{BED51311-2DB4-4AD6-C486-696939849442}"/>
              </a:ext>
            </a:extLst>
          </p:cNvPr>
          <p:cNvSpPr txBox="1">
            <a:spLocks/>
          </p:cNvSpPr>
          <p:nvPr/>
        </p:nvSpPr>
        <p:spPr>
          <a:xfrm>
            <a:off x="264034" y="5558891"/>
            <a:ext cx="62653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rPr>
              <a:t>家长只需做好重要陪护</a:t>
            </a:r>
          </a:p>
          <a:p>
            <a:pPr marL="0" indent="0">
              <a:buNone/>
            </a:pPr>
            <a:endParaRPr lang="zh-CN" altLang="en-US" sz="3200" dirty="0">
              <a:effectLst>
                <a:outerShdw blurRad="38100" dist="38100" dir="2700000" algn="tl">
                  <a:srgbClr val="000000">
                    <a:alpha val="43137"/>
                  </a:srgbClr>
                </a:outerShdw>
              </a:effectLst>
              <a:latin typeface="+mn-ea"/>
            </a:endParaRP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401173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1461-6B34-B4D4-36CF-2403E90473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88B20F-274E-D980-4F2E-C2239C8C0877}"/>
              </a:ext>
            </a:extLst>
          </p:cNvPr>
          <p:cNvSpPr>
            <a:spLocks noGrp="1"/>
          </p:cNvSpPr>
          <p:nvPr>
            <p:ph type="title"/>
          </p:nvPr>
        </p:nvSpPr>
        <p:spPr>
          <a:xfrm>
            <a:off x="521208" y="662737"/>
            <a:ext cx="11155680" cy="936652"/>
          </a:xfrm>
        </p:spPr>
        <p:txBody>
          <a:bodyPr/>
          <a:lstStyle/>
          <a:p>
            <a:r>
              <a:rPr lang="zh-CN" altLang="en-US" sz="4400" dirty="0"/>
              <a:t>中高考减压音乐摆渡的原理（一）</a:t>
            </a:r>
          </a:p>
        </p:txBody>
      </p:sp>
      <p:sp>
        <p:nvSpPr>
          <p:cNvPr id="3" name="内容占位符 2">
            <a:extLst>
              <a:ext uri="{FF2B5EF4-FFF2-40B4-BE49-F238E27FC236}">
                <a16:creationId xmlns:a16="http://schemas.microsoft.com/office/drawing/2014/main" id="{4FFDE198-1736-2D86-56B1-3FD9FCA83890}"/>
              </a:ext>
            </a:extLst>
          </p:cNvPr>
          <p:cNvSpPr>
            <a:spLocks noGrp="1"/>
          </p:cNvSpPr>
          <p:nvPr>
            <p:ph idx="1"/>
          </p:nvPr>
        </p:nvSpPr>
        <p:spPr>
          <a:xfrm>
            <a:off x="4757739" y="1599389"/>
            <a:ext cx="6913054" cy="5129212"/>
          </a:xfrm>
        </p:spPr>
        <p:txBody>
          <a:bodyPr/>
          <a:lstStyle/>
          <a:p>
            <a:pPr marL="0" indent="0">
              <a:buNone/>
            </a:pPr>
            <a:r>
              <a:rPr lang="zh-CN" altLang="en-US" sz="1800" dirty="0">
                <a:latin typeface="+mn-ea"/>
              </a:rPr>
              <a:t>用中医的情绪管理，让学生不稳定的焦虑和抑郁稳定在心房和中脘这里。</a:t>
            </a:r>
          </a:p>
          <a:p>
            <a:pPr marL="0" indent="0">
              <a:buNone/>
            </a:pPr>
            <a:r>
              <a:rPr lang="zh-CN" altLang="en-US" sz="1800" dirty="0">
                <a:latin typeface="+mn-ea"/>
              </a:rPr>
              <a:t>用音乐压力免疫接种程序，让学生对铃声、钟声等比较敏感的声音而引起的焦虑进行脱敏。</a:t>
            </a:r>
          </a:p>
          <a:p>
            <a:pPr marL="0" indent="0">
              <a:buNone/>
            </a:pPr>
            <a:r>
              <a:rPr lang="zh-CN" altLang="en-US" sz="1800" dirty="0">
                <a:latin typeface="+mn-ea"/>
              </a:rPr>
              <a:t>用心灵排毒的方法，配合意向，感觉雨水从身体内部淋下去带走疲惫，带走不安。</a:t>
            </a:r>
          </a:p>
          <a:p>
            <a:pPr marL="0" indent="0">
              <a:buNone/>
            </a:pPr>
            <a:r>
              <a:rPr lang="zh-CN" altLang="en-US" sz="1800" dirty="0">
                <a:latin typeface="+mn-ea"/>
              </a:rPr>
              <a:t>带着一个社会支持系统的隐喻，出现成熟的哼唱的声音，引导你发现我们每一个人都有的那个一直陪着我们成长不离左右的内存支撑。</a:t>
            </a:r>
          </a:p>
          <a:p>
            <a:pPr marL="0" indent="0">
              <a:buNone/>
            </a:pPr>
            <a:r>
              <a:rPr lang="zh-CN" altLang="en-US" sz="1800" dirty="0">
                <a:latin typeface="+mn-ea"/>
              </a:rPr>
              <a:t>当我们用音乐眼动技术，让学生把注意力放在下脘时，心灵沉稳在地上，既不焦虑，也不抑郁。</a:t>
            </a:r>
          </a:p>
        </p:txBody>
      </p:sp>
      <p:sp>
        <p:nvSpPr>
          <p:cNvPr id="6" name="内容占位符 2">
            <a:extLst>
              <a:ext uri="{FF2B5EF4-FFF2-40B4-BE49-F238E27FC236}">
                <a16:creationId xmlns:a16="http://schemas.microsoft.com/office/drawing/2014/main" id="{3F7A8874-BB96-D533-D060-F937A6A6C778}"/>
              </a:ext>
            </a:extLst>
          </p:cNvPr>
          <p:cNvSpPr txBox="1">
            <a:spLocks/>
          </p:cNvSpPr>
          <p:nvPr/>
        </p:nvSpPr>
        <p:spPr>
          <a:xfrm>
            <a:off x="671513" y="1485901"/>
            <a:ext cx="5574792" cy="512921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ea"/>
              <a:buAutoNum type="circleNumDbPlain"/>
            </a:pPr>
            <a:r>
              <a:rPr lang="zh-CN" altLang="en-US" sz="1800" dirty="0">
                <a:latin typeface="+mn-ea"/>
              </a:rPr>
              <a:t>共情：前行下降至心窝</a:t>
            </a:r>
            <a:endParaRPr lang="en-US" altLang="zh-CN" sz="1800" dirty="0">
              <a:latin typeface="+mn-ea"/>
            </a:endParaRPr>
          </a:p>
          <a:p>
            <a:pPr marL="342900" indent="-342900">
              <a:buFont typeface="+mj-ea"/>
              <a:buAutoNum type="circleNumDbPlain"/>
            </a:pPr>
            <a:r>
              <a:rPr lang="zh-CN" altLang="en-US" sz="1800" dirty="0">
                <a:latin typeface="+mn-ea"/>
              </a:rPr>
              <a:t>抱持：温暖心窝情结完形</a:t>
            </a:r>
            <a:endParaRPr lang="en-US" altLang="zh-CN" sz="1800" dirty="0">
              <a:latin typeface="+mn-ea"/>
            </a:endParaRPr>
          </a:p>
          <a:p>
            <a:pPr marL="342900" indent="-342900">
              <a:buFont typeface="+mj-ea"/>
              <a:buAutoNum type="circleNumDbPlain"/>
            </a:pPr>
            <a:r>
              <a:rPr lang="zh-CN" altLang="en-US" sz="1800" dirty="0">
                <a:latin typeface="+mn-ea"/>
              </a:rPr>
              <a:t>安神：人静，降至中脘</a:t>
            </a:r>
            <a:endParaRPr lang="en-US" altLang="zh-CN" sz="1800" dirty="0">
              <a:latin typeface="+mn-ea"/>
            </a:endParaRPr>
          </a:p>
          <a:p>
            <a:pPr marL="342900" indent="-342900">
              <a:buFont typeface="+mj-ea"/>
              <a:buAutoNum type="circleNumDbPlain"/>
            </a:pPr>
            <a:r>
              <a:rPr lang="zh-CN" altLang="en-US" sz="1800" dirty="0">
                <a:latin typeface="+mn-ea"/>
              </a:rPr>
              <a:t>稳定：焦虑稳定节奏中脘</a:t>
            </a:r>
            <a:endParaRPr lang="en-US" altLang="zh-CN" sz="1800" dirty="0">
              <a:latin typeface="+mn-ea"/>
            </a:endParaRPr>
          </a:p>
          <a:p>
            <a:pPr marL="342900" indent="-342900">
              <a:buFont typeface="+mj-ea"/>
              <a:buAutoNum type="circleNumDbPlain"/>
            </a:pPr>
            <a:r>
              <a:rPr lang="zh-CN" altLang="en-US" sz="1800" dirty="0">
                <a:latin typeface="+mn-ea"/>
              </a:rPr>
              <a:t>激活：激活浓情中脘完形</a:t>
            </a:r>
            <a:endParaRPr lang="en-US" altLang="zh-CN" sz="1800" dirty="0">
              <a:latin typeface="+mn-ea"/>
            </a:endParaRPr>
          </a:p>
          <a:p>
            <a:pPr marL="342900" indent="-342900">
              <a:buFont typeface="+mj-ea"/>
              <a:buAutoNum type="circleNumDbPlain"/>
            </a:pPr>
            <a:r>
              <a:rPr lang="zh-CN" altLang="en-US" sz="1800" dirty="0">
                <a:latin typeface="+mn-ea"/>
              </a:rPr>
              <a:t>排毒：滴雨沉静抑郁中下</a:t>
            </a:r>
            <a:endParaRPr lang="en-US" altLang="zh-CN" sz="1800" dirty="0">
              <a:latin typeface="+mn-ea"/>
            </a:endParaRPr>
          </a:p>
          <a:p>
            <a:pPr marL="342900" indent="-342900">
              <a:buFont typeface="+mj-ea"/>
              <a:buAutoNum type="circleNumDbPlain"/>
            </a:pPr>
            <a:r>
              <a:rPr lang="zh-CN" altLang="en-US" sz="1800" dirty="0">
                <a:latin typeface="+mn-ea"/>
              </a:rPr>
              <a:t>陪伴：完形、释怀、呼吸</a:t>
            </a:r>
            <a:endParaRPr lang="en-US" altLang="zh-CN" sz="1800" dirty="0">
              <a:latin typeface="+mn-ea"/>
            </a:endParaRPr>
          </a:p>
          <a:p>
            <a:pPr marL="342900" indent="-342900">
              <a:buFont typeface="+mj-ea"/>
              <a:buAutoNum type="circleNumDbPlain"/>
            </a:pPr>
            <a:r>
              <a:rPr lang="zh-CN" altLang="en-US" sz="1800" dirty="0">
                <a:latin typeface="+mn-ea"/>
              </a:rPr>
              <a:t>凝神：意象蒸发与下落第三层</a:t>
            </a:r>
            <a:endParaRPr lang="en-US" altLang="zh-CN" sz="1800" dirty="0">
              <a:latin typeface="+mn-ea"/>
            </a:endParaRPr>
          </a:p>
          <a:p>
            <a:pPr marL="342900" indent="-342900">
              <a:buFont typeface="+mj-ea"/>
              <a:buAutoNum type="circleNumDbPlain"/>
            </a:pPr>
            <a:r>
              <a:rPr lang="zh-CN" altLang="en-US" sz="1800" dirty="0">
                <a:latin typeface="+mn-ea"/>
              </a:rPr>
              <a:t>训练：下脘呼吸训练</a:t>
            </a:r>
            <a:endParaRPr lang="en-US" altLang="zh-CN" sz="1800" dirty="0">
              <a:latin typeface="+mn-ea"/>
            </a:endParaRPr>
          </a:p>
          <a:p>
            <a:pPr marL="342900" indent="-342900">
              <a:buFont typeface="+mj-ea"/>
              <a:buAutoNum type="circleNumDbPlain"/>
            </a:pPr>
            <a:r>
              <a:rPr lang="zh-CN" altLang="en-US" sz="1800" dirty="0">
                <a:latin typeface="+mn-ea"/>
              </a:rPr>
              <a:t>创造：力量狂想曲资源挖掘</a:t>
            </a:r>
            <a:endParaRPr lang="en-US" altLang="zh-CN" sz="1800" dirty="0">
              <a:latin typeface="+mn-ea"/>
            </a:endParaRPr>
          </a:p>
          <a:p>
            <a:pPr marL="342900" indent="-342900">
              <a:buFont typeface="+mj-ea"/>
              <a:buAutoNum type="circleNumDbPlain"/>
            </a:pPr>
            <a:r>
              <a:rPr lang="zh-CN" altLang="en-US" sz="1800" dirty="0">
                <a:latin typeface="+mn-ea"/>
              </a:rPr>
              <a:t>固化：时间线焦虑转积极应对</a:t>
            </a:r>
          </a:p>
        </p:txBody>
      </p:sp>
    </p:spTree>
    <p:extLst>
      <p:ext uri="{BB962C8B-B14F-4D97-AF65-F5344CB8AC3E}">
        <p14:creationId xmlns:p14="http://schemas.microsoft.com/office/powerpoint/2010/main" val="15522984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1BEB9-6885-B380-FD66-F1CBB7012FC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523BB7-29D2-D109-1CDF-C13536B09C39}"/>
              </a:ext>
            </a:extLst>
          </p:cNvPr>
          <p:cNvSpPr>
            <a:spLocks noGrp="1"/>
          </p:cNvSpPr>
          <p:nvPr>
            <p:ph type="title"/>
          </p:nvPr>
        </p:nvSpPr>
        <p:spPr>
          <a:xfrm>
            <a:off x="521208" y="662737"/>
            <a:ext cx="11155680" cy="936652"/>
          </a:xfrm>
        </p:spPr>
        <p:txBody>
          <a:bodyPr/>
          <a:lstStyle/>
          <a:p>
            <a:r>
              <a:rPr lang="zh-CN" altLang="en-US" sz="4400" dirty="0"/>
              <a:t>中高考减压音乐摆渡的原理（二）</a:t>
            </a:r>
          </a:p>
        </p:txBody>
      </p:sp>
      <p:sp>
        <p:nvSpPr>
          <p:cNvPr id="3" name="内容占位符 2">
            <a:extLst>
              <a:ext uri="{FF2B5EF4-FFF2-40B4-BE49-F238E27FC236}">
                <a16:creationId xmlns:a16="http://schemas.microsoft.com/office/drawing/2014/main" id="{9007AA4F-714D-310C-155D-11A42BCDB635}"/>
              </a:ext>
            </a:extLst>
          </p:cNvPr>
          <p:cNvSpPr>
            <a:spLocks noGrp="1"/>
          </p:cNvSpPr>
          <p:nvPr>
            <p:ph idx="1"/>
          </p:nvPr>
        </p:nvSpPr>
        <p:spPr>
          <a:xfrm>
            <a:off x="521208" y="1631253"/>
            <a:ext cx="11155680" cy="2338340"/>
          </a:xfrm>
        </p:spPr>
        <p:txBody>
          <a:bodyPr/>
          <a:lstStyle/>
          <a:p>
            <a:pPr marL="0" indent="0">
              <a:buNone/>
            </a:pPr>
            <a:r>
              <a:rPr lang="zh-CN" altLang="en-US" sz="1800" dirty="0" smtClean="0">
                <a:latin typeface="+mn-ea"/>
              </a:rPr>
              <a:t>密集而连贯的音乐，</a:t>
            </a:r>
            <a:r>
              <a:rPr lang="zh-CN" altLang="en-US" sz="1800" dirty="0" smtClean="0">
                <a:latin typeface="+mn-ea"/>
              </a:rPr>
              <a:t>让考生减少</a:t>
            </a:r>
            <a:r>
              <a:rPr lang="zh-CN" altLang="en-US" sz="1800" dirty="0">
                <a:latin typeface="+mn-ea"/>
              </a:rPr>
              <a:t>理智思考，跟着音乐律动感受</a:t>
            </a:r>
            <a:r>
              <a:rPr lang="zh-CN" altLang="en-US" sz="1800" dirty="0" smtClean="0">
                <a:latin typeface="+mn-ea"/>
              </a:rPr>
              <a:t>，需要自我反复</a:t>
            </a:r>
            <a:r>
              <a:rPr lang="zh-CN" altLang="en-US" sz="1800" dirty="0">
                <a:latin typeface="+mn-ea"/>
              </a:rPr>
              <a:t>强调这一点。</a:t>
            </a:r>
          </a:p>
          <a:p>
            <a:pPr marL="0" indent="0">
              <a:buNone/>
            </a:pPr>
            <a:r>
              <a:rPr lang="zh-CN" altLang="en-US" sz="1800" dirty="0">
                <a:latin typeface="+mn-ea"/>
              </a:rPr>
              <a:t>“把注意力专注到音乐中来，防止走神和过于理智化。”</a:t>
            </a:r>
          </a:p>
          <a:p>
            <a:pPr marL="0" indent="0">
              <a:buNone/>
            </a:pPr>
            <a:r>
              <a:rPr lang="zh-CN" altLang="en-US" sz="1800" dirty="0">
                <a:latin typeface="+mn-ea"/>
              </a:rPr>
              <a:t>音乐的</a:t>
            </a:r>
            <a:r>
              <a:rPr lang="zh-CN" altLang="en-US" sz="1800" dirty="0" smtClean="0">
                <a:latin typeface="+mn-ea"/>
              </a:rPr>
              <a:t>连贯流畅性</a:t>
            </a:r>
            <a:r>
              <a:rPr lang="zh-CN" altLang="en-US" sz="1800" dirty="0">
                <a:latin typeface="+mn-ea"/>
              </a:rPr>
              <a:t>可以带着我们向前</a:t>
            </a:r>
            <a:r>
              <a:rPr lang="zh-CN" altLang="en-US" sz="1800" dirty="0" smtClean="0">
                <a:latin typeface="+mn-ea"/>
              </a:rPr>
              <a:t>走，犹如一弯流淌的泉水，让情绪也随之流淌起来。</a:t>
            </a:r>
            <a:endParaRPr lang="zh-CN" altLang="en-US" sz="1800" dirty="0">
              <a:latin typeface="+mn-ea"/>
            </a:endParaRPr>
          </a:p>
          <a:p>
            <a:pPr marL="0" indent="0">
              <a:buNone/>
            </a:pPr>
            <a:r>
              <a:rPr lang="zh-CN" altLang="en-US" sz="1800" dirty="0">
                <a:latin typeface="+mn-ea"/>
              </a:rPr>
              <a:t>音乐中浮现大量的打击乐，会使我们无序的神经冲动和焦虑变得有序起来。</a:t>
            </a:r>
          </a:p>
        </p:txBody>
      </p:sp>
      <p:sp>
        <p:nvSpPr>
          <p:cNvPr id="5" name="内容占位符 2">
            <a:extLst>
              <a:ext uri="{FF2B5EF4-FFF2-40B4-BE49-F238E27FC236}">
                <a16:creationId xmlns:a16="http://schemas.microsoft.com/office/drawing/2014/main" id="{FE1BB057-DB63-1D16-DF25-7D005BE5DDD5}"/>
              </a:ext>
            </a:extLst>
          </p:cNvPr>
          <p:cNvSpPr txBox="1">
            <a:spLocks/>
          </p:cNvSpPr>
          <p:nvPr/>
        </p:nvSpPr>
        <p:spPr>
          <a:xfrm>
            <a:off x="166319" y="5799537"/>
            <a:ext cx="69495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1</a:t>
            </a:r>
            <a:r>
              <a:rPr lang="zh-CN" altLang="en-US" sz="3200" dirty="0">
                <a:effectLst>
                  <a:outerShdw blurRad="38100" dist="38100" dir="2700000" algn="tl">
                    <a:srgbClr val="000000">
                      <a:alpha val="43137"/>
                    </a:srgbClr>
                  </a:outerShdw>
                </a:effectLst>
                <a:latin typeface="+mn-ea"/>
              </a:rPr>
              <a:t>首音乐：共情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前行下降至心窝</a:t>
            </a:r>
          </a:p>
          <a:p>
            <a:pPr marL="0" indent="0">
              <a:buNone/>
            </a:pPr>
            <a:endParaRPr lang="zh-CN" altLang="en-US" sz="3200" dirty="0">
              <a:effectLst>
                <a:outerShdw blurRad="38100" dist="38100" dir="2700000" algn="tl">
                  <a:srgbClr val="000000">
                    <a:alpha val="43137"/>
                  </a:srgbClr>
                </a:outerShdw>
              </a:effectLst>
              <a:latin typeface="+mn-ea"/>
            </a:endParaRPr>
          </a:p>
        </p:txBody>
      </p:sp>
      <p:sp>
        <p:nvSpPr>
          <p:cNvPr id="6" name="内容占位符 2">
            <a:extLst>
              <a:ext uri="{FF2B5EF4-FFF2-40B4-BE49-F238E27FC236}">
                <a16:creationId xmlns:a16="http://schemas.microsoft.com/office/drawing/2014/main" id="{9007AA4F-714D-310C-155D-11A42BCDB635}"/>
              </a:ext>
            </a:extLst>
          </p:cNvPr>
          <p:cNvSpPr txBox="1">
            <a:spLocks/>
          </p:cNvSpPr>
          <p:nvPr/>
        </p:nvSpPr>
        <p:spPr>
          <a:xfrm>
            <a:off x="716391" y="4299681"/>
            <a:ext cx="1444317"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压力环境</a:t>
            </a:r>
            <a:endParaRPr lang="zh-CN" altLang="en-US" sz="1800" dirty="0">
              <a:latin typeface="+mn-ea"/>
            </a:endParaRPr>
          </a:p>
        </p:txBody>
      </p:sp>
      <p:sp>
        <p:nvSpPr>
          <p:cNvPr id="7" name="内容占位符 2">
            <a:extLst>
              <a:ext uri="{FF2B5EF4-FFF2-40B4-BE49-F238E27FC236}">
                <a16:creationId xmlns:a16="http://schemas.microsoft.com/office/drawing/2014/main" id="{9007AA4F-714D-310C-155D-11A42BCDB635}"/>
              </a:ext>
            </a:extLst>
          </p:cNvPr>
          <p:cNvSpPr txBox="1">
            <a:spLocks/>
          </p:cNvSpPr>
          <p:nvPr/>
        </p:nvSpPr>
        <p:spPr>
          <a:xfrm>
            <a:off x="2155434" y="3732423"/>
            <a:ext cx="2374792"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焦虑（从上往下引）</a:t>
            </a:r>
            <a:endParaRPr lang="zh-CN" altLang="en-US" sz="1800" dirty="0">
              <a:latin typeface="+mn-ea"/>
            </a:endParaRPr>
          </a:p>
        </p:txBody>
      </p:sp>
      <p:sp>
        <p:nvSpPr>
          <p:cNvPr id="8" name="内容占位符 2">
            <a:extLst>
              <a:ext uri="{FF2B5EF4-FFF2-40B4-BE49-F238E27FC236}">
                <a16:creationId xmlns:a16="http://schemas.microsoft.com/office/drawing/2014/main" id="{9007AA4F-714D-310C-155D-11A42BCDB635}"/>
              </a:ext>
            </a:extLst>
          </p:cNvPr>
          <p:cNvSpPr txBox="1">
            <a:spLocks/>
          </p:cNvSpPr>
          <p:nvPr/>
        </p:nvSpPr>
        <p:spPr>
          <a:xfrm>
            <a:off x="2155434" y="4892671"/>
            <a:ext cx="2374792"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抑郁（从下往上引）</a:t>
            </a:r>
            <a:endParaRPr lang="zh-CN" altLang="en-US" sz="1800" dirty="0">
              <a:latin typeface="+mn-ea"/>
            </a:endParaRPr>
          </a:p>
        </p:txBody>
      </p:sp>
      <p:sp>
        <p:nvSpPr>
          <p:cNvPr id="4" name="直角上箭头 3"/>
          <p:cNvSpPr/>
          <p:nvPr/>
        </p:nvSpPr>
        <p:spPr>
          <a:xfrm>
            <a:off x="2155434" y="4152000"/>
            <a:ext cx="751115" cy="384851"/>
          </a:xfrm>
          <a:prstGeom prst="ben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上箭头 8"/>
          <p:cNvSpPr/>
          <p:nvPr/>
        </p:nvSpPr>
        <p:spPr>
          <a:xfrm flipV="1">
            <a:off x="2155434" y="4626340"/>
            <a:ext cx="751115" cy="382771"/>
          </a:xfrm>
          <a:prstGeom prst="ben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3055405" y="4367751"/>
            <a:ext cx="784023" cy="40627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内容占位符 2">
            <a:extLst>
              <a:ext uri="{FF2B5EF4-FFF2-40B4-BE49-F238E27FC236}">
                <a16:creationId xmlns:a16="http://schemas.microsoft.com/office/drawing/2014/main" id="{9007AA4F-714D-310C-155D-11A42BCDB635}"/>
              </a:ext>
            </a:extLst>
          </p:cNvPr>
          <p:cNvSpPr txBox="1">
            <a:spLocks/>
          </p:cNvSpPr>
          <p:nvPr/>
        </p:nvSpPr>
        <p:spPr>
          <a:xfrm>
            <a:off x="3942518" y="4325413"/>
            <a:ext cx="2374792"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latin typeface="+mn-ea"/>
              </a:rPr>
              <a:t>音乐</a:t>
            </a:r>
            <a:r>
              <a:rPr lang="zh-CN" altLang="en-US" sz="1800" dirty="0" smtClean="0">
                <a:latin typeface="+mn-ea"/>
              </a:rPr>
              <a:t>扰动前行</a:t>
            </a:r>
            <a:endParaRPr lang="zh-CN" altLang="en-US" sz="1800" dirty="0">
              <a:latin typeface="+mn-ea"/>
            </a:endParaRPr>
          </a:p>
        </p:txBody>
      </p:sp>
      <p:sp>
        <p:nvSpPr>
          <p:cNvPr id="13" name="右箭头 12"/>
          <p:cNvSpPr/>
          <p:nvPr/>
        </p:nvSpPr>
        <p:spPr>
          <a:xfrm>
            <a:off x="5701599" y="4372050"/>
            <a:ext cx="784023" cy="40627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内容占位符 2">
            <a:extLst>
              <a:ext uri="{FF2B5EF4-FFF2-40B4-BE49-F238E27FC236}">
                <a16:creationId xmlns:a16="http://schemas.microsoft.com/office/drawing/2014/main" id="{9007AA4F-714D-310C-155D-11A42BCDB635}"/>
              </a:ext>
            </a:extLst>
          </p:cNvPr>
          <p:cNvSpPr txBox="1">
            <a:spLocks/>
          </p:cNvSpPr>
          <p:nvPr/>
        </p:nvSpPr>
        <p:spPr>
          <a:xfrm>
            <a:off x="6587353" y="4299681"/>
            <a:ext cx="1568893"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流畅 </a:t>
            </a:r>
            <a:r>
              <a:rPr lang="en-US" altLang="zh-CN" sz="1800" dirty="0" smtClean="0">
                <a:latin typeface="+mn-ea"/>
              </a:rPr>
              <a:t>/ </a:t>
            </a:r>
            <a:r>
              <a:rPr lang="zh-CN" altLang="en-US" sz="1800" dirty="0" smtClean="0">
                <a:latin typeface="+mn-ea"/>
              </a:rPr>
              <a:t>有序</a:t>
            </a:r>
            <a:endParaRPr lang="zh-CN" altLang="en-US" sz="1800" dirty="0">
              <a:latin typeface="+mn-ea"/>
            </a:endParaRPr>
          </a:p>
        </p:txBody>
      </p: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2987" y="4299681"/>
            <a:ext cx="3383901" cy="2257063"/>
          </a:xfrm>
          <a:prstGeom prst="rect">
            <a:avLst/>
          </a:prstGeom>
          <a:effectLst>
            <a:softEdge rad="127000"/>
          </a:effectLst>
        </p:spPr>
      </p:pic>
      <p:sp>
        <p:nvSpPr>
          <p:cNvPr id="17" name="爆炸形 1 16"/>
          <p:cNvSpPr/>
          <p:nvPr/>
        </p:nvSpPr>
        <p:spPr>
          <a:xfrm>
            <a:off x="521208" y="4103493"/>
            <a:ext cx="1634226" cy="1012621"/>
          </a:xfrm>
          <a:prstGeom prst="irregularSeal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102670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D85BD-1312-7F5A-4154-B3C106ED0E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499952-96A3-C639-2BB6-12CED330E22F}"/>
              </a:ext>
            </a:extLst>
          </p:cNvPr>
          <p:cNvSpPr>
            <a:spLocks noGrp="1"/>
          </p:cNvSpPr>
          <p:nvPr>
            <p:ph type="title"/>
          </p:nvPr>
        </p:nvSpPr>
        <p:spPr>
          <a:xfrm>
            <a:off x="521208" y="662737"/>
            <a:ext cx="11155680" cy="936652"/>
          </a:xfrm>
        </p:spPr>
        <p:txBody>
          <a:bodyPr/>
          <a:lstStyle/>
          <a:p>
            <a:r>
              <a:rPr lang="zh-CN" altLang="en-US" sz="4400" dirty="0"/>
              <a:t>中高考减压音乐摆渡的原理（三）</a:t>
            </a:r>
          </a:p>
        </p:txBody>
      </p:sp>
      <p:sp>
        <p:nvSpPr>
          <p:cNvPr id="3" name="内容占位符 2">
            <a:extLst>
              <a:ext uri="{FF2B5EF4-FFF2-40B4-BE49-F238E27FC236}">
                <a16:creationId xmlns:a16="http://schemas.microsoft.com/office/drawing/2014/main" id="{287E8854-FCA6-723C-09F6-265BCC22CF25}"/>
              </a:ext>
            </a:extLst>
          </p:cNvPr>
          <p:cNvSpPr>
            <a:spLocks noGrp="1"/>
          </p:cNvSpPr>
          <p:nvPr>
            <p:ph idx="1"/>
          </p:nvPr>
        </p:nvSpPr>
        <p:spPr>
          <a:xfrm>
            <a:off x="521208" y="3023482"/>
            <a:ext cx="8353371" cy="2654204"/>
          </a:xfrm>
        </p:spPr>
        <p:txBody>
          <a:bodyPr/>
          <a:lstStyle/>
          <a:p>
            <a:pPr marL="0" indent="0">
              <a:buNone/>
            </a:pPr>
            <a:r>
              <a:rPr lang="zh-CN" altLang="en-US" sz="1800" dirty="0">
                <a:latin typeface="+mn-ea"/>
              </a:rPr>
              <a:t>通过闹钟铃声，引起考生敏感的</a:t>
            </a:r>
            <a:r>
              <a:rPr lang="zh-CN" altLang="en-US" sz="1800" dirty="0" smtClean="0">
                <a:latin typeface="+mn-ea"/>
              </a:rPr>
              <a:t>共鸣。</a:t>
            </a:r>
            <a:endParaRPr lang="zh-CN" altLang="en-US" sz="1800" dirty="0">
              <a:latin typeface="+mn-ea"/>
            </a:endParaRPr>
          </a:p>
          <a:p>
            <a:pPr marL="0" indent="0">
              <a:buNone/>
            </a:pPr>
            <a:r>
              <a:rPr lang="zh-CN" altLang="en-US" sz="1800" dirty="0">
                <a:latin typeface="+mn-ea"/>
              </a:rPr>
              <a:t>这样做是可以</a:t>
            </a:r>
            <a:r>
              <a:rPr lang="zh-CN" altLang="en-US" sz="1800" dirty="0" smtClean="0">
                <a:latin typeface="+mn-ea"/>
              </a:rPr>
              <a:t>让考生对</a:t>
            </a:r>
            <a:r>
              <a:rPr lang="zh-CN" altLang="en-US" sz="1800" dirty="0">
                <a:latin typeface="+mn-ea"/>
              </a:rPr>
              <a:t>铃声所象征的时间焦虑进行</a:t>
            </a:r>
            <a:r>
              <a:rPr lang="zh-CN" altLang="en-US" sz="1800" dirty="0">
                <a:latin typeface="+mn-ea"/>
              </a:rPr>
              <a:t>脱敏（行为主义的暴露疗法</a:t>
            </a:r>
            <a:r>
              <a:rPr lang="zh-CN" altLang="en-US" sz="1800" dirty="0" smtClean="0">
                <a:latin typeface="+mn-ea"/>
              </a:rPr>
              <a:t>），</a:t>
            </a:r>
            <a:r>
              <a:rPr lang="zh-CN" altLang="en-US" sz="1800" dirty="0" smtClean="0">
                <a:latin typeface="+mn-ea"/>
              </a:rPr>
              <a:t>之后</a:t>
            </a:r>
            <a:r>
              <a:rPr lang="zh-CN" altLang="en-US" sz="1800" dirty="0">
                <a:latin typeface="+mn-ea"/>
              </a:rPr>
              <a:t>对其进行放松训练。</a:t>
            </a:r>
          </a:p>
          <a:p>
            <a:pPr marL="0" indent="0">
              <a:buNone/>
            </a:pPr>
            <a:r>
              <a:rPr lang="zh-CN" altLang="en-US" sz="1800" dirty="0">
                <a:latin typeface="+mn-ea"/>
              </a:rPr>
              <a:t>这种先引诱进入焦虑情景，然后进行脱敏的技术，叫作压力的免疫接种。</a:t>
            </a:r>
          </a:p>
          <a:p>
            <a:pPr marL="0" indent="0">
              <a:buNone/>
            </a:pPr>
            <a:r>
              <a:rPr lang="zh-CN" altLang="en-US" sz="1800" dirty="0">
                <a:latin typeface="+mn-ea"/>
              </a:rPr>
              <a:t>接下来的滴滴滴铃声逐渐变成音乐的声音，也就悄悄地</a:t>
            </a:r>
            <a:r>
              <a:rPr lang="zh-CN" altLang="en-US" sz="1800" dirty="0" smtClean="0">
                <a:latin typeface="+mn-ea"/>
              </a:rPr>
              <a:t>在考生潜意识</a:t>
            </a:r>
            <a:r>
              <a:rPr lang="zh-CN" altLang="en-US" sz="1800" dirty="0">
                <a:latin typeface="+mn-ea"/>
              </a:rPr>
              <a:t>中</a:t>
            </a:r>
            <a:r>
              <a:rPr lang="zh-CN" altLang="en-US" sz="1800" dirty="0" smtClean="0">
                <a:latin typeface="+mn-ea"/>
              </a:rPr>
              <a:t>实现从焦虑</a:t>
            </a:r>
            <a:r>
              <a:rPr lang="zh-CN" altLang="en-US" sz="1800" dirty="0">
                <a:latin typeface="+mn-ea"/>
              </a:rPr>
              <a:t>情景到</a:t>
            </a:r>
            <a:r>
              <a:rPr lang="zh-CN" altLang="en-US" sz="1800" dirty="0" smtClean="0">
                <a:latin typeface="+mn-ea"/>
              </a:rPr>
              <a:t>无害音乐</a:t>
            </a:r>
            <a:r>
              <a:rPr lang="zh-CN" altLang="en-US" sz="1800" dirty="0">
                <a:latin typeface="+mn-ea"/>
              </a:rPr>
              <a:t>情景的转化。</a:t>
            </a:r>
          </a:p>
        </p:txBody>
      </p:sp>
      <p:sp>
        <p:nvSpPr>
          <p:cNvPr id="5" name="内容占位符 2">
            <a:extLst>
              <a:ext uri="{FF2B5EF4-FFF2-40B4-BE49-F238E27FC236}">
                <a16:creationId xmlns:a16="http://schemas.microsoft.com/office/drawing/2014/main" id="{A1D07D0B-1E1A-E784-A247-568EC076E0C4}"/>
              </a:ext>
            </a:extLst>
          </p:cNvPr>
          <p:cNvSpPr txBox="1">
            <a:spLocks/>
          </p:cNvSpPr>
          <p:nvPr/>
        </p:nvSpPr>
        <p:spPr>
          <a:xfrm>
            <a:off x="166065" y="5803819"/>
            <a:ext cx="73940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2</a:t>
            </a:r>
            <a:r>
              <a:rPr lang="zh-CN" altLang="en-US" sz="3200" dirty="0">
                <a:effectLst>
                  <a:outerShdw blurRad="38100" dist="38100" dir="2700000" algn="tl">
                    <a:srgbClr val="000000">
                      <a:alpha val="43137"/>
                    </a:srgbClr>
                  </a:outerShdw>
                </a:effectLst>
                <a:latin typeface="+mn-ea"/>
              </a:rPr>
              <a:t>首音乐：抱持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温暖心窝情结完形</a:t>
            </a:r>
          </a:p>
        </p:txBody>
      </p:sp>
      <p:sp>
        <p:nvSpPr>
          <p:cNvPr id="6" name="内容占位符 2">
            <a:extLst>
              <a:ext uri="{FF2B5EF4-FFF2-40B4-BE49-F238E27FC236}">
                <a16:creationId xmlns:a16="http://schemas.microsoft.com/office/drawing/2014/main" id="{9007AA4F-714D-310C-155D-11A42BCDB635}"/>
              </a:ext>
            </a:extLst>
          </p:cNvPr>
          <p:cNvSpPr txBox="1">
            <a:spLocks/>
          </p:cNvSpPr>
          <p:nvPr/>
        </p:nvSpPr>
        <p:spPr>
          <a:xfrm>
            <a:off x="742935" y="1969003"/>
            <a:ext cx="2246270"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铃声？焦虑？抑郁？</a:t>
            </a:r>
            <a:endParaRPr lang="zh-CN" altLang="en-US" sz="1800" dirty="0">
              <a:latin typeface="+mn-ea"/>
            </a:endParaRPr>
          </a:p>
        </p:txBody>
      </p:sp>
      <p:sp>
        <p:nvSpPr>
          <p:cNvPr id="11" name="右箭头 10"/>
          <p:cNvSpPr/>
          <p:nvPr/>
        </p:nvSpPr>
        <p:spPr>
          <a:xfrm>
            <a:off x="3322161" y="2036613"/>
            <a:ext cx="554133" cy="40627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内容占位符 2">
            <a:extLst>
              <a:ext uri="{FF2B5EF4-FFF2-40B4-BE49-F238E27FC236}">
                <a16:creationId xmlns:a16="http://schemas.microsoft.com/office/drawing/2014/main" id="{9007AA4F-714D-310C-155D-11A42BCDB635}"/>
              </a:ext>
            </a:extLst>
          </p:cNvPr>
          <p:cNvSpPr txBox="1">
            <a:spLocks/>
          </p:cNvSpPr>
          <p:nvPr/>
        </p:nvSpPr>
        <p:spPr>
          <a:xfrm>
            <a:off x="3089489" y="1838972"/>
            <a:ext cx="2841339" cy="986869"/>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1800" dirty="0">
                <a:latin typeface="+mn-ea"/>
              </a:rPr>
              <a:t>免疫</a:t>
            </a:r>
            <a:r>
              <a:rPr lang="zh-CN" altLang="en-US" sz="1800" dirty="0" smtClean="0">
                <a:latin typeface="+mn-ea"/>
              </a:rPr>
              <a:t>接种</a:t>
            </a:r>
            <a:endParaRPr lang="en-US" altLang="zh-CN" sz="1800" dirty="0" smtClean="0">
              <a:latin typeface="+mn-ea"/>
            </a:endParaRPr>
          </a:p>
          <a:p>
            <a:pPr marL="0" indent="0" algn="ctr">
              <a:buNone/>
            </a:pPr>
            <a:r>
              <a:rPr lang="zh-CN" altLang="en-US" sz="1800" dirty="0" smtClean="0">
                <a:latin typeface="+mn-ea"/>
              </a:rPr>
              <a:t>潜意识植入焦虑情境</a:t>
            </a:r>
            <a:endParaRPr lang="zh-CN" altLang="en-US" sz="1800" dirty="0">
              <a:latin typeface="+mn-ea"/>
            </a:endParaRPr>
          </a:p>
        </p:txBody>
      </p:sp>
      <p:sp>
        <p:nvSpPr>
          <p:cNvPr id="13" name="右箭头 12"/>
          <p:cNvSpPr/>
          <p:nvPr/>
        </p:nvSpPr>
        <p:spPr>
          <a:xfrm>
            <a:off x="5126152" y="2009540"/>
            <a:ext cx="571277" cy="40627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内容占位符 2">
            <a:extLst>
              <a:ext uri="{FF2B5EF4-FFF2-40B4-BE49-F238E27FC236}">
                <a16:creationId xmlns:a16="http://schemas.microsoft.com/office/drawing/2014/main" id="{9007AA4F-714D-310C-155D-11A42BCDB635}"/>
              </a:ext>
            </a:extLst>
          </p:cNvPr>
          <p:cNvSpPr txBox="1">
            <a:spLocks/>
          </p:cNvSpPr>
          <p:nvPr/>
        </p:nvSpPr>
        <p:spPr>
          <a:xfrm>
            <a:off x="5637641" y="1928954"/>
            <a:ext cx="2130349"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脱敏</a:t>
            </a:r>
            <a:r>
              <a:rPr lang="en-US" altLang="zh-CN" sz="1800" dirty="0" smtClean="0">
                <a:latin typeface="+mn-ea"/>
              </a:rPr>
              <a:t>/</a:t>
            </a:r>
            <a:r>
              <a:rPr lang="zh-CN" altLang="en-US" sz="1800" dirty="0" smtClean="0">
                <a:latin typeface="+mn-ea"/>
              </a:rPr>
              <a:t>无害化处理</a:t>
            </a:r>
            <a:endParaRPr lang="zh-CN" altLang="en-US" sz="1800" dirty="0">
              <a:latin typeface="+mn-ea"/>
            </a:endParaRPr>
          </a:p>
        </p:txBody>
      </p:sp>
      <p:sp>
        <p:nvSpPr>
          <p:cNvPr id="15" name="爆炸形 1 14"/>
          <p:cNvSpPr/>
          <p:nvPr/>
        </p:nvSpPr>
        <p:spPr>
          <a:xfrm>
            <a:off x="521208" y="1621503"/>
            <a:ext cx="2858806" cy="1286890"/>
          </a:xfrm>
          <a:prstGeom prst="irregularSeal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940255" y="4008665"/>
            <a:ext cx="2438399" cy="2438399"/>
          </a:xfrm>
          <a:prstGeom prst="rect">
            <a:avLst/>
          </a:prstGeom>
          <a:effectLst>
            <a:softEdge rad="127000"/>
          </a:effectLst>
        </p:spPr>
      </p:pic>
      <p:sp>
        <p:nvSpPr>
          <p:cNvPr id="16" name="内容占位符 2">
            <a:extLst>
              <a:ext uri="{FF2B5EF4-FFF2-40B4-BE49-F238E27FC236}">
                <a16:creationId xmlns:a16="http://schemas.microsoft.com/office/drawing/2014/main" id="{9007AA4F-714D-310C-155D-11A42BCDB635}"/>
              </a:ext>
            </a:extLst>
          </p:cNvPr>
          <p:cNvSpPr txBox="1">
            <a:spLocks/>
          </p:cNvSpPr>
          <p:nvPr/>
        </p:nvSpPr>
        <p:spPr>
          <a:xfrm>
            <a:off x="7628600" y="2423311"/>
            <a:ext cx="2374792"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焦虑（从上往下引）</a:t>
            </a:r>
            <a:endParaRPr lang="zh-CN" altLang="en-US" sz="1800" dirty="0">
              <a:latin typeface="+mn-ea"/>
            </a:endParaRPr>
          </a:p>
        </p:txBody>
      </p:sp>
      <p:sp>
        <p:nvSpPr>
          <p:cNvPr id="17" name="内容占位符 2">
            <a:extLst>
              <a:ext uri="{FF2B5EF4-FFF2-40B4-BE49-F238E27FC236}">
                <a16:creationId xmlns:a16="http://schemas.microsoft.com/office/drawing/2014/main" id="{9007AA4F-714D-310C-155D-11A42BCDB635}"/>
              </a:ext>
            </a:extLst>
          </p:cNvPr>
          <p:cNvSpPr txBox="1">
            <a:spLocks/>
          </p:cNvSpPr>
          <p:nvPr/>
        </p:nvSpPr>
        <p:spPr>
          <a:xfrm>
            <a:off x="7640228" y="1464058"/>
            <a:ext cx="2374792"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抑郁（从下往上引）</a:t>
            </a:r>
            <a:endParaRPr lang="zh-CN" altLang="en-US" sz="1800" dirty="0">
              <a:latin typeface="+mn-ea"/>
            </a:endParaRPr>
          </a:p>
        </p:txBody>
      </p:sp>
      <p:sp>
        <p:nvSpPr>
          <p:cNvPr id="18" name="直角上箭头 17"/>
          <p:cNvSpPr/>
          <p:nvPr/>
        </p:nvSpPr>
        <p:spPr>
          <a:xfrm>
            <a:off x="7645061" y="1784459"/>
            <a:ext cx="751115" cy="384851"/>
          </a:xfrm>
          <a:prstGeom prst="ben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上箭头 18"/>
          <p:cNvSpPr/>
          <p:nvPr/>
        </p:nvSpPr>
        <p:spPr>
          <a:xfrm flipV="1">
            <a:off x="7645061" y="2258799"/>
            <a:ext cx="751115" cy="382771"/>
          </a:xfrm>
          <a:prstGeom prst="bentUp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右箭头 20"/>
          <p:cNvSpPr/>
          <p:nvPr/>
        </p:nvSpPr>
        <p:spPr>
          <a:xfrm>
            <a:off x="8679199" y="2006960"/>
            <a:ext cx="784023" cy="40627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内容占位符 2">
            <a:extLst>
              <a:ext uri="{FF2B5EF4-FFF2-40B4-BE49-F238E27FC236}">
                <a16:creationId xmlns:a16="http://schemas.microsoft.com/office/drawing/2014/main" id="{9007AA4F-714D-310C-155D-11A42BCDB635}"/>
              </a:ext>
            </a:extLst>
          </p:cNvPr>
          <p:cNvSpPr txBox="1">
            <a:spLocks/>
          </p:cNvSpPr>
          <p:nvPr/>
        </p:nvSpPr>
        <p:spPr>
          <a:xfrm>
            <a:off x="9463222" y="1928954"/>
            <a:ext cx="2374792" cy="47434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注意力集中心窝</a:t>
            </a:r>
            <a:endParaRPr lang="zh-CN" altLang="en-US" sz="1800" dirty="0">
              <a:latin typeface="+mn-ea"/>
            </a:endParaRPr>
          </a:p>
        </p:txBody>
      </p:sp>
    </p:spTree>
    <p:extLst>
      <p:ext uri="{BB962C8B-B14F-4D97-AF65-F5344CB8AC3E}">
        <p14:creationId xmlns:p14="http://schemas.microsoft.com/office/powerpoint/2010/main" val="15054140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7B0FA-2305-BD5D-FFB3-FA5CFEFAA9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3815DF-5C24-A201-41DA-13F97A50A3B7}"/>
              </a:ext>
            </a:extLst>
          </p:cNvPr>
          <p:cNvSpPr>
            <a:spLocks noGrp="1"/>
          </p:cNvSpPr>
          <p:nvPr>
            <p:ph type="title"/>
          </p:nvPr>
        </p:nvSpPr>
        <p:spPr>
          <a:xfrm>
            <a:off x="521208" y="662737"/>
            <a:ext cx="11155680" cy="936652"/>
          </a:xfrm>
        </p:spPr>
        <p:txBody>
          <a:bodyPr/>
          <a:lstStyle/>
          <a:p>
            <a:r>
              <a:rPr lang="zh-CN" altLang="en-US" sz="4400" dirty="0"/>
              <a:t>中高考减压音乐摆渡的原理（四）</a:t>
            </a:r>
          </a:p>
        </p:txBody>
      </p:sp>
      <p:sp>
        <p:nvSpPr>
          <p:cNvPr id="3" name="内容占位符 2">
            <a:extLst>
              <a:ext uri="{FF2B5EF4-FFF2-40B4-BE49-F238E27FC236}">
                <a16:creationId xmlns:a16="http://schemas.microsoft.com/office/drawing/2014/main" id="{A65529A2-FF6C-4263-C60E-DBDA698B4D80}"/>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注意力由心房降到中脘位置，我们开始降低焦虑的等级，注意力由头部往下降，调节植物神经变得平和与平缓</a:t>
            </a:r>
            <a:r>
              <a:rPr lang="zh-CN" altLang="en-US" sz="1800" dirty="0" smtClean="0">
                <a:latin typeface="+mn-ea"/>
              </a:rPr>
              <a:t>。</a:t>
            </a:r>
            <a:endParaRPr lang="en-US" altLang="zh-CN" sz="1800" dirty="0" smtClean="0">
              <a:latin typeface="+mn-ea"/>
            </a:endParaRPr>
          </a:p>
          <a:p>
            <a:pPr marL="0" indent="0">
              <a:buNone/>
            </a:pPr>
            <a:r>
              <a:rPr lang="zh-CN" altLang="en-US" sz="1800" dirty="0">
                <a:latin typeface="+mn-ea"/>
              </a:rPr>
              <a:t>中脘穴位于上腹部，脐中上 </a:t>
            </a:r>
            <a:r>
              <a:rPr lang="en-US" altLang="zh-CN" sz="1800" dirty="0">
                <a:latin typeface="+mn-ea"/>
              </a:rPr>
              <a:t>4 </a:t>
            </a:r>
            <a:r>
              <a:rPr lang="zh-CN" altLang="en-US" sz="1800" dirty="0">
                <a:latin typeface="+mn-ea"/>
              </a:rPr>
              <a:t>寸，前正中线上</a:t>
            </a:r>
            <a:r>
              <a:rPr lang="zh-CN" altLang="en-US" sz="1800" dirty="0" smtClean="0">
                <a:latin typeface="+mn-ea"/>
              </a:rPr>
              <a:t>。</a:t>
            </a:r>
            <a:endParaRPr lang="en-US" altLang="zh-CN" sz="1800" dirty="0" smtClean="0">
              <a:latin typeface="+mn-ea"/>
            </a:endParaRPr>
          </a:p>
          <a:p>
            <a:pPr marL="0" indent="0">
              <a:buNone/>
            </a:pPr>
            <a:endParaRPr lang="en-US" altLang="zh-CN" sz="1800" dirty="0">
              <a:latin typeface="+mn-ea"/>
            </a:endParaRPr>
          </a:p>
          <a:p>
            <a:pPr marL="0" indent="0">
              <a:buNone/>
            </a:pPr>
            <a:r>
              <a:rPr lang="zh-CN" altLang="en-US" sz="1800" dirty="0" smtClean="0">
                <a:latin typeface="+mn-ea"/>
              </a:rPr>
              <a:t>特别注意：考试</a:t>
            </a:r>
            <a:r>
              <a:rPr lang="zh-CN" altLang="en-US" sz="1800" dirty="0">
                <a:latin typeface="+mn-ea"/>
              </a:rPr>
              <a:t>焦虑和</a:t>
            </a:r>
            <a:r>
              <a:rPr lang="zh-CN" altLang="en-US" sz="1800" dirty="0" smtClean="0">
                <a:latin typeface="+mn-ea"/>
              </a:rPr>
              <a:t>其他应对</a:t>
            </a:r>
            <a:r>
              <a:rPr lang="zh-CN" altLang="en-US" sz="1800" dirty="0">
                <a:latin typeface="+mn-ea"/>
              </a:rPr>
              <a:t>压力的</a:t>
            </a:r>
            <a:r>
              <a:rPr lang="zh-CN" altLang="en-US" sz="1800" dirty="0" smtClean="0">
                <a:latin typeface="+mn-ea"/>
              </a:rPr>
              <a:t>治疗是不一样的，我们并不是让</a:t>
            </a:r>
            <a:r>
              <a:rPr lang="zh-CN" altLang="en-US" sz="1800" dirty="0">
                <a:latin typeface="+mn-ea"/>
              </a:rPr>
              <a:t>考试</a:t>
            </a:r>
            <a:r>
              <a:rPr lang="zh-CN" altLang="en-US" sz="1800" dirty="0" smtClean="0">
                <a:latin typeface="+mn-ea"/>
              </a:rPr>
              <a:t>焦虑得到完全</a:t>
            </a:r>
            <a:r>
              <a:rPr lang="zh-CN" altLang="en-US" sz="1800" dirty="0">
                <a:latin typeface="+mn-ea"/>
              </a:rPr>
              <a:t>缓解</a:t>
            </a:r>
            <a:r>
              <a:rPr lang="zh-CN" altLang="en-US" sz="1800" dirty="0" smtClean="0">
                <a:latin typeface="+mn-ea"/>
              </a:rPr>
              <a:t>，而是要让压力值</a:t>
            </a:r>
            <a:r>
              <a:rPr lang="zh-CN" altLang="en-US" sz="1800" dirty="0">
                <a:latin typeface="+mn-ea"/>
              </a:rPr>
              <a:t>保持一个不超载的</a:t>
            </a:r>
            <a:r>
              <a:rPr lang="zh-CN" altLang="en-US" sz="1800" dirty="0" smtClean="0">
                <a:latin typeface="+mn-ea"/>
              </a:rPr>
              <a:t>限度即可。</a:t>
            </a:r>
            <a:endParaRPr lang="zh-CN" altLang="en-US" sz="1800" dirty="0">
              <a:latin typeface="+mn-ea"/>
            </a:endParaRPr>
          </a:p>
        </p:txBody>
      </p:sp>
      <p:sp>
        <p:nvSpPr>
          <p:cNvPr id="5" name="内容占位符 2">
            <a:extLst>
              <a:ext uri="{FF2B5EF4-FFF2-40B4-BE49-F238E27FC236}">
                <a16:creationId xmlns:a16="http://schemas.microsoft.com/office/drawing/2014/main" id="{460E1E86-735C-A21E-9F7C-601CC8487A2E}"/>
              </a:ext>
            </a:extLst>
          </p:cNvPr>
          <p:cNvSpPr txBox="1">
            <a:spLocks/>
          </p:cNvSpPr>
          <p:nvPr/>
        </p:nvSpPr>
        <p:spPr>
          <a:xfrm>
            <a:off x="166062" y="5804639"/>
            <a:ext cx="677970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3</a:t>
            </a:r>
            <a:r>
              <a:rPr lang="zh-CN" altLang="en-US" sz="3200" dirty="0">
                <a:effectLst>
                  <a:outerShdw blurRad="38100" dist="38100" dir="2700000" algn="tl">
                    <a:srgbClr val="000000">
                      <a:alpha val="43137"/>
                    </a:srgbClr>
                  </a:outerShdw>
                </a:effectLst>
                <a:latin typeface="+mn-ea"/>
              </a:rPr>
              <a:t>首音乐：安神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降至中脘</a:t>
            </a:r>
          </a:p>
          <a:p>
            <a:pPr marL="0" indent="0">
              <a:buNone/>
            </a:pPr>
            <a:endParaRPr lang="zh-CN" altLang="en-US" sz="3200" dirty="0">
              <a:effectLst>
                <a:outerShdw blurRad="38100" dist="38100" dir="2700000" algn="tl">
                  <a:srgbClr val="000000">
                    <a:alpha val="43137"/>
                  </a:srgbClr>
                </a:outerShdw>
              </a:effectLst>
              <a:latin typeface="+mn-ea"/>
            </a:endParaRPr>
          </a:p>
        </p:txBody>
      </p:sp>
      <p:pic>
        <p:nvPicPr>
          <p:cNvPr id="4" name="图片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143751" y="4196017"/>
            <a:ext cx="3548744" cy="2365829"/>
          </a:xfrm>
          <a:prstGeom prst="rect">
            <a:avLst/>
          </a:prstGeom>
          <a:effectLst>
            <a:softEdge rad="127000"/>
          </a:effectLst>
        </p:spPr>
      </p:pic>
    </p:spTree>
    <p:extLst>
      <p:ext uri="{BB962C8B-B14F-4D97-AF65-F5344CB8AC3E}">
        <p14:creationId xmlns:p14="http://schemas.microsoft.com/office/powerpoint/2010/main" val="14728387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8B498-0F90-2667-7B4B-BDA9B3B67B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6ECD6F-7E39-874A-E5EB-AAB114DCDF2A}"/>
              </a:ext>
            </a:extLst>
          </p:cNvPr>
          <p:cNvSpPr>
            <a:spLocks noGrp="1"/>
          </p:cNvSpPr>
          <p:nvPr>
            <p:ph type="title"/>
          </p:nvPr>
        </p:nvSpPr>
        <p:spPr>
          <a:xfrm>
            <a:off x="521208" y="662737"/>
            <a:ext cx="11155680" cy="936652"/>
          </a:xfrm>
        </p:spPr>
        <p:txBody>
          <a:bodyPr/>
          <a:lstStyle/>
          <a:p>
            <a:r>
              <a:rPr lang="zh-CN" altLang="en-US" sz="4400" dirty="0"/>
              <a:t>中高考减压音乐摆渡的原理（五）</a:t>
            </a:r>
          </a:p>
        </p:txBody>
      </p:sp>
      <p:sp>
        <p:nvSpPr>
          <p:cNvPr id="3" name="内容占位符 2">
            <a:extLst>
              <a:ext uri="{FF2B5EF4-FFF2-40B4-BE49-F238E27FC236}">
                <a16:creationId xmlns:a16="http://schemas.microsoft.com/office/drawing/2014/main" id="{07C4A02B-3AF0-2D90-29BB-131060EAB070}"/>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考试焦虑和其他压力</a:t>
            </a:r>
            <a:r>
              <a:rPr lang="zh-CN" altLang="en-US" sz="1800" dirty="0" smtClean="0">
                <a:latin typeface="+mn-ea"/>
              </a:rPr>
              <a:t>治疗不一样。</a:t>
            </a:r>
            <a:endParaRPr lang="zh-CN" altLang="en-US" sz="1800" dirty="0">
              <a:latin typeface="+mn-ea"/>
            </a:endParaRPr>
          </a:p>
          <a:p>
            <a:pPr marL="0" indent="0">
              <a:buNone/>
            </a:pPr>
            <a:r>
              <a:rPr lang="zh-CN" altLang="en-US" sz="1800" dirty="0" smtClean="0">
                <a:latin typeface="+mn-ea"/>
              </a:rPr>
              <a:t>考试焦虑</a:t>
            </a:r>
            <a:r>
              <a:rPr lang="zh-CN" altLang="en-US" sz="1800" dirty="0">
                <a:latin typeface="+mn-ea"/>
              </a:rPr>
              <a:t>治疗，</a:t>
            </a:r>
            <a:r>
              <a:rPr lang="zh-CN" altLang="en-US" sz="1800" dirty="0" smtClean="0">
                <a:latin typeface="+mn-ea"/>
              </a:rPr>
              <a:t>并不能让</a:t>
            </a:r>
            <a:r>
              <a:rPr lang="zh-CN" altLang="en-US" sz="1800" dirty="0">
                <a:latin typeface="+mn-ea"/>
              </a:rPr>
              <a:t>焦虑完全缓解，因为考试本身还没有进行，距离考试还有一段时间，要</a:t>
            </a:r>
            <a:r>
              <a:rPr lang="zh-CN" altLang="en-US" sz="1800" dirty="0" smtClean="0">
                <a:latin typeface="+mn-ea"/>
              </a:rPr>
              <a:t>让</a:t>
            </a:r>
            <a:r>
              <a:rPr lang="zh-CN" altLang="en-US" sz="1800" dirty="0">
                <a:latin typeface="+mn-ea"/>
              </a:rPr>
              <a:t>考生</a:t>
            </a:r>
            <a:r>
              <a:rPr lang="zh-CN" altLang="en-US" sz="1800" dirty="0" smtClean="0">
                <a:latin typeface="+mn-ea"/>
              </a:rPr>
              <a:t>认识</a:t>
            </a:r>
            <a:r>
              <a:rPr lang="zh-CN" altLang="en-US" sz="1800" dirty="0">
                <a:latin typeface="+mn-ea"/>
              </a:rPr>
              <a:t>到</a:t>
            </a:r>
            <a:r>
              <a:rPr lang="zh-CN" altLang="en-US" sz="1800" dirty="0" smtClean="0">
                <a:latin typeface="+mn-ea"/>
              </a:rPr>
              <a:t>考试要</a:t>
            </a:r>
            <a:r>
              <a:rPr lang="zh-CN" altLang="en-US" sz="1800" dirty="0">
                <a:latin typeface="+mn-ea"/>
              </a:rPr>
              <a:t>等到</a:t>
            </a:r>
            <a:r>
              <a:rPr lang="en-US" altLang="zh-CN" sz="1800" dirty="0">
                <a:latin typeface="+mn-ea"/>
              </a:rPr>
              <a:t>6</a:t>
            </a:r>
            <a:r>
              <a:rPr lang="zh-CN" altLang="en-US" sz="1800" dirty="0">
                <a:latin typeface="+mn-ea"/>
              </a:rPr>
              <a:t>月份</a:t>
            </a:r>
            <a:r>
              <a:rPr lang="zh-CN" altLang="en-US" sz="1800" dirty="0" smtClean="0">
                <a:latin typeface="+mn-ea"/>
              </a:rPr>
              <a:t>，在此期间不能</a:t>
            </a:r>
            <a:r>
              <a:rPr lang="zh-CN" altLang="en-US" sz="1800" dirty="0">
                <a:latin typeface="+mn-ea"/>
              </a:rPr>
              <a:t>做到完全消除压力</a:t>
            </a:r>
            <a:r>
              <a:rPr lang="zh-CN" altLang="en-US" sz="1800" dirty="0" smtClean="0">
                <a:latin typeface="+mn-ea"/>
              </a:rPr>
              <a:t>。</a:t>
            </a:r>
            <a:endParaRPr lang="en-US" altLang="zh-CN" sz="1800" dirty="0" smtClean="0">
              <a:latin typeface="+mn-ea"/>
            </a:endParaRPr>
          </a:p>
          <a:p>
            <a:pPr marL="0" indent="0">
              <a:buNone/>
            </a:pPr>
            <a:r>
              <a:rPr lang="zh-CN" altLang="en-US" sz="1800" dirty="0">
                <a:latin typeface="+mn-ea"/>
              </a:rPr>
              <a:t>这首音乐取材于动漫</a:t>
            </a:r>
            <a:r>
              <a:rPr lang="zh-CN" altLang="en-US" sz="1800" dirty="0" smtClean="0">
                <a:latin typeface="+mn-ea"/>
              </a:rPr>
              <a:t>，通过年轻人</a:t>
            </a:r>
            <a:r>
              <a:rPr lang="zh-CN" altLang="en-US" sz="1800" dirty="0">
                <a:latin typeface="+mn-ea"/>
              </a:rPr>
              <a:t>的</a:t>
            </a:r>
            <a:r>
              <a:rPr lang="zh-CN" altLang="en-US" sz="1800" dirty="0" smtClean="0">
                <a:latin typeface="+mn-ea"/>
              </a:rPr>
              <a:t>文化来激活</a:t>
            </a:r>
            <a:r>
              <a:rPr lang="zh-CN" altLang="en-US" sz="1800" dirty="0">
                <a:latin typeface="+mn-ea"/>
              </a:rPr>
              <a:t>年轻人。</a:t>
            </a:r>
          </a:p>
          <a:p>
            <a:pPr marL="0" indent="0">
              <a:buNone/>
            </a:pPr>
            <a:r>
              <a:rPr lang="zh-CN" altLang="en-US" sz="1800" dirty="0" smtClean="0">
                <a:latin typeface="+mn-ea"/>
              </a:rPr>
              <a:t>同样这</a:t>
            </a:r>
            <a:r>
              <a:rPr lang="zh-CN" altLang="en-US" sz="1800" dirty="0">
                <a:latin typeface="+mn-ea"/>
              </a:rPr>
              <a:t>首</a:t>
            </a:r>
            <a:r>
              <a:rPr lang="zh-CN" altLang="en-US" sz="1800" dirty="0" smtClean="0">
                <a:latin typeface="+mn-ea"/>
              </a:rPr>
              <a:t>音乐需要让考生将注意力</a:t>
            </a:r>
            <a:r>
              <a:rPr lang="zh-CN" altLang="en-US" sz="1800" dirty="0">
                <a:latin typeface="+mn-ea"/>
              </a:rPr>
              <a:t>放在中脘部位，让压力值保持不超载的</a:t>
            </a:r>
            <a:r>
              <a:rPr lang="zh-CN" altLang="en-US" sz="1800" dirty="0" smtClean="0">
                <a:latin typeface="+mn-ea"/>
              </a:rPr>
              <a:t>限度，不要高压力，也不要压力过小甚至没有压力。</a:t>
            </a:r>
            <a:endParaRPr lang="zh-CN" altLang="en-US" sz="1800" dirty="0">
              <a:latin typeface="+mn-ea"/>
            </a:endParaRPr>
          </a:p>
        </p:txBody>
      </p:sp>
      <p:sp>
        <p:nvSpPr>
          <p:cNvPr id="5" name="内容占位符 2">
            <a:extLst>
              <a:ext uri="{FF2B5EF4-FFF2-40B4-BE49-F238E27FC236}">
                <a16:creationId xmlns:a16="http://schemas.microsoft.com/office/drawing/2014/main" id="{CB212C4F-D082-03E8-63B2-CB7ACCDD6583}"/>
              </a:ext>
            </a:extLst>
          </p:cNvPr>
          <p:cNvSpPr txBox="1">
            <a:spLocks/>
          </p:cNvSpPr>
          <p:nvPr/>
        </p:nvSpPr>
        <p:spPr>
          <a:xfrm>
            <a:off x="264033" y="5558891"/>
            <a:ext cx="7432167"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4</a:t>
            </a:r>
            <a:r>
              <a:rPr lang="zh-CN" altLang="en-US" sz="3200" dirty="0">
                <a:effectLst>
                  <a:outerShdw blurRad="38100" dist="38100" dir="2700000" algn="tl">
                    <a:srgbClr val="000000">
                      <a:alpha val="43137"/>
                    </a:srgbClr>
                  </a:outerShdw>
                </a:effectLst>
                <a:latin typeface="+mn-ea"/>
              </a:rPr>
              <a:t>首音乐：稳定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焦虑稳定节奏中脘</a:t>
            </a:r>
          </a:p>
        </p:txBody>
      </p:sp>
      <p:pic>
        <p:nvPicPr>
          <p:cNvPr id="4" name="图片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947279" y="3879004"/>
            <a:ext cx="3041850" cy="2670748"/>
          </a:xfrm>
          <a:prstGeom prst="rect">
            <a:avLst/>
          </a:prstGeom>
          <a:effectLst>
            <a:softEdge rad="127000"/>
          </a:effectLst>
        </p:spPr>
      </p:pic>
    </p:spTree>
    <p:extLst>
      <p:ext uri="{BB962C8B-B14F-4D97-AF65-F5344CB8AC3E}">
        <p14:creationId xmlns:p14="http://schemas.microsoft.com/office/powerpoint/2010/main" val="14173387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3571-8426-210D-6BE0-3A4AC97046A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6C47AA-D935-D30A-712C-2979E2AF2914}"/>
              </a:ext>
            </a:extLst>
          </p:cNvPr>
          <p:cNvSpPr>
            <a:spLocks noGrp="1"/>
          </p:cNvSpPr>
          <p:nvPr>
            <p:ph type="title"/>
          </p:nvPr>
        </p:nvSpPr>
        <p:spPr>
          <a:xfrm>
            <a:off x="521208" y="662737"/>
            <a:ext cx="11155680" cy="936652"/>
          </a:xfrm>
        </p:spPr>
        <p:txBody>
          <a:bodyPr/>
          <a:lstStyle/>
          <a:p>
            <a:r>
              <a:rPr lang="zh-CN" altLang="en-US" sz="4400" dirty="0"/>
              <a:t>中高考减压音乐摆渡的原理（六）</a:t>
            </a:r>
          </a:p>
        </p:txBody>
      </p:sp>
      <p:sp>
        <p:nvSpPr>
          <p:cNvPr id="3" name="内容占位符 2">
            <a:extLst>
              <a:ext uri="{FF2B5EF4-FFF2-40B4-BE49-F238E27FC236}">
                <a16:creationId xmlns:a16="http://schemas.microsoft.com/office/drawing/2014/main" id="{A3E9DB53-EF7B-4CEB-9BAF-118D4A9896CB}"/>
              </a:ext>
            </a:extLst>
          </p:cNvPr>
          <p:cNvSpPr>
            <a:spLocks noGrp="1"/>
          </p:cNvSpPr>
          <p:nvPr>
            <p:ph idx="1"/>
          </p:nvPr>
        </p:nvSpPr>
        <p:spPr>
          <a:xfrm>
            <a:off x="515112" y="1599389"/>
            <a:ext cx="11155681" cy="4058461"/>
          </a:xfrm>
        </p:spPr>
        <p:txBody>
          <a:bodyPr/>
          <a:lstStyle/>
          <a:p>
            <a:pPr marL="0" indent="0">
              <a:buNone/>
            </a:pPr>
            <a:r>
              <a:rPr lang="zh-CN" altLang="en-US" sz="1800" dirty="0" smtClean="0">
                <a:latin typeface="+mn-ea"/>
              </a:rPr>
              <a:t>一</a:t>
            </a:r>
            <a:r>
              <a:rPr lang="zh-CN" altLang="en-US" sz="1800" dirty="0">
                <a:latin typeface="+mn-ea"/>
              </a:rPr>
              <a:t>首钢琴曲，节奏慢慢地趋于缓和，给人一种淡淡的忧伤的感觉，让人不自觉地想长嘘一口气。</a:t>
            </a:r>
          </a:p>
          <a:p>
            <a:pPr marL="0" indent="0">
              <a:buNone/>
            </a:pPr>
            <a:r>
              <a:rPr lang="zh-CN" altLang="en-US" sz="1800" dirty="0">
                <a:latin typeface="+mn-ea"/>
              </a:rPr>
              <a:t>虽然音乐的节奏让人平缓，但是起伏的旋律仍然让考生的情结此起彼伏，这就是考前的正常状态。</a:t>
            </a:r>
          </a:p>
          <a:p>
            <a:pPr marL="0" indent="0">
              <a:buNone/>
            </a:pPr>
            <a:r>
              <a:rPr lang="zh-CN" altLang="en-US" sz="1800" dirty="0">
                <a:latin typeface="+mn-ea"/>
              </a:rPr>
              <a:t>随着第一小节音乐结束，刚好在</a:t>
            </a:r>
            <a:r>
              <a:rPr lang="en-US" altLang="zh-CN" sz="1800" dirty="0">
                <a:latin typeface="+mn-ea"/>
              </a:rPr>
              <a:t>40</a:t>
            </a:r>
            <a:r>
              <a:rPr lang="zh-CN" altLang="en-US" sz="1800" dirty="0">
                <a:latin typeface="+mn-ea"/>
              </a:rPr>
              <a:t>秒时，就完成了一个循环。</a:t>
            </a:r>
          </a:p>
          <a:p>
            <a:pPr marL="0" indent="0">
              <a:buNone/>
            </a:pPr>
            <a:r>
              <a:rPr lang="zh-CN" altLang="en-US" sz="1800" dirty="0">
                <a:latin typeface="+mn-ea"/>
              </a:rPr>
              <a:t>这种完整的轮回，在音乐心理学里叫作格式塔，也是一种释怀，即情结上的完形</a:t>
            </a:r>
            <a:r>
              <a:rPr lang="zh-CN" altLang="en-US" sz="1800" dirty="0" smtClean="0">
                <a:latin typeface="+mn-ea"/>
              </a:rPr>
              <a:t>。</a:t>
            </a:r>
            <a:endParaRPr lang="en-US" altLang="zh-CN" sz="1800" dirty="0" smtClean="0">
              <a:latin typeface="+mn-ea"/>
            </a:endParaRPr>
          </a:p>
          <a:p>
            <a:pPr marL="0" indent="0">
              <a:buNone/>
            </a:pPr>
            <a:r>
              <a:rPr lang="zh-CN" altLang="en-US" sz="1800" dirty="0" smtClean="0">
                <a:latin typeface="+mn-ea"/>
              </a:rPr>
              <a:t>焦虑的节奏缓和下来，我们还不能把考试这件事情给完全放松，只能是舒缓烦躁情绪，到达一个合适的程度。</a:t>
            </a:r>
            <a:endParaRPr lang="en-US" altLang="zh-CN" sz="1800" dirty="0" smtClean="0">
              <a:latin typeface="+mn-ea"/>
            </a:endParaRPr>
          </a:p>
          <a:p>
            <a:pPr marL="0" indent="0">
              <a:buNone/>
            </a:pPr>
            <a:r>
              <a:rPr lang="zh-CN" altLang="en-US" sz="1800" dirty="0" smtClean="0">
                <a:latin typeface="+mn-ea"/>
              </a:rPr>
              <a:t>在音乐层层递进中，一个又一个靓丽的高音出现，</a:t>
            </a:r>
            <a:endParaRPr lang="en-US" altLang="zh-CN" sz="1800" dirty="0" smtClean="0">
              <a:latin typeface="+mn-ea"/>
            </a:endParaRPr>
          </a:p>
          <a:p>
            <a:pPr marL="0" indent="0">
              <a:buNone/>
            </a:pPr>
            <a:r>
              <a:rPr lang="zh-CN" altLang="en-US" sz="1800" dirty="0" smtClean="0">
                <a:latin typeface="+mn-ea"/>
              </a:rPr>
              <a:t>好像</a:t>
            </a:r>
            <a:r>
              <a:rPr lang="zh-CN" altLang="en-US" sz="1800" dirty="0">
                <a:latin typeface="+mn-ea"/>
              </a:rPr>
              <a:t>阴霾的</a:t>
            </a:r>
            <a:r>
              <a:rPr lang="zh-CN" altLang="en-US" sz="1800" dirty="0" smtClean="0">
                <a:latin typeface="+mn-ea"/>
              </a:rPr>
              <a:t>天空突然一缕明媚的阳光</a:t>
            </a:r>
            <a:r>
              <a:rPr lang="zh-CN" altLang="en-US" sz="1800" dirty="0">
                <a:latin typeface="+mn-ea"/>
              </a:rPr>
              <a:t>照</a:t>
            </a:r>
            <a:r>
              <a:rPr lang="zh-CN" altLang="en-US" sz="1800" dirty="0" smtClean="0">
                <a:latin typeface="+mn-ea"/>
              </a:rPr>
              <a:t>在脸上，</a:t>
            </a:r>
            <a:endParaRPr lang="en-US" altLang="zh-CN" sz="1800" dirty="0" smtClean="0">
              <a:latin typeface="+mn-ea"/>
            </a:endParaRPr>
          </a:p>
          <a:p>
            <a:pPr marL="0" indent="0">
              <a:buNone/>
            </a:pPr>
            <a:r>
              <a:rPr lang="zh-CN" altLang="en-US" sz="1800" dirty="0" smtClean="0">
                <a:latin typeface="+mn-ea"/>
              </a:rPr>
              <a:t>让我们觉得生活有了希望，这就是音乐的象征意义。</a:t>
            </a:r>
            <a:endParaRPr lang="zh-CN" altLang="en-US" sz="1800" dirty="0">
              <a:latin typeface="+mn-ea"/>
            </a:endParaRPr>
          </a:p>
        </p:txBody>
      </p:sp>
      <p:sp>
        <p:nvSpPr>
          <p:cNvPr id="5" name="内容占位符 2">
            <a:extLst>
              <a:ext uri="{FF2B5EF4-FFF2-40B4-BE49-F238E27FC236}">
                <a16:creationId xmlns:a16="http://schemas.microsoft.com/office/drawing/2014/main" id="{588A3104-2FDF-3960-AE50-A433E2F8487F}"/>
              </a:ext>
            </a:extLst>
          </p:cNvPr>
          <p:cNvSpPr txBox="1">
            <a:spLocks/>
          </p:cNvSpPr>
          <p:nvPr/>
        </p:nvSpPr>
        <p:spPr>
          <a:xfrm>
            <a:off x="206205" y="5850564"/>
            <a:ext cx="74956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5</a:t>
            </a:r>
            <a:r>
              <a:rPr lang="zh-CN" altLang="en-US" sz="3200" dirty="0">
                <a:effectLst>
                  <a:outerShdw blurRad="38100" dist="38100" dir="2700000" algn="tl">
                    <a:srgbClr val="000000">
                      <a:alpha val="43137"/>
                    </a:srgbClr>
                  </a:outerShdw>
                </a:effectLst>
                <a:latin typeface="+mn-ea"/>
              </a:rPr>
              <a:t>首音乐：激活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激活浓情中脘完</a:t>
            </a:r>
            <a:r>
              <a:rPr lang="zh-CN" altLang="en-US" sz="3200" dirty="0" smtClean="0">
                <a:effectLst>
                  <a:outerShdw blurRad="38100" dist="38100" dir="2700000" algn="tl">
                    <a:srgbClr val="000000">
                      <a:alpha val="43137"/>
                    </a:srgbClr>
                  </a:outerShdw>
                </a:effectLst>
                <a:latin typeface="+mn-ea"/>
              </a:rPr>
              <a:t>型</a:t>
            </a:r>
            <a:endParaRPr lang="zh-CN" altLang="en-US" sz="3200" dirty="0">
              <a:effectLst>
                <a:outerShdw blurRad="38100" dist="38100" dir="2700000" algn="tl">
                  <a:srgbClr val="000000">
                    <a:alpha val="43137"/>
                  </a:srgbClr>
                </a:outerShdw>
              </a:effectLst>
              <a:latin typeface="+mn-ea"/>
            </a:endParaRPr>
          </a:p>
        </p:txBody>
      </p:sp>
      <p:pic>
        <p:nvPicPr>
          <p:cNvPr id="4" name="图片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513771" y="4114801"/>
            <a:ext cx="4051801" cy="2479702"/>
          </a:xfrm>
          <a:prstGeom prst="rect">
            <a:avLst/>
          </a:prstGeom>
          <a:effectLst>
            <a:softEdge rad="127000"/>
          </a:effectLst>
        </p:spPr>
      </p:pic>
    </p:spTree>
    <p:extLst>
      <p:ext uri="{BB962C8B-B14F-4D97-AF65-F5344CB8AC3E}">
        <p14:creationId xmlns:p14="http://schemas.microsoft.com/office/powerpoint/2010/main" val="18682845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10798-C07B-8343-52AC-CED14F4ACA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906E56-C504-7E11-4CA6-4E09136ADE57}"/>
              </a:ext>
            </a:extLst>
          </p:cNvPr>
          <p:cNvSpPr>
            <a:spLocks noGrp="1"/>
          </p:cNvSpPr>
          <p:nvPr>
            <p:ph type="title"/>
          </p:nvPr>
        </p:nvSpPr>
        <p:spPr>
          <a:xfrm>
            <a:off x="521208" y="662737"/>
            <a:ext cx="11155680" cy="936652"/>
          </a:xfrm>
        </p:spPr>
        <p:txBody>
          <a:bodyPr/>
          <a:lstStyle/>
          <a:p>
            <a:r>
              <a:rPr lang="zh-CN" altLang="en-US" sz="4400" dirty="0"/>
              <a:t>中高考减压音乐摆渡的原理（七）</a:t>
            </a:r>
          </a:p>
        </p:txBody>
      </p:sp>
      <p:sp>
        <p:nvSpPr>
          <p:cNvPr id="3" name="内容占位符 2">
            <a:extLst>
              <a:ext uri="{FF2B5EF4-FFF2-40B4-BE49-F238E27FC236}">
                <a16:creationId xmlns:a16="http://schemas.microsoft.com/office/drawing/2014/main" id="{F0070BF1-110F-5573-5335-5325615407A5}"/>
              </a:ext>
            </a:extLst>
          </p:cNvPr>
          <p:cNvSpPr>
            <a:spLocks noGrp="1"/>
          </p:cNvSpPr>
          <p:nvPr>
            <p:ph idx="1"/>
          </p:nvPr>
        </p:nvSpPr>
        <p:spPr>
          <a:xfrm>
            <a:off x="521207" y="1721854"/>
            <a:ext cx="11155681" cy="4001310"/>
          </a:xfrm>
        </p:spPr>
        <p:txBody>
          <a:bodyPr/>
          <a:lstStyle/>
          <a:p>
            <a:pPr marL="0" indent="0">
              <a:buNone/>
            </a:pPr>
            <a:r>
              <a:rPr lang="zh-CN" altLang="en-US" sz="1800" dirty="0" smtClean="0">
                <a:latin typeface="+mn-ea"/>
              </a:rPr>
              <a:t>音乐背景</a:t>
            </a:r>
            <a:r>
              <a:rPr lang="zh-CN" altLang="en-US" sz="1800" dirty="0">
                <a:latin typeface="+mn-ea"/>
              </a:rPr>
              <a:t>是雨声，</a:t>
            </a:r>
            <a:r>
              <a:rPr lang="zh-CN" altLang="en-US" sz="1800" dirty="0" smtClean="0">
                <a:latin typeface="+mn-ea"/>
              </a:rPr>
              <a:t>配合钢琴</a:t>
            </a:r>
            <a:r>
              <a:rPr lang="zh-CN" altLang="en-US" sz="1800" dirty="0">
                <a:latin typeface="+mn-ea"/>
              </a:rPr>
              <a:t>声给人的</a:t>
            </a:r>
            <a:r>
              <a:rPr lang="zh-CN" altLang="en-US" sz="1800" dirty="0" smtClean="0">
                <a:latin typeface="+mn-ea"/>
              </a:rPr>
              <a:t>感觉有一些</a:t>
            </a:r>
            <a:r>
              <a:rPr lang="zh-CN" altLang="en-US" sz="1800" dirty="0">
                <a:latin typeface="+mn-ea"/>
              </a:rPr>
              <a:t>抑郁，对于一个焦虑的人</a:t>
            </a:r>
            <a:r>
              <a:rPr lang="zh-CN" altLang="en-US" sz="1800" dirty="0" smtClean="0">
                <a:latin typeface="+mn-ea"/>
              </a:rPr>
              <a:t>，能</a:t>
            </a:r>
            <a:r>
              <a:rPr lang="zh-CN" altLang="en-US" sz="1800" dirty="0">
                <a:latin typeface="+mn-ea"/>
              </a:rPr>
              <a:t>让他沉浸下来。</a:t>
            </a:r>
          </a:p>
          <a:p>
            <a:pPr marL="0" indent="0">
              <a:buNone/>
            </a:pPr>
            <a:r>
              <a:rPr lang="zh-CN" altLang="en-US" sz="1800" dirty="0">
                <a:latin typeface="+mn-ea"/>
              </a:rPr>
              <a:t>雨水给他提供一个可以让他的情绪静下来的情境。</a:t>
            </a:r>
          </a:p>
          <a:p>
            <a:pPr marL="0" indent="0">
              <a:buNone/>
            </a:pPr>
            <a:r>
              <a:rPr lang="zh-CN" altLang="en-US" sz="1800" dirty="0">
                <a:latin typeface="+mn-ea"/>
              </a:rPr>
              <a:t>水能让他安静清灵，同时配合意象，感觉雨水</a:t>
            </a:r>
            <a:r>
              <a:rPr lang="zh-CN" altLang="en-US" sz="1800" dirty="0" smtClean="0">
                <a:latin typeface="+mn-ea"/>
              </a:rPr>
              <a:t>从身上</a:t>
            </a:r>
            <a:r>
              <a:rPr lang="zh-CN" altLang="en-US" sz="1800" dirty="0">
                <a:latin typeface="+mn-ea"/>
              </a:rPr>
              <a:t>滑落，带走疲惫和不安，这个过程叫作心灵的排毒。</a:t>
            </a:r>
          </a:p>
          <a:p>
            <a:pPr marL="0" indent="0">
              <a:buNone/>
            </a:pPr>
            <a:r>
              <a:rPr lang="zh-CN" altLang="en-US" sz="1800" dirty="0">
                <a:latin typeface="+mn-ea"/>
              </a:rPr>
              <a:t>同时，在这首音乐中，对于焦虑和抑郁的情绪</a:t>
            </a:r>
            <a:r>
              <a:rPr lang="zh-CN" altLang="en-US" sz="1800" dirty="0" smtClean="0">
                <a:latin typeface="+mn-ea"/>
              </a:rPr>
              <a:t>，我们</a:t>
            </a:r>
            <a:r>
              <a:rPr lang="zh-CN" altLang="en-US" sz="1800" dirty="0">
                <a:latin typeface="+mn-ea"/>
              </a:rPr>
              <a:t>都可以</a:t>
            </a:r>
            <a:r>
              <a:rPr lang="zh-CN" altLang="en-US" sz="1800" dirty="0" smtClean="0">
                <a:latin typeface="+mn-ea"/>
              </a:rPr>
              <a:t>让考生配合</a:t>
            </a:r>
            <a:r>
              <a:rPr lang="zh-CN" altLang="en-US" sz="1800" dirty="0">
                <a:latin typeface="+mn-ea"/>
              </a:rPr>
              <a:t>着呼吸</a:t>
            </a:r>
            <a:r>
              <a:rPr lang="zh-CN" altLang="en-US" sz="1800" dirty="0" smtClean="0">
                <a:latin typeface="+mn-ea"/>
              </a:rPr>
              <a:t>，呼吸</a:t>
            </a:r>
            <a:r>
              <a:rPr lang="zh-CN" altLang="en-US" sz="1800" dirty="0">
                <a:latin typeface="+mn-ea"/>
              </a:rPr>
              <a:t>能给人身体的植物神经系统一个放松休息的机会</a:t>
            </a:r>
            <a:r>
              <a:rPr lang="zh-CN" altLang="en-US" sz="1800" dirty="0" smtClean="0">
                <a:latin typeface="+mn-ea"/>
              </a:rPr>
              <a:t>。</a:t>
            </a:r>
            <a:endParaRPr lang="en-US" altLang="zh-CN" sz="1800" dirty="0" smtClean="0">
              <a:latin typeface="+mn-ea"/>
            </a:endParaRPr>
          </a:p>
          <a:p>
            <a:pPr marL="0" indent="0">
              <a:buNone/>
            </a:pPr>
            <a:r>
              <a:rPr lang="zh-CN" altLang="en-US" sz="1800" dirty="0">
                <a:latin typeface="+mn-ea"/>
              </a:rPr>
              <a:t>当然这个呼吸</a:t>
            </a:r>
            <a:r>
              <a:rPr lang="zh-CN" altLang="en-US" sz="1800" dirty="0" smtClean="0">
                <a:latin typeface="+mn-ea"/>
              </a:rPr>
              <a:t>不是最重要的，最重要</a:t>
            </a:r>
            <a:r>
              <a:rPr lang="zh-CN" altLang="en-US" sz="1800" dirty="0">
                <a:latin typeface="+mn-ea"/>
              </a:rPr>
              <a:t>是这个时候给他一个</a:t>
            </a:r>
            <a:r>
              <a:rPr lang="zh-CN" altLang="en-US" sz="1800" dirty="0" smtClean="0">
                <a:latin typeface="+mn-ea"/>
              </a:rPr>
              <a:t>空间，</a:t>
            </a:r>
            <a:endParaRPr lang="zh-CN" altLang="en-US" sz="1800" dirty="0">
              <a:latin typeface="+mn-ea"/>
            </a:endParaRPr>
          </a:p>
          <a:p>
            <a:pPr marL="0" indent="0">
              <a:buNone/>
            </a:pPr>
            <a:r>
              <a:rPr lang="zh-CN" altLang="en-US" sz="1800" dirty="0" smtClean="0">
                <a:latin typeface="+mn-ea"/>
              </a:rPr>
              <a:t>让他可以暂时停下来休息。</a:t>
            </a:r>
            <a:endParaRPr lang="zh-CN" altLang="en-US" sz="1800" dirty="0">
              <a:latin typeface="+mn-ea"/>
            </a:endParaRPr>
          </a:p>
        </p:txBody>
      </p:sp>
      <p:sp>
        <p:nvSpPr>
          <p:cNvPr id="5" name="内容占位符 2">
            <a:extLst>
              <a:ext uri="{FF2B5EF4-FFF2-40B4-BE49-F238E27FC236}">
                <a16:creationId xmlns:a16="http://schemas.microsoft.com/office/drawing/2014/main" id="{397E3EF3-47F3-C58D-7216-10CA45E50F62}"/>
              </a:ext>
            </a:extLst>
          </p:cNvPr>
          <p:cNvSpPr txBox="1">
            <a:spLocks/>
          </p:cNvSpPr>
          <p:nvPr/>
        </p:nvSpPr>
        <p:spPr>
          <a:xfrm>
            <a:off x="264034" y="5558891"/>
            <a:ext cx="75718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6</a:t>
            </a:r>
            <a:r>
              <a:rPr lang="zh-CN" altLang="en-US" sz="3200" dirty="0">
                <a:effectLst>
                  <a:outerShdw blurRad="38100" dist="38100" dir="2700000" algn="tl">
                    <a:srgbClr val="000000">
                      <a:alpha val="43137"/>
                    </a:srgbClr>
                  </a:outerShdw>
                </a:effectLst>
                <a:latin typeface="+mn-ea"/>
              </a:rPr>
              <a:t>首音乐：排毒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滴雨沉静抑郁中下</a:t>
            </a:r>
          </a:p>
          <a:p>
            <a:pPr marL="0" indent="0">
              <a:buNone/>
            </a:pPr>
            <a:endParaRPr lang="zh-CN" altLang="en-US" sz="3200" dirty="0">
              <a:effectLst>
                <a:outerShdw blurRad="38100" dist="38100" dir="2700000" algn="tl">
                  <a:srgbClr val="000000">
                    <a:alpha val="43137"/>
                  </a:srgbClr>
                </a:outerShdw>
              </a:effectLst>
              <a:latin typeface="+mn-ea"/>
            </a:endParaRPr>
          </a:p>
        </p:txBody>
      </p:sp>
      <p:pic>
        <p:nvPicPr>
          <p:cNvPr id="4" name="图片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835900" y="4039255"/>
            <a:ext cx="3751735" cy="2502407"/>
          </a:xfrm>
          <a:prstGeom prst="rect">
            <a:avLst/>
          </a:prstGeom>
          <a:effectLst>
            <a:softEdge rad="127000"/>
          </a:effectLst>
        </p:spPr>
      </p:pic>
    </p:spTree>
    <p:extLst>
      <p:ext uri="{BB962C8B-B14F-4D97-AF65-F5344CB8AC3E}">
        <p14:creationId xmlns:p14="http://schemas.microsoft.com/office/powerpoint/2010/main" val="32430376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1EAC-E2EF-5A5E-BBD2-2E09DCE78E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63B885-88C1-C678-9F31-B80AD3CF5AC1}"/>
              </a:ext>
            </a:extLst>
          </p:cNvPr>
          <p:cNvSpPr>
            <a:spLocks noGrp="1"/>
          </p:cNvSpPr>
          <p:nvPr>
            <p:ph type="title"/>
          </p:nvPr>
        </p:nvSpPr>
        <p:spPr>
          <a:xfrm>
            <a:off x="521208" y="662737"/>
            <a:ext cx="11155680" cy="936652"/>
          </a:xfrm>
        </p:spPr>
        <p:txBody>
          <a:bodyPr/>
          <a:lstStyle/>
          <a:p>
            <a:r>
              <a:rPr lang="zh-CN" altLang="en-US" sz="4400" dirty="0"/>
              <a:t>中高考减压音乐摆渡的原理（八）</a:t>
            </a:r>
          </a:p>
        </p:txBody>
      </p:sp>
      <p:sp>
        <p:nvSpPr>
          <p:cNvPr id="3" name="内容占位符 2">
            <a:extLst>
              <a:ext uri="{FF2B5EF4-FFF2-40B4-BE49-F238E27FC236}">
                <a16:creationId xmlns:a16="http://schemas.microsoft.com/office/drawing/2014/main" id="{AAF97769-C781-5E06-B212-6946928851B3}"/>
              </a:ext>
            </a:extLst>
          </p:cNvPr>
          <p:cNvSpPr>
            <a:spLocks noGrp="1"/>
          </p:cNvSpPr>
          <p:nvPr>
            <p:ph idx="1"/>
          </p:nvPr>
        </p:nvSpPr>
        <p:spPr>
          <a:xfrm>
            <a:off x="521207" y="1762675"/>
            <a:ext cx="11155681" cy="4058461"/>
          </a:xfrm>
        </p:spPr>
        <p:txBody>
          <a:bodyPr/>
          <a:lstStyle/>
          <a:p>
            <a:pPr marL="0" indent="0">
              <a:buNone/>
            </a:pPr>
            <a:r>
              <a:rPr lang="zh-CN" altLang="en-US" sz="1800" dirty="0" smtClean="0">
                <a:latin typeface="+mn-ea"/>
              </a:rPr>
              <a:t>音乐中加入了人声</a:t>
            </a:r>
            <a:r>
              <a:rPr lang="zh-CN" altLang="en-US" sz="1800" dirty="0">
                <a:latin typeface="+mn-ea"/>
              </a:rPr>
              <a:t>，</a:t>
            </a:r>
            <a:r>
              <a:rPr lang="zh-CN" altLang="en-US" sz="1800" dirty="0" smtClean="0">
                <a:latin typeface="+mn-ea"/>
              </a:rPr>
              <a:t>是一种社会支持</a:t>
            </a:r>
            <a:r>
              <a:rPr lang="zh-CN" altLang="en-US" sz="1800" dirty="0">
                <a:latin typeface="+mn-ea"/>
              </a:rPr>
              <a:t>系统的隐喻</a:t>
            </a:r>
            <a:r>
              <a:rPr lang="zh-CN" altLang="en-US" sz="1800" dirty="0" smtClean="0">
                <a:latin typeface="+mn-ea"/>
              </a:rPr>
              <a:t>。</a:t>
            </a:r>
            <a:endParaRPr lang="en-US" altLang="zh-CN" sz="1800" dirty="0" smtClean="0">
              <a:latin typeface="+mn-ea"/>
            </a:endParaRPr>
          </a:p>
          <a:p>
            <a:pPr marL="0" indent="0">
              <a:buNone/>
            </a:pPr>
            <a:r>
              <a:rPr lang="zh-CN" altLang="en-US" sz="1800" dirty="0">
                <a:latin typeface="+mn-ea"/>
              </a:rPr>
              <a:t>它的象征价值</a:t>
            </a:r>
            <a:r>
              <a:rPr lang="zh-CN" altLang="en-US" sz="1800" dirty="0" smtClean="0">
                <a:latin typeface="+mn-ea"/>
              </a:rPr>
              <a:t>就如有一个人在支持着你，</a:t>
            </a:r>
            <a:r>
              <a:rPr lang="zh-CN" altLang="en-US" sz="1800" dirty="0" smtClean="0">
                <a:latin typeface="+mn-ea"/>
              </a:rPr>
              <a:t>让人感觉很安稳</a:t>
            </a:r>
            <a:r>
              <a:rPr lang="zh-CN" altLang="en-US" sz="1800" dirty="0" smtClean="0">
                <a:latin typeface="+mn-ea"/>
              </a:rPr>
              <a:t>。</a:t>
            </a:r>
            <a:endParaRPr lang="en-US" altLang="zh-CN" sz="1800" dirty="0" smtClean="0">
              <a:latin typeface="+mn-ea"/>
            </a:endParaRPr>
          </a:p>
          <a:p>
            <a:pPr marL="0" indent="0">
              <a:buNone/>
            </a:pPr>
            <a:r>
              <a:rPr lang="zh-CN" altLang="en-US" sz="1800" dirty="0" smtClean="0">
                <a:latin typeface="+mn-ea"/>
              </a:rPr>
              <a:t>此外音乐中又是女性声音，可以让人产生投射，进而有陪伴的感觉，可以让人退行，这时可以让考生尝试</a:t>
            </a:r>
            <a:r>
              <a:rPr lang="zh-CN" altLang="en-US" sz="1800" dirty="0">
                <a:latin typeface="+mn-ea"/>
              </a:rPr>
              <a:t>放松</a:t>
            </a:r>
            <a:r>
              <a:rPr lang="zh-CN" altLang="en-US" sz="1800" dirty="0" smtClean="0">
                <a:latin typeface="+mn-ea"/>
              </a:rPr>
              <a:t>下来，允许考生睡一会儿也是</a:t>
            </a:r>
            <a:r>
              <a:rPr lang="en-US" altLang="zh-CN" sz="1800" dirty="0" smtClean="0">
                <a:latin typeface="+mn-ea"/>
              </a:rPr>
              <a:t>OK</a:t>
            </a:r>
            <a:r>
              <a:rPr lang="zh-CN" altLang="en-US" sz="1800" dirty="0" smtClean="0">
                <a:latin typeface="+mn-ea"/>
              </a:rPr>
              <a:t>的。</a:t>
            </a:r>
            <a:endParaRPr lang="en-US" altLang="zh-CN" sz="1800" dirty="0" smtClean="0">
              <a:latin typeface="+mn-ea"/>
            </a:endParaRPr>
          </a:p>
          <a:p>
            <a:pPr marL="0" indent="0">
              <a:buNone/>
            </a:pPr>
            <a:r>
              <a:rPr lang="zh-CN" altLang="en-US" sz="1800" dirty="0" smtClean="0">
                <a:latin typeface="+mn-ea"/>
              </a:rPr>
              <a:t>此时配合</a:t>
            </a:r>
            <a:r>
              <a:rPr lang="zh-CN" altLang="en-US" sz="1800" dirty="0">
                <a:latin typeface="+mn-ea"/>
              </a:rPr>
              <a:t>呼吸做一个呼吸</a:t>
            </a:r>
            <a:r>
              <a:rPr lang="zh-CN" altLang="en-US" sz="1800" dirty="0" smtClean="0">
                <a:latin typeface="+mn-ea"/>
              </a:rPr>
              <a:t>训练，呼吸的</a:t>
            </a:r>
            <a:r>
              <a:rPr lang="zh-CN" altLang="en-US" sz="1800" dirty="0">
                <a:latin typeface="+mn-ea"/>
              </a:rPr>
              <a:t>节奏和音乐节奏</a:t>
            </a:r>
            <a:r>
              <a:rPr lang="zh-CN" altLang="en-US" sz="1800" dirty="0" smtClean="0">
                <a:latin typeface="+mn-ea"/>
              </a:rPr>
              <a:t>相同，尝试注意</a:t>
            </a:r>
            <a:r>
              <a:rPr lang="zh-CN" altLang="en-US" sz="1800" dirty="0">
                <a:latin typeface="+mn-ea"/>
              </a:rPr>
              <a:t>你的</a:t>
            </a:r>
            <a:r>
              <a:rPr lang="zh-CN" altLang="en-US" sz="1800" dirty="0" smtClean="0">
                <a:latin typeface="+mn-ea"/>
              </a:rPr>
              <a:t>呼吸。</a:t>
            </a:r>
            <a:endParaRPr lang="en-US" altLang="zh-CN" sz="1800" dirty="0" smtClean="0">
              <a:latin typeface="+mn-ea"/>
            </a:endParaRPr>
          </a:p>
          <a:p>
            <a:pPr marL="0" indent="0">
              <a:buNone/>
            </a:pPr>
            <a:r>
              <a:rPr lang="zh-CN" altLang="en-US" sz="1800" dirty="0">
                <a:latin typeface="+mn-ea"/>
              </a:rPr>
              <a:t>当我们注意到自己身体的</a:t>
            </a:r>
            <a:r>
              <a:rPr lang="zh-CN" altLang="en-US" sz="1800" dirty="0" smtClean="0">
                <a:latin typeface="+mn-ea"/>
              </a:rPr>
              <a:t>时候，</a:t>
            </a:r>
            <a:endParaRPr lang="en-US" altLang="zh-CN" sz="1800" dirty="0" smtClean="0">
              <a:latin typeface="+mn-ea"/>
            </a:endParaRPr>
          </a:p>
          <a:p>
            <a:pPr marL="0" indent="0">
              <a:buNone/>
            </a:pPr>
            <a:r>
              <a:rPr lang="zh-CN" altLang="en-US" sz="1800" dirty="0" smtClean="0">
                <a:latin typeface="+mn-ea"/>
              </a:rPr>
              <a:t>我们</a:t>
            </a:r>
            <a:r>
              <a:rPr lang="zh-CN" altLang="en-US" sz="1800" dirty="0">
                <a:latin typeface="+mn-ea"/>
              </a:rPr>
              <a:t>就能知道自己</a:t>
            </a:r>
            <a:r>
              <a:rPr lang="zh-CN" altLang="en-US" sz="1800" dirty="0" smtClean="0">
                <a:latin typeface="+mn-ea"/>
              </a:rPr>
              <a:t>身体紧张</a:t>
            </a:r>
            <a:r>
              <a:rPr lang="zh-CN" altLang="en-US" sz="1800" dirty="0">
                <a:latin typeface="+mn-ea"/>
              </a:rPr>
              <a:t>还是不紧张</a:t>
            </a:r>
            <a:r>
              <a:rPr lang="zh-CN" altLang="en-US" sz="1800" dirty="0" smtClean="0">
                <a:latin typeface="+mn-ea"/>
              </a:rPr>
              <a:t>了。</a:t>
            </a:r>
            <a:endParaRPr lang="zh-CN" altLang="en-US" sz="1800" dirty="0">
              <a:latin typeface="+mn-ea"/>
            </a:endParaRPr>
          </a:p>
          <a:p>
            <a:pPr marL="0" indent="0">
              <a:buNone/>
            </a:pPr>
            <a:r>
              <a:rPr lang="zh-CN" altLang="en-US" sz="1800" dirty="0" smtClean="0">
                <a:latin typeface="+mn-ea"/>
              </a:rPr>
              <a:t>因为只有当</a:t>
            </a:r>
            <a:r>
              <a:rPr lang="zh-CN" altLang="en-US" sz="1800" dirty="0">
                <a:latin typeface="+mn-ea"/>
              </a:rPr>
              <a:t>我们注意到</a:t>
            </a:r>
            <a:r>
              <a:rPr lang="zh-CN" altLang="en-US" sz="1800" dirty="0" smtClean="0">
                <a:latin typeface="+mn-ea"/>
              </a:rPr>
              <a:t>自己紧张</a:t>
            </a:r>
            <a:r>
              <a:rPr lang="zh-CN" altLang="en-US" sz="1800" dirty="0">
                <a:latin typeface="+mn-ea"/>
              </a:rPr>
              <a:t>的</a:t>
            </a:r>
            <a:r>
              <a:rPr lang="zh-CN" altLang="en-US" sz="1800" dirty="0" smtClean="0">
                <a:latin typeface="+mn-ea"/>
              </a:rPr>
              <a:t>时候，紧张</a:t>
            </a:r>
            <a:r>
              <a:rPr lang="zh-CN" altLang="en-US" sz="1800" dirty="0">
                <a:latin typeface="+mn-ea"/>
              </a:rPr>
              <a:t>就</a:t>
            </a:r>
            <a:r>
              <a:rPr lang="zh-CN" altLang="en-US" sz="1800" dirty="0" smtClean="0">
                <a:latin typeface="+mn-ea"/>
              </a:rPr>
              <a:t>会得到缓解。</a:t>
            </a:r>
            <a:endParaRPr lang="zh-CN" altLang="en-US" sz="1800" dirty="0">
              <a:latin typeface="+mn-ea"/>
            </a:endParaRPr>
          </a:p>
        </p:txBody>
      </p:sp>
      <p:sp>
        <p:nvSpPr>
          <p:cNvPr id="5" name="内容占位符 2">
            <a:extLst>
              <a:ext uri="{FF2B5EF4-FFF2-40B4-BE49-F238E27FC236}">
                <a16:creationId xmlns:a16="http://schemas.microsoft.com/office/drawing/2014/main" id="{31CC3E51-14A1-23B7-405B-661282B38CF1}"/>
              </a:ext>
            </a:extLst>
          </p:cNvPr>
          <p:cNvSpPr txBox="1">
            <a:spLocks/>
          </p:cNvSpPr>
          <p:nvPr/>
        </p:nvSpPr>
        <p:spPr>
          <a:xfrm>
            <a:off x="264033" y="5558891"/>
            <a:ext cx="840847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7</a:t>
            </a:r>
            <a:r>
              <a:rPr lang="zh-CN" altLang="en-US" sz="3200" dirty="0">
                <a:effectLst>
                  <a:outerShdw blurRad="38100" dist="38100" dir="2700000" algn="tl">
                    <a:srgbClr val="000000">
                      <a:alpha val="43137"/>
                    </a:srgbClr>
                  </a:outerShdw>
                </a:effectLst>
                <a:latin typeface="+mn-ea"/>
              </a:rPr>
              <a:t>首音乐：陪伴 </a:t>
            </a:r>
            <a:r>
              <a:rPr lang="en-US" altLang="zh-CN" sz="3200" dirty="0">
                <a:effectLst>
                  <a:outerShdw blurRad="38100" dist="38100" dir="2700000" algn="tl">
                    <a:srgbClr val="000000">
                      <a:alpha val="43137"/>
                    </a:srgbClr>
                  </a:outerShdw>
                </a:effectLst>
                <a:latin typeface="+mn-ea"/>
              </a:rPr>
              <a:t>- </a:t>
            </a:r>
            <a:r>
              <a:rPr lang="zh-CN" altLang="en-US" sz="3200" dirty="0" smtClean="0">
                <a:effectLst>
                  <a:outerShdw blurRad="38100" dist="38100" dir="2700000" algn="tl">
                    <a:srgbClr val="000000">
                      <a:alpha val="43137"/>
                    </a:srgbClr>
                  </a:outerShdw>
                </a:effectLst>
                <a:latin typeface="+mn-ea"/>
              </a:rPr>
              <a:t>中下释怀</a:t>
            </a:r>
            <a:r>
              <a:rPr lang="zh-CN" altLang="en-US" sz="3200" dirty="0">
                <a:effectLst>
                  <a:outerShdw blurRad="38100" dist="38100" dir="2700000" algn="tl">
                    <a:srgbClr val="000000">
                      <a:alpha val="43137"/>
                    </a:srgbClr>
                  </a:outerShdw>
                </a:effectLst>
                <a:latin typeface="+mn-ea"/>
              </a:rPr>
              <a:t>完型配呼吸</a:t>
            </a:r>
          </a:p>
          <a:p>
            <a:pPr marL="0" indent="0">
              <a:buNone/>
            </a:pPr>
            <a:endParaRPr lang="zh-CN" altLang="en-US" sz="3200" dirty="0">
              <a:effectLst>
                <a:outerShdw blurRad="38100" dist="38100" dir="2700000" algn="tl">
                  <a:srgbClr val="000000">
                    <a:alpha val="43137"/>
                  </a:srgbClr>
                </a:outerShdw>
              </a:effectLst>
              <a:latin typeface="+mn-ea"/>
            </a:endParaRPr>
          </a:p>
        </p:txBody>
      </p:sp>
      <p:pic>
        <p:nvPicPr>
          <p:cNvPr id="6" name="图片 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015583" y="4162033"/>
            <a:ext cx="3662479" cy="2442874"/>
          </a:xfrm>
          <a:prstGeom prst="rect">
            <a:avLst/>
          </a:prstGeom>
          <a:effectLst>
            <a:softEdge rad="127000"/>
          </a:effectLst>
        </p:spPr>
      </p:pic>
    </p:spTree>
    <p:extLst>
      <p:ext uri="{BB962C8B-B14F-4D97-AF65-F5344CB8AC3E}">
        <p14:creationId xmlns:p14="http://schemas.microsoft.com/office/powerpoint/2010/main" val="6057409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2BC15-10F8-3ABE-AE3A-F7516F15CA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B04C81-5A33-4F87-2C6E-37C7CA744F35}"/>
              </a:ext>
            </a:extLst>
          </p:cNvPr>
          <p:cNvSpPr>
            <a:spLocks noGrp="1"/>
          </p:cNvSpPr>
          <p:nvPr>
            <p:ph type="title"/>
          </p:nvPr>
        </p:nvSpPr>
        <p:spPr>
          <a:xfrm>
            <a:off x="521208" y="662737"/>
            <a:ext cx="11155680" cy="936652"/>
          </a:xfrm>
        </p:spPr>
        <p:txBody>
          <a:bodyPr/>
          <a:lstStyle/>
          <a:p>
            <a:r>
              <a:rPr lang="zh-CN" altLang="en-US" sz="4400" dirty="0"/>
              <a:t>中高考减压音乐摆渡的原理（九）</a:t>
            </a:r>
          </a:p>
        </p:txBody>
      </p:sp>
      <p:sp>
        <p:nvSpPr>
          <p:cNvPr id="3" name="内容占位符 2">
            <a:extLst>
              <a:ext uri="{FF2B5EF4-FFF2-40B4-BE49-F238E27FC236}">
                <a16:creationId xmlns:a16="http://schemas.microsoft.com/office/drawing/2014/main" id="{7EAA4650-638A-492D-EA61-F527BBE33955}"/>
              </a:ext>
            </a:extLst>
          </p:cNvPr>
          <p:cNvSpPr>
            <a:spLocks noGrp="1"/>
          </p:cNvSpPr>
          <p:nvPr>
            <p:ph idx="1"/>
          </p:nvPr>
        </p:nvSpPr>
        <p:spPr>
          <a:xfrm>
            <a:off x="515112" y="1599389"/>
            <a:ext cx="11155681" cy="4058461"/>
          </a:xfrm>
        </p:spPr>
        <p:txBody>
          <a:bodyPr/>
          <a:lstStyle/>
          <a:p>
            <a:pPr marL="0" indent="0">
              <a:buNone/>
            </a:pPr>
            <a:r>
              <a:rPr lang="zh-CN" altLang="en-US" sz="1800" dirty="0" smtClean="0">
                <a:latin typeface="+mn-ea"/>
              </a:rPr>
              <a:t>我们会让考生做</a:t>
            </a:r>
            <a:r>
              <a:rPr lang="zh-CN" altLang="en-US" sz="1800" dirty="0" smtClean="0">
                <a:latin typeface="+mn-ea"/>
              </a:rPr>
              <a:t>两个音乐</a:t>
            </a:r>
            <a:r>
              <a:rPr lang="zh-CN" altLang="en-US" sz="1800" dirty="0">
                <a:latin typeface="+mn-ea"/>
              </a:rPr>
              <a:t>治疗里面的经典技术，音乐眼动和音乐呼吸技术。</a:t>
            </a:r>
          </a:p>
          <a:p>
            <a:pPr marL="0" indent="0">
              <a:buNone/>
            </a:pPr>
            <a:r>
              <a:rPr lang="zh-CN" altLang="en-US" sz="1800" dirty="0" smtClean="0">
                <a:latin typeface="+mn-ea"/>
              </a:rPr>
              <a:t>要求考生完成</a:t>
            </a:r>
            <a:r>
              <a:rPr lang="zh-CN" altLang="en-US" sz="1800" dirty="0">
                <a:latin typeface="+mn-ea"/>
              </a:rPr>
              <a:t>一个意象，想象手中捧着很多羽毛，有的羽毛很轻，飞向天空，有的则很重，</a:t>
            </a:r>
            <a:r>
              <a:rPr lang="zh-CN" altLang="en-US" sz="1800" dirty="0" smtClean="0">
                <a:latin typeface="+mn-ea"/>
              </a:rPr>
              <a:t>往下落。</a:t>
            </a:r>
            <a:endParaRPr lang="zh-CN" altLang="en-US" sz="1800" dirty="0">
              <a:latin typeface="+mn-ea"/>
            </a:endParaRPr>
          </a:p>
          <a:p>
            <a:pPr marL="0" indent="0">
              <a:buNone/>
            </a:pPr>
            <a:r>
              <a:rPr lang="zh-CN" altLang="en-US" sz="1800" dirty="0">
                <a:latin typeface="+mn-ea"/>
              </a:rPr>
              <a:t>它们自由舒展，寻找</a:t>
            </a:r>
            <a:r>
              <a:rPr lang="zh-CN" altLang="en-US" sz="1800" dirty="0" smtClean="0">
                <a:latin typeface="+mn-ea"/>
              </a:rPr>
              <a:t>各自需要</a:t>
            </a:r>
            <a:r>
              <a:rPr lang="zh-CN" altLang="en-US" sz="1800" dirty="0">
                <a:latin typeface="+mn-ea"/>
              </a:rPr>
              <a:t>的</a:t>
            </a:r>
            <a:r>
              <a:rPr lang="zh-CN" altLang="en-US" sz="1800" dirty="0" smtClean="0">
                <a:latin typeface="+mn-ea"/>
              </a:rPr>
              <a:t>地方，眼睛就不自觉地跟随这些羽毛。</a:t>
            </a:r>
            <a:endParaRPr lang="zh-CN" altLang="en-US" sz="1800" dirty="0">
              <a:latin typeface="+mn-ea"/>
            </a:endParaRPr>
          </a:p>
          <a:p>
            <a:pPr marL="0" indent="0">
              <a:buNone/>
            </a:pPr>
            <a:r>
              <a:rPr lang="zh-CN" altLang="en-US" sz="1800" dirty="0">
                <a:latin typeface="+mn-ea"/>
              </a:rPr>
              <a:t>这</a:t>
            </a:r>
            <a:r>
              <a:rPr lang="zh-CN" altLang="en-US" sz="1800" dirty="0" smtClean="0">
                <a:latin typeface="+mn-ea"/>
              </a:rPr>
              <a:t>是道教</a:t>
            </a:r>
            <a:r>
              <a:rPr lang="zh-CN" altLang="en-US" sz="1800" dirty="0">
                <a:latin typeface="+mn-ea"/>
              </a:rPr>
              <a:t>阴阳分离的一个隐喻，同时也是将自己的焦虑降下来，让自己的抑郁升上去的一个象征</a:t>
            </a:r>
            <a:r>
              <a:rPr lang="zh-CN" altLang="en-US" sz="1800" dirty="0" smtClean="0">
                <a:latin typeface="+mn-ea"/>
              </a:rPr>
              <a:t>。</a:t>
            </a:r>
            <a:endParaRPr lang="en-US" altLang="zh-CN" sz="1800" dirty="0" smtClean="0">
              <a:latin typeface="+mn-ea"/>
            </a:endParaRPr>
          </a:p>
          <a:p>
            <a:pPr marL="0" indent="0">
              <a:buNone/>
            </a:pPr>
            <a:r>
              <a:rPr lang="zh-CN" altLang="en-US" sz="1800" dirty="0" smtClean="0">
                <a:latin typeface="+mn-ea"/>
              </a:rPr>
              <a:t>此时考生的注意力应该由中脘渐渐向下移。</a:t>
            </a:r>
            <a:endParaRPr lang="zh-CN" altLang="en-US" sz="1800" dirty="0">
              <a:latin typeface="+mn-ea"/>
            </a:endParaRPr>
          </a:p>
        </p:txBody>
      </p:sp>
      <p:sp>
        <p:nvSpPr>
          <p:cNvPr id="5" name="内容占位符 2">
            <a:extLst>
              <a:ext uri="{FF2B5EF4-FFF2-40B4-BE49-F238E27FC236}">
                <a16:creationId xmlns:a16="http://schemas.microsoft.com/office/drawing/2014/main" id="{EC4202EA-1B28-21B7-1AF9-A9F789082FC6}"/>
              </a:ext>
            </a:extLst>
          </p:cNvPr>
          <p:cNvSpPr txBox="1">
            <a:spLocks/>
          </p:cNvSpPr>
          <p:nvPr/>
        </p:nvSpPr>
        <p:spPr>
          <a:xfrm>
            <a:off x="264034" y="5558891"/>
            <a:ext cx="101753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8</a:t>
            </a:r>
            <a:r>
              <a:rPr lang="zh-CN" altLang="en-US" sz="3200" dirty="0">
                <a:effectLst>
                  <a:outerShdw blurRad="38100" dist="38100" dir="2700000" algn="tl">
                    <a:srgbClr val="000000">
                      <a:alpha val="43137"/>
                    </a:srgbClr>
                  </a:outerShdw>
                </a:effectLst>
                <a:latin typeface="+mn-ea"/>
              </a:rPr>
              <a:t>首音乐：凝神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手动跟随意象蒸发与下落第三层</a:t>
            </a:r>
          </a:p>
        </p:txBody>
      </p:sp>
    </p:spTree>
    <p:extLst>
      <p:ext uri="{BB962C8B-B14F-4D97-AF65-F5344CB8AC3E}">
        <p14:creationId xmlns:p14="http://schemas.microsoft.com/office/powerpoint/2010/main" val="3834202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E0A32-45EE-39E4-596B-4DDD189BCD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F111F7-1E77-E856-3F1D-B622195DE299}"/>
              </a:ext>
            </a:extLst>
          </p:cNvPr>
          <p:cNvSpPr>
            <a:spLocks noGrp="1"/>
          </p:cNvSpPr>
          <p:nvPr>
            <p:ph type="title"/>
          </p:nvPr>
        </p:nvSpPr>
        <p:spPr>
          <a:xfrm>
            <a:off x="521208" y="662737"/>
            <a:ext cx="11155680" cy="936652"/>
          </a:xfrm>
        </p:spPr>
        <p:txBody>
          <a:bodyPr/>
          <a:lstStyle/>
          <a:p>
            <a:r>
              <a:rPr lang="zh-CN" altLang="en-US" sz="4400" dirty="0"/>
              <a:t>中高考减压音乐摆渡的原理（十）</a:t>
            </a:r>
          </a:p>
        </p:txBody>
      </p:sp>
      <p:sp>
        <p:nvSpPr>
          <p:cNvPr id="3" name="内容占位符 2">
            <a:extLst>
              <a:ext uri="{FF2B5EF4-FFF2-40B4-BE49-F238E27FC236}">
                <a16:creationId xmlns:a16="http://schemas.microsoft.com/office/drawing/2014/main" id="{5B913DCB-BACD-1244-2AF4-7D6F120F8DA0}"/>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逐步让来访者把注意力集中到下脘。</a:t>
            </a:r>
          </a:p>
          <a:p>
            <a:pPr marL="0" indent="0">
              <a:buNone/>
            </a:pPr>
            <a:r>
              <a:rPr lang="zh-CN" altLang="en-US" sz="1800" dirty="0">
                <a:latin typeface="+mn-ea"/>
              </a:rPr>
              <a:t>让自己情绪飞扬到天上，让心灵沉稳在地上，这样既不焦虑，也不抑郁，这才是音乐减压的核心。</a:t>
            </a:r>
          </a:p>
        </p:txBody>
      </p:sp>
      <p:sp>
        <p:nvSpPr>
          <p:cNvPr id="5" name="内容占位符 2">
            <a:extLst>
              <a:ext uri="{FF2B5EF4-FFF2-40B4-BE49-F238E27FC236}">
                <a16:creationId xmlns:a16="http://schemas.microsoft.com/office/drawing/2014/main" id="{2CB5E1C1-EA11-6FF3-12DD-05CC1D974455}"/>
              </a:ext>
            </a:extLst>
          </p:cNvPr>
          <p:cNvSpPr txBox="1">
            <a:spLocks/>
          </p:cNvSpPr>
          <p:nvPr/>
        </p:nvSpPr>
        <p:spPr>
          <a:xfrm>
            <a:off x="264033" y="5558891"/>
            <a:ext cx="966577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9</a:t>
            </a:r>
            <a:r>
              <a:rPr lang="zh-CN" altLang="en-US" sz="3200" dirty="0">
                <a:effectLst>
                  <a:outerShdw blurRad="38100" dist="38100" dir="2700000" algn="tl">
                    <a:srgbClr val="000000">
                      <a:alpha val="43137"/>
                    </a:srgbClr>
                  </a:outerShdw>
                </a:effectLst>
                <a:latin typeface="+mn-ea"/>
              </a:rPr>
              <a:t>首音乐：训练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慢摇节奏下脘呼吸训练</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102263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D01F7-C629-1F86-E915-A2D099B85BD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FB6793-3906-D2A3-7FFC-F2BBA1BB8208}"/>
              </a:ext>
            </a:extLst>
          </p:cNvPr>
          <p:cNvSpPr>
            <a:spLocks noGrp="1"/>
          </p:cNvSpPr>
          <p:nvPr>
            <p:ph type="title"/>
          </p:nvPr>
        </p:nvSpPr>
        <p:spPr>
          <a:xfrm>
            <a:off x="521208" y="662737"/>
            <a:ext cx="11155680" cy="936652"/>
          </a:xfrm>
        </p:spPr>
        <p:txBody>
          <a:bodyPr/>
          <a:lstStyle/>
          <a:p>
            <a:r>
              <a:rPr lang="zh-CN" altLang="en-US" sz="4400" dirty="0"/>
              <a:t>中高考减压音乐摆渡的原理（十一）</a:t>
            </a:r>
          </a:p>
        </p:txBody>
      </p:sp>
      <p:sp>
        <p:nvSpPr>
          <p:cNvPr id="3" name="内容占位符 2">
            <a:extLst>
              <a:ext uri="{FF2B5EF4-FFF2-40B4-BE49-F238E27FC236}">
                <a16:creationId xmlns:a16="http://schemas.microsoft.com/office/drawing/2014/main" id="{E312565D-DE47-5297-BEE1-9395D04CEFB9}"/>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引导考生走向认知层面，让考生想起自己的潜力与资源。</a:t>
            </a:r>
          </a:p>
          <a:p>
            <a:pPr marL="0" indent="0">
              <a:buNone/>
            </a:pPr>
            <a:r>
              <a:rPr lang="zh-CN" altLang="en-US" sz="1800" dirty="0">
                <a:latin typeface="+mn-ea"/>
              </a:rPr>
              <a:t>这首音乐隐喻为狂想曲，潜台词是你什么都可以试试，最大限度地去发挥自己的潜能。</a:t>
            </a:r>
          </a:p>
          <a:p>
            <a:pPr marL="0" indent="0">
              <a:buNone/>
            </a:pPr>
            <a:r>
              <a:rPr lang="zh-CN" altLang="en-US" sz="1800" dirty="0">
                <a:latin typeface="+mn-ea"/>
              </a:rPr>
              <a:t>这也是中高考音乐减压中的高峰体验。</a:t>
            </a:r>
          </a:p>
          <a:p>
            <a:pPr marL="0" indent="0">
              <a:buNone/>
            </a:pPr>
            <a:endParaRPr lang="zh-CN" altLang="en-US" sz="1800" dirty="0">
              <a:latin typeface="+mn-ea"/>
            </a:endParaRPr>
          </a:p>
        </p:txBody>
      </p:sp>
      <p:sp>
        <p:nvSpPr>
          <p:cNvPr id="5" name="内容占位符 2">
            <a:extLst>
              <a:ext uri="{FF2B5EF4-FFF2-40B4-BE49-F238E27FC236}">
                <a16:creationId xmlns:a16="http://schemas.microsoft.com/office/drawing/2014/main" id="{AE4B0D78-F8B5-6E7D-D0DD-9EB84D120C9D}"/>
              </a:ext>
            </a:extLst>
          </p:cNvPr>
          <p:cNvSpPr txBox="1">
            <a:spLocks/>
          </p:cNvSpPr>
          <p:nvPr/>
        </p:nvSpPr>
        <p:spPr>
          <a:xfrm>
            <a:off x="264034" y="5558891"/>
            <a:ext cx="80925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10</a:t>
            </a:r>
            <a:r>
              <a:rPr lang="zh-CN" altLang="en-US" sz="3200" dirty="0">
                <a:effectLst>
                  <a:outerShdw blurRad="38100" dist="38100" dir="2700000" algn="tl">
                    <a:srgbClr val="000000">
                      <a:alpha val="43137"/>
                    </a:srgbClr>
                  </a:outerShdw>
                </a:effectLst>
                <a:latin typeface="+mn-ea"/>
              </a:rPr>
              <a:t>首音乐：创造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力量狂想曲资源挖掘</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605141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A8DB3-73F6-3F69-39CD-F1847D8910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647D87-7C2D-9DDD-D2DA-919338524590}"/>
              </a:ext>
            </a:extLst>
          </p:cNvPr>
          <p:cNvSpPr>
            <a:spLocks noGrp="1"/>
          </p:cNvSpPr>
          <p:nvPr>
            <p:ph type="title"/>
          </p:nvPr>
        </p:nvSpPr>
        <p:spPr>
          <a:xfrm>
            <a:off x="521208" y="662737"/>
            <a:ext cx="11155680" cy="936652"/>
          </a:xfrm>
        </p:spPr>
        <p:txBody>
          <a:bodyPr/>
          <a:lstStyle/>
          <a:p>
            <a:r>
              <a:rPr lang="zh-CN" altLang="en-US" sz="4400" dirty="0"/>
              <a:t>中高考减压音乐摆渡的原理（十二）</a:t>
            </a:r>
          </a:p>
        </p:txBody>
      </p:sp>
      <p:sp>
        <p:nvSpPr>
          <p:cNvPr id="3" name="内容占位符 2">
            <a:extLst>
              <a:ext uri="{FF2B5EF4-FFF2-40B4-BE49-F238E27FC236}">
                <a16:creationId xmlns:a16="http://schemas.microsoft.com/office/drawing/2014/main" id="{22EAAAC6-EE28-4F76-FF7A-F37077384D9A}"/>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运用了音乐治疗的格式塔时间线技术。</a:t>
            </a:r>
          </a:p>
          <a:p>
            <a:pPr marL="0" indent="0">
              <a:buNone/>
            </a:pPr>
            <a:endParaRPr lang="zh-CN" altLang="en-US" sz="1800" dirty="0">
              <a:latin typeface="+mn-ea"/>
            </a:endParaRPr>
          </a:p>
          <a:p>
            <a:pPr marL="0" indent="0">
              <a:buNone/>
            </a:pPr>
            <a:r>
              <a:rPr lang="zh-CN" altLang="en-US" sz="1800" dirty="0">
                <a:latin typeface="+mn-ea"/>
              </a:rPr>
              <a:t>隐喻是轻松愉快的夏天，对考生来说意味着考试结束，他们可以享受这个自由的暑假。</a:t>
            </a:r>
          </a:p>
          <a:p>
            <a:pPr marL="0" indent="0">
              <a:buNone/>
            </a:pPr>
            <a:endParaRPr lang="zh-CN" altLang="en-US" sz="1800" dirty="0">
              <a:latin typeface="+mn-ea"/>
            </a:endParaRPr>
          </a:p>
          <a:p>
            <a:pPr marL="0" indent="0">
              <a:buNone/>
            </a:pPr>
            <a:r>
              <a:rPr lang="zh-CN" altLang="en-US" sz="1800" dirty="0">
                <a:latin typeface="+mn-ea"/>
              </a:rPr>
              <a:t>这首音乐是儿歌类型的音乐，特点是成对出现的音乐结构化要素配对，这样的节奏让人容易把握，同时很容易调动人的情绪，让他们回忆起童年的一些美好记忆，整个人都放松起来。</a:t>
            </a:r>
          </a:p>
        </p:txBody>
      </p:sp>
      <p:sp>
        <p:nvSpPr>
          <p:cNvPr id="5" name="内容占位符 2">
            <a:extLst>
              <a:ext uri="{FF2B5EF4-FFF2-40B4-BE49-F238E27FC236}">
                <a16:creationId xmlns:a16="http://schemas.microsoft.com/office/drawing/2014/main" id="{34BA88AA-2095-F4AA-2ACF-15AF6BFDD16F}"/>
              </a:ext>
            </a:extLst>
          </p:cNvPr>
          <p:cNvSpPr txBox="1">
            <a:spLocks/>
          </p:cNvSpPr>
          <p:nvPr/>
        </p:nvSpPr>
        <p:spPr>
          <a:xfrm>
            <a:off x="264034" y="5558891"/>
            <a:ext cx="100864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a:t>
            </a:r>
            <a:r>
              <a:rPr lang="en-US" altLang="zh-CN" sz="3200" dirty="0">
                <a:effectLst>
                  <a:outerShdw blurRad="38100" dist="38100" dir="2700000" algn="tl">
                    <a:srgbClr val="000000">
                      <a:alpha val="43137"/>
                    </a:srgbClr>
                  </a:outerShdw>
                </a:effectLst>
                <a:latin typeface="+mn-ea"/>
              </a:rPr>
              <a:t>11</a:t>
            </a:r>
            <a:r>
              <a:rPr lang="zh-CN" altLang="en-US" sz="3200" dirty="0">
                <a:effectLst>
                  <a:outerShdw blurRad="38100" dist="38100" dir="2700000" algn="tl">
                    <a:srgbClr val="000000">
                      <a:alpha val="43137"/>
                    </a:srgbClr>
                  </a:outerShdw>
                </a:effectLst>
                <a:latin typeface="+mn-ea"/>
              </a:rPr>
              <a:t>首音乐：固化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焦虑转积极因对意象夏天未来</a:t>
            </a:r>
          </a:p>
          <a:p>
            <a:pPr marL="0" indent="0">
              <a:buNone/>
            </a:pPr>
            <a:endParaRPr lang="zh-CN" altLang="en-US" sz="3200"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882102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ED19-3183-6C74-EF6C-AAD63468F95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0D70B0-B54E-2CB5-64F9-AD2E1A37463A}"/>
              </a:ext>
            </a:extLst>
          </p:cNvPr>
          <p:cNvSpPr>
            <a:spLocks noGrp="1"/>
          </p:cNvSpPr>
          <p:nvPr>
            <p:ph type="title"/>
          </p:nvPr>
        </p:nvSpPr>
        <p:spPr>
          <a:xfrm>
            <a:off x="521208" y="662737"/>
            <a:ext cx="11155680" cy="936652"/>
          </a:xfrm>
        </p:spPr>
        <p:txBody>
          <a:bodyPr/>
          <a:lstStyle/>
          <a:p>
            <a:r>
              <a:rPr lang="zh-CN" altLang="en-US" sz="4400" dirty="0"/>
              <a:t>中高考减压音乐摆渡的原理（十三）</a:t>
            </a:r>
          </a:p>
        </p:txBody>
      </p:sp>
      <p:sp>
        <p:nvSpPr>
          <p:cNvPr id="3" name="内容占位符 2">
            <a:extLst>
              <a:ext uri="{FF2B5EF4-FFF2-40B4-BE49-F238E27FC236}">
                <a16:creationId xmlns:a16="http://schemas.microsoft.com/office/drawing/2014/main" id="{B30FDA53-DBAC-32BA-A817-819C56097436}"/>
              </a:ext>
            </a:extLst>
          </p:cNvPr>
          <p:cNvSpPr>
            <a:spLocks noGrp="1"/>
          </p:cNvSpPr>
          <p:nvPr>
            <p:ph idx="1"/>
          </p:nvPr>
        </p:nvSpPr>
        <p:spPr>
          <a:xfrm>
            <a:off x="515112" y="1599389"/>
            <a:ext cx="11155681" cy="4058461"/>
          </a:xfrm>
        </p:spPr>
        <p:txBody>
          <a:bodyPr/>
          <a:lstStyle/>
          <a:p>
            <a:pPr marL="0" indent="0">
              <a:buNone/>
            </a:pPr>
            <a:r>
              <a:rPr lang="zh-CN" altLang="en-US" sz="1800" dirty="0">
                <a:latin typeface="+mn-ea"/>
              </a:rPr>
              <a:t>在你以往面对考试的时候，有很多消极的应对方式，比如失眠、焦虑、抑郁等等，那么现在我们把这些消极的应对方式转变为积极的应对方式，让我们用具体的行动代替失眠、焦虑，一起去创造与改变，来迎接这个美好的夏天。</a:t>
            </a:r>
          </a:p>
          <a:p>
            <a:pPr marL="0" indent="0">
              <a:buNone/>
            </a:pPr>
            <a:endParaRPr lang="zh-CN" altLang="en-US" sz="1800" dirty="0">
              <a:latin typeface="+mn-ea"/>
            </a:endParaRPr>
          </a:p>
          <a:p>
            <a:pPr marL="0" indent="0">
              <a:buNone/>
            </a:pPr>
            <a:r>
              <a:rPr lang="zh-CN" altLang="en-US" sz="1800" dirty="0">
                <a:latin typeface="+mn-ea"/>
              </a:rPr>
              <a:t>以上是一个完整的中高考音乐减压的摆渡流程。</a:t>
            </a:r>
          </a:p>
        </p:txBody>
      </p:sp>
      <p:sp>
        <p:nvSpPr>
          <p:cNvPr id="5" name="内容占位符 2">
            <a:extLst>
              <a:ext uri="{FF2B5EF4-FFF2-40B4-BE49-F238E27FC236}">
                <a16:creationId xmlns:a16="http://schemas.microsoft.com/office/drawing/2014/main" id="{92DE633C-B9D2-0112-412D-FF388573E8A5}"/>
              </a:ext>
            </a:extLst>
          </p:cNvPr>
          <p:cNvSpPr txBox="1">
            <a:spLocks/>
          </p:cNvSpPr>
          <p:nvPr/>
        </p:nvSpPr>
        <p:spPr>
          <a:xfrm>
            <a:off x="264034" y="5558891"/>
            <a:ext cx="87799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最后，从认知上去引导</a:t>
            </a:r>
          </a:p>
        </p:txBody>
      </p:sp>
    </p:spTree>
    <p:extLst>
      <p:ext uri="{BB962C8B-B14F-4D97-AF65-F5344CB8AC3E}">
        <p14:creationId xmlns:p14="http://schemas.microsoft.com/office/powerpoint/2010/main" val="1371623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FE38-8721-8301-D40A-EB61CE3329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2A536B-5E44-91ED-44E1-B4214FA8AEAB}"/>
              </a:ext>
            </a:extLst>
          </p:cNvPr>
          <p:cNvSpPr>
            <a:spLocks noGrp="1"/>
          </p:cNvSpPr>
          <p:nvPr>
            <p:ph type="title"/>
          </p:nvPr>
        </p:nvSpPr>
        <p:spPr>
          <a:xfrm>
            <a:off x="521208" y="662737"/>
            <a:ext cx="11155680" cy="936652"/>
          </a:xfrm>
        </p:spPr>
        <p:txBody>
          <a:bodyPr/>
          <a:lstStyle/>
          <a:p>
            <a:r>
              <a:rPr lang="zh-CN" altLang="en-US" sz="4400" dirty="0"/>
              <a:t>中高考音乐减压的其他注意事项</a:t>
            </a:r>
          </a:p>
        </p:txBody>
      </p:sp>
      <p:sp>
        <p:nvSpPr>
          <p:cNvPr id="3" name="内容占位符 2">
            <a:extLst>
              <a:ext uri="{FF2B5EF4-FFF2-40B4-BE49-F238E27FC236}">
                <a16:creationId xmlns:a16="http://schemas.microsoft.com/office/drawing/2014/main" id="{9C43D66D-0291-6F3D-52B5-30F8778232F6}"/>
              </a:ext>
            </a:extLst>
          </p:cNvPr>
          <p:cNvSpPr>
            <a:spLocks noGrp="1"/>
          </p:cNvSpPr>
          <p:nvPr>
            <p:ph idx="1"/>
          </p:nvPr>
        </p:nvSpPr>
        <p:spPr>
          <a:xfrm>
            <a:off x="515112" y="1599389"/>
            <a:ext cx="11155681" cy="4815699"/>
          </a:xfrm>
        </p:spPr>
        <p:txBody>
          <a:bodyPr/>
          <a:lstStyle/>
          <a:p>
            <a:pPr marL="0" indent="0">
              <a:buNone/>
            </a:pPr>
            <a:r>
              <a:rPr lang="zh-CN" altLang="en-US" sz="1800" dirty="0">
                <a:latin typeface="+mn-ea"/>
              </a:rPr>
              <a:t>中高考个体音乐减压，主要分短程、中程和长程三种。</a:t>
            </a:r>
            <a:endParaRPr lang="en-US" altLang="zh-CN" sz="1800" dirty="0">
              <a:latin typeface="+mn-ea"/>
            </a:endParaRPr>
          </a:p>
          <a:p>
            <a:pPr marL="0" indent="0">
              <a:buNone/>
            </a:pPr>
            <a:endParaRPr lang="zh-CN" altLang="en-US" sz="1800" dirty="0">
              <a:latin typeface="+mn-ea"/>
            </a:endParaRPr>
          </a:p>
          <a:p>
            <a:pPr>
              <a:buFont typeface="Wingdings" panose="05000000000000000000" pitchFamily="2" charset="2"/>
              <a:buChar char="Ø"/>
            </a:pPr>
            <a:r>
              <a:rPr lang="zh-CN" altLang="en-US" sz="1800" dirty="0">
                <a:latin typeface="+mn-ea"/>
              </a:rPr>
              <a:t> 短程音乐减压是针对临考前紧张、焦虑情绪推出的治疗方案，一般在</a:t>
            </a:r>
            <a:r>
              <a:rPr lang="zh-CN" altLang="en-US" sz="1800" b="1" dirty="0">
                <a:latin typeface="+mn-ea"/>
              </a:rPr>
              <a:t>考前三个月开始</a:t>
            </a:r>
            <a:r>
              <a:rPr lang="zh-CN" altLang="en-US" sz="1800" dirty="0">
                <a:latin typeface="+mn-ea"/>
              </a:rPr>
              <a:t>，主要针对考前焦虑恐惧，可以通过音乐催眠减压实现。</a:t>
            </a:r>
            <a:endParaRPr lang="en-US" altLang="zh-CN" sz="1800" dirty="0">
              <a:latin typeface="+mn-ea"/>
            </a:endParaRPr>
          </a:p>
          <a:p>
            <a:pPr marL="0" indent="0">
              <a:buNone/>
            </a:pPr>
            <a:endParaRPr lang="en-US" altLang="zh-CN" sz="1800" dirty="0">
              <a:latin typeface="+mn-ea"/>
            </a:endParaRPr>
          </a:p>
          <a:p>
            <a:pPr>
              <a:buFont typeface="Wingdings" panose="05000000000000000000" pitchFamily="2" charset="2"/>
              <a:buChar char="Ø"/>
            </a:pPr>
            <a:r>
              <a:rPr lang="zh-CN" altLang="en-US" sz="1800" dirty="0">
                <a:latin typeface="+mn-ea"/>
              </a:rPr>
              <a:t> 中程音乐减压，一般</a:t>
            </a:r>
            <a:r>
              <a:rPr lang="zh-CN" altLang="en-US" sz="1800" b="1" dirty="0">
                <a:latin typeface="+mn-ea"/>
              </a:rPr>
              <a:t>从春节后开始</a:t>
            </a:r>
            <a:r>
              <a:rPr lang="zh-CN" altLang="en-US" sz="1800" dirty="0">
                <a:latin typeface="+mn-ea"/>
              </a:rPr>
              <a:t>，针对期末考试后出现的各种综合征的恢复性治疗，包括自信心提升训练和考前冲刺音乐减压。</a:t>
            </a:r>
            <a:endParaRPr lang="en-US" altLang="zh-CN" sz="1800" dirty="0">
              <a:latin typeface="+mn-ea"/>
            </a:endParaRPr>
          </a:p>
          <a:p>
            <a:pPr marL="0" indent="0">
              <a:buNone/>
            </a:pPr>
            <a:endParaRPr lang="en-US" altLang="zh-CN" sz="1800" dirty="0">
              <a:latin typeface="+mn-ea"/>
            </a:endParaRPr>
          </a:p>
          <a:p>
            <a:pPr>
              <a:buFont typeface="Wingdings" panose="05000000000000000000" pitchFamily="2" charset="2"/>
              <a:buChar char="Ø"/>
            </a:pPr>
            <a:r>
              <a:rPr lang="zh-CN" altLang="en-US" sz="1800" dirty="0">
                <a:latin typeface="+mn-ea"/>
              </a:rPr>
              <a:t> 长程音乐减压，</a:t>
            </a:r>
            <a:r>
              <a:rPr lang="zh-CN" altLang="en-US" sz="1800" b="1" dirty="0">
                <a:latin typeface="+mn-ea"/>
              </a:rPr>
              <a:t>时间一般为一年</a:t>
            </a:r>
            <a:r>
              <a:rPr lang="zh-CN" altLang="en-US" sz="1800" dirty="0">
                <a:latin typeface="+mn-ea"/>
              </a:rPr>
              <a:t>，侧重于中高考学子的情绪管理，专为中高考学子量身定做的减压安排，包括考前目标澄清、应考自信心建立、逻辑思维训练、注意力与记忆力快速提升、高考减压系统减压、考前情绪管理与身心减压、放飞梦想与轻松迎考一个阶段的辅导。</a:t>
            </a:r>
          </a:p>
          <a:p>
            <a:pPr marL="0" indent="0">
              <a:buNone/>
            </a:pPr>
            <a:endParaRPr lang="zh-CN" altLang="en-US" sz="1800" dirty="0">
              <a:latin typeface="+mn-ea"/>
            </a:endParaRPr>
          </a:p>
        </p:txBody>
      </p:sp>
    </p:spTree>
    <p:extLst>
      <p:ext uri="{BB962C8B-B14F-4D97-AF65-F5344CB8AC3E}">
        <p14:creationId xmlns:p14="http://schemas.microsoft.com/office/powerpoint/2010/main" val="3270507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96D8-2F8F-FAB5-9204-2D1B3C7347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CD0CE5-B6AC-FFD7-4BE6-29AB0606E7B3}"/>
              </a:ext>
            </a:extLst>
          </p:cNvPr>
          <p:cNvSpPr>
            <a:spLocks noGrp="1"/>
          </p:cNvSpPr>
          <p:nvPr>
            <p:ph type="title"/>
          </p:nvPr>
        </p:nvSpPr>
        <p:spPr>
          <a:xfrm>
            <a:off x="521208" y="662737"/>
            <a:ext cx="11155680" cy="936652"/>
          </a:xfrm>
        </p:spPr>
        <p:txBody>
          <a:bodyPr/>
          <a:lstStyle/>
          <a:p>
            <a:r>
              <a:rPr lang="zh-CN" altLang="en-US" sz="4400" dirty="0"/>
              <a:t>中高考音乐减压之秘籍：六脉神剑（一）</a:t>
            </a:r>
          </a:p>
        </p:txBody>
      </p:sp>
      <p:sp>
        <p:nvSpPr>
          <p:cNvPr id="3" name="内容占位符 2">
            <a:extLst>
              <a:ext uri="{FF2B5EF4-FFF2-40B4-BE49-F238E27FC236}">
                <a16:creationId xmlns:a16="http://schemas.microsoft.com/office/drawing/2014/main" id="{409B5C81-6015-B3A9-1A09-A912C24ABB78}"/>
              </a:ext>
            </a:extLst>
          </p:cNvPr>
          <p:cNvSpPr>
            <a:spLocks noGrp="1"/>
          </p:cNvSpPr>
          <p:nvPr>
            <p:ph idx="1"/>
          </p:nvPr>
        </p:nvSpPr>
        <p:spPr>
          <a:xfrm>
            <a:off x="515112" y="1599389"/>
            <a:ext cx="8228838" cy="4275214"/>
          </a:xfrm>
        </p:spPr>
        <p:txBody>
          <a:bodyPr/>
          <a:lstStyle/>
          <a:p>
            <a:pPr marL="0" indent="0">
              <a:buNone/>
            </a:pPr>
            <a:r>
              <a:rPr lang="zh-CN" altLang="en-US" sz="1800" b="1" dirty="0">
                <a:latin typeface="+mn-ea"/>
              </a:rPr>
              <a:t>中冲剑式</a:t>
            </a:r>
            <a:r>
              <a:rPr lang="en-US" altLang="zh-CN" sz="1800" b="1" dirty="0">
                <a:latin typeface="+mn-ea"/>
              </a:rPr>
              <a:t>1</a:t>
            </a:r>
            <a:r>
              <a:rPr lang="zh-CN" altLang="en-US" sz="1800" b="1" dirty="0">
                <a:latin typeface="+mn-ea"/>
              </a:rPr>
              <a:t>：</a:t>
            </a:r>
          </a:p>
          <a:p>
            <a:pPr marL="0" indent="0">
              <a:buNone/>
            </a:pPr>
            <a:r>
              <a:rPr lang="zh-CN" altLang="en-US" sz="1800" dirty="0">
                <a:latin typeface="+mn-ea"/>
              </a:rPr>
              <a:t>音乐价值观澄清技术</a:t>
            </a:r>
          </a:p>
          <a:p>
            <a:pPr marL="0" indent="0">
              <a:buNone/>
            </a:pPr>
            <a:r>
              <a:rPr lang="zh-CN" altLang="en-US" sz="1800" dirty="0">
                <a:latin typeface="+mn-ea"/>
              </a:rPr>
              <a:t>通过音乐潜意识扰动与激活，对人们的行为取向及对事物的评价、态度，世界观的核心等驱使人们行为的内驱力进行音乐价值观澄清。</a:t>
            </a:r>
          </a:p>
          <a:p>
            <a:pPr marL="0" indent="0">
              <a:buNone/>
            </a:pPr>
            <a:r>
              <a:rPr lang="zh-CN" altLang="en-US" sz="1800" dirty="0">
                <a:latin typeface="+mn-ea"/>
              </a:rPr>
              <a:t>通过音乐厘清自己的人生价值观，寻找自己存在的意义，解决死亡焦虑。</a:t>
            </a:r>
          </a:p>
          <a:p>
            <a:pPr marL="0" indent="0">
              <a:buNone/>
            </a:pPr>
            <a:r>
              <a:rPr lang="zh-CN" altLang="en-US" sz="1800" dirty="0">
                <a:latin typeface="+mn-ea"/>
              </a:rPr>
              <a:t>操作引导：闭上眼睛，如同天上掉下的珍珠一样，伸开你的双手去接，能接住多少？</a:t>
            </a:r>
          </a:p>
          <a:p>
            <a:pPr marL="0" indent="0">
              <a:buNone/>
            </a:pPr>
            <a:r>
              <a:rPr lang="zh-CN" altLang="en-US" sz="1800" dirty="0">
                <a:latin typeface="+mn-ea"/>
              </a:rPr>
              <a:t>如果每颗珍珠上都写着字，看看是什么。</a:t>
            </a:r>
          </a:p>
        </p:txBody>
      </p:sp>
      <p:sp>
        <p:nvSpPr>
          <p:cNvPr id="4" name="内容占位符 2">
            <a:extLst>
              <a:ext uri="{FF2B5EF4-FFF2-40B4-BE49-F238E27FC236}">
                <a16:creationId xmlns:a16="http://schemas.microsoft.com/office/drawing/2014/main" id="{27EDD007-AD47-DB4A-1B27-D5168D78C0C0}"/>
              </a:ext>
            </a:extLst>
          </p:cNvPr>
          <p:cNvSpPr txBox="1">
            <a:spLocks/>
          </p:cNvSpPr>
          <p:nvPr/>
        </p:nvSpPr>
        <p:spPr>
          <a:xfrm>
            <a:off x="288000" y="5760000"/>
            <a:ext cx="347239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第一剑：中冲剑</a:t>
            </a:r>
          </a:p>
        </p:txBody>
      </p:sp>
      <p:sp>
        <p:nvSpPr>
          <p:cNvPr id="6" name="内容占位符 2">
            <a:extLst>
              <a:ext uri="{FF2B5EF4-FFF2-40B4-BE49-F238E27FC236}">
                <a16:creationId xmlns:a16="http://schemas.microsoft.com/office/drawing/2014/main" id="{9C43F210-158A-48C3-C8E1-8CF4847D408D}"/>
              </a:ext>
            </a:extLst>
          </p:cNvPr>
          <p:cNvSpPr txBox="1">
            <a:spLocks/>
          </p:cNvSpPr>
          <p:nvPr/>
        </p:nvSpPr>
        <p:spPr>
          <a:xfrm>
            <a:off x="8853488" y="1599390"/>
            <a:ext cx="2690813" cy="363027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latin typeface="+mn-ea"/>
              </a:rPr>
              <a:t>中冲剑式</a:t>
            </a:r>
            <a:r>
              <a:rPr lang="en-US" altLang="zh-CN" sz="1800" b="1" dirty="0">
                <a:latin typeface="+mn-ea"/>
              </a:rPr>
              <a:t>2</a:t>
            </a:r>
            <a:r>
              <a:rPr lang="zh-CN" altLang="en-US" sz="1800" b="1" dirty="0">
                <a:latin typeface="+mn-ea"/>
              </a:rPr>
              <a:t>：</a:t>
            </a:r>
          </a:p>
          <a:p>
            <a:pPr marL="0" indent="0">
              <a:buFont typeface="Arial" panose="020B0604020202020204" pitchFamily="34" charset="0"/>
              <a:buNone/>
            </a:pPr>
            <a:r>
              <a:rPr lang="zh-CN" altLang="en-US" sz="1800" dirty="0">
                <a:latin typeface="+mn-ea"/>
              </a:rPr>
              <a:t>对以下进行自由联想：</a:t>
            </a:r>
          </a:p>
          <a:p>
            <a:pPr marL="0" indent="0">
              <a:buFont typeface="Arial" panose="020B0604020202020204" pitchFamily="34" charset="0"/>
              <a:buNone/>
            </a:pPr>
            <a:r>
              <a:rPr lang="zh-CN" altLang="en-US" sz="1800" dirty="0">
                <a:latin typeface="+mn-ea"/>
              </a:rPr>
              <a:t>我觉得</a:t>
            </a:r>
            <a:r>
              <a:rPr lang="en-US" altLang="zh-CN" sz="1800" dirty="0">
                <a:latin typeface="+mn-ea"/>
              </a:rPr>
              <a:t>……</a:t>
            </a:r>
          </a:p>
          <a:p>
            <a:pPr marL="0" indent="0">
              <a:buFont typeface="Arial" panose="020B0604020202020204" pitchFamily="34" charset="0"/>
              <a:buNone/>
            </a:pPr>
            <a:r>
              <a:rPr lang="zh-CN" altLang="en-US" sz="1800" dirty="0">
                <a:latin typeface="+mn-ea"/>
              </a:rPr>
              <a:t>我害怕</a:t>
            </a:r>
            <a:r>
              <a:rPr lang="en-US" altLang="zh-CN" sz="1800" dirty="0">
                <a:latin typeface="+mn-ea"/>
              </a:rPr>
              <a:t>……</a:t>
            </a:r>
          </a:p>
          <a:p>
            <a:pPr marL="0" indent="0">
              <a:buFont typeface="Arial" panose="020B0604020202020204" pitchFamily="34" charset="0"/>
              <a:buNone/>
            </a:pPr>
            <a:r>
              <a:rPr lang="zh-CN" altLang="en-US" sz="1800" dirty="0">
                <a:latin typeface="+mn-ea"/>
              </a:rPr>
              <a:t>我需要</a:t>
            </a:r>
            <a:r>
              <a:rPr lang="en-US" altLang="zh-CN" sz="1800" dirty="0">
                <a:latin typeface="+mn-ea"/>
              </a:rPr>
              <a:t>……</a:t>
            </a:r>
          </a:p>
          <a:p>
            <a:pPr marL="0" indent="0">
              <a:buFont typeface="Arial" panose="020B0604020202020204" pitchFamily="34" charset="0"/>
              <a:buNone/>
            </a:pPr>
            <a:r>
              <a:rPr lang="zh-CN" altLang="en-US" sz="1800" dirty="0">
                <a:latin typeface="+mn-ea"/>
              </a:rPr>
              <a:t>不要以为我</a:t>
            </a:r>
            <a:r>
              <a:rPr lang="en-US" altLang="zh-CN" sz="1800" dirty="0">
                <a:latin typeface="+mn-ea"/>
              </a:rPr>
              <a:t>……</a:t>
            </a:r>
          </a:p>
          <a:p>
            <a:pPr marL="0" indent="0">
              <a:buFont typeface="Arial" panose="020B0604020202020204" pitchFamily="34" charset="0"/>
              <a:buNone/>
            </a:pPr>
            <a:r>
              <a:rPr lang="zh-CN" altLang="en-US" sz="1800" dirty="0">
                <a:latin typeface="+mn-ea"/>
              </a:rPr>
              <a:t>我悄悄渴望着</a:t>
            </a:r>
            <a:r>
              <a:rPr lang="en-US" altLang="zh-CN" sz="1800" dirty="0">
                <a:latin typeface="+mn-ea"/>
              </a:rPr>
              <a:t>……</a:t>
            </a:r>
            <a:endParaRPr lang="zh-CN" altLang="en-US" sz="1800" dirty="0">
              <a:latin typeface="+mn-ea"/>
            </a:endParaRPr>
          </a:p>
        </p:txBody>
      </p:sp>
      <p:sp>
        <p:nvSpPr>
          <p:cNvPr id="7" name="内容占位符 2">
            <a:extLst>
              <a:ext uri="{FF2B5EF4-FFF2-40B4-BE49-F238E27FC236}">
                <a16:creationId xmlns:a16="http://schemas.microsoft.com/office/drawing/2014/main" id="{1283F9DD-585F-7A65-C41B-F845ED33FB03}"/>
              </a:ext>
            </a:extLst>
          </p:cNvPr>
          <p:cNvSpPr txBox="1">
            <a:spLocks/>
          </p:cNvSpPr>
          <p:nvPr/>
        </p:nvSpPr>
        <p:spPr>
          <a:xfrm>
            <a:off x="3589387" y="5973473"/>
            <a:ext cx="5580888"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盘点过往，巩固江山</a:t>
            </a:r>
            <a:r>
              <a:rPr lang="en-US" altLang="zh-CN" sz="1800" dirty="0">
                <a:latin typeface="+mn-ea"/>
              </a:rPr>
              <a:t>——</a:t>
            </a:r>
            <a:r>
              <a:rPr lang="zh-CN" altLang="en-US" sz="1800" dirty="0">
                <a:latin typeface="+mn-ea"/>
              </a:rPr>
              <a:t>知识体系查漏训练</a:t>
            </a:r>
          </a:p>
        </p:txBody>
      </p:sp>
      <p:pic>
        <p:nvPicPr>
          <p:cNvPr id="9" name="图片 8" descr="图片包含 游戏机&#10;&#10;AI 生成的内容可能不正确。">
            <a:extLst>
              <a:ext uri="{FF2B5EF4-FFF2-40B4-BE49-F238E27FC236}">
                <a16:creationId xmlns:a16="http://schemas.microsoft.com/office/drawing/2014/main" id="{D8CA0634-BFC4-9AD0-95EC-1263D113C41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2807"/>
            <a:ext cx="914400" cy="914400"/>
          </a:xfrm>
          <a:prstGeom prst="rect">
            <a:avLst/>
          </a:prstGeom>
        </p:spPr>
      </p:pic>
    </p:spTree>
    <p:extLst>
      <p:ext uri="{BB962C8B-B14F-4D97-AF65-F5344CB8AC3E}">
        <p14:creationId xmlns:p14="http://schemas.microsoft.com/office/powerpoint/2010/main" val="4262233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ADD0-5B05-53BC-8F80-7EACDF9B894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AE5BEC-7454-2747-9575-D094EA746BC4}"/>
              </a:ext>
            </a:extLst>
          </p:cNvPr>
          <p:cNvSpPr>
            <a:spLocks noGrp="1"/>
          </p:cNvSpPr>
          <p:nvPr>
            <p:ph type="title"/>
          </p:nvPr>
        </p:nvSpPr>
        <p:spPr>
          <a:xfrm>
            <a:off x="521208" y="662737"/>
            <a:ext cx="11155680" cy="936652"/>
          </a:xfrm>
        </p:spPr>
        <p:txBody>
          <a:bodyPr/>
          <a:lstStyle/>
          <a:p>
            <a:r>
              <a:rPr lang="zh-CN" altLang="en-US" sz="4400" dirty="0"/>
              <a:t>中高考音乐减压之秘籍：六脉神剑（二）</a:t>
            </a:r>
          </a:p>
        </p:txBody>
      </p:sp>
      <p:sp>
        <p:nvSpPr>
          <p:cNvPr id="3" name="内容占位符 2">
            <a:extLst>
              <a:ext uri="{FF2B5EF4-FFF2-40B4-BE49-F238E27FC236}">
                <a16:creationId xmlns:a16="http://schemas.microsoft.com/office/drawing/2014/main" id="{FE95E1A4-BC1D-32EC-2587-DAA9F55E938D}"/>
              </a:ext>
            </a:extLst>
          </p:cNvPr>
          <p:cNvSpPr>
            <a:spLocks noGrp="1"/>
          </p:cNvSpPr>
          <p:nvPr>
            <p:ph idx="1"/>
          </p:nvPr>
        </p:nvSpPr>
        <p:spPr>
          <a:xfrm>
            <a:off x="515112" y="3428999"/>
            <a:ext cx="5580888" cy="2128943"/>
          </a:xfrm>
        </p:spPr>
        <p:txBody>
          <a:bodyPr/>
          <a:lstStyle/>
          <a:p>
            <a:pPr marL="0" indent="0">
              <a:buNone/>
            </a:pPr>
            <a:r>
              <a:rPr lang="zh-CN" altLang="en-US" sz="1200" b="1" dirty="0">
                <a:latin typeface="+mn-ea"/>
              </a:rPr>
              <a:t>少商剑式</a:t>
            </a:r>
            <a:r>
              <a:rPr lang="en-US" altLang="zh-CN" sz="1200" b="1" dirty="0">
                <a:latin typeface="+mn-ea"/>
              </a:rPr>
              <a:t>1</a:t>
            </a:r>
            <a:r>
              <a:rPr lang="zh-CN" altLang="en-US" sz="1200" b="1" dirty="0">
                <a:latin typeface="+mn-ea"/>
              </a:rPr>
              <a:t>：音乐贵人技术</a:t>
            </a:r>
            <a:endParaRPr lang="zh-CN" altLang="en-US" sz="1200" dirty="0">
              <a:latin typeface="+mn-ea"/>
            </a:endParaRPr>
          </a:p>
          <a:p>
            <a:pPr marL="0" indent="0">
              <a:buNone/>
            </a:pPr>
            <a:r>
              <a:rPr lang="zh-CN" altLang="en-US" sz="1200" dirty="0">
                <a:latin typeface="+mn-ea"/>
              </a:rPr>
              <a:t>操作：首先在白纸上画一棵大树，这棵大树没有根，然后戴上眼罩。</a:t>
            </a:r>
          </a:p>
          <a:p>
            <a:pPr marL="0" indent="0">
              <a:buNone/>
            </a:pPr>
            <a:r>
              <a:rPr lang="zh-CN" altLang="en-US" sz="1200" dirty="0">
                <a:latin typeface="+mn-ea"/>
              </a:rPr>
              <a:t>当音乐响起的时候，回忆一下过往生活中帮助过自己的人，每想到一个在树的根部画一个小小的分支。</a:t>
            </a:r>
          </a:p>
          <a:p>
            <a:pPr marL="0" indent="0">
              <a:buNone/>
            </a:pPr>
            <a:r>
              <a:rPr lang="zh-CN" altLang="en-US" sz="1200" dirty="0">
                <a:latin typeface="+mn-ea"/>
              </a:rPr>
              <a:t>当你想到他后，默默在心里对他说一声谢谢，并在树上画一个果实。</a:t>
            </a:r>
          </a:p>
          <a:p>
            <a:pPr marL="0" indent="0">
              <a:buNone/>
            </a:pPr>
            <a:r>
              <a:rPr lang="zh-CN" altLang="en-US" sz="1200" dirty="0">
                <a:latin typeface="+mn-ea"/>
              </a:rPr>
              <a:t>通过贵人寻找生命支持系统，进而获得力量。</a:t>
            </a:r>
          </a:p>
        </p:txBody>
      </p:sp>
      <p:sp>
        <p:nvSpPr>
          <p:cNvPr id="4" name="内容占位符 2">
            <a:extLst>
              <a:ext uri="{FF2B5EF4-FFF2-40B4-BE49-F238E27FC236}">
                <a16:creationId xmlns:a16="http://schemas.microsoft.com/office/drawing/2014/main" id="{6FE35245-EF9D-CE78-A8B9-3929A21CB59D}"/>
              </a:ext>
            </a:extLst>
          </p:cNvPr>
          <p:cNvSpPr txBox="1">
            <a:spLocks/>
          </p:cNvSpPr>
          <p:nvPr/>
        </p:nvSpPr>
        <p:spPr>
          <a:xfrm>
            <a:off x="288000" y="5760000"/>
            <a:ext cx="353545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第二剑：少商剑</a:t>
            </a:r>
          </a:p>
        </p:txBody>
      </p:sp>
      <p:sp>
        <p:nvSpPr>
          <p:cNvPr id="6" name="内容占位符 2">
            <a:extLst>
              <a:ext uri="{FF2B5EF4-FFF2-40B4-BE49-F238E27FC236}">
                <a16:creationId xmlns:a16="http://schemas.microsoft.com/office/drawing/2014/main" id="{E48CDD57-A249-B1F0-832B-6D9AC7E2D9EC}"/>
              </a:ext>
            </a:extLst>
          </p:cNvPr>
          <p:cNvSpPr txBox="1">
            <a:spLocks/>
          </p:cNvSpPr>
          <p:nvPr/>
        </p:nvSpPr>
        <p:spPr>
          <a:xfrm>
            <a:off x="6229350" y="1599388"/>
            <a:ext cx="5815013" cy="491571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b="1" dirty="0">
                <a:latin typeface="+mn-ea"/>
              </a:rPr>
              <a:t>少商剑式</a:t>
            </a:r>
            <a:r>
              <a:rPr lang="en-US" altLang="zh-CN" sz="1200" b="1" dirty="0">
                <a:latin typeface="+mn-ea"/>
              </a:rPr>
              <a:t>2</a:t>
            </a:r>
            <a:r>
              <a:rPr lang="zh-CN" altLang="en-US" sz="1200" b="1" dirty="0">
                <a:latin typeface="+mn-ea"/>
              </a:rPr>
              <a:t>：内在资源激活</a:t>
            </a:r>
          </a:p>
          <a:p>
            <a:pPr marL="0" indent="0">
              <a:buFont typeface="Arial" panose="020B0604020202020204" pitchFamily="34" charset="0"/>
              <a:buNone/>
            </a:pPr>
            <a:r>
              <a:rPr lang="zh-CN" altLang="en-US" sz="1200" dirty="0">
                <a:latin typeface="+mn-ea"/>
              </a:rPr>
              <a:t>通过音乐激活小时候的记忆，将快乐的记忆整合成力量，使自己保持初心，迎接中高考。</a:t>
            </a:r>
          </a:p>
          <a:p>
            <a:pPr marL="0" indent="0">
              <a:buFont typeface="Arial" panose="020B0604020202020204" pitchFamily="34" charset="0"/>
              <a:buNone/>
            </a:pPr>
            <a:r>
              <a:rPr lang="zh-CN" altLang="en-US" sz="1200" dirty="0">
                <a:latin typeface="+mn-ea"/>
              </a:rPr>
              <a:t>（</a:t>
            </a:r>
            <a:r>
              <a:rPr lang="en-US" altLang="zh-CN" sz="1200" dirty="0">
                <a:latin typeface="+mn-ea"/>
              </a:rPr>
              <a:t>1</a:t>
            </a:r>
            <a:r>
              <a:rPr lang="zh-CN" altLang="en-US" sz="1200" dirty="0">
                <a:latin typeface="+mn-ea"/>
              </a:rPr>
              <a:t>）画上你幼年时熟悉的铁轨或者海边。</a:t>
            </a:r>
          </a:p>
          <a:p>
            <a:pPr marL="0" indent="0">
              <a:buFont typeface="Arial" panose="020B0604020202020204" pitchFamily="34" charset="0"/>
              <a:buNone/>
            </a:pPr>
            <a:r>
              <a:rPr lang="zh-CN" altLang="en-US" sz="1200" dirty="0">
                <a:latin typeface="+mn-ea"/>
              </a:rPr>
              <a:t>（</a:t>
            </a:r>
            <a:r>
              <a:rPr lang="en-US" altLang="zh-CN" sz="1200" dirty="0">
                <a:latin typeface="+mn-ea"/>
              </a:rPr>
              <a:t>2</a:t>
            </a:r>
            <a:r>
              <a:rPr lang="zh-CN" altLang="en-US" sz="1200" dirty="0">
                <a:latin typeface="+mn-ea"/>
              </a:rPr>
              <a:t>）将你的耳朵贴近你画的铁轨或者海边。</a:t>
            </a:r>
          </a:p>
          <a:p>
            <a:pPr marL="0" indent="0">
              <a:buFont typeface="Arial" panose="020B0604020202020204" pitchFamily="34" charset="0"/>
              <a:buNone/>
            </a:pPr>
            <a:r>
              <a:rPr lang="zh-CN" altLang="en-US" sz="1200" dirty="0">
                <a:latin typeface="+mn-ea"/>
              </a:rPr>
              <a:t>（</a:t>
            </a:r>
            <a:r>
              <a:rPr lang="en-US" altLang="zh-CN" sz="1200" dirty="0">
                <a:latin typeface="+mn-ea"/>
              </a:rPr>
              <a:t>3</a:t>
            </a:r>
            <a:r>
              <a:rPr lang="zh-CN" altLang="en-US" sz="1200" dirty="0">
                <a:latin typeface="+mn-ea"/>
              </a:rPr>
              <a:t>）引导语：每个人都充分躺在地上，闭上眼睛，保持正常呼吸，想象着你会随着音乐的指引，将你的注意力集中到你的耳部，静静地聆听它带来的信息。</a:t>
            </a:r>
          </a:p>
          <a:p>
            <a:pPr marL="0" indent="0">
              <a:buFont typeface="Arial" panose="020B0604020202020204" pitchFamily="34" charset="0"/>
              <a:buNone/>
            </a:pPr>
            <a:r>
              <a:rPr lang="zh-CN" altLang="en-US" sz="1200" dirty="0">
                <a:latin typeface="+mn-ea"/>
              </a:rPr>
              <a:t>如果是好的，保持下来，如果是坏的，让他随着火车远去。</a:t>
            </a:r>
          </a:p>
          <a:p>
            <a:pPr marL="0" indent="0">
              <a:buFont typeface="Arial" panose="020B0604020202020204" pitchFamily="34" charset="0"/>
              <a:buNone/>
            </a:pPr>
            <a:r>
              <a:rPr lang="zh-CN" altLang="en-US" sz="1200" dirty="0">
                <a:latin typeface="+mn-ea"/>
              </a:rPr>
              <a:t>音乐：</a:t>
            </a:r>
          </a:p>
          <a:p>
            <a:pPr marL="0" indent="0">
              <a:buFont typeface="Arial" panose="020B0604020202020204" pitchFamily="34" charset="0"/>
              <a:buNone/>
            </a:pPr>
            <a:r>
              <a:rPr lang="en-US" altLang="zh-CN" sz="1200" dirty="0">
                <a:latin typeface="+mn-ea"/>
              </a:rPr>
              <a:t>-212 </a:t>
            </a:r>
            <a:r>
              <a:rPr lang="zh-CN" altLang="en-US" sz="1200" dirty="0">
                <a:latin typeface="+mn-ea"/>
              </a:rPr>
              <a:t>火车原型回忆版口琴忘忧草</a:t>
            </a:r>
          </a:p>
          <a:p>
            <a:pPr marL="0" indent="0">
              <a:buFont typeface="Arial" panose="020B0604020202020204" pitchFamily="34" charset="0"/>
              <a:buNone/>
            </a:pPr>
            <a:r>
              <a:rPr lang="en-US" altLang="zh-CN" sz="1200" dirty="0">
                <a:latin typeface="+mn-ea"/>
              </a:rPr>
              <a:t>-39 </a:t>
            </a:r>
            <a:r>
              <a:rPr lang="zh-CN" altLang="en-US" sz="1200" dirty="0">
                <a:latin typeface="+mn-ea"/>
              </a:rPr>
              <a:t>火车原型车站</a:t>
            </a:r>
          </a:p>
        </p:txBody>
      </p:sp>
      <p:sp>
        <p:nvSpPr>
          <p:cNvPr id="7" name="内容占位符 2">
            <a:extLst>
              <a:ext uri="{FF2B5EF4-FFF2-40B4-BE49-F238E27FC236}">
                <a16:creationId xmlns:a16="http://schemas.microsoft.com/office/drawing/2014/main" id="{A368DC68-EA18-DC3A-885C-394C56B0B13A}"/>
              </a:ext>
            </a:extLst>
          </p:cNvPr>
          <p:cNvSpPr txBox="1">
            <a:spLocks/>
          </p:cNvSpPr>
          <p:nvPr/>
        </p:nvSpPr>
        <p:spPr>
          <a:xfrm>
            <a:off x="515111" y="1599388"/>
            <a:ext cx="5580889" cy="182961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一个人的社会资源即他的社会支持系统，指的是一个人在自己的社会关系网络中所获得的，来自他人的物质和精神上的帮助和支援。</a:t>
            </a:r>
          </a:p>
          <a:p>
            <a:pPr marL="0" indent="0">
              <a:buNone/>
            </a:pPr>
            <a:r>
              <a:rPr lang="zh-CN" altLang="en-US" sz="1200" dirty="0">
                <a:latin typeface="+mn-ea"/>
              </a:rPr>
              <a:t>考生在紧张的复习备考中，往往会忽略自己的社会支持系统，通过对他们的社会支持系统进行管理训练，可以提升他们的感受度和利用度，对他们复习备考来说无疑是一件锦上添花的事。</a:t>
            </a:r>
          </a:p>
        </p:txBody>
      </p:sp>
      <p:pic>
        <p:nvPicPr>
          <p:cNvPr id="8" name="图片 7" descr="图标&#10;&#10;AI 生成的内容可能不正确。">
            <a:extLst>
              <a:ext uri="{FF2B5EF4-FFF2-40B4-BE49-F238E27FC236}">
                <a16:creationId xmlns:a16="http://schemas.microsoft.com/office/drawing/2014/main" id="{10B1456C-28C8-388F-3743-DC37EDDC944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0701"/>
            <a:ext cx="914400" cy="914400"/>
          </a:xfrm>
          <a:prstGeom prst="rect">
            <a:avLst/>
          </a:prstGeom>
        </p:spPr>
      </p:pic>
      <p:sp>
        <p:nvSpPr>
          <p:cNvPr id="10" name="内容占位符 2">
            <a:extLst>
              <a:ext uri="{FF2B5EF4-FFF2-40B4-BE49-F238E27FC236}">
                <a16:creationId xmlns:a16="http://schemas.microsoft.com/office/drawing/2014/main" id="{BD0B8152-5359-07D5-B35E-BC94855A0105}"/>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剑路雄劲，石破天惊</a:t>
            </a:r>
            <a:r>
              <a:rPr lang="en-US" altLang="zh-CN" sz="1800" dirty="0">
                <a:latin typeface="+mn-ea"/>
              </a:rPr>
              <a:t>——</a:t>
            </a:r>
            <a:r>
              <a:rPr lang="zh-CN" altLang="en-US" sz="1800" dirty="0">
                <a:latin typeface="+mn-ea"/>
              </a:rPr>
              <a:t>社会支持系统与心理资源管理训练</a:t>
            </a:r>
          </a:p>
        </p:txBody>
      </p:sp>
    </p:spTree>
    <p:extLst>
      <p:ext uri="{BB962C8B-B14F-4D97-AF65-F5344CB8AC3E}">
        <p14:creationId xmlns:p14="http://schemas.microsoft.com/office/powerpoint/2010/main" val="200746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24437-C306-2643-D3EF-627830DA67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F4907B-A13F-8039-27D7-1AE2B0860BF1}"/>
              </a:ext>
            </a:extLst>
          </p:cNvPr>
          <p:cNvSpPr>
            <a:spLocks noGrp="1"/>
          </p:cNvSpPr>
          <p:nvPr>
            <p:ph type="title"/>
          </p:nvPr>
        </p:nvSpPr>
        <p:spPr>
          <a:xfrm>
            <a:off x="521208" y="662737"/>
            <a:ext cx="11155680" cy="936652"/>
          </a:xfrm>
        </p:spPr>
        <p:txBody>
          <a:bodyPr/>
          <a:lstStyle/>
          <a:p>
            <a:r>
              <a:rPr lang="zh-CN" altLang="en-US" sz="4400" dirty="0"/>
              <a:t>中高考音乐减压之秘籍：六脉神剑（三）</a:t>
            </a:r>
          </a:p>
        </p:txBody>
      </p:sp>
      <p:sp>
        <p:nvSpPr>
          <p:cNvPr id="3" name="内容占位符 2">
            <a:extLst>
              <a:ext uri="{FF2B5EF4-FFF2-40B4-BE49-F238E27FC236}">
                <a16:creationId xmlns:a16="http://schemas.microsoft.com/office/drawing/2014/main" id="{7EEC5EF4-4D82-FE16-6C6D-5ED580874B00}"/>
              </a:ext>
            </a:extLst>
          </p:cNvPr>
          <p:cNvSpPr>
            <a:spLocks noGrp="1"/>
          </p:cNvSpPr>
          <p:nvPr>
            <p:ph idx="1"/>
          </p:nvPr>
        </p:nvSpPr>
        <p:spPr>
          <a:xfrm>
            <a:off x="5214939" y="1599388"/>
            <a:ext cx="6455852" cy="4917819"/>
          </a:xfrm>
        </p:spPr>
        <p:txBody>
          <a:bodyPr/>
          <a:lstStyle/>
          <a:p>
            <a:pPr marL="0" indent="0">
              <a:buNone/>
            </a:pPr>
            <a:r>
              <a:rPr lang="zh-CN" altLang="en-US" sz="1200" b="1" dirty="0">
                <a:latin typeface="+mn-ea"/>
              </a:rPr>
              <a:t>中高考免疫接种程序：</a:t>
            </a:r>
          </a:p>
          <a:p>
            <a:pPr marL="0" indent="0">
              <a:buNone/>
            </a:pPr>
            <a:r>
              <a:rPr lang="en-US" altLang="zh-CN" sz="1200" dirty="0">
                <a:latin typeface="+mn-ea"/>
              </a:rPr>
              <a:t>1</a:t>
            </a:r>
            <a:r>
              <a:rPr lang="zh-CN" altLang="en-US" sz="1200" dirty="0">
                <a:latin typeface="+mn-ea"/>
              </a:rPr>
              <a:t>、看见考场大门，我的心紧张，跳得更快了</a:t>
            </a:r>
            <a:r>
              <a:rPr lang="en-US" altLang="zh-CN" sz="1200" dirty="0">
                <a:latin typeface="+mn-ea"/>
              </a:rPr>
              <a:t>——</a:t>
            </a:r>
            <a:r>
              <a:rPr lang="zh-CN" altLang="en-US" sz="1200" dirty="0">
                <a:latin typeface="+mn-ea"/>
              </a:rPr>
              <a:t>这样的感觉是大家都有的，是正常的，没有关系，适当的压力可以让我们有更佳的发挥。</a:t>
            </a:r>
          </a:p>
          <a:p>
            <a:pPr marL="0" indent="0">
              <a:buNone/>
            </a:pPr>
            <a:r>
              <a:rPr lang="en-US" altLang="zh-CN" sz="1200" dirty="0">
                <a:latin typeface="+mn-ea"/>
              </a:rPr>
              <a:t>2</a:t>
            </a:r>
            <a:r>
              <a:rPr lang="zh-CN" altLang="en-US" sz="1200" dirty="0">
                <a:latin typeface="+mn-ea"/>
              </a:rPr>
              <a:t>、看见那么多考生，大家在交头接耳，我感觉心一紧，手也有点紧张，开始抖动</a:t>
            </a:r>
            <a:r>
              <a:rPr lang="en-US" altLang="zh-CN" sz="1200" dirty="0">
                <a:latin typeface="+mn-ea"/>
              </a:rPr>
              <a:t>——</a:t>
            </a:r>
            <a:r>
              <a:rPr lang="zh-CN" altLang="en-US" sz="1200" dirty="0">
                <a:latin typeface="+mn-ea"/>
              </a:rPr>
              <a:t>我允许我的手抖动，并且让这种抖动更加有规律，这种规律是我可以控制的，然后变成优美的挥舞动作。</a:t>
            </a:r>
          </a:p>
          <a:p>
            <a:pPr marL="0" indent="0">
              <a:buNone/>
            </a:pPr>
            <a:r>
              <a:rPr lang="zh-CN" altLang="en-US" sz="1200" dirty="0">
                <a:latin typeface="+mn-ea"/>
              </a:rPr>
              <a:t>其实大家都紧张，我这样做，悠然彼得，没有人知道我的紧张，我接受我适度的紧张。</a:t>
            </a:r>
          </a:p>
          <a:p>
            <a:pPr marL="0" indent="0">
              <a:buNone/>
            </a:pPr>
            <a:r>
              <a:rPr lang="en-US" altLang="zh-CN" sz="1200" dirty="0">
                <a:latin typeface="+mn-ea"/>
              </a:rPr>
              <a:t>3</a:t>
            </a:r>
            <a:r>
              <a:rPr lang="zh-CN" altLang="en-US" sz="1200" dirty="0">
                <a:latin typeface="+mn-ea"/>
              </a:rPr>
              <a:t>、铃声响了</a:t>
            </a:r>
            <a:r>
              <a:rPr lang="en-US" altLang="zh-CN" sz="1200" dirty="0">
                <a:latin typeface="+mn-ea"/>
              </a:rPr>
              <a:t>——</a:t>
            </a:r>
            <a:r>
              <a:rPr lang="zh-CN" altLang="en-US" sz="1200" dirty="0">
                <a:latin typeface="+mn-ea"/>
              </a:rPr>
              <a:t>我再一次感动紧张，你现在再体会一下自己紧张的感觉（跟随来访者，而不是固定来访者的感觉）。</a:t>
            </a:r>
          </a:p>
          <a:p>
            <a:pPr marL="0" indent="0">
              <a:buNone/>
            </a:pPr>
            <a:endParaRPr lang="zh-CN" altLang="en-US" sz="1200" dirty="0">
              <a:latin typeface="+mn-ea"/>
            </a:endParaRPr>
          </a:p>
          <a:p>
            <a:pPr marL="0" indent="0">
              <a:buNone/>
            </a:pPr>
            <a:r>
              <a:rPr lang="en-US" altLang="zh-CN" sz="1200" dirty="0">
                <a:latin typeface="+mn-ea"/>
              </a:rPr>
              <a:t>4</a:t>
            </a:r>
            <a:r>
              <a:rPr lang="zh-CN" altLang="en-US" sz="1200" dirty="0">
                <a:latin typeface="+mn-ea"/>
              </a:rPr>
              <a:t>、发考卷了，我再一次感到紧张，你现在再体会一下自己紧张的感觉，想想自己要怎么做一下深呼吸，感觉轻松了一口气，可以稳定地进入考试状态了（来访者说自己怎么做也行）</a:t>
            </a:r>
            <a:r>
              <a:rPr lang="en-US" altLang="zh-CN" sz="1200" dirty="0">
                <a:latin typeface="+mn-ea"/>
              </a:rPr>
              <a:t>——</a:t>
            </a:r>
            <a:r>
              <a:rPr lang="zh-CN" altLang="en-US" sz="1200" dirty="0">
                <a:latin typeface="+mn-ea"/>
              </a:rPr>
              <a:t>用一套正面积极的对话语言去替换自己原来那一套负面语言。</a:t>
            </a:r>
          </a:p>
        </p:txBody>
      </p:sp>
      <p:sp>
        <p:nvSpPr>
          <p:cNvPr id="4" name="内容占位符 2">
            <a:extLst>
              <a:ext uri="{FF2B5EF4-FFF2-40B4-BE49-F238E27FC236}">
                <a16:creationId xmlns:a16="http://schemas.microsoft.com/office/drawing/2014/main" id="{6A72C6EC-2A83-089F-FD67-43A7E3A6AF86}"/>
              </a:ext>
            </a:extLst>
          </p:cNvPr>
          <p:cNvSpPr txBox="1">
            <a:spLocks/>
          </p:cNvSpPr>
          <p:nvPr/>
        </p:nvSpPr>
        <p:spPr>
          <a:xfrm>
            <a:off x="288000" y="5760000"/>
            <a:ext cx="3756173"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第三剑：商阳剑</a:t>
            </a:r>
          </a:p>
        </p:txBody>
      </p:sp>
      <p:sp>
        <p:nvSpPr>
          <p:cNvPr id="7" name="内容占位符 2">
            <a:extLst>
              <a:ext uri="{FF2B5EF4-FFF2-40B4-BE49-F238E27FC236}">
                <a16:creationId xmlns:a16="http://schemas.microsoft.com/office/drawing/2014/main" id="{031131F2-E125-1C2D-D1B1-6378FEA856AA}"/>
              </a:ext>
            </a:extLst>
          </p:cNvPr>
          <p:cNvSpPr txBox="1">
            <a:spLocks/>
          </p:cNvSpPr>
          <p:nvPr/>
        </p:nvSpPr>
        <p:spPr>
          <a:xfrm>
            <a:off x="515111" y="1599388"/>
            <a:ext cx="4856989" cy="395855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中高考行为预演又叫作中、高考免疫接种程序，是对中高考焦虑进行脱敏的有效方式。</a:t>
            </a:r>
          </a:p>
          <a:p>
            <a:pPr marL="0" indent="0">
              <a:buNone/>
            </a:pPr>
            <a:r>
              <a:rPr lang="zh-CN" altLang="en-US" sz="1200" dirty="0">
                <a:latin typeface="+mn-ea"/>
              </a:rPr>
              <a:t>免疫接种如同疫苗一样，给焦虑考生接种一个无害的压力进去，作为疫苗，植入以使稳定、安全，成为一种积极的情绪支撑。</a:t>
            </a:r>
          </a:p>
          <a:p>
            <a:pPr marL="0" indent="0">
              <a:buNone/>
            </a:pPr>
            <a:r>
              <a:rPr lang="zh-CN" altLang="en-US" sz="1200" dirty="0">
                <a:latin typeface="+mn-ea"/>
              </a:rPr>
              <a:t>让他们提前经历焦虑，并且把焦虑变为一种安全稳定的因素，这样面对考试他们就不会那么紧张，可以最大限度地发挥出自己的真实水平。</a:t>
            </a:r>
          </a:p>
          <a:p>
            <a:pPr marL="0" indent="0">
              <a:buNone/>
            </a:pPr>
            <a:r>
              <a:rPr lang="zh-CN" altLang="en-US" sz="1200" dirty="0">
                <a:latin typeface="+mn-ea"/>
              </a:rPr>
              <a:t>美国第</a:t>
            </a:r>
            <a:r>
              <a:rPr lang="en-US" altLang="zh-CN" sz="1200" dirty="0">
                <a:latin typeface="+mn-ea"/>
              </a:rPr>
              <a:t>44</a:t>
            </a:r>
            <a:r>
              <a:rPr lang="zh-CN" altLang="en-US" sz="1200" dirty="0">
                <a:latin typeface="+mn-ea"/>
              </a:rPr>
              <a:t>任总统奥巴马，在开会之前总是先把新闻助理及主要政策顾问找来讨论，然后在正式开会时就能够面对记者时应付自如。</a:t>
            </a:r>
          </a:p>
          <a:p>
            <a:pPr marL="0" indent="0">
              <a:buNone/>
            </a:pPr>
            <a:r>
              <a:rPr lang="zh-CN" altLang="en-US" sz="1200" dirty="0">
                <a:latin typeface="+mn-ea"/>
              </a:rPr>
              <a:t>操作流程：想象自己参加中高考的过程以及一些重要的场景，感受一下自己的焦虑值，同时用内化语言程序进行积极的自我暗示。</a:t>
            </a:r>
          </a:p>
        </p:txBody>
      </p:sp>
      <p:pic>
        <p:nvPicPr>
          <p:cNvPr id="10" name="图片 9" descr="图标&#10;&#10;AI 生成的内容可能不正确。">
            <a:extLst>
              <a:ext uri="{FF2B5EF4-FFF2-40B4-BE49-F238E27FC236}">
                <a16:creationId xmlns:a16="http://schemas.microsoft.com/office/drawing/2014/main" id="{3E756A3C-3525-5DA8-2FC7-23109B91DB7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56390" y="5608393"/>
            <a:ext cx="914400" cy="914400"/>
          </a:xfrm>
          <a:prstGeom prst="rect">
            <a:avLst/>
          </a:prstGeom>
        </p:spPr>
      </p:pic>
      <p:sp>
        <p:nvSpPr>
          <p:cNvPr id="11" name="内容占位符 2">
            <a:extLst>
              <a:ext uri="{FF2B5EF4-FFF2-40B4-BE49-F238E27FC236}">
                <a16:creationId xmlns:a16="http://schemas.microsoft.com/office/drawing/2014/main" id="{4E43D12E-3A01-EEB1-119C-8F0BEC099F96}"/>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巧妙灵活，难以捉摸</a:t>
            </a:r>
            <a:r>
              <a:rPr lang="en-US" altLang="zh-CN" sz="1800" dirty="0">
                <a:latin typeface="+mn-ea"/>
              </a:rPr>
              <a:t>——</a:t>
            </a:r>
            <a:r>
              <a:rPr lang="zh-CN" altLang="en-US" sz="1800" dirty="0">
                <a:latin typeface="+mn-ea"/>
              </a:rPr>
              <a:t>考试行为预演训练</a:t>
            </a:r>
          </a:p>
        </p:txBody>
      </p:sp>
    </p:spTree>
    <p:extLst>
      <p:ext uri="{BB962C8B-B14F-4D97-AF65-F5344CB8AC3E}">
        <p14:creationId xmlns:p14="http://schemas.microsoft.com/office/powerpoint/2010/main" val="1330991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BF1A-63FF-C135-9CEF-401EA62674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AC5D61-1D00-11E6-EB12-BF2508E3764A}"/>
              </a:ext>
            </a:extLst>
          </p:cNvPr>
          <p:cNvSpPr>
            <a:spLocks noGrp="1"/>
          </p:cNvSpPr>
          <p:nvPr>
            <p:ph type="title"/>
          </p:nvPr>
        </p:nvSpPr>
        <p:spPr>
          <a:xfrm>
            <a:off x="521208" y="662737"/>
            <a:ext cx="11155680" cy="936652"/>
          </a:xfrm>
        </p:spPr>
        <p:txBody>
          <a:bodyPr/>
          <a:lstStyle/>
          <a:p>
            <a:r>
              <a:rPr lang="zh-CN" altLang="en-US" sz="4400" dirty="0"/>
              <a:t>中高考音乐减压之秘籍：六脉神剑（四）</a:t>
            </a:r>
          </a:p>
        </p:txBody>
      </p:sp>
      <p:sp>
        <p:nvSpPr>
          <p:cNvPr id="3" name="内容占位符 2">
            <a:extLst>
              <a:ext uri="{FF2B5EF4-FFF2-40B4-BE49-F238E27FC236}">
                <a16:creationId xmlns:a16="http://schemas.microsoft.com/office/drawing/2014/main" id="{19FD3207-B4C0-FE16-0AA8-4767631C44ED}"/>
              </a:ext>
            </a:extLst>
          </p:cNvPr>
          <p:cNvSpPr>
            <a:spLocks noGrp="1"/>
          </p:cNvSpPr>
          <p:nvPr>
            <p:ph idx="1"/>
          </p:nvPr>
        </p:nvSpPr>
        <p:spPr>
          <a:xfrm>
            <a:off x="515111" y="3780248"/>
            <a:ext cx="4714114" cy="1979752"/>
          </a:xfrm>
        </p:spPr>
        <p:txBody>
          <a:bodyPr/>
          <a:lstStyle/>
          <a:p>
            <a:pPr marL="0" indent="0">
              <a:buNone/>
            </a:pPr>
            <a:r>
              <a:rPr lang="en-US" altLang="zh-CN" sz="1200" b="1" dirty="0">
                <a:latin typeface="+mn-ea"/>
              </a:rPr>
              <a:t>1</a:t>
            </a:r>
            <a:r>
              <a:rPr lang="zh-CN" altLang="en-US" sz="1200" b="1" dirty="0">
                <a:latin typeface="+mn-ea"/>
              </a:rPr>
              <a:t>、知识提取训练</a:t>
            </a:r>
          </a:p>
          <a:p>
            <a:pPr marL="0" indent="0">
              <a:buNone/>
            </a:pPr>
            <a:r>
              <a:rPr lang="zh-CN" altLang="en-US" sz="1200" dirty="0">
                <a:latin typeface="+mn-ea"/>
              </a:rPr>
              <a:t>理论基础：内隐记忆指在不需要意识或有意回忆的条件下，个体的过去经验对当前任务自动产生影响的现象。</a:t>
            </a:r>
          </a:p>
          <a:p>
            <a:pPr marL="0" indent="0">
              <a:buNone/>
            </a:pPr>
            <a:r>
              <a:rPr lang="zh-CN" altLang="en-US" sz="1200" dirty="0">
                <a:latin typeface="+mn-ea"/>
              </a:rPr>
              <a:t>心理学家对内隐记忆的发现和研究让我们意识到，很多时候人不是不记得了，而是提取不出来。</a:t>
            </a:r>
          </a:p>
          <a:p>
            <a:pPr marL="0" indent="0">
              <a:buNone/>
            </a:pPr>
            <a:r>
              <a:rPr lang="zh-CN" altLang="en-US" sz="1200" dirty="0">
                <a:latin typeface="+mn-ea"/>
              </a:rPr>
              <a:t>记忆形成步骤：</a:t>
            </a:r>
            <a:r>
              <a:rPr lang="en-US" altLang="zh-CN" sz="1200" dirty="0">
                <a:latin typeface="+mn-ea"/>
              </a:rPr>
              <a:t>1</a:t>
            </a:r>
            <a:r>
              <a:rPr lang="zh-CN" altLang="en-US" sz="1200" dirty="0">
                <a:latin typeface="+mn-ea"/>
              </a:rPr>
              <a:t>、编码，</a:t>
            </a:r>
            <a:r>
              <a:rPr lang="en-US" altLang="zh-CN" sz="1200" dirty="0">
                <a:latin typeface="+mn-ea"/>
              </a:rPr>
              <a:t>2</a:t>
            </a:r>
            <a:r>
              <a:rPr lang="zh-CN" altLang="en-US" sz="1200" dirty="0">
                <a:latin typeface="+mn-ea"/>
              </a:rPr>
              <a:t>、储存，</a:t>
            </a:r>
            <a:r>
              <a:rPr lang="en-US" altLang="zh-CN" sz="1200" dirty="0">
                <a:latin typeface="+mn-ea"/>
              </a:rPr>
              <a:t>3</a:t>
            </a:r>
            <a:r>
              <a:rPr lang="zh-CN" altLang="en-US" sz="1200" dirty="0">
                <a:latin typeface="+mn-ea"/>
              </a:rPr>
              <a:t>、提取。</a:t>
            </a:r>
          </a:p>
          <a:p>
            <a:pPr marL="0" indent="0">
              <a:buNone/>
            </a:pPr>
            <a:endParaRPr lang="zh-CN" altLang="en-US" sz="1200" dirty="0">
              <a:latin typeface="+mn-ea"/>
            </a:endParaRPr>
          </a:p>
        </p:txBody>
      </p:sp>
      <p:sp>
        <p:nvSpPr>
          <p:cNvPr id="4" name="内容占位符 2">
            <a:extLst>
              <a:ext uri="{FF2B5EF4-FFF2-40B4-BE49-F238E27FC236}">
                <a16:creationId xmlns:a16="http://schemas.microsoft.com/office/drawing/2014/main" id="{89631DB6-530E-8D8D-45B0-2633C35D0DD5}"/>
              </a:ext>
            </a:extLst>
          </p:cNvPr>
          <p:cNvSpPr txBox="1">
            <a:spLocks/>
          </p:cNvSpPr>
          <p:nvPr/>
        </p:nvSpPr>
        <p:spPr>
          <a:xfrm>
            <a:off x="288000" y="5760000"/>
            <a:ext cx="4087249"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第四剑：少泽剑</a:t>
            </a:r>
          </a:p>
        </p:txBody>
      </p:sp>
      <p:sp>
        <p:nvSpPr>
          <p:cNvPr id="7" name="内容占位符 2">
            <a:extLst>
              <a:ext uri="{FF2B5EF4-FFF2-40B4-BE49-F238E27FC236}">
                <a16:creationId xmlns:a16="http://schemas.microsoft.com/office/drawing/2014/main" id="{6B0F1529-3753-D7A1-CD9A-A51FF60C7060}"/>
              </a:ext>
            </a:extLst>
          </p:cNvPr>
          <p:cNvSpPr txBox="1">
            <a:spLocks/>
          </p:cNvSpPr>
          <p:nvPr/>
        </p:nvSpPr>
        <p:spPr>
          <a:xfrm>
            <a:off x="515111" y="1599388"/>
            <a:ext cx="7966737" cy="218086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对于一个考生而言，考前最重要的不是你能不能记住新的知识点，而是能不能把已经掌握的知识有效提取出来，这在认知心理学上叫作知识提取，即从记忆中提取相应的知识和解决问题策略的过程。</a:t>
            </a:r>
          </a:p>
          <a:p>
            <a:pPr marL="0" indent="0">
              <a:buNone/>
            </a:pPr>
            <a:r>
              <a:rPr lang="zh-CN" altLang="en-US" sz="1200" dirty="0">
                <a:latin typeface="+mn-ea"/>
              </a:rPr>
              <a:t>很多考生都有这样一个经历：明明会做的题，就是想不起来怎么作答，下考场后反而能想起来，就是知识提取失败。</a:t>
            </a:r>
          </a:p>
          <a:p>
            <a:pPr marL="0" indent="0">
              <a:buNone/>
            </a:pPr>
            <a:r>
              <a:rPr lang="zh-CN" altLang="en-US" sz="1200" dirty="0">
                <a:latin typeface="+mn-ea"/>
              </a:rPr>
              <a:t>通常压力大，提取就会越困难，提取就会失败。</a:t>
            </a:r>
          </a:p>
          <a:p>
            <a:pPr marL="0" indent="0">
              <a:buNone/>
            </a:pPr>
            <a:r>
              <a:rPr lang="zh-CN" altLang="en-US" sz="1200" dirty="0">
                <a:latin typeface="+mn-ea"/>
              </a:rPr>
              <a:t>我们不是不记得，而是没有编码，通过知识提取训练，可以帮助考生有效整理自己的记忆仓库。</a:t>
            </a:r>
          </a:p>
        </p:txBody>
      </p:sp>
      <p:pic>
        <p:nvPicPr>
          <p:cNvPr id="6" name="图片 5" descr="图标&#10;&#10;AI 生成的内容可能不正确。">
            <a:extLst>
              <a:ext uri="{FF2B5EF4-FFF2-40B4-BE49-F238E27FC236}">
                <a16:creationId xmlns:a16="http://schemas.microsoft.com/office/drawing/2014/main" id="{F6F7F64D-709B-DCA1-97E9-799C9C62722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2807"/>
            <a:ext cx="914400" cy="914400"/>
          </a:xfrm>
          <a:prstGeom prst="rect">
            <a:avLst/>
          </a:prstGeom>
        </p:spPr>
      </p:pic>
      <p:sp>
        <p:nvSpPr>
          <p:cNvPr id="9" name="内容占位符 2">
            <a:extLst>
              <a:ext uri="{FF2B5EF4-FFF2-40B4-BE49-F238E27FC236}">
                <a16:creationId xmlns:a16="http://schemas.microsoft.com/office/drawing/2014/main" id="{CBFC7449-5988-BA9C-1BD6-D8DB5F6EB13B}"/>
              </a:ext>
            </a:extLst>
          </p:cNvPr>
          <p:cNvSpPr txBox="1">
            <a:spLocks/>
          </p:cNvSpPr>
          <p:nvPr/>
        </p:nvSpPr>
        <p:spPr>
          <a:xfrm>
            <a:off x="8339959" y="1599387"/>
            <a:ext cx="3844564" cy="321883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b="1" dirty="0">
                <a:latin typeface="+mn-ea"/>
              </a:rPr>
              <a:t>在知识存储的时候，可以采用以下方式，记忆更加牢固。</a:t>
            </a:r>
          </a:p>
          <a:p>
            <a:pPr marL="0" indent="0">
              <a:buFont typeface="Arial" panose="020B0604020202020204" pitchFamily="34" charset="0"/>
              <a:buNone/>
            </a:pPr>
            <a:r>
              <a:rPr lang="zh-CN" altLang="en-US" sz="1200" dirty="0">
                <a:latin typeface="+mn-ea"/>
              </a:rPr>
              <a:t>（</a:t>
            </a:r>
            <a:r>
              <a:rPr lang="en-US" altLang="zh-CN" sz="1200" dirty="0">
                <a:latin typeface="+mn-ea"/>
              </a:rPr>
              <a:t>1</a:t>
            </a:r>
            <a:r>
              <a:rPr lang="zh-CN" altLang="en-US" sz="1200" dirty="0">
                <a:latin typeface="+mn-ea"/>
              </a:rPr>
              <a:t>）微笑着想像记忆对象的想象与结构。</a:t>
            </a:r>
          </a:p>
          <a:p>
            <a:pPr marL="0" indent="0">
              <a:buFont typeface="Arial" panose="020B0604020202020204" pitchFamily="34" charset="0"/>
              <a:buNone/>
            </a:pPr>
            <a:r>
              <a:rPr lang="zh-CN" altLang="en-US" sz="1200" dirty="0">
                <a:latin typeface="+mn-ea"/>
              </a:rPr>
              <a:t>（</a:t>
            </a:r>
            <a:r>
              <a:rPr lang="en-US" altLang="zh-CN" sz="1200" dirty="0">
                <a:latin typeface="+mn-ea"/>
              </a:rPr>
              <a:t>2</a:t>
            </a:r>
            <a:r>
              <a:rPr lang="zh-CN" altLang="en-US" sz="1200" dirty="0">
                <a:latin typeface="+mn-ea"/>
              </a:rPr>
              <a:t>）覆盖关键部分记忆法。</a:t>
            </a:r>
          </a:p>
          <a:p>
            <a:pPr marL="0" indent="0">
              <a:buFont typeface="Arial" panose="020B0604020202020204" pitchFamily="34" charset="0"/>
              <a:buNone/>
            </a:pPr>
            <a:r>
              <a:rPr lang="zh-CN" altLang="en-US" sz="1200" dirty="0">
                <a:latin typeface="+mn-ea"/>
              </a:rPr>
              <a:t>（</a:t>
            </a:r>
            <a:r>
              <a:rPr lang="en-US" altLang="zh-CN" sz="1200" dirty="0">
                <a:latin typeface="+mn-ea"/>
              </a:rPr>
              <a:t>3</a:t>
            </a:r>
            <a:r>
              <a:rPr lang="zh-CN" altLang="en-US" sz="1200" dirty="0">
                <a:latin typeface="+mn-ea"/>
              </a:rPr>
              <a:t>）利用好首因效应和近因效应。</a:t>
            </a:r>
          </a:p>
          <a:p>
            <a:pPr marL="0" indent="0">
              <a:buFont typeface="Arial" panose="020B0604020202020204" pitchFamily="34" charset="0"/>
              <a:buNone/>
            </a:pPr>
            <a:r>
              <a:rPr lang="zh-CN" altLang="en-US" sz="1200" dirty="0">
                <a:latin typeface="+mn-ea"/>
              </a:rPr>
              <a:t>（</a:t>
            </a:r>
            <a:r>
              <a:rPr lang="en-US" altLang="zh-CN" sz="1200" dirty="0">
                <a:latin typeface="+mn-ea"/>
              </a:rPr>
              <a:t>4</a:t>
            </a:r>
            <a:r>
              <a:rPr lang="zh-CN" altLang="en-US" sz="1200" dirty="0">
                <a:latin typeface="+mn-ea"/>
              </a:rPr>
              <a:t>）紧迫记忆法。</a:t>
            </a:r>
          </a:p>
          <a:p>
            <a:pPr marL="0" indent="0">
              <a:buFont typeface="Arial" panose="020B0604020202020204" pitchFamily="34" charset="0"/>
              <a:buNone/>
            </a:pPr>
            <a:r>
              <a:rPr lang="zh-CN" altLang="en-US" sz="1200" dirty="0">
                <a:latin typeface="+mn-ea"/>
              </a:rPr>
              <a:t>（</a:t>
            </a:r>
            <a:r>
              <a:rPr lang="en-US" altLang="zh-CN" sz="1200" dirty="0">
                <a:latin typeface="+mn-ea"/>
              </a:rPr>
              <a:t>5</a:t>
            </a:r>
            <a:r>
              <a:rPr lang="zh-CN" altLang="en-US" sz="1200" dirty="0">
                <a:latin typeface="+mn-ea"/>
              </a:rPr>
              <a:t>）改错记忆法，通过改错建立正确的认识和记忆。</a:t>
            </a:r>
          </a:p>
          <a:p>
            <a:pPr marL="0" indent="0">
              <a:buFont typeface="Arial" panose="020B0604020202020204" pitchFamily="34" charset="0"/>
              <a:buNone/>
            </a:pPr>
            <a:r>
              <a:rPr lang="zh-CN" altLang="en-US" sz="1200" dirty="0">
                <a:latin typeface="+mn-ea"/>
              </a:rPr>
              <a:t>（</a:t>
            </a:r>
            <a:r>
              <a:rPr lang="en-US" altLang="zh-CN" sz="1200" dirty="0">
                <a:latin typeface="+mn-ea"/>
              </a:rPr>
              <a:t>6</a:t>
            </a:r>
            <a:r>
              <a:rPr lang="zh-CN" altLang="en-US" sz="1200" dirty="0">
                <a:latin typeface="+mn-ea"/>
              </a:rPr>
              <a:t>）撕书记忆法。</a:t>
            </a:r>
          </a:p>
        </p:txBody>
      </p:sp>
      <p:sp>
        <p:nvSpPr>
          <p:cNvPr id="11" name="内容占位符 2">
            <a:extLst>
              <a:ext uri="{FF2B5EF4-FFF2-40B4-BE49-F238E27FC236}">
                <a16:creationId xmlns:a16="http://schemas.microsoft.com/office/drawing/2014/main" id="{CD6B89A7-5F91-DA22-3D1E-554AB54898F0}"/>
              </a:ext>
            </a:extLst>
          </p:cNvPr>
          <p:cNvSpPr txBox="1">
            <a:spLocks/>
          </p:cNvSpPr>
          <p:nvPr/>
        </p:nvSpPr>
        <p:spPr>
          <a:xfrm>
            <a:off x="5684957" y="4495117"/>
            <a:ext cx="5534731" cy="166539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200" b="1" dirty="0">
                <a:latin typeface="+mn-ea"/>
              </a:rPr>
              <a:t>2</a:t>
            </a:r>
            <a:r>
              <a:rPr lang="zh-CN" altLang="en-US" sz="1200" b="1" dirty="0">
                <a:latin typeface="+mn-ea"/>
              </a:rPr>
              <a:t>、运用音乐治疗进行知识提取</a:t>
            </a:r>
          </a:p>
          <a:p>
            <a:pPr marL="0" indent="0">
              <a:buFont typeface="Arial" panose="020B0604020202020204" pitchFamily="34" charset="0"/>
              <a:buNone/>
            </a:pPr>
            <a:r>
              <a:rPr lang="zh-CN" altLang="en-US" sz="1200" dirty="0">
                <a:latin typeface="+mn-ea"/>
              </a:rPr>
              <a:t>引导语：在音乐的想象中，你会看到一个屏幕，有很多水珠滑落下来。</a:t>
            </a:r>
          </a:p>
          <a:p>
            <a:pPr marL="0" indent="0">
              <a:buFont typeface="Arial" panose="020B0604020202020204" pitchFamily="34" charset="0"/>
              <a:buNone/>
            </a:pPr>
            <a:r>
              <a:rPr lang="zh-CN" altLang="en-US" sz="1200" dirty="0">
                <a:latin typeface="+mn-ea"/>
              </a:rPr>
              <a:t>用你的手指去点，每点中一个水珠，你就会看到一个知识点弹出在你的眼前，随着音乐的速度越来越快，你提取知识的速度也越来越快。（音乐编号 </a:t>
            </a:r>
            <a:r>
              <a:rPr lang="en-US" altLang="zh-CN" sz="1200" dirty="0">
                <a:latin typeface="+mn-ea"/>
              </a:rPr>
              <a:t>-8 </a:t>
            </a:r>
            <a:r>
              <a:rPr lang="zh-CN" altLang="en-US" sz="1200" dirty="0">
                <a:latin typeface="+mn-ea"/>
              </a:rPr>
              <a:t>手动跟随守候）</a:t>
            </a:r>
          </a:p>
        </p:txBody>
      </p:sp>
      <p:sp>
        <p:nvSpPr>
          <p:cNvPr id="12" name="内容占位符 2">
            <a:extLst>
              <a:ext uri="{FF2B5EF4-FFF2-40B4-BE49-F238E27FC236}">
                <a16:creationId xmlns:a16="http://schemas.microsoft.com/office/drawing/2014/main" id="{3F47905D-D569-305E-5263-75A48F2BBD84}"/>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忽来忽去，变化精微</a:t>
            </a:r>
            <a:r>
              <a:rPr lang="en-US" altLang="zh-CN" sz="1800" dirty="0">
                <a:latin typeface="+mn-ea"/>
              </a:rPr>
              <a:t>——</a:t>
            </a:r>
            <a:r>
              <a:rPr lang="zh-CN" altLang="en-US" sz="1800" dirty="0">
                <a:latin typeface="+mn-ea"/>
              </a:rPr>
              <a:t>知识点提取训练</a:t>
            </a:r>
          </a:p>
        </p:txBody>
      </p:sp>
    </p:spTree>
    <p:extLst>
      <p:ext uri="{BB962C8B-B14F-4D97-AF65-F5344CB8AC3E}">
        <p14:creationId xmlns:p14="http://schemas.microsoft.com/office/powerpoint/2010/main" val="2546604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E36C7-9C16-4E47-053E-10573A6C9C7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DA74EE-D841-EFAB-11BC-D19EFA06F490}"/>
              </a:ext>
            </a:extLst>
          </p:cNvPr>
          <p:cNvSpPr>
            <a:spLocks noGrp="1"/>
          </p:cNvSpPr>
          <p:nvPr>
            <p:ph type="title"/>
          </p:nvPr>
        </p:nvSpPr>
        <p:spPr>
          <a:xfrm>
            <a:off x="521208" y="662737"/>
            <a:ext cx="11155680" cy="936652"/>
          </a:xfrm>
        </p:spPr>
        <p:txBody>
          <a:bodyPr/>
          <a:lstStyle/>
          <a:p>
            <a:r>
              <a:rPr lang="zh-CN" altLang="en-US" sz="4400" dirty="0"/>
              <a:t>中高考音乐减压之秘籍：六脉神剑（五）</a:t>
            </a:r>
          </a:p>
        </p:txBody>
      </p:sp>
      <p:sp>
        <p:nvSpPr>
          <p:cNvPr id="3" name="内容占位符 2">
            <a:extLst>
              <a:ext uri="{FF2B5EF4-FFF2-40B4-BE49-F238E27FC236}">
                <a16:creationId xmlns:a16="http://schemas.microsoft.com/office/drawing/2014/main" id="{8EC077BE-16BF-BA61-2B98-B63356F4B11E}"/>
              </a:ext>
            </a:extLst>
          </p:cNvPr>
          <p:cNvSpPr>
            <a:spLocks noGrp="1"/>
          </p:cNvSpPr>
          <p:nvPr>
            <p:ph idx="1"/>
          </p:nvPr>
        </p:nvSpPr>
        <p:spPr>
          <a:xfrm>
            <a:off x="515111" y="3831020"/>
            <a:ext cx="5948752" cy="1941129"/>
          </a:xfrm>
        </p:spPr>
        <p:txBody>
          <a:bodyPr/>
          <a:lstStyle/>
          <a:p>
            <a:pPr marL="0" indent="0">
              <a:buNone/>
            </a:pPr>
            <a:r>
              <a:rPr lang="zh-CN" altLang="en-US" sz="1400" b="1" dirty="0">
                <a:latin typeface="+mn-ea"/>
              </a:rPr>
              <a:t>注意力训练</a:t>
            </a:r>
            <a:r>
              <a:rPr lang="en-US" altLang="zh-CN" sz="1400" b="1" dirty="0">
                <a:latin typeface="+mn-ea"/>
              </a:rPr>
              <a:t>1</a:t>
            </a:r>
            <a:r>
              <a:rPr lang="zh-CN" altLang="en-US" sz="1400" b="1" dirty="0">
                <a:latin typeface="+mn-ea"/>
              </a:rPr>
              <a:t>：光影训练</a:t>
            </a:r>
          </a:p>
          <a:p>
            <a:pPr marL="0" indent="0">
              <a:buNone/>
            </a:pPr>
            <a:r>
              <a:rPr lang="zh-CN" altLang="en-US" sz="1400" dirty="0">
                <a:latin typeface="+mn-ea"/>
              </a:rPr>
              <a:t>引导语：闭上眼睛想象，你的手在水里自由地滑动，有光有影，跟随着音乐的节奏，自由滑动起来</a:t>
            </a:r>
            <a:r>
              <a:rPr lang="en-US" altLang="zh-CN" sz="1400" dirty="0">
                <a:latin typeface="+mn-ea"/>
              </a:rPr>
              <a:t>……</a:t>
            </a:r>
            <a:r>
              <a:rPr lang="zh-CN" altLang="en-US" sz="1400" dirty="0">
                <a:latin typeface="+mn-ea"/>
              </a:rPr>
              <a:t>（音乐编号 </a:t>
            </a:r>
            <a:r>
              <a:rPr lang="en-US" altLang="zh-CN" sz="1400" dirty="0">
                <a:latin typeface="+mn-ea"/>
              </a:rPr>
              <a:t>-5 </a:t>
            </a:r>
            <a:r>
              <a:rPr lang="zh-CN" altLang="en-US" sz="1400" dirty="0">
                <a:latin typeface="+mn-ea"/>
              </a:rPr>
              <a:t>光影水）</a:t>
            </a:r>
          </a:p>
          <a:p>
            <a:pPr marL="0" indent="0">
              <a:buNone/>
            </a:pPr>
            <a:r>
              <a:rPr lang="zh-CN" altLang="en-US" sz="1400" b="1" dirty="0">
                <a:latin typeface="+mn-ea"/>
              </a:rPr>
              <a:t>注意力训练</a:t>
            </a:r>
            <a:r>
              <a:rPr lang="en-US" altLang="zh-CN" sz="1400" b="1" dirty="0">
                <a:latin typeface="+mn-ea"/>
              </a:rPr>
              <a:t>2</a:t>
            </a:r>
            <a:r>
              <a:rPr lang="zh-CN" altLang="en-US" sz="1400" b="1" dirty="0">
                <a:latin typeface="+mn-ea"/>
              </a:rPr>
              <a:t>：旋律线技术</a:t>
            </a:r>
          </a:p>
          <a:p>
            <a:pPr marL="0" indent="0">
              <a:buNone/>
            </a:pPr>
            <a:r>
              <a:rPr lang="zh-CN" altLang="en-US" sz="1400" dirty="0">
                <a:latin typeface="+mn-ea"/>
              </a:rPr>
              <a:t>引导语：你会听到一段旋律，尝试着集中注意力，把这个旋律画出来。</a:t>
            </a:r>
          </a:p>
        </p:txBody>
      </p:sp>
      <p:sp>
        <p:nvSpPr>
          <p:cNvPr id="4" name="内容占位符 2">
            <a:extLst>
              <a:ext uri="{FF2B5EF4-FFF2-40B4-BE49-F238E27FC236}">
                <a16:creationId xmlns:a16="http://schemas.microsoft.com/office/drawing/2014/main" id="{7FF0747B-193D-B31C-84E3-870268504AE0}"/>
              </a:ext>
            </a:extLst>
          </p:cNvPr>
          <p:cNvSpPr txBox="1">
            <a:spLocks/>
          </p:cNvSpPr>
          <p:nvPr/>
        </p:nvSpPr>
        <p:spPr>
          <a:xfrm>
            <a:off x="288000" y="5760000"/>
            <a:ext cx="3522154" cy="757207"/>
          </a:xfrm>
          <a:prstGeom prst="rect">
            <a:avLst/>
          </a:prstGeom>
        </p:spPr>
        <p:txBody>
          <a:bodyPr lIns="109728" tIns="109728" rIns="109728" bIns="91440"/>
          <a:lstStyle>
            <a:defPPr>
              <a:defRPr lang="zh-CN"/>
            </a:defPPr>
            <a:lvl1pPr indent="0">
              <a:lnSpc>
                <a:spcPct val="125000"/>
              </a:lnSpc>
              <a:spcBef>
                <a:spcPts val="1000"/>
              </a:spcBef>
              <a:buFont typeface="Arial" panose="020B0604020202020204" pitchFamily="34" charset="0"/>
              <a:buNone/>
              <a:defRPr sz="3200" spc="160">
                <a:effectLst>
                  <a:outerShdw blurRad="38100" dist="38100" dir="2700000" algn="tl">
                    <a:srgbClr val="000000">
                      <a:alpha val="43137"/>
                    </a:srgbClr>
                  </a:outerShdw>
                </a:effectLst>
                <a:latin typeface="+mn-ea"/>
              </a:defRPr>
            </a:lvl1pPr>
            <a:lvl2pPr marL="685800" indent="-228600">
              <a:lnSpc>
                <a:spcPct val="125000"/>
              </a:lnSpc>
              <a:spcBef>
                <a:spcPts val="500"/>
              </a:spcBef>
              <a:buFont typeface="Arial" panose="020B0604020202020204" pitchFamily="34" charset="0"/>
              <a:buChar char="•"/>
              <a:defRPr sz="1600" spc="160"/>
            </a:lvl2pPr>
            <a:lvl3pPr marL="1143000" indent="-228600">
              <a:lnSpc>
                <a:spcPct val="125000"/>
              </a:lnSpc>
              <a:spcBef>
                <a:spcPts val="500"/>
              </a:spcBef>
              <a:buFont typeface="Arial" panose="020B0604020202020204" pitchFamily="34" charset="0"/>
              <a:buChar char="•"/>
              <a:defRPr sz="1600" spc="160"/>
            </a:lvl3pPr>
            <a:lvl4pPr marL="1600200" indent="-228600">
              <a:lnSpc>
                <a:spcPct val="125000"/>
              </a:lnSpc>
              <a:spcBef>
                <a:spcPts val="500"/>
              </a:spcBef>
              <a:buFont typeface="Arial" panose="020B0604020202020204" pitchFamily="34" charset="0"/>
              <a:buChar char="•"/>
              <a:defRPr sz="1600" spc="160"/>
            </a:lvl4pPr>
            <a:lvl5pPr marL="2057400" indent="-228600">
              <a:lnSpc>
                <a:spcPct val="125000"/>
              </a:lnSpc>
              <a:spcBef>
                <a:spcPts val="500"/>
              </a:spcBef>
              <a:buFont typeface="Arial" panose="020B0604020202020204" pitchFamily="34" charset="0"/>
              <a:buChar char="•"/>
              <a:defRPr sz="1600" spc="16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第五剑：关冲剑</a:t>
            </a:r>
          </a:p>
        </p:txBody>
      </p:sp>
      <p:sp>
        <p:nvSpPr>
          <p:cNvPr id="7" name="内容占位符 2">
            <a:extLst>
              <a:ext uri="{FF2B5EF4-FFF2-40B4-BE49-F238E27FC236}">
                <a16:creationId xmlns:a16="http://schemas.microsoft.com/office/drawing/2014/main" id="{3E1F8889-026C-B2D0-6477-809C11EB4502}"/>
              </a:ext>
            </a:extLst>
          </p:cNvPr>
          <p:cNvSpPr txBox="1">
            <a:spLocks/>
          </p:cNvSpPr>
          <p:nvPr/>
        </p:nvSpPr>
        <p:spPr>
          <a:xfrm>
            <a:off x="515111" y="1599388"/>
            <a:ext cx="5580890" cy="2420819"/>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dirty="0">
                <a:latin typeface="+mn-ea"/>
              </a:rPr>
              <a:t>原理：通过音乐治疗进行注意力训练运用的是心理学中的迁移原理。</a:t>
            </a:r>
          </a:p>
          <a:p>
            <a:pPr marL="0" indent="0">
              <a:buNone/>
            </a:pPr>
            <a:r>
              <a:rPr lang="zh-CN" altLang="en-US" sz="1200" dirty="0">
                <a:latin typeface="+mn-ea"/>
              </a:rPr>
              <a:t>在做音乐治疗的时候，通过以下三个维度调整情绪、植入记忆并且训练注意力。</a:t>
            </a:r>
          </a:p>
          <a:p>
            <a:pPr marL="0" indent="0">
              <a:buNone/>
            </a:pPr>
            <a:r>
              <a:rPr lang="zh-CN" altLang="en-US" sz="1200" dirty="0">
                <a:latin typeface="+mn-ea"/>
              </a:rPr>
              <a:t>（</a:t>
            </a:r>
            <a:r>
              <a:rPr lang="en-US" altLang="zh-CN" sz="1200" dirty="0">
                <a:latin typeface="+mn-ea"/>
              </a:rPr>
              <a:t>1</a:t>
            </a:r>
            <a:r>
              <a:rPr lang="zh-CN" altLang="en-US" sz="1200" dirty="0">
                <a:latin typeface="+mn-ea"/>
              </a:rPr>
              <a:t>）通过音乐行为训练，改变肌肉记忆。</a:t>
            </a:r>
          </a:p>
          <a:p>
            <a:pPr marL="0" indent="0">
              <a:buNone/>
            </a:pPr>
            <a:r>
              <a:rPr lang="zh-CN" altLang="en-US" sz="1200" dirty="0">
                <a:latin typeface="+mn-ea"/>
              </a:rPr>
              <a:t>（</a:t>
            </a:r>
            <a:r>
              <a:rPr lang="en-US" altLang="zh-CN" sz="1200" dirty="0">
                <a:latin typeface="+mn-ea"/>
              </a:rPr>
              <a:t>2</a:t>
            </a:r>
            <a:r>
              <a:rPr lang="zh-CN" altLang="en-US" sz="1200" dirty="0">
                <a:latin typeface="+mn-ea"/>
              </a:rPr>
              <a:t>）通过改变情绪记忆，将音乐悄悄打包进入潜意识。</a:t>
            </a:r>
          </a:p>
          <a:p>
            <a:pPr marL="0" indent="0">
              <a:buNone/>
            </a:pPr>
            <a:r>
              <a:rPr lang="zh-CN" altLang="en-US" sz="1200" dirty="0">
                <a:latin typeface="+mn-ea"/>
              </a:rPr>
              <a:t>（</a:t>
            </a:r>
            <a:r>
              <a:rPr lang="en-US" altLang="zh-CN" sz="1200" dirty="0">
                <a:latin typeface="+mn-ea"/>
              </a:rPr>
              <a:t>3</a:t>
            </a:r>
            <a:r>
              <a:rPr lang="zh-CN" altLang="en-US" sz="1200" dirty="0">
                <a:latin typeface="+mn-ea"/>
              </a:rPr>
              <a:t>）通过训练音乐行为将注意力聚集在当下，打破注意力怪圈和死循环。</a:t>
            </a:r>
          </a:p>
        </p:txBody>
      </p:sp>
      <p:sp>
        <p:nvSpPr>
          <p:cNvPr id="9" name="内容占位符 2">
            <a:extLst>
              <a:ext uri="{FF2B5EF4-FFF2-40B4-BE49-F238E27FC236}">
                <a16:creationId xmlns:a16="http://schemas.microsoft.com/office/drawing/2014/main" id="{D867DA04-295D-539A-4F15-05046C852DAA}"/>
              </a:ext>
            </a:extLst>
          </p:cNvPr>
          <p:cNvSpPr txBox="1">
            <a:spLocks/>
          </p:cNvSpPr>
          <p:nvPr/>
        </p:nvSpPr>
        <p:spPr>
          <a:xfrm>
            <a:off x="6321972" y="1542056"/>
            <a:ext cx="5421973" cy="472258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200" b="1" dirty="0">
                <a:latin typeface="+mn-ea"/>
              </a:rPr>
              <a:t>注意力训练</a:t>
            </a:r>
            <a:r>
              <a:rPr lang="en-US" altLang="zh-CN" sz="1200" b="1" dirty="0">
                <a:latin typeface="+mn-ea"/>
              </a:rPr>
              <a:t>3</a:t>
            </a:r>
            <a:r>
              <a:rPr lang="zh-CN" altLang="en-US" sz="1200" b="1" dirty="0">
                <a:latin typeface="+mn-ea"/>
              </a:rPr>
              <a:t>：艺术梅花</a:t>
            </a:r>
          </a:p>
          <a:p>
            <a:pPr marL="0" indent="0">
              <a:buNone/>
            </a:pPr>
            <a:r>
              <a:rPr lang="zh-CN" altLang="en-US" sz="1200" dirty="0">
                <a:latin typeface="+mn-ea"/>
              </a:rPr>
              <a:t>引导语：接下来你将在音乐中完成一幅作品，这首音乐叫作梅花之神。</a:t>
            </a:r>
          </a:p>
          <a:p>
            <a:pPr marL="0" indent="0">
              <a:buNone/>
            </a:pPr>
            <a:r>
              <a:rPr lang="zh-CN" altLang="en-US" sz="1200" dirty="0">
                <a:latin typeface="+mn-ea"/>
              </a:rPr>
              <a:t>听完这首歌曲，想象一下你在画这首歌旋律的发展，就像是在画梅花一样，按照音乐的发展来画梅花</a:t>
            </a:r>
            <a:endParaRPr lang="en-US" altLang="zh-CN" sz="1200" dirty="0">
              <a:latin typeface="+mn-ea"/>
            </a:endParaRPr>
          </a:p>
          <a:p>
            <a:pPr marL="0" indent="0">
              <a:buFont typeface="Arial" panose="020B0604020202020204" pitchFamily="34" charset="0"/>
              <a:buNone/>
            </a:pPr>
            <a:r>
              <a:rPr lang="zh-CN" altLang="en-US" sz="1200" b="1" dirty="0">
                <a:latin typeface="+mn-ea"/>
              </a:rPr>
              <a:t>注意力训练</a:t>
            </a:r>
            <a:r>
              <a:rPr lang="en-US" altLang="zh-CN" sz="1200" b="1" dirty="0">
                <a:latin typeface="+mn-ea"/>
              </a:rPr>
              <a:t>4</a:t>
            </a:r>
            <a:r>
              <a:rPr lang="zh-CN" altLang="en-US" sz="1200" b="1" dirty="0">
                <a:latin typeface="+mn-ea"/>
              </a:rPr>
              <a:t>：音乐演奏</a:t>
            </a:r>
          </a:p>
          <a:p>
            <a:pPr marL="0" indent="0">
              <a:buFont typeface="Arial" panose="020B0604020202020204" pitchFamily="34" charset="0"/>
              <a:buNone/>
            </a:pPr>
            <a:r>
              <a:rPr lang="zh-CN" altLang="en-US" sz="1200" dirty="0">
                <a:latin typeface="+mn-ea"/>
              </a:rPr>
              <a:t>引导语：在音乐中，哼唱并配合左手指挥，根据旋律的抖动，模拟弹奏（音乐编号 </a:t>
            </a:r>
            <a:r>
              <a:rPr lang="en-US" altLang="zh-CN" sz="1200" dirty="0">
                <a:latin typeface="+mn-ea"/>
              </a:rPr>
              <a:t>-589 </a:t>
            </a:r>
            <a:r>
              <a:rPr lang="zh-CN" altLang="en-US" sz="1200" dirty="0">
                <a:latin typeface="+mn-ea"/>
              </a:rPr>
              <a:t>象征指挥大号）</a:t>
            </a:r>
          </a:p>
          <a:p>
            <a:pPr marL="0" indent="0">
              <a:buFont typeface="Arial" panose="020B0604020202020204" pitchFamily="34" charset="0"/>
              <a:buNone/>
            </a:pPr>
            <a:r>
              <a:rPr lang="zh-CN" altLang="en-US" sz="1200" b="1" dirty="0">
                <a:latin typeface="+mn-ea"/>
              </a:rPr>
              <a:t>注意力训练</a:t>
            </a:r>
            <a:r>
              <a:rPr lang="en-US" altLang="zh-CN" sz="1200" b="1" dirty="0">
                <a:latin typeface="+mn-ea"/>
              </a:rPr>
              <a:t>5</a:t>
            </a:r>
            <a:r>
              <a:rPr lang="zh-CN" altLang="en-US" sz="1200" b="1" dirty="0">
                <a:latin typeface="+mn-ea"/>
              </a:rPr>
              <a:t>：音乐行为训练</a:t>
            </a:r>
          </a:p>
          <a:p>
            <a:pPr marL="0" indent="0">
              <a:buFont typeface="Arial" panose="020B0604020202020204" pitchFamily="34" charset="0"/>
              <a:buNone/>
            </a:pPr>
            <a:r>
              <a:rPr lang="zh-CN" altLang="en-US" sz="1200" dirty="0">
                <a:latin typeface="+mn-ea"/>
              </a:rPr>
              <a:t>用彩色卡纸剪出黄、红、蓝三个小圆，贴在文具盒上，背景播放任何一种扰动音乐。</a:t>
            </a:r>
          </a:p>
          <a:p>
            <a:pPr marL="0" indent="0">
              <a:buFont typeface="Arial" panose="020B0604020202020204" pitchFamily="34" charset="0"/>
              <a:buNone/>
            </a:pPr>
            <a:r>
              <a:rPr lang="zh-CN" altLang="en-US" sz="1200" dirty="0">
                <a:latin typeface="+mn-ea"/>
              </a:rPr>
              <a:t>（</a:t>
            </a:r>
            <a:r>
              <a:rPr lang="en-US" altLang="zh-CN" sz="1200" dirty="0">
                <a:latin typeface="+mn-ea"/>
              </a:rPr>
              <a:t>1</a:t>
            </a:r>
            <a:r>
              <a:rPr lang="zh-CN" altLang="en-US" sz="1200" dirty="0">
                <a:latin typeface="+mn-ea"/>
              </a:rPr>
              <a:t>）先注视黄色小点</a:t>
            </a:r>
            <a:r>
              <a:rPr lang="en-US" altLang="zh-CN" sz="1200" dirty="0">
                <a:latin typeface="+mn-ea"/>
              </a:rPr>
              <a:t>6</a:t>
            </a:r>
            <a:r>
              <a:rPr lang="zh-CN" altLang="en-US" sz="1200" dirty="0">
                <a:latin typeface="+mn-ea"/>
              </a:rPr>
              <a:t>秒钟，进入一种专注状态。</a:t>
            </a:r>
          </a:p>
          <a:p>
            <a:pPr marL="0" indent="0">
              <a:buFont typeface="Arial" panose="020B0604020202020204" pitchFamily="34" charset="0"/>
              <a:buNone/>
            </a:pPr>
            <a:r>
              <a:rPr lang="zh-CN" altLang="en-US" sz="1200" dirty="0">
                <a:latin typeface="+mn-ea"/>
              </a:rPr>
              <a:t>（</a:t>
            </a:r>
            <a:r>
              <a:rPr lang="en-US" altLang="zh-CN" sz="1200" dirty="0">
                <a:latin typeface="+mn-ea"/>
              </a:rPr>
              <a:t>2</a:t>
            </a:r>
            <a:r>
              <a:rPr lang="zh-CN" altLang="en-US" sz="1200" dirty="0">
                <a:latin typeface="+mn-ea"/>
              </a:rPr>
              <a:t>）在感觉自己效率低下时，转而注视红色圆点</a:t>
            </a:r>
            <a:r>
              <a:rPr lang="en-US" altLang="zh-CN" sz="1200" dirty="0">
                <a:latin typeface="+mn-ea"/>
              </a:rPr>
              <a:t>6</a:t>
            </a:r>
            <a:r>
              <a:rPr lang="zh-CN" altLang="en-US" sz="1200" dirty="0">
                <a:latin typeface="+mn-ea"/>
              </a:rPr>
              <a:t>秒钟。</a:t>
            </a:r>
          </a:p>
          <a:p>
            <a:pPr marL="0" indent="0">
              <a:buFont typeface="Arial" panose="020B0604020202020204" pitchFamily="34" charset="0"/>
              <a:buNone/>
            </a:pPr>
            <a:r>
              <a:rPr lang="zh-CN" altLang="en-US" sz="1200" dirty="0">
                <a:latin typeface="+mn-ea"/>
              </a:rPr>
              <a:t>（</a:t>
            </a:r>
            <a:r>
              <a:rPr lang="en-US" altLang="zh-CN" sz="1200" dirty="0">
                <a:latin typeface="+mn-ea"/>
              </a:rPr>
              <a:t>3</a:t>
            </a:r>
            <a:r>
              <a:rPr lang="zh-CN" altLang="en-US" sz="1200" dirty="0">
                <a:latin typeface="+mn-ea"/>
              </a:rPr>
              <a:t>）当感觉自己心情烦躁或急躁时，转而注意蓝色圆点</a:t>
            </a:r>
            <a:r>
              <a:rPr lang="en-US" altLang="zh-CN" sz="1200" dirty="0">
                <a:latin typeface="+mn-ea"/>
              </a:rPr>
              <a:t>6</a:t>
            </a:r>
            <a:r>
              <a:rPr lang="zh-CN" altLang="en-US" sz="1200" dirty="0">
                <a:latin typeface="+mn-ea"/>
              </a:rPr>
              <a:t>秒钟。</a:t>
            </a:r>
          </a:p>
        </p:txBody>
      </p:sp>
      <p:pic>
        <p:nvPicPr>
          <p:cNvPr id="8" name="图片 7" descr="图标&#10;&#10;AI 生成的内容可能不正确。">
            <a:extLst>
              <a:ext uri="{FF2B5EF4-FFF2-40B4-BE49-F238E27FC236}">
                <a16:creationId xmlns:a16="http://schemas.microsoft.com/office/drawing/2014/main" id="{A7C9AE27-E410-884F-4480-7470B72B335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602807"/>
            <a:ext cx="914400" cy="914400"/>
          </a:xfrm>
          <a:prstGeom prst="rect">
            <a:avLst/>
          </a:prstGeom>
        </p:spPr>
      </p:pic>
      <p:sp>
        <p:nvSpPr>
          <p:cNvPr id="10" name="内容占位符 2">
            <a:extLst>
              <a:ext uri="{FF2B5EF4-FFF2-40B4-BE49-F238E27FC236}">
                <a16:creationId xmlns:a16="http://schemas.microsoft.com/office/drawing/2014/main" id="{128952A7-7107-F6F4-77BB-F259E7F0ACF4}"/>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以拙胜巧，古朴取胜</a:t>
            </a:r>
            <a:r>
              <a:rPr lang="en-US" altLang="zh-CN" sz="1800" dirty="0">
                <a:latin typeface="+mn-ea"/>
              </a:rPr>
              <a:t>——</a:t>
            </a:r>
            <a:r>
              <a:rPr lang="zh-CN" altLang="en-US" sz="1800" dirty="0">
                <a:latin typeface="+mn-ea"/>
              </a:rPr>
              <a:t>注意力专注训练</a:t>
            </a:r>
          </a:p>
        </p:txBody>
      </p:sp>
    </p:spTree>
    <p:extLst>
      <p:ext uri="{BB962C8B-B14F-4D97-AF65-F5344CB8AC3E}">
        <p14:creationId xmlns:p14="http://schemas.microsoft.com/office/powerpoint/2010/main" val="2467602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B8863-3903-AA6B-1435-7334CD5C76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BAD42E-C2CB-8F0F-26BF-DE24E37644B3}"/>
              </a:ext>
            </a:extLst>
          </p:cNvPr>
          <p:cNvSpPr>
            <a:spLocks noGrp="1"/>
          </p:cNvSpPr>
          <p:nvPr>
            <p:ph type="title"/>
          </p:nvPr>
        </p:nvSpPr>
        <p:spPr>
          <a:xfrm>
            <a:off x="521208" y="662737"/>
            <a:ext cx="11155680" cy="936652"/>
          </a:xfrm>
        </p:spPr>
        <p:txBody>
          <a:bodyPr/>
          <a:lstStyle/>
          <a:p>
            <a:r>
              <a:rPr lang="zh-CN" altLang="en-US" sz="4400" dirty="0"/>
              <a:t>中高考音乐减压之秘籍：六脉神剑（六）</a:t>
            </a:r>
          </a:p>
        </p:txBody>
      </p:sp>
      <p:sp>
        <p:nvSpPr>
          <p:cNvPr id="3" name="内容占位符 2">
            <a:extLst>
              <a:ext uri="{FF2B5EF4-FFF2-40B4-BE49-F238E27FC236}">
                <a16:creationId xmlns:a16="http://schemas.microsoft.com/office/drawing/2014/main" id="{35EAFC96-A21B-40B4-AC09-29308B408B78}"/>
              </a:ext>
            </a:extLst>
          </p:cNvPr>
          <p:cNvSpPr>
            <a:spLocks noGrp="1"/>
          </p:cNvSpPr>
          <p:nvPr>
            <p:ph idx="1"/>
          </p:nvPr>
        </p:nvSpPr>
        <p:spPr>
          <a:xfrm>
            <a:off x="515111" y="1599387"/>
            <a:ext cx="4230310" cy="3959503"/>
          </a:xfrm>
        </p:spPr>
        <p:txBody>
          <a:bodyPr/>
          <a:lstStyle/>
          <a:p>
            <a:pPr marL="0" indent="0">
              <a:buNone/>
            </a:pPr>
            <a:r>
              <a:rPr lang="zh-CN" altLang="en-US" sz="1800" b="1" dirty="0">
                <a:latin typeface="+mn-ea"/>
              </a:rPr>
              <a:t>自信心提升训练</a:t>
            </a:r>
            <a:r>
              <a:rPr lang="en-US" altLang="zh-CN" sz="1800" b="1" dirty="0">
                <a:latin typeface="+mn-ea"/>
              </a:rPr>
              <a:t>1</a:t>
            </a:r>
            <a:r>
              <a:rPr lang="zh-CN" altLang="en-US" sz="1800" b="1" dirty="0">
                <a:latin typeface="+mn-ea"/>
              </a:rPr>
              <a:t>：</a:t>
            </a:r>
          </a:p>
          <a:p>
            <a:pPr marL="0" indent="0">
              <a:buNone/>
            </a:pPr>
            <a:r>
              <a:rPr lang="zh-CN" altLang="en-US" sz="1800" dirty="0">
                <a:latin typeface="+mn-ea"/>
              </a:rPr>
              <a:t>原理：运用音乐对人的外显行为的影响，音乐会提升人的自尊，具有代替价值。</a:t>
            </a:r>
          </a:p>
          <a:p>
            <a:pPr marL="0" indent="0">
              <a:buNone/>
            </a:pPr>
            <a:r>
              <a:rPr lang="zh-CN" altLang="en-US" sz="1800" dirty="0">
                <a:latin typeface="+mn-ea"/>
              </a:rPr>
              <a:t>通过人格适度内聚，健康自信音乐适度内聚又同时允许别人存在，是一种积极健康的自信状态。</a:t>
            </a:r>
          </a:p>
          <a:p>
            <a:pPr marL="0" indent="0">
              <a:buNone/>
            </a:pPr>
            <a:r>
              <a:rPr lang="zh-CN" altLang="en-US" sz="1800" dirty="0">
                <a:latin typeface="+mn-ea"/>
              </a:rPr>
              <a:t>引导语：大家随着音乐节奏吹口哨，随着口哨的声音头一点点往上扬起来，每次都一点点把头抬高。</a:t>
            </a:r>
          </a:p>
        </p:txBody>
      </p:sp>
      <p:sp>
        <p:nvSpPr>
          <p:cNvPr id="4" name="内容占位符 2">
            <a:extLst>
              <a:ext uri="{FF2B5EF4-FFF2-40B4-BE49-F238E27FC236}">
                <a16:creationId xmlns:a16="http://schemas.microsoft.com/office/drawing/2014/main" id="{2CFD36E5-53A7-C23E-B2DD-978CD5C40375}"/>
              </a:ext>
            </a:extLst>
          </p:cNvPr>
          <p:cNvSpPr txBox="1">
            <a:spLocks/>
          </p:cNvSpPr>
          <p:nvPr/>
        </p:nvSpPr>
        <p:spPr>
          <a:xfrm>
            <a:off x="288000" y="5760000"/>
            <a:ext cx="4057267" cy="756000"/>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第六剑：少冲剑</a:t>
            </a:r>
          </a:p>
        </p:txBody>
      </p:sp>
      <p:sp>
        <p:nvSpPr>
          <p:cNvPr id="9" name="内容占位符 2">
            <a:extLst>
              <a:ext uri="{FF2B5EF4-FFF2-40B4-BE49-F238E27FC236}">
                <a16:creationId xmlns:a16="http://schemas.microsoft.com/office/drawing/2014/main" id="{8A2A8B3C-A192-F6B1-DE96-0BE4A5BDCF63}"/>
              </a:ext>
            </a:extLst>
          </p:cNvPr>
          <p:cNvSpPr txBox="1">
            <a:spLocks/>
          </p:cNvSpPr>
          <p:nvPr/>
        </p:nvSpPr>
        <p:spPr>
          <a:xfrm>
            <a:off x="4838971" y="1563505"/>
            <a:ext cx="6957744" cy="490142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latin typeface="+mn-ea"/>
              </a:rPr>
              <a:t>自信心提升训练</a:t>
            </a:r>
            <a:r>
              <a:rPr lang="en-US" altLang="zh-CN" sz="1800" b="1" dirty="0">
                <a:latin typeface="+mn-ea"/>
              </a:rPr>
              <a:t>2</a:t>
            </a:r>
            <a:r>
              <a:rPr lang="zh-CN" altLang="en-US" sz="1800" b="1" dirty="0">
                <a:latin typeface="+mn-ea"/>
              </a:rPr>
              <a:t>：</a:t>
            </a:r>
          </a:p>
          <a:p>
            <a:pPr marL="0" indent="0">
              <a:buFont typeface="Arial" panose="020B0604020202020204" pitchFamily="34" charset="0"/>
              <a:buNone/>
            </a:pPr>
            <a:r>
              <a:rPr lang="zh-CN" altLang="en-US" sz="1800" dirty="0">
                <a:latin typeface="+mn-ea"/>
              </a:rPr>
              <a:t>原理：从存在主义角度出发，鼓励来访者像一个乐队指挥一样，对音乐作品中的每一个角色、音符、演奏进行探索。</a:t>
            </a:r>
          </a:p>
          <a:p>
            <a:pPr marL="0" indent="0">
              <a:buFont typeface="Arial" panose="020B0604020202020204" pitchFamily="34" charset="0"/>
              <a:buNone/>
            </a:pPr>
            <a:r>
              <a:rPr lang="zh-CN" altLang="en-US" sz="1800" dirty="0">
                <a:latin typeface="+mn-ea"/>
              </a:rPr>
              <a:t>无论他指挥什么都不重要，不管是节奏还是旋律，重要的是他与音乐在一起。</a:t>
            </a:r>
          </a:p>
          <a:p>
            <a:pPr marL="0" indent="0">
              <a:buFont typeface="Arial" panose="020B0604020202020204" pitchFamily="34" charset="0"/>
              <a:buNone/>
            </a:pPr>
            <a:r>
              <a:rPr lang="zh-CN" altLang="en-US" sz="1800" dirty="0">
                <a:latin typeface="+mn-ea"/>
              </a:rPr>
              <a:t>指挥过程中会指挥出力度速度的变化，当他在这样做的时候，就与音乐的情绪在一起了，同时获得一种自尊的体验。</a:t>
            </a:r>
          </a:p>
          <a:p>
            <a:pPr marL="0" indent="0">
              <a:buFont typeface="Arial" panose="020B0604020202020204" pitchFamily="34" charset="0"/>
              <a:buNone/>
            </a:pPr>
            <a:r>
              <a:rPr lang="zh-CN" altLang="en-US" sz="1800" dirty="0">
                <a:latin typeface="+mn-ea"/>
              </a:rPr>
              <a:t>引导语：随着音乐节奏的响起，想象一下你站在舞台上，指挥着一场盛大的音乐会，你用你独一无二的指令掌控着一切。</a:t>
            </a:r>
          </a:p>
        </p:txBody>
      </p:sp>
      <p:pic>
        <p:nvPicPr>
          <p:cNvPr id="6" name="图片 5" descr="图标&#10;&#10;AI 生成的内容可能不正确。">
            <a:extLst>
              <a:ext uri="{FF2B5EF4-FFF2-40B4-BE49-F238E27FC236}">
                <a16:creationId xmlns:a16="http://schemas.microsoft.com/office/drawing/2014/main" id="{419A6B14-84F5-D5FB-699D-975704C1759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62488" y="5586413"/>
            <a:ext cx="914400" cy="914400"/>
          </a:xfrm>
          <a:prstGeom prst="rect">
            <a:avLst/>
          </a:prstGeom>
        </p:spPr>
      </p:pic>
      <p:sp>
        <p:nvSpPr>
          <p:cNvPr id="10" name="内容占位符 2">
            <a:extLst>
              <a:ext uri="{FF2B5EF4-FFF2-40B4-BE49-F238E27FC236}">
                <a16:creationId xmlns:a16="http://schemas.microsoft.com/office/drawing/2014/main" id="{F393040A-D433-F8A5-09DB-765C85FC089A}"/>
              </a:ext>
            </a:extLst>
          </p:cNvPr>
          <p:cNvSpPr txBox="1">
            <a:spLocks/>
          </p:cNvSpPr>
          <p:nvPr/>
        </p:nvSpPr>
        <p:spPr>
          <a:xfrm>
            <a:off x="3589387" y="5973473"/>
            <a:ext cx="6957744" cy="543734"/>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a:latin typeface="+mn-ea"/>
              </a:rPr>
              <a:t>轻灵迅速，开发潜力</a:t>
            </a:r>
            <a:r>
              <a:rPr lang="en-US" altLang="zh-CN" sz="1800" dirty="0">
                <a:latin typeface="+mn-ea"/>
              </a:rPr>
              <a:t>——</a:t>
            </a:r>
            <a:r>
              <a:rPr lang="zh-CN" altLang="en-US" sz="1800" dirty="0">
                <a:latin typeface="+mn-ea"/>
              </a:rPr>
              <a:t>自信心提高训练</a:t>
            </a:r>
          </a:p>
        </p:txBody>
      </p:sp>
    </p:spTree>
    <p:extLst>
      <p:ext uri="{BB962C8B-B14F-4D97-AF65-F5344CB8AC3E}">
        <p14:creationId xmlns:p14="http://schemas.microsoft.com/office/powerpoint/2010/main" val="3880432604"/>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Microsoft YaHei"/>
        <a:ea typeface=""/>
        <a:cs typeface=""/>
      </a:majorFont>
      <a:minorFont>
        <a:latin typeface="Microsoft YaHe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1503</TotalTime>
  <Words>5107</Words>
  <Application>Microsoft Office PowerPoint</Application>
  <PresentationFormat>宽屏</PresentationFormat>
  <Paragraphs>336</Paragraphs>
  <Slides>33</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Bierstadt</vt:lpstr>
      <vt:lpstr>等线</vt:lpstr>
      <vt:lpstr>微软雅黑</vt:lpstr>
      <vt:lpstr>Arial</vt:lpstr>
      <vt:lpstr>Wingdings</vt:lpstr>
      <vt:lpstr>GestaltVTI</vt:lpstr>
      <vt:lpstr>中高考减压音乐训练</vt:lpstr>
      <vt:lpstr>摆渡技术：考前心理总动员家长篇（一）</vt:lpstr>
      <vt:lpstr>摆渡技术：考前心理总动员家长篇（二）</vt:lpstr>
      <vt:lpstr>摆渡技术：考前心理总动员家长篇（三）</vt:lpstr>
      <vt:lpstr>摆渡技术：考前心理总动员家长篇（四）</vt:lpstr>
      <vt:lpstr>摆渡技术：考前心理总动员家长篇（五）</vt:lpstr>
      <vt:lpstr>摆渡技术：考前心理总动员家长篇（六）</vt:lpstr>
      <vt:lpstr>摆渡技术：考前心理总动员家长篇（七）</vt:lpstr>
      <vt:lpstr>摆渡技术：考前心理总动员家长篇（八）</vt:lpstr>
      <vt:lpstr>摆渡技术：考前心理总动员家长篇（九）</vt:lpstr>
      <vt:lpstr>摆渡技术：考前心理总动员家长篇（十）</vt:lpstr>
      <vt:lpstr>摆渡技术：考前心理总动员家长篇（十一）</vt:lpstr>
      <vt:lpstr>摆渡技术：考前心理总动员家长篇（十二）</vt:lpstr>
      <vt:lpstr>中高考减压音乐摆渡的原理（一）</vt:lpstr>
      <vt:lpstr>中高考减压音乐摆渡的原理（二）</vt:lpstr>
      <vt:lpstr>中高考减压音乐摆渡的原理（三）</vt:lpstr>
      <vt:lpstr>中高考减压音乐摆渡的原理（四）</vt:lpstr>
      <vt:lpstr>中高考减压音乐摆渡的原理（五）</vt:lpstr>
      <vt:lpstr>中高考减压音乐摆渡的原理（六）</vt:lpstr>
      <vt:lpstr>中高考减压音乐摆渡的原理（七）</vt:lpstr>
      <vt:lpstr>中高考减压音乐摆渡的原理（八）</vt:lpstr>
      <vt:lpstr>中高考减压音乐摆渡的原理（九）</vt:lpstr>
      <vt:lpstr>中高考减压音乐摆渡的原理（十）</vt:lpstr>
      <vt:lpstr>中高考减压音乐摆渡的原理（十一）</vt:lpstr>
      <vt:lpstr>中高考减压音乐摆渡的原理（十二）</vt:lpstr>
      <vt:lpstr>中高考减压音乐摆渡的原理（十三）</vt:lpstr>
      <vt:lpstr>中高考音乐减压的其他注意事项</vt:lpstr>
      <vt:lpstr>中高考音乐减压之秘籍：六脉神剑（一）</vt:lpstr>
      <vt:lpstr>中高考音乐减压之秘籍：六脉神剑（二）</vt:lpstr>
      <vt:lpstr>中高考音乐减压之秘籍：六脉神剑（三）</vt:lpstr>
      <vt:lpstr>中高考音乐减压之秘籍：六脉神剑（四）</vt:lpstr>
      <vt:lpstr>中高考音乐减压之秘籍：六脉神剑（五）</vt:lpstr>
      <vt:lpstr>中高考音乐减压之秘籍：六脉神剑（六）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智慧家长课堂</dc:title>
  <dc:creator>ABC</dc:creator>
  <cp:lastModifiedBy>John</cp:lastModifiedBy>
  <cp:revision>366</cp:revision>
  <dcterms:created xsi:type="dcterms:W3CDTF">2025-09-26T07:10:55Z</dcterms:created>
  <dcterms:modified xsi:type="dcterms:W3CDTF">2025-12-19T12:27:09Z</dcterms:modified>
</cp:coreProperties>
</file>