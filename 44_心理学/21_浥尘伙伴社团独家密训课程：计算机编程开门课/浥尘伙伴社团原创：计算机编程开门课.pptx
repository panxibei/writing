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256" r:id="rId2"/>
    <p:sldId id="257" r:id="rId3"/>
    <p:sldId id="295" r:id="rId4"/>
    <p:sldId id="296" r:id="rId5"/>
    <p:sldId id="297" r:id="rId6"/>
    <p:sldId id="300" r:id="rId7"/>
    <p:sldId id="299" r:id="rId8"/>
    <p:sldId id="259" r:id="rId9"/>
    <p:sldId id="301" r:id="rId10"/>
    <p:sldId id="302" r:id="rId11"/>
    <p:sldId id="258" r:id="rId12"/>
    <p:sldId id="298" r:id="rId13"/>
    <p:sldId id="304" r:id="rId14"/>
    <p:sldId id="303" r:id="rId15"/>
    <p:sldId id="305" r:id="rId16"/>
    <p:sldId id="283" r:id="rId17"/>
    <p:sldId id="306" r:id="rId18"/>
    <p:sldId id="307" r:id="rId19"/>
    <p:sldId id="278" r:id="rId20"/>
    <p:sldId id="309" r:id="rId21"/>
    <p:sldId id="288" r:id="rId22"/>
    <p:sldId id="311" r:id="rId23"/>
    <p:sldId id="308" r:id="rId24"/>
    <p:sldId id="310" r:id="rId25"/>
    <p:sldId id="313" r:id="rId26"/>
    <p:sldId id="260" r:id="rId27"/>
    <p:sldId id="293" r:id="rId28"/>
    <p:sldId id="294" r:id="rId29"/>
    <p:sldId id="29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034E8-7B60-43FC-987C-A54D5D393751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FCB7D-42D9-486B-87B3-4BC90113B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8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FCB7D-42D9-486B-87B3-4BC90113BD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3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2753"/>
            <a:ext cx="11155680" cy="93665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730521"/>
            <a:ext cx="11155680" cy="988415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1792088"/>
            <a:ext cx="11155680" cy="455384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0.png"/><Relationship Id="rId7" Type="http://schemas.openxmlformats.org/officeDocument/2006/relationships/image" Target="../media/image35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33.svg"/><Relationship Id="rId4" Type="http://schemas.openxmlformats.org/officeDocument/2006/relationships/image" Target="../media/image3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38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3.svg"/><Relationship Id="rId4" Type="http://schemas.openxmlformats.org/officeDocument/2006/relationships/image" Target="../media/image3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0.png"/><Relationship Id="rId7" Type="http://schemas.openxmlformats.org/officeDocument/2006/relationships/image" Target="../media/image35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33.svg"/><Relationship Id="rId4" Type="http://schemas.openxmlformats.org/officeDocument/2006/relationships/image" Target="../media/image3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2.svg"/><Relationship Id="rId7" Type="http://schemas.openxmlformats.org/officeDocument/2006/relationships/image" Target="../media/image37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3.svg"/><Relationship Id="rId4" Type="http://schemas.openxmlformats.org/officeDocument/2006/relationships/image" Target="../media/image36.png"/><Relationship Id="rId9" Type="http://schemas.openxmlformats.org/officeDocument/2006/relationships/image" Target="../media/image35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39969"/>
            <a:ext cx="6828905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计算机编程开门课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8965" y="5739969"/>
            <a:ext cx="3366306" cy="960120"/>
          </a:xfrm>
        </p:spPr>
        <p:txBody>
          <a:bodyPr anchor="ctr">
            <a:noAutofit/>
          </a:bodyPr>
          <a:lstStyle/>
          <a:p>
            <a:pPr algn="r"/>
            <a:r>
              <a:rPr lang="zh-CN" altLang="en-US" sz="1800" dirty="0"/>
              <a:t>浥尘伙伴社团内部密训课程</a:t>
            </a:r>
            <a:endParaRPr lang="en-US" altLang="zh-CN" sz="1800" dirty="0"/>
          </a:p>
          <a:p>
            <a:pPr algn="r"/>
            <a:r>
              <a:rPr lang="zh-CN" altLang="en-US" sz="1800" dirty="0"/>
              <a:t> </a:t>
            </a:r>
            <a:r>
              <a:rPr lang="en-US" altLang="zh-CN" sz="1800" dirty="0"/>
              <a:t>2026</a:t>
            </a:r>
            <a:r>
              <a:rPr lang="zh-CN" altLang="en-US" sz="1800" dirty="0"/>
              <a:t>年</a:t>
            </a:r>
            <a:r>
              <a:rPr lang="en-US" altLang="zh-CN" sz="1800" dirty="0"/>
              <a:t>6</a:t>
            </a:r>
            <a:r>
              <a:rPr lang="zh-CN" altLang="en-US" sz="1800" dirty="0"/>
              <a:t>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91D6BB-48ED-6480-AF23-1FC615EF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272" y="5641734"/>
            <a:ext cx="1152372" cy="11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一、计算机的发明（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F9DBE2-383A-D9C1-E91B-E61391090A26}"/>
              </a:ext>
            </a:extLst>
          </p:cNvPr>
          <p:cNvSpPr txBox="1"/>
          <p:nvPr/>
        </p:nvSpPr>
        <p:spPr>
          <a:xfrm>
            <a:off x="515111" y="1599392"/>
            <a:ext cx="11155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计算机不是某个人突然发明的，而是几百年来，从算盘→齿轮→继电器→真空管→芯片，一步一步“叠”出来的，再加上数学理论和战争需求的推动。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E905209-D9FD-C359-BB21-A0FB4AB4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45" y="2522721"/>
            <a:ext cx="2673350" cy="188417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00CB28E-AC3C-1715-5CDE-6FD6EF4B5B1D}"/>
              </a:ext>
            </a:extLst>
          </p:cNvPr>
          <p:cNvSpPr txBox="1"/>
          <p:nvPr/>
        </p:nvSpPr>
        <p:spPr>
          <a:xfrm>
            <a:off x="3352145" y="5046583"/>
            <a:ext cx="2673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②</a:t>
            </a:r>
            <a:r>
              <a:rPr lang="en-US" altLang="zh-CN" dirty="0"/>
              <a:t>1642 </a:t>
            </a:r>
            <a:r>
              <a:rPr lang="zh-CN" altLang="en-US" dirty="0"/>
              <a:t>年法国帕斯卡做了一台齿轮加法机（帕斯卡林），用齿轮转来转去算加减。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7C2BF8-BF86-5FA6-A076-387D5D7428D2}"/>
              </a:ext>
            </a:extLst>
          </p:cNvPr>
          <p:cNvSpPr txBox="1"/>
          <p:nvPr/>
        </p:nvSpPr>
        <p:spPr>
          <a:xfrm>
            <a:off x="6096000" y="4822397"/>
            <a:ext cx="27438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③</a:t>
            </a:r>
            <a:r>
              <a:rPr lang="en-US" altLang="zh-CN" dirty="0"/>
              <a:t>1822–1834 </a:t>
            </a:r>
            <a:r>
              <a:rPr lang="zh-CN" altLang="en-US" dirty="0"/>
              <a:t>年（英国）巴贝奇设计差分机</a:t>
            </a:r>
            <a:r>
              <a:rPr lang="en-US" altLang="zh-CN" dirty="0"/>
              <a:t>+</a:t>
            </a:r>
            <a:r>
              <a:rPr lang="zh-CN" altLang="en-US" dirty="0"/>
              <a:t>分析机</a:t>
            </a:r>
            <a:r>
              <a:rPr lang="en-US" altLang="zh-CN" dirty="0"/>
              <a:t>—— </a:t>
            </a:r>
            <a:r>
              <a:rPr lang="zh-CN" altLang="en-US" dirty="0"/>
              <a:t>已经有“输入、运算、存储、输出”，和现代电脑结构几乎一样！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9F09D7D-18C4-508C-FE66-585D93DC7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913" y="2531571"/>
            <a:ext cx="2681877" cy="187532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19198C1-65FA-6161-09C2-30D374F1943F}"/>
              </a:ext>
            </a:extLst>
          </p:cNvPr>
          <p:cNvSpPr txBox="1"/>
          <p:nvPr/>
        </p:nvSpPr>
        <p:spPr>
          <a:xfrm>
            <a:off x="8988912" y="4492586"/>
            <a:ext cx="26818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④</a:t>
            </a:r>
            <a:r>
              <a:rPr lang="en-US" altLang="zh-CN" dirty="0"/>
              <a:t>1946</a:t>
            </a:r>
            <a:r>
              <a:rPr lang="zh-CN" altLang="en-US" dirty="0"/>
              <a:t>年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14</a:t>
            </a:r>
            <a:r>
              <a:rPr lang="zh-CN" altLang="en-US" dirty="0"/>
              <a:t>日美国宾大莫奇利、埃克特发明</a:t>
            </a:r>
            <a:r>
              <a:rPr lang="en-US" altLang="zh-CN" dirty="0"/>
              <a:t>ENIAC—— </a:t>
            </a:r>
            <a:r>
              <a:rPr lang="zh-CN" altLang="en-US" dirty="0"/>
              <a:t>第一台通用电子数字计算机。</a:t>
            </a:r>
          </a:p>
          <a:p>
            <a:r>
              <a:rPr lang="zh-CN" altLang="en-US" dirty="0"/>
              <a:t>用了</a:t>
            </a:r>
            <a:r>
              <a:rPr lang="en-US" altLang="zh-CN" dirty="0"/>
              <a:t>18000 </a:t>
            </a:r>
            <a:r>
              <a:rPr lang="zh-CN" altLang="en-US" dirty="0"/>
              <a:t>个真空管，占地</a:t>
            </a:r>
            <a:r>
              <a:rPr lang="en-US" altLang="zh-CN" dirty="0"/>
              <a:t>170㎡</a:t>
            </a:r>
            <a:r>
              <a:rPr lang="zh-CN" altLang="en-US" dirty="0"/>
              <a:t>，重 </a:t>
            </a:r>
            <a:r>
              <a:rPr lang="en-US" altLang="zh-CN" dirty="0"/>
              <a:t>30 </a:t>
            </a:r>
            <a:r>
              <a:rPr lang="zh-CN" altLang="en-US" dirty="0"/>
              <a:t>吨，耗电</a:t>
            </a:r>
            <a:r>
              <a:rPr lang="en-US" altLang="zh-CN" dirty="0"/>
              <a:t>150kW</a:t>
            </a:r>
            <a:r>
              <a:rPr lang="zh-CN" altLang="en-US" dirty="0"/>
              <a:t>，每秒约</a:t>
            </a:r>
            <a:r>
              <a:rPr lang="en-US" altLang="zh-CN" dirty="0"/>
              <a:t>5000</a:t>
            </a:r>
            <a:r>
              <a:rPr lang="zh-CN" altLang="en-US" dirty="0"/>
              <a:t>次加法。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5078399-7330-2C13-07E9-C9BA69720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507" y="2531571"/>
            <a:ext cx="2673351" cy="187532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8E9409A-DDF0-08DC-C5A4-A6B0425D2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11" y="2531571"/>
            <a:ext cx="2654463" cy="187532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5A78C35-3B3D-CA20-9137-A0F7066ED08A}"/>
              </a:ext>
            </a:extLst>
          </p:cNvPr>
          <p:cNvSpPr txBox="1"/>
          <p:nvPr/>
        </p:nvSpPr>
        <p:spPr>
          <a:xfrm>
            <a:off x="515111" y="5237896"/>
            <a:ext cx="278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①古代中国的算盘和算筹</a:t>
            </a: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0896-272D-0497-C8AF-6FE669FF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4AB16-29C8-10A8-5106-3760AEBA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一、计算机的发明（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F70084-BC68-EAB8-F267-B6EB82A0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6584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计算机为什么是二进制（</a:t>
            </a:r>
            <a:r>
              <a:rPr lang="en-US" altLang="zh-CN" sz="1800" dirty="0">
                <a:latin typeface="+mn-ea"/>
              </a:rPr>
              <a:t>1</a:t>
            </a:r>
            <a:r>
              <a:rPr lang="zh-CN" altLang="en-US" sz="1800" dirty="0">
                <a:latin typeface="+mn-ea"/>
              </a:rPr>
              <a:t>和</a:t>
            </a:r>
            <a:r>
              <a:rPr lang="en-US" altLang="zh-CN" sz="1800" dirty="0">
                <a:latin typeface="+mn-ea"/>
              </a:rPr>
              <a:t>0</a:t>
            </a:r>
            <a:r>
              <a:rPr lang="zh-CN" altLang="en-US" sz="1800" dirty="0">
                <a:latin typeface="+mn-ea"/>
              </a:rPr>
              <a:t>）？</a:t>
            </a:r>
            <a:endParaRPr lang="en-US" altLang="zh-CN" sz="18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BFBF86-66B1-6144-13FC-AA870C5A40F0}"/>
              </a:ext>
            </a:extLst>
          </p:cNvPr>
          <p:cNvSpPr txBox="1"/>
          <p:nvPr/>
        </p:nvSpPr>
        <p:spPr>
          <a:xfrm>
            <a:off x="515112" y="3066197"/>
            <a:ext cx="55808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1. </a:t>
            </a:r>
            <a:r>
              <a:rPr lang="zh-CN" altLang="en-US" dirty="0">
                <a:latin typeface="+mn-ea"/>
              </a:rPr>
              <a:t>硬件最容易实现</a:t>
            </a:r>
          </a:p>
          <a:p>
            <a:r>
              <a:rPr lang="zh-CN" altLang="en-US" dirty="0">
                <a:latin typeface="+mn-ea"/>
              </a:rPr>
              <a:t>    通电 </a:t>
            </a:r>
            <a:r>
              <a:rPr lang="en-US" altLang="zh-CN" dirty="0">
                <a:latin typeface="+mn-ea"/>
              </a:rPr>
              <a:t>= 1</a:t>
            </a:r>
          </a:p>
          <a:p>
            <a:r>
              <a:rPr lang="en-US" altLang="zh-CN" dirty="0">
                <a:latin typeface="+mn-ea"/>
              </a:rPr>
              <a:t>    </a:t>
            </a:r>
            <a:r>
              <a:rPr lang="zh-CN" altLang="en-US" dirty="0">
                <a:latin typeface="+mn-ea"/>
              </a:rPr>
              <a:t>断电 </a:t>
            </a:r>
            <a:r>
              <a:rPr lang="en-US" altLang="zh-CN" dirty="0">
                <a:latin typeface="+mn-ea"/>
              </a:rPr>
              <a:t>= 0</a:t>
            </a:r>
          </a:p>
          <a:p>
            <a:r>
              <a:rPr lang="en-US" altLang="zh-CN" dirty="0">
                <a:latin typeface="+mn-ea"/>
              </a:rPr>
              <a:t>    </a:t>
            </a:r>
            <a:r>
              <a:rPr lang="zh-CN" altLang="en-US" dirty="0">
                <a:latin typeface="+mn-ea"/>
              </a:rPr>
              <a:t>只有两种状态，电路最简单、最稳定。</a:t>
            </a:r>
          </a:p>
          <a:p>
            <a:r>
              <a:rPr lang="zh-CN" altLang="en-US" dirty="0">
                <a:latin typeface="+mn-ea"/>
              </a:rPr>
              <a:t>    如果用十进制，要做出</a:t>
            </a: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种电压状态，难度极大、极易出错。</a:t>
            </a:r>
            <a:endParaRPr lang="en-US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2. </a:t>
            </a:r>
            <a:r>
              <a:rPr lang="zh-CN" altLang="en-US" dirty="0">
                <a:latin typeface="+mn-ea"/>
              </a:rPr>
              <a:t>运算最简单</a:t>
            </a:r>
          </a:p>
          <a:p>
            <a:r>
              <a:rPr lang="zh-CN" altLang="en-US" dirty="0">
                <a:latin typeface="+mn-ea"/>
              </a:rPr>
              <a:t>二进制只有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，加减逻辑超级简单，芯片计算速度飞快。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1B7DC9-C77A-6C6E-B541-179A55B9C3D3}"/>
              </a:ext>
            </a:extLst>
          </p:cNvPr>
          <p:cNvSpPr txBox="1"/>
          <p:nvPr/>
        </p:nvSpPr>
        <p:spPr>
          <a:xfrm>
            <a:off x="6096004" y="3066197"/>
            <a:ext cx="55808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3. </a:t>
            </a:r>
            <a:r>
              <a:rPr lang="zh-CN" altLang="en-US" dirty="0">
                <a:latin typeface="+mn-ea"/>
              </a:rPr>
              <a:t>抗干扰最强</a:t>
            </a:r>
          </a:p>
          <a:p>
            <a:r>
              <a:rPr lang="zh-CN" altLang="en-US" dirty="0">
                <a:latin typeface="+mn-ea"/>
              </a:rPr>
              <a:t>只有两种信号，电压轻微波动不会认错，不容易传错数据。</a:t>
            </a:r>
            <a:endParaRPr lang="en-US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4. </a:t>
            </a:r>
            <a:r>
              <a:rPr lang="zh-CN" altLang="en-US" dirty="0">
                <a:latin typeface="+mn-ea"/>
              </a:rPr>
              <a:t>逻辑天生匹配</a:t>
            </a:r>
          </a:p>
          <a:p>
            <a:r>
              <a:rPr lang="zh-CN" altLang="en-US" dirty="0">
                <a:latin typeface="+mn-ea"/>
              </a:rPr>
              <a:t>电脑本质是逻辑电路：真</a:t>
            </a:r>
            <a:r>
              <a:rPr lang="en-US" altLang="zh-CN" dirty="0">
                <a:latin typeface="+mn-ea"/>
              </a:rPr>
              <a:t>=1</a:t>
            </a:r>
            <a:r>
              <a:rPr lang="zh-CN" altLang="en-US" dirty="0">
                <a:latin typeface="+mn-ea"/>
              </a:rPr>
              <a:t>，假</a:t>
            </a:r>
            <a:r>
              <a:rPr lang="en-US" altLang="zh-CN" dirty="0">
                <a:latin typeface="+mn-ea"/>
              </a:rPr>
              <a:t>=0</a:t>
            </a:r>
            <a:r>
              <a:rPr lang="zh-CN" altLang="en-US" dirty="0">
                <a:latin typeface="+mn-ea"/>
              </a:rPr>
              <a:t>，完美对应二进制。</a:t>
            </a: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通俗比喻</a:t>
            </a:r>
          </a:p>
          <a:p>
            <a:r>
              <a:rPr lang="zh-CN" altLang="en-US" dirty="0">
                <a:latin typeface="+mn-ea"/>
              </a:rPr>
              <a:t>电灯只有亮、灭，没法亮一半，电脑就跟电灯一样，只有两种状态，所以只用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A6E25F-C8C9-3CAA-B337-875C9CE2F111}"/>
              </a:ext>
            </a:extLst>
          </p:cNvPr>
          <p:cNvSpPr txBox="1"/>
          <p:nvPr/>
        </p:nvSpPr>
        <p:spPr>
          <a:xfrm>
            <a:off x="515112" y="2419866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因为电子元件只有通电、断电两种状态，刚好对应 </a:t>
            </a:r>
            <a:r>
              <a:rPr lang="en-US" altLang="zh-CN" dirty="0">
                <a:latin typeface="+mn-ea"/>
              </a:rPr>
              <a:t>1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034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3C76-F002-BBA3-FA74-A66CDB88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62598-213C-6120-38B2-1808402E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一、计算机的发明（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254EFB-6F34-B371-001A-10B21857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3" y="1646387"/>
            <a:ext cx="11161774" cy="709593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朱传榘</a:t>
            </a:r>
            <a:r>
              <a:rPr lang="en-US" altLang="zh-CN" sz="1800" dirty="0">
                <a:latin typeface="+mn-ea"/>
              </a:rPr>
              <a:t>——</a:t>
            </a:r>
            <a:r>
              <a:rPr lang="zh-CN" altLang="en-US" sz="1800" dirty="0">
                <a:latin typeface="+mn-ea"/>
              </a:rPr>
              <a:t>二进制逻辑电路设计</a:t>
            </a:r>
            <a:endParaRPr lang="en-US" altLang="zh-CN" sz="1800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12DA5F-8659-C6CA-4CE8-342C88E7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2484362"/>
            <a:ext cx="2660073" cy="3200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5EBADF-6808-9523-3B66-D6E2AE51FF3D}"/>
              </a:ext>
            </a:extLst>
          </p:cNvPr>
          <p:cNvSpPr txBox="1"/>
          <p:nvPr/>
        </p:nvSpPr>
        <p:spPr>
          <a:xfrm>
            <a:off x="7751642" y="5951644"/>
            <a:ext cx="3925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核心团队合影，右上角者就是朱传榘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CDEE37-FB83-38B7-B09C-33F3D891D94E}"/>
              </a:ext>
            </a:extLst>
          </p:cNvPr>
          <p:cNvSpPr txBox="1"/>
          <p:nvPr/>
        </p:nvSpPr>
        <p:spPr>
          <a:xfrm>
            <a:off x="3969974" y="5951644"/>
            <a:ext cx="343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朱传榘在 </a:t>
            </a:r>
            <a:r>
              <a:rPr lang="en-US" altLang="ja-JP" dirty="0"/>
              <a:t>ENIAC </a:t>
            </a:r>
            <a:r>
              <a:rPr lang="ja-JP" altLang="en-US" dirty="0"/>
              <a:t>的工作照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3109B2-98FF-FC36-39ED-5C83F2A3A197}"/>
              </a:ext>
            </a:extLst>
          </p:cNvPr>
          <p:cNvSpPr txBox="1"/>
          <p:nvPr/>
        </p:nvSpPr>
        <p:spPr>
          <a:xfrm>
            <a:off x="515112" y="5813144"/>
            <a:ext cx="3142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朱传榘是唯一华人，也是最年轻核心成员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B6F65B-E704-BEF1-C9E6-71C734D77840}"/>
              </a:ext>
            </a:extLst>
          </p:cNvPr>
          <p:cNvSpPr txBox="1"/>
          <p:nvPr/>
        </p:nvSpPr>
        <p:spPr>
          <a:xfrm>
            <a:off x="4845012" y="1725769"/>
            <a:ext cx="68318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为什么很多地方不提他？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 当时美国种族歧视，华人贡献常被淡化。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 长期宣传重点放在莫奇利、埃克特、冯・诺依曼身上。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 直到</a:t>
            </a:r>
            <a:r>
              <a:rPr lang="en-US" altLang="zh-CN" dirty="0"/>
              <a:t>1981</a:t>
            </a:r>
            <a:r>
              <a:rPr lang="zh-CN" altLang="en-US" dirty="0"/>
              <a:t>年，</a:t>
            </a:r>
            <a:r>
              <a:rPr lang="en-US" altLang="zh-CN" dirty="0"/>
              <a:t>IEEE</a:t>
            </a:r>
            <a:r>
              <a:rPr lang="zh-CN" altLang="en-US" dirty="0"/>
              <a:t>首届“计算机先驱奖”颁给他，才正式承认：他是</a:t>
            </a:r>
            <a:r>
              <a:rPr lang="en-US" altLang="zh-CN" dirty="0"/>
              <a:t>ENIAC</a:t>
            </a:r>
            <a:r>
              <a:rPr lang="zh-CN" altLang="en-US" dirty="0"/>
              <a:t>核心发明人之一。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 </a:t>
            </a:r>
            <a:r>
              <a:rPr lang="en-US" altLang="zh-CN" dirty="0"/>
              <a:t>1996</a:t>
            </a:r>
            <a:r>
              <a:rPr lang="zh-CN" altLang="en-US" dirty="0"/>
              <a:t>年</a:t>
            </a:r>
            <a:r>
              <a:rPr lang="en-US" altLang="zh-CN" dirty="0"/>
              <a:t>ENIAC50</a:t>
            </a:r>
            <a:r>
              <a:rPr lang="zh-CN" altLang="en-US" dirty="0"/>
              <a:t>周年，宾大官方把他列入</a:t>
            </a:r>
            <a:r>
              <a:rPr lang="en-US" altLang="zh-CN" dirty="0"/>
              <a:t>6</a:t>
            </a:r>
            <a:r>
              <a:rPr lang="zh-CN" altLang="en-US" dirty="0"/>
              <a:t>位核心缔造者。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C1C50CA-B00F-8E27-8DED-DE343AEE3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56" y="3606472"/>
            <a:ext cx="3461197" cy="207610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968DB5A-2427-ABCB-F208-12BC9CFB0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974" y="3606472"/>
            <a:ext cx="3120992" cy="207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7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0888-7F58-2ADB-8F32-6A52A8B2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F5299-D1A0-2D8E-A646-65677C4B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一、计算机的发明（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8EE14-151E-0347-08EC-71A1A5022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7346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为什么会有互联网？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B0830-465A-4604-363F-875B7C5B27D6}"/>
              </a:ext>
            </a:extLst>
          </p:cNvPr>
          <p:cNvSpPr txBox="1"/>
          <p:nvPr/>
        </p:nvSpPr>
        <p:spPr>
          <a:xfrm>
            <a:off x="515114" y="2513437"/>
            <a:ext cx="55808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如何判断一个人是聋子？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有一个人，他说他的一只耳朵听不见了，怎么判断他说的是真的还是假的？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CBA6713-0EC6-0D44-5F63-56FF1682B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933" y="1944092"/>
            <a:ext cx="3133333" cy="4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62B1-A128-2110-071C-307C62D7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F251C309-229C-94BE-E17F-9C4F4AD7A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449" y="3509915"/>
            <a:ext cx="3168353" cy="291488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35F1A93-96C0-B8BE-CEA0-0011425F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一、计算机的发明（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7B045B-1DD4-6674-10D5-BACAC44E3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7346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为什么会有互联网？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F63178-B10F-C80E-1A3B-37C53EC920DC}"/>
              </a:ext>
            </a:extLst>
          </p:cNvPr>
          <p:cNvSpPr txBox="1"/>
          <p:nvPr/>
        </p:nvSpPr>
        <p:spPr>
          <a:xfrm>
            <a:off x="515112" y="2081685"/>
            <a:ext cx="6812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互联网不是某一个人“发明”的，而是冷战军事需求 </a:t>
            </a:r>
            <a:r>
              <a:rPr lang="en-US" altLang="zh-CN" dirty="0"/>
              <a:t>+ </a:t>
            </a:r>
            <a:r>
              <a:rPr lang="zh-CN" altLang="en-US" dirty="0"/>
              <a:t>分组交换技术 </a:t>
            </a:r>
            <a:r>
              <a:rPr lang="en-US" altLang="zh-CN" dirty="0"/>
              <a:t>+ TCP/IP </a:t>
            </a:r>
            <a:r>
              <a:rPr lang="zh-CN" altLang="en-US" dirty="0"/>
              <a:t>协议 </a:t>
            </a:r>
            <a:r>
              <a:rPr lang="en-US" altLang="zh-CN" dirty="0"/>
              <a:t>+ </a:t>
            </a:r>
            <a:r>
              <a:rPr lang="zh-CN" altLang="en-US" dirty="0"/>
              <a:t>万维网，一步步拼出来的全球网络。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3DC772-BCD8-BD4E-657D-4D8C007AD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04" y="3390263"/>
            <a:ext cx="3034536" cy="303453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CE6F474-C3D6-7C97-2558-64FCE708A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361" y="1524409"/>
            <a:ext cx="3168353" cy="262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0D15C-81CF-06F4-79D7-E0980D2E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2E9B1-9C5A-5A06-AE2E-96705EA7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一、计算机的发明（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F6501A-682B-BF08-2796-B40802B0A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7346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为什么会有互联网？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CE59DAF-2267-7255-376F-A92A7426D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236" y="2143196"/>
            <a:ext cx="4052064" cy="40520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55E3F61-F5A6-4B58-F53E-101529508C03}"/>
              </a:ext>
            </a:extLst>
          </p:cNvPr>
          <p:cNvSpPr txBox="1"/>
          <p:nvPr/>
        </p:nvSpPr>
        <p:spPr>
          <a:xfrm>
            <a:off x="515114" y="2691537"/>
            <a:ext cx="64825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传统电话网是“中心化”的，中心一炸全网瘫痪。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保罗・巴兰（</a:t>
            </a:r>
            <a:r>
              <a:rPr lang="en-US" altLang="zh-CN" dirty="0"/>
              <a:t>Paul Baran</a:t>
            </a:r>
            <a:r>
              <a:rPr lang="zh-CN" altLang="en-US" dirty="0"/>
              <a:t>）等提出：把数据切成小块（分组），走不同路径，到目的地再拼起来；没有中心，炸掉几个节点，剩下的还能通。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这就是分组交换（</a:t>
            </a:r>
            <a:r>
              <a:rPr lang="en-US" altLang="zh-CN" dirty="0"/>
              <a:t>Packet Switching</a:t>
            </a:r>
            <a:r>
              <a:rPr lang="zh-CN" altLang="en-US" dirty="0"/>
              <a:t>），互联网的底层基因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69D6E4-65D8-DF99-CB4F-92A1B596C4E4}"/>
              </a:ext>
            </a:extLst>
          </p:cNvPr>
          <p:cNvSpPr txBox="1"/>
          <p:nvPr/>
        </p:nvSpPr>
        <p:spPr>
          <a:xfrm>
            <a:off x="515114" y="5466497"/>
            <a:ext cx="6292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开放、共享、去中心化、反封闭</a:t>
            </a:r>
            <a:r>
              <a:rPr lang="en-US" altLang="zh-CN" dirty="0"/>
              <a:t>—— </a:t>
            </a:r>
            <a:r>
              <a:rPr lang="zh-CN" altLang="en-US" dirty="0"/>
              <a:t>整个互联网底层价值观</a:t>
            </a:r>
          </a:p>
        </p:txBody>
      </p:sp>
    </p:spTree>
    <p:extLst>
      <p:ext uri="{BB962C8B-B14F-4D97-AF65-F5344CB8AC3E}">
        <p14:creationId xmlns:p14="http://schemas.microsoft.com/office/powerpoint/2010/main" val="84704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E9D2F-1F09-0631-8AF8-DAFD2616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6FC73-5505-DDD6-8338-9EEEF774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二、计算机的基本组成（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90094-C0B5-790F-FC0B-773883AD0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89891"/>
            <a:ext cx="6385221" cy="1773593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为什么电脑是世界上最笨的东西？</a:t>
            </a:r>
            <a:endParaRPr lang="en-US" altLang="zh-CN" sz="1800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加法器原理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endParaRPr lang="en-US" altLang="zh-CN" sz="18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C7F64B-E707-A899-8451-59B2FA5A654B}"/>
              </a:ext>
            </a:extLst>
          </p:cNvPr>
          <p:cNvSpPr txBox="1"/>
          <p:nvPr/>
        </p:nvSpPr>
        <p:spPr>
          <a:xfrm>
            <a:off x="665817" y="3242439"/>
            <a:ext cx="62966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是两个要相加的二进制数（</a:t>
            </a:r>
            <a:r>
              <a:rPr lang="en-US" altLang="zh-CN" dirty="0"/>
              <a:t>0 </a:t>
            </a:r>
            <a:r>
              <a:rPr lang="zh-CN" altLang="en-US" dirty="0"/>
              <a:t>或 </a:t>
            </a:r>
            <a:r>
              <a:rPr lang="en-US" altLang="zh-CN" dirty="0"/>
              <a:t>1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算 “和”</a:t>
            </a:r>
            <a:r>
              <a:rPr lang="en-US" altLang="zh-CN" dirty="0"/>
              <a:t>(S)</a:t>
            </a:r>
            <a:r>
              <a:rPr lang="zh-CN" altLang="en-US" dirty="0"/>
              <a:t>：用一个异或门。</a:t>
            </a:r>
          </a:p>
          <a:p>
            <a:r>
              <a:rPr lang="zh-CN" altLang="en-US" dirty="0"/>
              <a:t> → 规则：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不一样，输出 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一样，输出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   对应加法：</a:t>
            </a:r>
            <a:r>
              <a:rPr lang="en-US" altLang="zh-CN" dirty="0"/>
              <a:t>0+0=0</a:t>
            </a:r>
            <a:r>
              <a:rPr lang="zh-CN" altLang="en-US" dirty="0"/>
              <a:t>，</a:t>
            </a:r>
            <a:r>
              <a:rPr lang="en-US" altLang="zh-CN" dirty="0"/>
              <a:t>0+1=1</a:t>
            </a:r>
            <a:r>
              <a:rPr lang="zh-CN" altLang="en-US" dirty="0"/>
              <a:t>，</a:t>
            </a:r>
            <a:r>
              <a:rPr lang="en-US" altLang="zh-CN" dirty="0"/>
              <a:t>1+0=1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算 “进位”</a:t>
            </a:r>
            <a:r>
              <a:rPr lang="en-US" altLang="zh-CN" dirty="0"/>
              <a:t>(C)</a:t>
            </a:r>
            <a:r>
              <a:rPr lang="zh-CN" altLang="en-US" dirty="0"/>
              <a:t>：用一个与门。</a:t>
            </a:r>
          </a:p>
          <a:p>
            <a:r>
              <a:rPr lang="zh-CN" altLang="en-US" dirty="0"/>
              <a:t> → 规则：只有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都是 </a:t>
            </a:r>
            <a:r>
              <a:rPr lang="en-US" altLang="zh-CN" dirty="0"/>
              <a:t>1 </a:t>
            </a:r>
            <a:r>
              <a:rPr lang="zh-CN" altLang="en-US" dirty="0"/>
              <a:t>时，才输出 </a:t>
            </a:r>
            <a:r>
              <a:rPr lang="en-US" altLang="zh-CN" dirty="0"/>
              <a:t>1</a:t>
            </a:r>
            <a:r>
              <a:rPr lang="zh-CN" altLang="en-US" dirty="0"/>
              <a:t>，否则都是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   对应加法：只有 </a:t>
            </a:r>
            <a:r>
              <a:rPr lang="en-US" altLang="zh-CN" dirty="0"/>
              <a:t>1+1 </a:t>
            </a:r>
            <a:r>
              <a:rPr lang="zh-CN" altLang="en-US" dirty="0"/>
              <a:t>时，才会产生进位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pic>
        <p:nvPicPr>
          <p:cNvPr id="7" name="图形 6" descr="广告 轮廓">
            <a:extLst>
              <a:ext uri="{FF2B5EF4-FFF2-40B4-BE49-F238E27FC236}">
                <a16:creationId xmlns:a16="http://schemas.microsoft.com/office/drawing/2014/main" id="{4D4D973F-F6EC-84A0-BA53-455765C43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0841" y="3772205"/>
            <a:ext cx="1059012" cy="1059012"/>
          </a:xfrm>
          <a:prstGeom prst="rect">
            <a:avLst/>
          </a:prstGeom>
        </p:spPr>
      </p:pic>
      <p:pic>
        <p:nvPicPr>
          <p:cNvPr id="11" name="图形 10" descr="右箭头 轮廓">
            <a:extLst>
              <a:ext uri="{FF2B5EF4-FFF2-40B4-BE49-F238E27FC236}">
                <a16:creationId xmlns:a16="http://schemas.microsoft.com/office/drawing/2014/main" id="{4F70E36B-62A0-560C-7478-76A555BB8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905" y="3558459"/>
            <a:ext cx="914400" cy="914400"/>
          </a:xfrm>
          <a:prstGeom prst="rect">
            <a:avLst/>
          </a:prstGeom>
        </p:spPr>
      </p:pic>
      <p:pic>
        <p:nvPicPr>
          <p:cNvPr id="12" name="图形 11" descr="右箭头 轮廓">
            <a:extLst>
              <a:ext uri="{FF2B5EF4-FFF2-40B4-BE49-F238E27FC236}">
                <a16:creationId xmlns:a16="http://schemas.microsoft.com/office/drawing/2014/main" id="{1DDB9694-71EE-C9A0-E49C-8CA5498261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7789" y="4076083"/>
            <a:ext cx="914400" cy="914400"/>
          </a:xfrm>
          <a:prstGeom prst="rect">
            <a:avLst/>
          </a:prstGeom>
        </p:spPr>
      </p:pic>
      <p:pic>
        <p:nvPicPr>
          <p:cNvPr id="13" name="图形 12" descr="右箭头 轮廓">
            <a:extLst>
              <a:ext uri="{FF2B5EF4-FFF2-40B4-BE49-F238E27FC236}">
                <a16:creationId xmlns:a16="http://schemas.microsoft.com/office/drawing/2014/main" id="{877F0E79-79F5-D4D9-DB49-0942D4735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9853" y="3772205"/>
            <a:ext cx="914400" cy="914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4365BD6-7A0D-FD4A-F9B6-8A933A6E1521}"/>
              </a:ext>
            </a:extLst>
          </p:cNvPr>
          <p:cNvSpPr txBox="1"/>
          <p:nvPr/>
        </p:nvSpPr>
        <p:spPr>
          <a:xfrm>
            <a:off x="7328406" y="3717725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1E5233-E514-D7D7-5368-CB210D208000}"/>
              </a:ext>
            </a:extLst>
          </p:cNvPr>
          <p:cNvSpPr txBox="1"/>
          <p:nvPr/>
        </p:nvSpPr>
        <p:spPr>
          <a:xfrm>
            <a:off x="7328911" y="4309846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0060CD-37EC-2C0E-AAA6-CC028601F82A}"/>
              </a:ext>
            </a:extLst>
          </p:cNvPr>
          <p:cNvSpPr txBox="1"/>
          <p:nvPr/>
        </p:nvSpPr>
        <p:spPr>
          <a:xfrm>
            <a:off x="10474789" y="4025075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pic>
        <p:nvPicPr>
          <p:cNvPr id="17" name="图形 16" descr="广告 轮廓">
            <a:extLst>
              <a:ext uri="{FF2B5EF4-FFF2-40B4-BE49-F238E27FC236}">
                <a16:creationId xmlns:a16="http://schemas.microsoft.com/office/drawing/2014/main" id="{2CB28B60-6C27-6F6B-6DF5-CC22A1D6D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0841" y="5135095"/>
            <a:ext cx="1059012" cy="1059012"/>
          </a:xfrm>
          <a:prstGeom prst="rect">
            <a:avLst/>
          </a:prstGeom>
        </p:spPr>
      </p:pic>
      <p:pic>
        <p:nvPicPr>
          <p:cNvPr id="18" name="图形 17" descr="右箭头 轮廓">
            <a:extLst>
              <a:ext uri="{FF2B5EF4-FFF2-40B4-BE49-F238E27FC236}">
                <a16:creationId xmlns:a16="http://schemas.microsoft.com/office/drawing/2014/main" id="{2D5A7979-BD60-5821-3176-C18B93225F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7789" y="4932413"/>
            <a:ext cx="914400" cy="914400"/>
          </a:xfrm>
          <a:prstGeom prst="rect">
            <a:avLst/>
          </a:prstGeom>
        </p:spPr>
      </p:pic>
      <p:pic>
        <p:nvPicPr>
          <p:cNvPr id="19" name="图形 18" descr="右箭头 轮廓">
            <a:extLst>
              <a:ext uri="{FF2B5EF4-FFF2-40B4-BE49-F238E27FC236}">
                <a16:creationId xmlns:a16="http://schemas.microsoft.com/office/drawing/2014/main" id="{29FC36F2-6813-44EB-6F39-9E98B46FC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7789" y="5438973"/>
            <a:ext cx="914400" cy="914400"/>
          </a:xfrm>
          <a:prstGeom prst="rect">
            <a:avLst/>
          </a:prstGeom>
        </p:spPr>
      </p:pic>
      <p:pic>
        <p:nvPicPr>
          <p:cNvPr id="20" name="图形 19" descr="右箭头 轮廓">
            <a:extLst>
              <a:ext uri="{FF2B5EF4-FFF2-40B4-BE49-F238E27FC236}">
                <a16:creationId xmlns:a16="http://schemas.microsoft.com/office/drawing/2014/main" id="{1948CB1E-27F8-6575-9D64-799650C81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9853" y="5135095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6659E71-867E-6D39-AB73-C42C4741AD13}"/>
              </a:ext>
            </a:extLst>
          </p:cNvPr>
          <p:cNvSpPr txBox="1"/>
          <p:nvPr/>
        </p:nvSpPr>
        <p:spPr>
          <a:xfrm>
            <a:off x="7359223" y="5130630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D35BF7-3DF2-B038-1083-40E2F9109EB7}"/>
              </a:ext>
            </a:extLst>
          </p:cNvPr>
          <p:cNvSpPr txBox="1"/>
          <p:nvPr/>
        </p:nvSpPr>
        <p:spPr>
          <a:xfrm>
            <a:off x="7359223" y="5660537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pic>
        <p:nvPicPr>
          <p:cNvPr id="23" name="图形 22" descr="广告 轮廓">
            <a:extLst>
              <a:ext uri="{FF2B5EF4-FFF2-40B4-BE49-F238E27FC236}">
                <a16:creationId xmlns:a16="http://schemas.microsoft.com/office/drawing/2014/main" id="{D1691CCB-4790-0071-C139-BE1C80776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1658" y="2369988"/>
            <a:ext cx="1059012" cy="1059012"/>
          </a:xfrm>
          <a:prstGeom prst="rect">
            <a:avLst/>
          </a:prstGeom>
        </p:spPr>
      </p:pic>
      <p:pic>
        <p:nvPicPr>
          <p:cNvPr id="24" name="图形 23" descr="右箭头 轮廓">
            <a:extLst>
              <a:ext uri="{FF2B5EF4-FFF2-40B4-BE49-F238E27FC236}">
                <a16:creationId xmlns:a16="http://schemas.microsoft.com/office/drawing/2014/main" id="{0E42058A-C192-B3BC-4C73-24C057203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606" y="2167306"/>
            <a:ext cx="914400" cy="914400"/>
          </a:xfrm>
          <a:prstGeom prst="rect">
            <a:avLst/>
          </a:prstGeom>
        </p:spPr>
      </p:pic>
      <p:pic>
        <p:nvPicPr>
          <p:cNvPr id="25" name="图形 24" descr="右箭头 轮廓">
            <a:extLst>
              <a:ext uri="{FF2B5EF4-FFF2-40B4-BE49-F238E27FC236}">
                <a16:creationId xmlns:a16="http://schemas.microsoft.com/office/drawing/2014/main" id="{B8714B9A-CBC1-7728-3213-14248C300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606" y="2673866"/>
            <a:ext cx="914400" cy="914400"/>
          </a:xfrm>
          <a:prstGeom prst="rect">
            <a:avLst/>
          </a:prstGeom>
        </p:spPr>
      </p:pic>
      <p:pic>
        <p:nvPicPr>
          <p:cNvPr id="26" name="图形 25" descr="右箭头 轮廓">
            <a:extLst>
              <a:ext uri="{FF2B5EF4-FFF2-40B4-BE49-F238E27FC236}">
                <a16:creationId xmlns:a16="http://schemas.microsoft.com/office/drawing/2014/main" id="{9E1E9447-FB85-3B2A-7141-DF73C4400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0670" y="2369988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7FA5FF0-9802-A9C4-963C-CEBA0308AD4F}"/>
              </a:ext>
            </a:extLst>
          </p:cNvPr>
          <p:cNvSpPr txBox="1"/>
          <p:nvPr/>
        </p:nvSpPr>
        <p:spPr>
          <a:xfrm>
            <a:off x="7367859" y="2404195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8B69BF-FE49-C3A1-DE13-A3D76B098D29}"/>
              </a:ext>
            </a:extLst>
          </p:cNvPr>
          <p:cNvSpPr txBox="1"/>
          <p:nvPr/>
        </p:nvSpPr>
        <p:spPr>
          <a:xfrm>
            <a:off x="7359223" y="2946400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15C9756-35E4-89FE-8AB5-94E41FCA5599}"/>
              </a:ext>
            </a:extLst>
          </p:cNvPr>
          <p:cNvSpPr txBox="1"/>
          <p:nvPr/>
        </p:nvSpPr>
        <p:spPr>
          <a:xfrm>
            <a:off x="10473263" y="5379368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2D66655-806A-CB1D-E940-B8004DB20A59}"/>
              </a:ext>
            </a:extLst>
          </p:cNvPr>
          <p:cNvSpPr txBox="1"/>
          <p:nvPr/>
        </p:nvSpPr>
        <p:spPr>
          <a:xfrm>
            <a:off x="10504253" y="2648674"/>
            <a:ext cx="8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0838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9830D-107C-9BF8-CB5E-E755497B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49A4E-8E61-105B-87B7-711AEF18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二、计算机的基本组成（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79D4A-B77F-6D02-540C-4CDDB200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89891"/>
            <a:ext cx="6385221" cy="1773593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五个核心组成部分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endParaRPr lang="en-US" altLang="zh-CN" sz="18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3B2699-7898-F728-7E38-D49CDBBB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579" y="2374450"/>
            <a:ext cx="7896841" cy="382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C4251-9623-AEB1-7FB7-EE6D2647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F3213-AAC5-65CC-9CD2-4F36030E2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二、计算机的基本组成（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D8DF84-D96C-18C1-E51C-52D9739A7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89891"/>
            <a:ext cx="6385221" cy="1773593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两个基本功能</a:t>
            </a:r>
            <a:endParaRPr lang="en-US" altLang="zh-CN" sz="1800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6369E8-84AF-485A-15F3-290EFC87C9AE}"/>
              </a:ext>
            </a:extLst>
          </p:cNvPr>
          <p:cNvSpPr txBox="1"/>
          <p:nvPr/>
        </p:nvSpPr>
        <p:spPr>
          <a:xfrm>
            <a:off x="593513" y="2824820"/>
            <a:ext cx="110049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冯</a:t>
            </a:r>
            <a:r>
              <a:rPr lang="en-US" altLang="zh-CN" dirty="0"/>
              <a:t>·</a:t>
            </a:r>
            <a:r>
              <a:rPr lang="zh-CN" altLang="en-US" dirty="0"/>
              <a:t>诺依曼体系结构的工作原理可以概括为“存储程序”和“程序控制”：</a:t>
            </a:r>
          </a:p>
          <a:p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存储程序：将程序和数据以二进制代码的形式预先存储在存储器中。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程序控制：计算机在运行时，控制器从存储器中逐条取出指令，进行译码，并根据指令控制运算器、存储器、输入设备和输出设备协同工作，完成程序规定的任务。</a:t>
            </a:r>
          </a:p>
        </p:txBody>
      </p:sp>
    </p:spTree>
    <p:extLst>
      <p:ext uri="{BB962C8B-B14F-4D97-AF65-F5344CB8AC3E}">
        <p14:creationId xmlns:p14="http://schemas.microsoft.com/office/powerpoint/2010/main" val="41922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F12-4DDE-0849-072C-6C7A101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2C733-3636-BB01-688C-78434C45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三、数据表示和运算（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BED31-3B76-FBDD-58BF-40DFD9DD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49928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进制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endParaRPr lang="zh-CN" altLang="en-US" sz="18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7F7A0-C16B-6BC0-3A78-17E2DFE8CC85}"/>
              </a:ext>
            </a:extLst>
          </p:cNvPr>
          <p:cNvSpPr txBox="1"/>
          <p:nvPr/>
        </p:nvSpPr>
        <p:spPr>
          <a:xfrm>
            <a:off x="679958" y="2321004"/>
            <a:ext cx="5187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阴爻（</a:t>
            </a:r>
            <a:r>
              <a:rPr lang="en-US" altLang="zh-CN" dirty="0"/>
              <a:t>- -</a:t>
            </a:r>
            <a:r>
              <a:rPr lang="zh-CN" altLang="en-US" dirty="0"/>
              <a:t>）</a:t>
            </a:r>
            <a:r>
              <a:rPr lang="en-US" altLang="zh-CN" dirty="0"/>
              <a:t>= 0</a:t>
            </a:r>
          </a:p>
          <a:p>
            <a:r>
              <a:rPr lang="zh-CN" altLang="en-US" dirty="0"/>
              <a:t>阳爻（</a:t>
            </a:r>
            <a:r>
              <a:rPr lang="en-US" altLang="zh-CN" dirty="0"/>
              <a:t>—</a:t>
            </a:r>
            <a:r>
              <a:rPr lang="zh-CN" altLang="en-US" dirty="0"/>
              <a:t>）</a:t>
            </a:r>
            <a:r>
              <a:rPr lang="en-US" altLang="zh-CN" dirty="0"/>
              <a:t>= 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D380CC-BDDF-5B53-03E1-491E863E3BB9}"/>
              </a:ext>
            </a:extLst>
          </p:cNvPr>
          <p:cNvSpPr txBox="1"/>
          <p:nvPr/>
        </p:nvSpPr>
        <p:spPr>
          <a:xfrm>
            <a:off x="679958" y="3429000"/>
            <a:ext cx="54160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德国数学家莱布尼茨发明二进制，后来看到伏羲先天八卦图，惊奇发现：</a:t>
            </a:r>
            <a:endParaRPr lang="en-US" altLang="zh-CN" dirty="0"/>
          </a:p>
          <a:p>
            <a:r>
              <a:rPr lang="zh-CN" altLang="en-US" dirty="0"/>
              <a:t>八卦排列逻辑 </a:t>
            </a:r>
            <a:r>
              <a:rPr lang="en-US" altLang="zh-CN" dirty="0"/>
              <a:t>= </a:t>
            </a:r>
            <a:r>
              <a:rPr lang="zh-CN" altLang="en-US" dirty="0"/>
              <a:t>自己发明的二进制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他惊叹：中国人几千年前就懂二进制思维。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091AF2D-30A4-7C5D-BAB2-EFD01F67E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717900"/>
              </p:ext>
            </p:extLst>
          </p:nvPr>
        </p:nvGraphicFramePr>
        <p:xfrm>
          <a:off x="6940804" y="2076070"/>
          <a:ext cx="4406392" cy="3975947"/>
        </p:xfrm>
        <a:graphic>
          <a:graphicData uri="http://schemas.openxmlformats.org/drawingml/2006/table">
            <a:tbl>
              <a:tblPr/>
              <a:tblGrid>
                <a:gridCol w="671087">
                  <a:extLst>
                    <a:ext uri="{9D8B030D-6E8A-4147-A177-3AD203B41FA5}">
                      <a16:colId xmlns:a16="http://schemas.microsoft.com/office/drawing/2014/main" val="2880063002"/>
                    </a:ext>
                  </a:extLst>
                </a:gridCol>
                <a:gridCol w="582302">
                  <a:extLst>
                    <a:ext uri="{9D8B030D-6E8A-4147-A177-3AD203B41FA5}">
                      <a16:colId xmlns:a16="http://schemas.microsoft.com/office/drawing/2014/main" val="563832993"/>
                    </a:ext>
                  </a:extLst>
                </a:gridCol>
                <a:gridCol w="1248032">
                  <a:extLst>
                    <a:ext uri="{9D8B030D-6E8A-4147-A177-3AD203B41FA5}">
                      <a16:colId xmlns:a16="http://schemas.microsoft.com/office/drawing/2014/main" val="2254696014"/>
                    </a:ext>
                  </a:extLst>
                </a:gridCol>
                <a:gridCol w="804212">
                  <a:extLst>
                    <a:ext uri="{9D8B030D-6E8A-4147-A177-3AD203B41FA5}">
                      <a16:colId xmlns:a16="http://schemas.microsoft.com/office/drawing/2014/main" val="275942993"/>
                    </a:ext>
                  </a:extLst>
                </a:gridCol>
                <a:gridCol w="1100759">
                  <a:extLst>
                    <a:ext uri="{9D8B030D-6E8A-4147-A177-3AD203B41FA5}">
                      <a16:colId xmlns:a16="http://schemas.microsoft.com/office/drawing/2014/main" val="4215335964"/>
                    </a:ext>
                  </a:extLst>
                </a:gridCol>
              </a:tblGrid>
              <a:tr h="516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卦名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卦符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下中上三爻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二进制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十进制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721858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坤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☷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0 0 0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000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871328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艮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☶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0 0 1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001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320936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坎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☵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0 1 0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010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2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20595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巽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☴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0 1 1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011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3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418301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震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☳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1 0 0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100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4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600068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离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☲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1 0 1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101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5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949357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兑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☱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1 1 0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110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6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34023"/>
                  </a:ext>
                </a:extLst>
              </a:tr>
              <a:tr h="432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乾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</a:rPr>
                        <a:t>☰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1 1 1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</a:rPr>
                        <a:t>111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7</a:t>
                      </a:r>
                    </a:p>
                  </a:txBody>
                  <a:tcPr marL="37197" marR="37197" marT="37197" marB="3719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51682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98C1C1A4-9C62-BAD6-6632-A39AB4EA8947}"/>
              </a:ext>
            </a:extLst>
          </p:cNvPr>
          <p:cNvSpPr txBox="1"/>
          <p:nvPr/>
        </p:nvSpPr>
        <p:spPr>
          <a:xfrm>
            <a:off x="679958" y="58259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有趣的二进制计数器，巧妙的木制结构～</a:t>
            </a:r>
            <a:r>
              <a:rPr lang="en-US" altLang="zh-CN" b="1" dirty="0"/>
              <a:t>.mp4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957676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2E4E8-148D-6016-D28E-6A9DDE60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23598-9F9D-0DB6-A347-69469695E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三、数据表示和运算（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CF679-0EB4-32C0-8A37-6D73A0D98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18522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编码</a:t>
            </a:r>
            <a:endParaRPr lang="en-US" altLang="zh-CN" sz="18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F387E4-EDAD-1630-EC52-0B0CCA710C76}"/>
              </a:ext>
            </a:extLst>
          </p:cNvPr>
          <p:cNvSpPr txBox="1"/>
          <p:nvPr/>
        </p:nvSpPr>
        <p:spPr>
          <a:xfrm>
            <a:off x="509016" y="2274838"/>
            <a:ext cx="10527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编码实现二进制的核心逻辑：将字符 </a:t>
            </a:r>
            <a:r>
              <a:rPr lang="en-US" altLang="zh-CN" dirty="0"/>
              <a:t>/ </a:t>
            </a:r>
            <a:r>
              <a:rPr lang="zh-CN" altLang="en-US" dirty="0"/>
              <a:t>指令映射为固定长度的二进制数字串。</a:t>
            </a:r>
          </a:p>
          <a:p>
            <a:endParaRPr lang="zh-CN" altLang="en-US" dirty="0"/>
          </a:p>
          <a:p>
            <a:r>
              <a:rPr lang="zh-CN" altLang="en-US" dirty="0"/>
              <a:t>简单说两步：</a:t>
            </a:r>
          </a:p>
          <a:p>
            <a:endParaRPr lang="zh-CN" altLang="en-US" dirty="0"/>
          </a:p>
          <a:p>
            <a:pPr marL="342900" indent="-342900">
              <a:buAutoNum type="arabicPeriod"/>
            </a:pPr>
            <a:r>
              <a:rPr lang="zh-CN" altLang="en-US" dirty="0"/>
              <a:t>建立</a:t>
            </a:r>
            <a:r>
              <a:rPr lang="zh-CN" altLang="en-US" b="1" dirty="0"/>
              <a:t>映射规则</a:t>
            </a:r>
            <a:r>
              <a:rPr lang="zh-CN" altLang="en-US" dirty="0"/>
              <a:t>（如 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UTF-8</a:t>
            </a:r>
            <a:r>
              <a:rPr lang="zh-CN" altLang="en-US" dirty="0"/>
              <a:t>），给每个字符分配唯一二进制编号</a:t>
            </a:r>
            <a:endParaRPr lang="en-US" altLang="zh-CN" dirty="0"/>
          </a:p>
          <a:p>
            <a:r>
              <a:rPr lang="zh-CN" altLang="en-US" dirty="0"/>
              <a:t>（例：</a:t>
            </a:r>
            <a:r>
              <a:rPr lang="en-US" altLang="zh-CN" dirty="0"/>
              <a:t>ASCII </a:t>
            </a:r>
            <a:r>
              <a:rPr lang="zh-CN" altLang="en-US" dirty="0"/>
              <a:t>中 “</a:t>
            </a:r>
            <a:r>
              <a:rPr lang="en-US" altLang="zh-CN" dirty="0"/>
              <a:t>A” </a:t>
            </a:r>
            <a:r>
              <a:rPr lang="zh-CN" altLang="en-US" dirty="0"/>
              <a:t>对应</a:t>
            </a:r>
            <a:r>
              <a:rPr lang="en-US" altLang="zh-CN" dirty="0"/>
              <a:t> </a:t>
            </a:r>
            <a:r>
              <a:rPr lang="en-US" altLang="zh-CN" b="1" dirty="0"/>
              <a:t>01000001</a:t>
            </a:r>
            <a:r>
              <a:rPr lang="zh-CN" altLang="en-US" dirty="0"/>
              <a:t>）；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2. </a:t>
            </a:r>
            <a:r>
              <a:rPr lang="zh-CN" altLang="en-US" dirty="0"/>
              <a:t>存储或传输时，用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的组合替代原字符，读取时反向查表还原。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68AFAF-95CC-662C-A0C4-5E7039F0A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79359"/>
              </p:ext>
            </p:extLst>
          </p:nvPr>
        </p:nvGraphicFramePr>
        <p:xfrm>
          <a:off x="521208" y="5029400"/>
          <a:ext cx="6619875" cy="1165860"/>
        </p:xfrm>
        <a:graphic>
          <a:graphicData uri="http://schemas.openxmlformats.org/drawingml/2006/table">
            <a:tbl>
              <a:tblPr/>
              <a:tblGrid>
                <a:gridCol w="2206625">
                  <a:extLst>
                    <a:ext uri="{9D8B030D-6E8A-4147-A177-3AD203B41FA5}">
                      <a16:colId xmlns:a16="http://schemas.microsoft.com/office/drawing/2014/main" val="820628918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3663460703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1294914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字符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十进制值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二进制编码（</a:t>
                      </a:r>
                      <a:r>
                        <a:rPr lang="en-US" altLang="zh-CN" b="1">
                          <a:effectLst/>
                        </a:rPr>
                        <a:t>8 </a:t>
                      </a:r>
                      <a:r>
                        <a:rPr lang="zh-CN" altLang="en-US" b="1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46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65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effectLst/>
                        </a:rPr>
                        <a:t>01000001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59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66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01000010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31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80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6CA2-AC0E-61E1-CE8D-F38A4ACF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3FA3B-6704-9E5A-33E2-BB370126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三、数据表示和运算（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661D2-4DA9-27FD-DDBD-1F1E906FA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449785"/>
            <a:ext cx="11155680" cy="18522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编码</a:t>
            </a:r>
            <a:endParaRPr lang="en-US" altLang="zh-CN" sz="18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2D3C23-2EA5-B5A3-5CF4-275A94DA75A8}"/>
              </a:ext>
            </a:extLst>
          </p:cNvPr>
          <p:cNvSpPr txBox="1"/>
          <p:nvPr/>
        </p:nvSpPr>
        <p:spPr>
          <a:xfrm>
            <a:off x="515112" y="2224942"/>
            <a:ext cx="65176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凯撒密码（古典密码）</a:t>
            </a:r>
            <a:endParaRPr lang="en-US" altLang="zh-CN" dirty="0"/>
          </a:p>
          <a:p>
            <a:r>
              <a:rPr lang="zh-CN" altLang="en-US" dirty="0"/>
              <a:t>最早最简单的移位加密，古罗马凯撒大帝打仗用来传密信。</a:t>
            </a:r>
            <a:endParaRPr lang="en-US" altLang="zh-CN" dirty="0"/>
          </a:p>
          <a:p>
            <a:r>
              <a:rPr lang="zh-CN" altLang="en-US" dirty="0"/>
              <a:t>原理：字母整体向后挪固定位数</a:t>
            </a:r>
          </a:p>
          <a:p>
            <a:endParaRPr lang="en-US" altLang="zh-CN" dirty="0"/>
          </a:p>
          <a:p>
            <a:r>
              <a:rPr lang="zh-CN" altLang="en-US" dirty="0"/>
              <a:t>通用规则</a:t>
            </a:r>
          </a:p>
          <a:p>
            <a:r>
              <a:rPr lang="zh-CN" altLang="en-US" dirty="0"/>
              <a:t>默认最常用：偏移 </a:t>
            </a:r>
            <a:r>
              <a:rPr lang="en-US" altLang="zh-CN" dirty="0"/>
              <a:t>3 </a:t>
            </a:r>
            <a:r>
              <a:rPr lang="zh-CN" altLang="en-US" dirty="0"/>
              <a:t>位 </a:t>
            </a:r>
            <a:r>
              <a:rPr lang="en-US" altLang="zh-CN" dirty="0"/>
              <a:t>A→D B→E C→F ……X→A Y→B Z→C</a:t>
            </a:r>
          </a:p>
          <a:p>
            <a:r>
              <a:rPr lang="zh-CN" altLang="en-US" dirty="0"/>
              <a:t>明文（原字）→ 密文（密码）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向前挪 </a:t>
            </a:r>
            <a:r>
              <a:rPr lang="en-US" altLang="zh-CN" dirty="0"/>
              <a:t>3 </a:t>
            </a:r>
            <a:r>
              <a:rPr lang="zh-CN" altLang="en-US" dirty="0"/>
              <a:t>位 </a:t>
            </a:r>
            <a:r>
              <a:rPr lang="en-US" altLang="zh-CN" dirty="0"/>
              <a:t>= </a:t>
            </a:r>
            <a:r>
              <a:rPr lang="zh-CN" altLang="en-US" dirty="0"/>
              <a:t>加密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向后挪 </a:t>
            </a:r>
            <a:r>
              <a:rPr lang="en-US" altLang="zh-CN" dirty="0"/>
              <a:t>3 </a:t>
            </a:r>
            <a:r>
              <a:rPr lang="zh-CN" altLang="en-US" dirty="0"/>
              <a:t>位 </a:t>
            </a:r>
            <a:r>
              <a:rPr lang="en-US" altLang="zh-CN" dirty="0"/>
              <a:t>= </a:t>
            </a:r>
            <a:r>
              <a:rPr lang="zh-CN" altLang="en-US" dirty="0"/>
              <a:t>解密</a:t>
            </a:r>
          </a:p>
          <a:p>
            <a:endParaRPr lang="en-US" altLang="zh-CN" dirty="0"/>
          </a:p>
          <a:p>
            <a:r>
              <a:rPr lang="zh-CN" altLang="en-US" dirty="0"/>
              <a:t>举例</a:t>
            </a:r>
          </a:p>
          <a:p>
            <a:r>
              <a:rPr lang="zh-CN" altLang="en-US" dirty="0"/>
              <a:t>明文：</a:t>
            </a:r>
            <a:r>
              <a:rPr lang="en-US" altLang="zh-CN" dirty="0"/>
              <a:t>HELLO</a:t>
            </a:r>
            <a:r>
              <a:rPr lang="zh-CN" altLang="en-US" dirty="0"/>
              <a:t>偏移 </a:t>
            </a:r>
            <a:r>
              <a:rPr lang="en-US" altLang="zh-CN" dirty="0"/>
              <a:t>3 </a:t>
            </a:r>
            <a:r>
              <a:rPr lang="zh-CN" altLang="en-US" dirty="0"/>
              <a:t>位：</a:t>
            </a:r>
            <a:r>
              <a:rPr lang="en-US" altLang="zh-CN" dirty="0"/>
              <a:t>H→K E→H L→O </a:t>
            </a:r>
            <a:r>
              <a:rPr lang="en-US" altLang="zh-CN" dirty="0" err="1"/>
              <a:t>L→O</a:t>
            </a:r>
            <a:r>
              <a:rPr lang="en-US" altLang="zh-CN" dirty="0"/>
              <a:t> O→R</a:t>
            </a:r>
          </a:p>
          <a:p>
            <a:r>
              <a:rPr lang="zh-CN" altLang="en-US" dirty="0"/>
              <a:t>密文：</a:t>
            </a:r>
            <a:r>
              <a:rPr lang="en-US" altLang="zh-CN" dirty="0"/>
              <a:t>KHOOR</a:t>
            </a:r>
          </a:p>
          <a:p>
            <a:r>
              <a:rPr lang="zh-CN" altLang="en-US" dirty="0"/>
              <a:t>解密：</a:t>
            </a:r>
            <a:r>
              <a:rPr lang="en-US" altLang="zh-CN" dirty="0"/>
              <a:t>KHOOR </a:t>
            </a:r>
            <a:r>
              <a:rPr lang="zh-CN" altLang="en-US" dirty="0"/>
              <a:t>往前退 </a:t>
            </a:r>
            <a:r>
              <a:rPr lang="en-US" altLang="zh-CN" dirty="0"/>
              <a:t>3 </a:t>
            </a:r>
            <a:r>
              <a:rPr lang="zh-CN" altLang="en-US" dirty="0"/>
              <a:t>位 → </a:t>
            </a:r>
            <a:r>
              <a:rPr lang="en-US" altLang="zh-CN" dirty="0"/>
              <a:t>HELLO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BF84A4-FF2E-6A6F-C873-8EFC833D4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066" y="3069502"/>
            <a:ext cx="2778298" cy="3581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AF887E-DCFC-FE36-4BE3-4A17E8B46C52}"/>
              </a:ext>
            </a:extLst>
          </p:cNvPr>
          <p:cNvSpPr txBox="1"/>
          <p:nvPr/>
        </p:nvSpPr>
        <p:spPr>
          <a:xfrm>
            <a:off x="7505146" y="1712032"/>
            <a:ext cx="3238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公式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加密：字母序号 </a:t>
            </a:r>
            <a:r>
              <a:rPr lang="en-US" altLang="zh-CN" dirty="0"/>
              <a:t>+ </a:t>
            </a:r>
            <a:r>
              <a:rPr lang="zh-CN" altLang="en-US" dirty="0"/>
              <a:t>偏移数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解密：字母序号 </a:t>
            </a:r>
            <a:r>
              <a:rPr lang="en-US" altLang="zh-CN" dirty="0"/>
              <a:t>- </a:t>
            </a:r>
            <a:r>
              <a:rPr lang="zh-CN" altLang="en-US" dirty="0"/>
              <a:t>偏移数</a:t>
            </a:r>
            <a:endParaRPr lang="en-US" altLang="zh-CN" dirty="0"/>
          </a:p>
          <a:p>
            <a:r>
              <a:rPr lang="zh-CN" altLang="en-US" dirty="0"/>
              <a:t>超出 </a:t>
            </a:r>
            <a:r>
              <a:rPr lang="en-US" altLang="zh-CN" dirty="0"/>
              <a:t>26 </a:t>
            </a:r>
            <a:r>
              <a:rPr lang="zh-CN" altLang="en-US" dirty="0"/>
              <a:t>个字母就循环从头来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591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20B61-FD53-9740-DF33-03EBB8DB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054E0-17AF-9BAF-70C9-D041CA5F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三、数据表示和运算（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ED22F-9C2E-DB4F-6B4C-8E9F48364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7092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编码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4F6A3C-D057-67E5-F4A2-44C6A4F1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092741"/>
            <a:ext cx="5108682" cy="17569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1C4B811-3B3A-C357-17C2-39FA0CBF8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654" y="1973356"/>
            <a:ext cx="4706903" cy="17569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B1BDC4-672F-58CB-4BBE-26B081FDE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12" y="4494911"/>
            <a:ext cx="5114778" cy="16499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16FBA8-A4E7-D2EC-5CF7-239CD36C0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654" y="4305260"/>
            <a:ext cx="4506355" cy="18609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5FDAE36-E0BE-FB83-9FEC-10D436B723CA}"/>
              </a:ext>
            </a:extLst>
          </p:cNvPr>
          <p:cNvSpPr txBox="1"/>
          <p:nvPr/>
        </p:nvSpPr>
        <p:spPr>
          <a:xfrm>
            <a:off x="515112" y="39359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①从你家拉一要电线到朋友家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C91AC3-CB7F-CEA6-0AE6-416F5577DCAE}"/>
              </a:ext>
            </a:extLst>
          </p:cNvPr>
          <p:cNvSpPr txBox="1"/>
          <p:nvPr/>
        </p:nvSpPr>
        <p:spPr>
          <a:xfrm>
            <a:off x="6435201" y="3833256"/>
            <a:ext cx="4305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②从朋友家再拉一根电线到自己家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D4BCF1-D0EF-B51B-D051-0804DCABF9FC}"/>
              </a:ext>
            </a:extLst>
          </p:cNvPr>
          <p:cNvSpPr txBox="1"/>
          <p:nvPr/>
        </p:nvSpPr>
        <p:spPr>
          <a:xfrm>
            <a:off x="515112" y="6144839"/>
            <a:ext cx="530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③你发现电线似乎有点小贵，想着节省一点是一点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D16E9B5-ECFA-D40B-7A32-95CB984B94CE}"/>
              </a:ext>
            </a:extLst>
          </p:cNvPr>
          <p:cNvSpPr txBox="1"/>
          <p:nvPr/>
        </p:nvSpPr>
        <p:spPr>
          <a:xfrm>
            <a:off x="6428476" y="6144839"/>
            <a:ext cx="530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④节省到最后就成这样了</a:t>
            </a:r>
          </a:p>
        </p:txBody>
      </p:sp>
    </p:spTree>
    <p:extLst>
      <p:ext uri="{BB962C8B-B14F-4D97-AF65-F5344CB8AC3E}">
        <p14:creationId xmlns:p14="http://schemas.microsoft.com/office/powerpoint/2010/main" val="2904931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9AA9-3CFE-E674-329B-BE969778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8F87B3EE-5AD5-0B38-5459-BAC70CF53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397" y="3200045"/>
            <a:ext cx="4076395" cy="30015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E1B4B18-2DBC-0018-264A-284B8F92B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三、数据表示和运算（</a:t>
            </a:r>
            <a:r>
              <a:rPr lang="en-US" altLang="zh-CN" sz="4400" dirty="0"/>
              <a:t>5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4F47F1-FF7A-3667-316B-9775413CF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7092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运算</a:t>
            </a:r>
            <a:r>
              <a:rPr lang="en-US" altLang="zh-CN" sz="1800" dirty="0">
                <a:latin typeface="+mn-ea"/>
              </a:rPr>
              <a:t>——</a:t>
            </a:r>
            <a:r>
              <a:rPr lang="zh-CN" altLang="en-US" sz="1800" dirty="0"/>
              <a:t>十进制和二进制的互相转换</a:t>
            </a:r>
          </a:p>
          <a:p>
            <a:pPr>
              <a:buFont typeface="Wingdings" panose="05000000000000000000" pitchFamily="2" charset="2"/>
              <a:buChar char="l"/>
            </a:pPr>
            <a:endParaRPr lang="zh-CN" altLang="en-US" sz="18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0EAD7B-5188-9BF9-5B75-C6E408664C46}"/>
              </a:ext>
            </a:extLst>
          </p:cNvPr>
          <p:cNvSpPr txBox="1"/>
          <p:nvPr/>
        </p:nvSpPr>
        <p:spPr>
          <a:xfrm>
            <a:off x="515112" y="2987426"/>
            <a:ext cx="75178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进制→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进制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地球人说了一个数字：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硅基星人只懂，要么分成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个，要么不分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于是它就这么算：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第①步：</a:t>
            </a:r>
            <a:r>
              <a:rPr lang="en-US" altLang="zh-CN" dirty="0">
                <a:latin typeface="+mn-ea"/>
              </a:rPr>
              <a:t>5÷2=2</a:t>
            </a:r>
            <a:r>
              <a:rPr lang="zh-CN" altLang="en-US" dirty="0">
                <a:latin typeface="+mn-ea"/>
              </a:rPr>
              <a:t>余</a:t>
            </a:r>
            <a:r>
              <a:rPr lang="en-US" altLang="zh-CN" dirty="0">
                <a:latin typeface="+mn-ea"/>
              </a:rPr>
              <a:t>1</a:t>
            </a:r>
          </a:p>
          <a:p>
            <a:r>
              <a:rPr lang="zh-CN" altLang="en-US" dirty="0">
                <a:latin typeface="+mn-ea"/>
              </a:rPr>
              <a:t>第②步：</a:t>
            </a:r>
            <a:r>
              <a:rPr lang="en-US" altLang="zh-CN" dirty="0">
                <a:latin typeface="+mn-ea"/>
              </a:rPr>
              <a:t>2÷2=1</a:t>
            </a:r>
            <a:r>
              <a:rPr lang="zh-CN" altLang="en-US" dirty="0">
                <a:latin typeface="+mn-ea"/>
              </a:rPr>
              <a:t>余</a:t>
            </a:r>
            <a:r>
              <a:rPr lang="en-US" altLang="zh-CN" dirty="0">
                <a:latin typeface="+mn-ea"/>
              </a:rPr>
              <a:t>0</a:t>
            </a:r>
          </a:p>
          <a:p>
            <a:r>
              <a:rPr lang="zh-CN" altLang="en-US" dirty="0">
                <a:latin typeface="+mn-ea"/>
              </a:rPr>
              <a:t>第③步：</a:t>
            </a:r>
            <a:r>
              <a:rPr lang="en-US" altLang="zh-CN" dirty="0">
                <a:latin typeface="+mn-ea"/>
              </a:rPr>
              <a:t>1÷2=0</a:t>
            </a:r>
            <a:r>
              <a:rPr lang="zh-CN" altLang="en-US" dirty="0">
                <a:latin typeface="+mn-ea"/>
              </a:rPr>
              <a:t>余</a:t>
            </a:r>
            <a:r>
              <a:rPr lang="en-US" altLang="zh-CN" dirty="0">
                <a:latin typeface="+mn-ea"/>
              </a:rPr>
              <a:t>1</a:t>
            </a:r>
          </a:p>
          <a:p>
            <a:r>
              <a:rPr lang="zh-CN" altLang="en-US" dirty="0">
                <a:latin typeface="+mn-ea"/>
              </a:rPr>
              <a:t>最后从下往上把余数排好，硅基星人看懂了，人类说的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是二进制的</a:t>
            </a:r>
            <a:r>
              <a:rPr lang="en-US" altLang="zh-CN" dirty="0">
                <a:latin typeface="+mn-ea"/>
              </a:rPr>
              <a:t>101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75F176-BB5C-D383-FF76-926E2FF76ABD}"/>
              </a:ext>
            </a:extLst>
          </p:cNvPr>
          <p:cNvSpPr txBox="1"/>
          <p:nvPr/>
        </p:nvSpPr>
        <p:spPr>
          <a:xfrm>
            <a:off x="521208" y="534668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硅基星人说了一个数字：</a:t>
            </a:r>
            <a:r>
              <a:rPr lang="en-US" altLang="zh-CN" dirty="0">
                <a:latin typeface="+mn-ea"/>
              </a:rPr>
              <a:t>110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地球人就这么算：</a:t>
            </a:r>
          </a:p>
          <a:p>
            <a:r>
              <a:rPr lang="en-US" altLang="zh-CN" dirty="0">
                <a:latin typeface="+mn-ea"/>
              </a:rPr>
              <a:t>1×(4)+1×(2)+0×(1) =6</a:t>
            </a:r>
          </a:p>
          <a:p>
            <a:r>
              <a:rPr lang="zh-CN" altLang="en-US" dirty="0">
                <a:latin typeface="+mn-ea"/>
              </a:rPr>
              <a:t>最后地球人知道了，二进制的</a:t>
            </a:r>
            <a:r>
              <a:rPr lang="en-US" altLang="zh-CN" dirty="0">
                <a:latin typeface="+mn-ea"/>
              </a:rPr>
              <a:t>110</a:t>
            </a:r>
            <a:r>
              <a:rPr lang="zh-CN" altLang="en-US" dirty="0">
                <a:latin typeface="+mn-ea"/>
              </a:rPr>
              <a:t>就是人类的十进制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13DB85-27D0-7DA3-6BA2-D2D10836287F}"/>
              </a:ext>
            </a:extLst>
          </p:cNvPr>
          <p:cNvSpPr txBox="1"/>
          <p:nvPr/>
        </p:nvSpPr>
        <p:spPr>
          <a:xfrm>
            <a:off x="521208" y="2160237"/>
            <a:ext cx="11149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有一个地球人遇到了一个硅基星人，可硅基星人只懂二进制，不懂人类的十进制。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他们都想看懂对方的数字，怎么办呢？</a:t>
            </a:r>
          </a:p>
        </p:txBody>
      </p:sp>
    </p:spTree>
    <p:extLst>
      <p:ext uri="{BB962C8B-B14F-4D97-AF65-F5344CB8AC3E}">
        <p14:creationId xmlns:p14="http://schemas.microsoft.com/office/powerpoint/2010/main" val="3769611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四、操作系统（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61776" cy="6711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文件的表示</a:t>
            </a:r>
            <a:endParaRPr lang="en-US" altLang="zh-CN" sz="18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F77F11-DF98-0BBE-F671-E8EE93A2726C}"/>
              </a:ext>
            </a:extLst>
          </p:cNvPr>
          <p:cNvSpPr txBox="1"/>
          <p:nvPr/>
        </p:nvSpPr>
        <p:spPr>
          <a:xfrm>
            <a:off x="515112" y="22286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三个功能：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划分文件夹 </a:t>
            </a:r>
            <a:r>
              <a:rPr lang="en-US" altLang="zh-CN" dirty="0"/>
              <a:t>= </a:t>
            </a:r>
            <a:r>
              <a:rPr lang="zh-CN" altLang="en-US" dirty="0"/>
              <a:t>分区域放东西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记录文件位置 </a:t>
            </a:r>
            <a:r>
              <a:rPr lang="en-US" altLang="zh-CN" dirty="0"/>
              <a:t>= </a:t>
            </a:r>
            <a:r>
              <a:rPr lang="zh-CN" altLang="en-US" dirty="0"/>
              <a:t>记清东西放哪一格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改名、删除、移动 </a:t>
            </a:r>
            <a:r>
              <a:rPr lang="en-US" altLang="zh-CN" dirty="0"/>
              <a:t>= </a:t>
            </a:r>
            <a:r>
              <a:rPr lang="zh-CN" altLang="en-US" dirty="0"/>
              <a:t>整理收纳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7E0303-7637-DF08-3E3F-1552F2917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835" y="1741964"/>
            <a:ext cx="3066451" cy="48514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A80F820-5E13-B029-1747-935BF2877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827" y="3626029"/>
            <a:ext cx="3696570" cy="296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17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1D89-9BD1-6B64-8C69-0484DF4A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19B64-6BE8-C33F-1995-6AFF2CFA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四、操作系统（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79BEBA-4997-9DD6-3632-717900E0F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61776" cy="5568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诡异的计算机病毒</a:t>
            </a:r>
            <a:endParaRPr lang="en-US" altLang="zh-CN" sz="18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1DA2B4-847F-9140-CA65-A6634074047B}"/>
              </a:ext>
            </a:extLst>
          </p:cNvPr>
          <p:cNvSpPr txBox="1"/>
          <p:nvPr/>
        </p:nvSpPr>
        <p:spPr>
          <a:xfrm>
            <a:off x="571086" y="32905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[</a:t>
            </a:r>
            <a:r>
              <a:rPr lang="zh-CN" altLang="en-US" b="1" dirty="0"/>
              <a:t>国内首发</a:t>
            </a:r>
            <a:r>
              <a:rPr lang="en-US" altLang="zh-CN" b="1" dirty="0"/>
              <a:t>]</a:t>
            </a:r>
            <a:r>
              <a:rPr lang="zh-CN" altLang="en-US" b="1" dirty="0"/>
              <a:t>当你运行国内第一例电脑病毒 </a:t>
            </a:r>
            <a:r>
              <a:rPr lang="en-US" altLang="zh-CN" b="1" dirty="0"/>
              <a:t>(</a:t>
            </a:r>
            <a:r>
              <a:rPr lang="zh-CN" altLang="en-US" b="1" dirty="0"/>
              <a:t>小球病毒</a:t>
            </a:r>
            <a:r>
              <a:rPr lang="en-US" altLang="zh-CN" b="1" dirty="0"/>
              <a:t>).mp4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CDDEAB-0E1A-A439-6747-9A341C753C77}"/>
              </a:ext>
            </a:extLst>
          </p:cNvPr>
          <p:cNvSpPr txBox="1"/>
          <p:nvPr/>
        </p:nvSpPr>
        <p:spPr>
          <a:xfrm>
            <a:off x="571086" y="2156790"/>
            <a:ext cx="66171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电脑病毒：必须依附文件，自己不能乱跑，靠人点开才传染</a:t>
            </a:r>
          </a:p>
          <a:p>
            <a:r>
              <a:rPr lang="zh-CN" altLang="en-US" dirty="0"/>
              <a:t>蠕虫：不用依附文件，自己主动联网到处钻，自动传播</a:t>
            </a:r>
          </a:p>
          <a:p>
            <a:r>
              <a:rPr lang="zh-CN" altLang="en-US" dirty="0"/>
              <a:t>木马：不自我复制，只偷偷开门偷东西、控电脑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5B12FA-3ADD-1694-9C07-3CD51C0B69D5}"/>
              </a:ext>
            </a:extLst>
          </p:cNvPr>
          <p:cNvSpPr txBox="1"/>
          <p:nvPr/>
        </p:nvSpPr>
        <p:spPr>
          <a:xfrm>
            <a:off x="4705016" y="4073414"/>
            <a:ext cx="69718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古希腊特洛伊战争打了十年，希腊军队久攻不下特洛伊城。</a:t>
            </a:r>
          </a:p>
          <a:p>
            <a:r>
              <a:rPr lang="zh-CN" altLang="en-US" dirty="0"/>
              <a:t>希腊人想出妙计：造一匹巨大的空心木头马，把精锐士兵藏在马肚子里，其余大军假装撤退。</a:t>
            </a:r>
          </a:p>
          <a:p>
            <a:r>
              <a:rPr lang="zh-CN" altLang="en-US" dirty="0"/>
              <a:t>特洛伊人以为木马是敌军留下的祭品战利品，高高兴兴把大木马拖进城里。</a:t>
            </a:r>
          </a:p>
          <a:p>
            <a:r>
              <a:rPr lang="zh-CN" altLang="en-US" dirty="0"/>
              <a:t>深夜全城放松戒备，木马里的士兵悄悄钻出，打开城门，城外埋伏的大军一拥而入，特洛伊城就此沦陷。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0E095E-EA89-769C-F2D0-11880A37D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99" y="3870214"/>
            <a:ext cx="2915987" cy="264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41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DDF7-85A8-FA20-FDED-4633CA0C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CFABA-B908-166E-014B-9CB9CAC1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四、操作系统（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C9C5E-6BD6-A883-0B3D-984CA4CE7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61776" cy="594915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高级语言与低级语言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FEADF6-1F78-E6F7-470D-2A31E127E110}"/>
              </a:ext>
            </a:extLst>
          </p:cNvPr>
          <p:cNvSpPr txBox="1"/>
          <p:nvPr/>
        </p:nvSpPr>
        <p:spPr>
          <a:xfrm>
            <a:off x="515112" y="2172466"/>
            <a:ext cx="74096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主人想让电脑管家帮忙：烧水</a:t>
            </a:r>
          </a:p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低级语言（机器语言 </a:t>
            </a:r>
            <a:r>
              <a:rPr lang="en-US" altLang="zh-CN" dirty="0"/>
              <a:t>/ </a:t>
            </a:r>
            <a:r>
              <a:rPr lang="zh-CN" altLang="en-US" dirty="0"/>
              <a:t>汇编）</a:t>
            </a:r>
          </a:p>
          <a:p>
            <a:r>
              <a:rPr lang="zh-CN" altLang="en-US" dirty="0"/>
              <a:t>主人一字一句下达最细碎指令：</a:t>
            </a:r>
          </a:p>
          <a:p>
            <a:r>
              <a:rPr lang="zh-CN" altLang="en-US" dirty="0"/>
              <a:t>    ①伸出左手</a:t>
            </a:r>
          </a:p>
          <a:p>
            <a:r>
              <a:rPr lang="zh-CN" altLang="en-US" dirty="0"/>
              <a:t>    ②拿起水壶</a:t>
            </a:r>
          </a:p>
          <a:p>
            <a:r>
              <a:rPr lang="zh-CN" altLang="en-US" dirty="0"/>
              <a:t>    ③走到水龙头</a:t>
            </a:r>
          </a:p>
          <a:p>
            <a:r>
              <a:rPr lang="zh-CN" altLang="en-US" dirty="0"/>
              <a:t>    ④拧开水阀接水</a:t>
            </a:r>
          </a:p>
          <a:p>
            <a:r>
              <a:rPr lang="zh-CN" altLang="en-US" dirty="0"/>
              <a:t>    ⑤关掉水阀</a:t>
            </a:r>
          </a:p>
          <a:p>
            <a:r>
              <a:rPr lang="zh-CN" altLang="en-US" dirty="0"/>
              <a:t>    ⑥放到灶台</a:t>
            </a:r>
          </a:p>
          <a:p>
            <a:r>
              <a:rPr lang="zh-CN" altLang="en-US" dirty="0"/>
              <a:t>    ⑦点火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……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一步都不能少，说错一个动作就做错。</a:t>
            </a:r>
          </a:p>
          <a:p>
            <a:endParaRPr lang="zh-CN" altLang="en-US" dirty="0"/>
          </a:p>
          <a:p>
            <a:r>
              <a:rPr lang="zh-CN" altLang="en-US" dirty="0"/>
              <a:t>特点：贴近电脑本能，死板繁琐，人写着很累，电脑一看就懂。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1E00F9-FAE9-DFE1-1FD3-84523721D1B4}"/>
              </a:ext>
            </a:extLst>
          </p:cNvPr>
          <p:cNvSpPr txBox="1"/>
          <p:nvPr/>
        </p:nvSpPr>
        <p:spPr>
          <a:xfrm>
            <a:off x="5867400" y="21717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高级语言（</a:t>
            </a:r>
            <a:r>
              <a:rPr lang="en-US" altLang="zh-CN" dirty="0"/>
              <a:t>Python/C/Java </a:t>
            </a:r>
            <a:r>
              <a:rPr lang="zh-CN" altLang="en-US" dirty="0"/>
              <a:t>等）</a:t>
            </a:r>
          </a:p>
          <a:p>
            <a:r>
              <a:rPr lang="zh-CN" altLang="en-US" dirty="0"/>
              <a:t>主人只说一句话：“帮我煮一碗热汤”</a:t>
            </a:r>
          </a:p>
          <a:p>
            <a:r>
              <a:rPr lang="zh-CN" altLang="en-US" dirty="0"/>
              <a:t>剩下所有举手、放水、开火、关火细节，全都由翻译官自动完成。</a:t>
            </a:r>
          </a:p>
          <a:p>
            <a:r>
              <a:rPr lang="zh-CN" altLang="en-US" dirty="0"/>
              <a:t>特点：贴近人类说话，简单好懂，写起来轻松，需要翻译后电脑才能执行。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ECBA7D-3ACD-48C2-B989-EA0E465FC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033" y="4006216"/>
            <a:ext cx="2305465" cy="233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50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1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1606204"/>
            <a:ext cx="3580892" cy="1479896"/>
          </a:xfrm>
        </p:spPr>
        <p:txBody>
          <a:bodyPr lIns="109728" tIns="109728" rIns="109728" bIns="91440"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排序算法</a:t>
            </a:r>
            <a:endParaRPr lang="en-US" altLang="zh-CN" sz="1800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+mn-ea"/>
              </a:rPr>
              <a:t>数据结构、离散数学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706EE60-89D4-3A3A-CC9B-8DA555220A8D}"/>
              </a:ext>
            </a:extLst>
          </p:cNvPr>
          <p:cNvSpPr txBox="1">
            <a:spLocks/>
          </p:cNvSpPr>
          <p:nvPr/>
        </p:nvSpPr>
        <p:spPr>
          <a:xfrm>
            <a:off x="521208" y="2727614"/>
            <a:ext cx="5691982" cy="1873596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举个音乐数理的例子。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中国历法与音乐的关系核心是 “律历合一”，二者同源于对自然节律的感知，有着共通的数理逻辑与哲学思维，还通过具体制度和工具深度绑定。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2A3540-D14E-0977-CBCC-552369154010}"/>
              </a:ext>
            </a:extLst>
          </p:cNvPr>
          <p:cNvSpPr txBox="1"/>
          <p:nvPr/>
        </p:nvSpPr>
        <p:spPr>
          <a:xfrm>
            <a:off x="521208" y="4769196"/>
            <a:ext cx="5490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律历与相关元素关联图示</a:t>
            </a:r>
          </a:p>
          <a:p>
            <a:endParaRPr lang="zh-CN" altLang="en-US" dirty="0"/>
          </a:p>
          <a:p>
            <a:r>
              <a:rPr lang="zh-CN" altLang="en-US" dirty="0"/>
              <a:t>该图整合了十二律吕、十二地支、月份、二十四节气的对应关系，直观呈现历法与音律的绑定，具体如下：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8A98744-A735-B7CD-81A9-078890C02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204850"/>
              </p:ext>
            </p:extLst>
          </p:nvPr>
        </p:nvGraphicFramePr>
        <p:xfrm>
          <a:off x="6179995" y="1812752"/>
          <a:ext cx="5490796" cy="4765348"/>
        </p:xfrm>
        <a:graphic>
          <a:graphicData uri="http://schemas.openxmlformats.org/drawingml/2006/table">
            <a:tbl>
              <a:tblPr/>
              <a:tblGrid>
                <a:gridCol w="1372699">
                  <a:extLst>
                    <a:ext uri="{9D8B030D-6E8A-4147-A177-3AD203B41FA5}">
                      <a16:colId xmlns:a16="http://schemas.microsoft.com/office/drawing/2014/main" val="2224427173"/>
                    </a:ext>
                  </a:extLst>
                </a:gridCol>
                <a:gridCol w="1372699">
                  <a:extLst>
                    <a:ext uri="{9D8B030D-6E8A-4147-A177-3AD203B41FA5}">
                      <a16:colId xmlns:a16="http://schemas.microsoft.com/office/drawing/2014/main" val="2293194833"/>
                    </a:ext>
                  </a:extLst>
                </a:gridCol>
                <a:gridCol w="1372699">
                  <a:extLst>
                    <a:ext uri="{9D8B030D-6E8A-4147-A177-3AD203B41FA5}">
                      <a16:colId xmlns:a16="http://schemas.microsoft.com/office/drawing/2014/main" val="1262266314"/>
                    </a:ext>
                  </a:extLst>
                </a:gridCol>
                <a:gridCol w="1372699">
                  <a:extLst>
                    <a:ext uri="{9D8B030D-6E8A-4147-A177-3AD203B41FA5}">
                      <a16:colId xmlns:a16="http://schemas.microsoft.com/office/drawing/2014/main" val="1119782568"/>
                    </a:ext>
                  </a:extLst>
                </a:gridCol>
              </a:tblGrid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十二律吕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对应地支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对应农历月份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对应节气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816594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黄钟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子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十一月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冬至、小寒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180200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大吕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丑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十二月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大寒、立春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48054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太簇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寅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正月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雨水、惊蛰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548156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夹钟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卯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二月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春分、清明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202052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姑洗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辰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三月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谷雨、立夏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636832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中吕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巳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四月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小满、芒种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223582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蕤宾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五月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夏至、小暑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702691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林钟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未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六月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大暑、立秋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104511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夷则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申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七月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处暑、白露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719541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南吕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酉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八月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秋分、寒露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37413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无射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戌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九月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霜降、立冬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030525"/>
                  </a:ext>
                </a:extLst>
              </a:tr>
              <a:tr h="24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应钟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亥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十月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小雪、大雪</a:t>
                      </a:r>
                    </a:p>
                  </a:txBody>
                  <a:tcPr marL="87557" marR="87557" marT="43778" marB="437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05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916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F058A-FA0B-84A0-95E8-2AF2D42D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2FAA8-9535-68A2-F43A-82A5FD60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2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5E2600-CE25-0868-E614-A8BC06FA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76785"/>
            <a:ext cx="11289792" cy="1166592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非对称加密（网络通讯）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 一对密钥（公钥加密、私钥解密，反之亦可），</a:t>
            </a:r>
            <a:r>
              <a:rPr lang="zh-CN" altLang="en-US" sz="1800" b="1" dirty="0">
                <a:latin typeface="+mn-ea"/>
              </a:rPr>
              <a:t>公钥公开</a:t>
            </a:r>
            <a:r>
              <a:rPr lang="zh-CN" altLang="en-US" sz="1800" dirty="0">
                <a:latin typeface="+mn-ea"/>
              </a:rPr>
              <a:t>、</a:t>
            </a:r>
            <a:r>
              <a:rPr lang="zh-CN" altLang="en-US" sz="1800" b="1" dirty="0">
                <a:latin typeface="+mn-ea"/>
              </a:rPr>
              <a:t>私钥保密</a:t>
            </a:r>
            <a:r>
              <a:rPr lang="zh-CN" altLang="en-US" sz="1800" dirty="0">
                <a:latin typeface="+mn-ea"/>
              </a:rPr>
              <a:t>，实现安全传输与身份验证。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681E0B-DA99-C8DB-24D4-94E039B40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2705100"/>
            <a:ext cx="5882861" cy="31039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2D9AE1-83D4-298F-AA1D-7CC77008F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596" y="3794763"/>
            <a:ext cx="2715895" cy="200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5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3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576784"/>
            <a:ext cx="11289793" cy="2662575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从前，有个王国叫加密国，里面住着聪明的公主（私钥）和热情的国民（公钥）。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公主有个独门绝技：能打造一种</a:t>
            </a:r>
            <a:r>
              <a:rPr lang="zh-CN" altLang="en-US" sz="1800" b="1" dirty="0">
                <a:latin typeface="+mn-ea"/>
              </a:rPr>
              <a:t>带锁的空盒子</a:t>
            </a:r>
            <a:r>
              <a:rPr lang="zh-CN" altLang="en-US" sz="1800" dirty="0">
                <a:latin typeface="+mn-ea"/>
              </a:rPr>
              <a:t>，这种盒子有个神奇的规矩 </a:t>
            </a:r>
            <a:r>
              <a:rPr lang="en-US" altLang="zh-CN" sz="1800" dirty="0">
                <a:latin typeface="+mn-ea"/>
              </a:rPr>
              <a:t>——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1. </a:t>
            </a:r>
            <a:r>
              <a:rPr lang="zh-CN" altLang="en-US" sz="1800" dirty="0">
                <a:latin typeface="+mn-ea"/>
              </a:rPr>
              <a:t>任何人都能拿到盒子（公钥公开），把想给公主的信放进去，轻轻一扣，盒子就会自动上锁，</a:t>
            </a:r>
            <a:r>
              <a:rPr lang="zh-CN" altLang="en-US" sz="1800" b="1" dirty="0">
                <a:latin typeface="+mn-ea"/>
              </a:rPr>
              <a:t>谁也打不开，除了公主本人</a:t>
            </a:r>
            <a:r>
              <a:rPr lang="zh-CN" altLang="en-US" sz="1800" dirty="0">
                <a:latin typeface="+mn-ea"/>
              </a:rPr>
              <a:t>；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2. </a:t>
            </a:r>
            <a:r>
              <a:rPr lang="zh-CN" altLang="en-US" sz="1800" dirty="0">
                <a:latin typeface="+mn-ea"/>
              </a:rPr>
              <a:t>公主还有一把</a:t>
            </a:r>
            <a:r>
              <a:rPr lang="zh-CN" altLang="en-US" sz="1800" b="1" dirty="0">
                <a:latin typeface="+mn-ea"/>
              </a:rPr>
              <a:t>专属钥匙</a:t>
            </a:r>
            <a:r>
              <a:rPr lang="zh-CN" altLang="en-US" sz="1800" dirty="0">
                <a:latin typeface="+mn-ea"/>
              </a:rPr>
              <a:t>（私钥保密），只有这把钥匙能打开所有她打造的盒子，钥匙丢了就再也没法解锁。</a:t>
            </a:r>
          </a:p>
          <a:p>
            <a:pPr marL="0" indent="0">
              <a:buNone/>
            </a:pPr>
            <a:endParaRPr lang="en-US" altLang="zh-CN" sz="18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AA1B758-4DAA-B37C-8F17-5082067E6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108" y="4903902"/>
            <a:ext cx="976965" cy="93665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A906A44-570A-9BDC-4DB1-BE9E57CE0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5" y="5717364"/>
            <a:ext cx="1001138" cy="878777"/>
          </a:xfrm>
          <a:prstGeom prst="rect">
            <a:avLst/>
          </a:prstGeom>
        </p:spPr>
      </p:pic>
      <p:pic>
        <p:nvPicPr>
          <p:cNvPr id="4" name="图形 3" descr="旧钥匙 轮廓">
            <a:extLst>
              <a:ext uri="{FF2B5EF4-FFF2-40B4-BE49-F238E27FC236}">
                <a16:creationId xmlns:a16="http://schemas.microsoft.com/office/drawing/2014/main" id="{9249DA8A-408C-930B-0C7C-08CF8FE43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3369" y="4025125"/>
            <a:ext cx="914400" cy="914400"/>
          </a:xfrm>
          <a:prstGeom prst="rect">
            <a:avLst/>
          </a:prstGeom>
        </p:spPr>
      </p:pic>
      <p:pic>
        <p:nvPicPr>
          <p:cNvPr id="6" name="图形 5" descr="钥匙 轮廓">
            <a:extLst>
              <a:ext uri="{FF2B5EF4-FFF2-40B4-BE49-F238E27FC236}">
                <a16:creationId xmlns:a16="http://schemas.microsoft.com/office/drawing/2014/main" id="{88DCF88D-69D5-59EF-829E-54A1BCCB4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7457" y="4949223"/>
            <a:ext cx="914400" cy="914400"/>
          </a:xfrm>
          <a:prstGeom prst="rect">
            <a:avLst/>
          </a:prstGeom>
        </p:spPr>
      </p:pic>
      <p:pic>
        <p:nvPicPr>
          <p:cNvPr id="7" name="图形 6" descr="盒子 轮廓">
            <a:extLst>
              <a:ext uri="{FF2B5EF4-FFF2-40B4-BE49-F238E27FC236}">
                <a16:creationId xmlns:a16="http://schemas.microsoft.com/office/drawing/2014/main" id="{5558BE61-2678-E693-FFDE-E0415DEBD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0186" y="4682527"/>
            <a:ext cx="1623780" cy="1623780"/>
          </a:xfrm>
          <a:prstGeom prst="rect">
            <a:avLst/>
          </a:prstGeom>
        </p:spPr>
      </p:pic>
      <p:pic>
        <p:nvPicPr>
          <p:cNvPr id="8" name="图形 7" descr="信封 轮廓">
            <a:extLst>
              <a:ext uri="{FF2B5EF4-FFF2-40B4-BE49-F238E27FC236}">
                <a16:creationId xmlns:a16="http://schemas.microsoft.com/office/drawing/2014/main" id="{87477E2F-D3CF-2198-B5A9-3832E3E36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6830" y="5051491"/>
            <a:ext cx="914400" cy="914400"/>
          </a:xfrm>
          <a:prstGeom prst="rect">
            <a:avLst/>
          </a:prstGeom>
        </p:spPr>
      </p:pic>
      <p:pic>
        <p:nvPicPr>
          <p:cNvPr id="9" name="图形 8" descr="钥匙 轮廓">
            <a:extLst>
              <a:ext uri="{FF2B5EF4-FFF2-40B4-BE49-F238E27FC236}">
                <a16:creationId xmlns:a16="http://schemas.microsoft.com/office/drawing/2014/main" id="{4FFACCE0-E386-842A-D726-BC65674A1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490" y="5775877"/>
            <a:ext cx="914400" cy="914400"/>
          </a:xfrm>
          <a:prstGeom prst="rect">
            <a:avLst/>
          </a:prstGeom>
        </p:spPr>
      </p:pic>
      <p:pic>
        <p:nvPicPr>
          <p:cNvPr id="11" name="图形 10" descr="钥匙 轮廓">
            <a:extLst>
              <a:ext uri="{FF2B5EF4-FFF2-40B4-BE49-F238E27FC236}">
                <a16:creationId xmlns:a16="http://schemas.microsoft.com/office/drawing/2014/main" id="{FA7149BA-0BCB-D47C-E4B3-A0F088870A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8920" y="4137091"/>
            <a:ext cx="914400" cy="914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2AF6BE5-2E7A-0549-35C0-FDC11D399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56" y="4841827"/>
            <a:ext cx="1001138" cy="8787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A7FBFA8-A21B-0773-D445-0D11A9843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729" y="4025125"/>
            <a:ext cx="1001138" cy="878777"/>
          </a:xfrm>
          <a:prstGeom prst="rect">
            <a:avLst/>
          </a:prstGeom>
        </p:spPr>
      </p:pic>
      <p:pic>
        <p:nvPicPr>
          <p:cNvPr id="16" name="图形 15" descr="右箭头 轮廓">
            <a:extLst>
              <a:ext uri="{FF2B5EF4-FFF2-40B4-BE49-F238E27FC236}">
                <a16:creationId xmlns:a16="http://schemas.microsoft.com/office/drawing/2014/main" id="{F9ACB17B-FF72-ADB9-FA83-EE5BB2569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9154" y="5051491"/>
            <a:ext cx="914400" cy="914400"/>
          </a:xfrm>
          <a:prstGeom prst="rect">
            <a:avLst/>
          </a:prstGeom>
        </p:spPr>
      </p:pic>
      <p:pic>
        <p:nvPicPr>
          <p:cNvPr id="17" name="图形 16" descr="右箭头 轮廓">
            <a:extLst>
              <a:ext uri="{FF2B5EF4-FFF2-40B4-BE49-F238E27FC236}">
                <a16:creationId xmlns:a16="http://schemas.microsoft.com/office/drawing/2014/main" id="{375325A2-6E4F-3551-8929-D61648443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1051" y="5037217"/>
            <a:ext cx="914400" cy="914400"/>
          </a:xfrm>
          <a:prstGeom prst="rect">
            <a:avLst/>
          </a:prstGeom>
        </p:spPr>
      </p:pic>
      <p:pic>
        <p:nvPicPr>
          <p:cNvPr id="19" name="图形 18" descr="右箭头 轮廓">
            <a:extLst>
              <a:ext uri="{FF2B5EF4-FFF2-40B4-BE49-F238E27FC236}">
                <a16:creationId xmlns:a16="http://schemas.microsoft.com/office/drawing/2014/main" id="{A7380908-476A-26CA-7D15-F6C688730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2523" y="5003862"/>
            <a:ext cx="914400" cy="914400"/>
          </a:xfrm>
          <a:prstGeom prst="rect">
            <a:avLst/>
          </a:prstGeom>
        </p:spPr>
      </p:pic>
      <p:pic>
        <p:nvPicPr>
          <p:cNvPr id="20" name="图形 19" descr="信封 轮廓">
            <a:extLst>
              <a:ext uri="{FF2B5EF4-FFF2-40B4-BE49-F238E27FC236}">
                <a16:creationId xmlns:a16="http://schemas.microsoft.com/office/drawing/2014/main" id="{1493F4BE-42F8-84D3-7018-2ABF6F426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4878" y="5051491"/>
            <a:ext cx="914400" cy="914400"/>
          </a:xfrm>
          <a:prstGeom prst="rect">
            <a:avLst/>
          </a:prstGeom>
        </p:spPr>
      </p:pic>
      <p:pic>
        <p:nvPicPr>
          <p:cNvPr id="21" name="图形 20" descr="旧钥匙 轮廓">
            <a:extLst>
              <a:ext uri="{FF2B5EF4-FFF2-40B4-BE49-F238E27FC236}">
                <a16:creationId xmlns:a16="http://schemas.microsoft.com/office/drawing/2014/main" id="{0C5460F8-2D42-1617-FCB3-15021183AB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4636" y="4776777"/>
            <a:ext cx="454169" cy="454169"/>
          </a:xfrm>
          <a:prstGeom prst="rect">
            <a:avLst/>
          </a:prstGeom>
        </p:spPr>
      </p:pic>
      <p:pic>
        <p:nvPicPr>
          <p:cNvPr id="22" name="图形 21" descr="钥匙 轮廓">
            <a:extLst>
              <a:ext uri="{FF2B5EF4-FFF2-40B4-BE49-F238E27FC236}">
                <a16:creationId xmlns:a16="http://schemas.microsoft.com/office/drawing/2014/main" id="{FE11F170-5E35-2470-EAA3-5BDF7748E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0754" y="4749761"/>
            <a:ext cx="457200" cy="457200"/>
          </a:xfrm>
          <a:prstGeom prst="rect">
            <a:avLst/>
          </a:prstGeom>
        </p:spPr>
      </p:pic>
      <p:pic>
        <p:nvPicPr>
          <p:cNvPr id="23" name="图形 22" descr="右箭头 轮廓">
            <a:extLst>
              <a:ext uri="{FF2B5EF4-FFF2-40B4-BE49-F238E27FC236}">
                <a16:creationId xmlns:a16="http://schemas.microsoft.com/office/drawing/2014/main" id="{B41488E0-FEE3-835E-57E1-8D6238704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8969" y="5003862"/>
            <a:ext cx="914400" cy="914400"/>
          </a:xfrm>
          <a:prstGeom prst="rect">
            <a:avLst/>
          </a:prstGeom>
        </p:spPr>
      </p:pic>
      <p:pic>
        <p:nvPicPr>
          <p:cNvPr id="24" name="图形 23" descr="钥匙 轮廓">
            <a:extLst>
              <a:ext uri="{FF2B5EF4-FFF2-40B4-BE49-F238E27FC236}">
                <a16:creationId xmlns:a16="http://schemas.microsoft.com/office/drawing/2014/main" id="{852F5442-F959-C61C-1A1D-A0DC70F8F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6282" y="5863623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24BC22D-3981-4178-8610-6C917C595CB4}"/>
              </a:ext>
            </a:extLst>
          </p:cNvPr>
          <p:cNvSpPr txBox="1"/>
          <p:nvPr/>
        </p:nvSpPr>
        <p:spPr>
          <a:xfrm>
            <a:off x="3192858" y="4708359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8D9B395-F693-1084-BB7B-1DA4F00A869B}"/>
              </a:ext>
            </a:extLst>
          </p:cNvPr>
          <p:cNvSpPr txBox="1"/>
          <p:nvPr/>
        </p:nvSpPr>
        <p:spPr>
          <a:xfrm>
            <a:off x="9859279" y="6135766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041DB7-D09B-592A-AB02-82847AB213C0}"/>
              </a:ext>
            </a:extLst>
          </p:cNvPr>
          <p:cNvSpPr txBox="1"/>
          <p:nvPr/>
        </p:nvSpPr>
        <p:spPr>
          <a:xfrm>
            <a:off x="9859279" y="4224959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私钥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A959B83-575D-B54F-0807-F5BF10E8BB8C}"/>
              </a:ext>
            </a:extLst>
          </p:cNvPr>
          <p:cNvSpPr txBox="1"/>
          <p:nvPr/>
        </p:nvSpPr>
        <p:spPr>
          <a:xfrm>
            <a:off x="2419629" y="5546692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BC639CD-C681-72D5-BADF-6D78AC6D0788}"/>
              </a:ext>
            </a:extLst>
          </p:cNvPr>
          <p:cNvSpPr txBox="1"/>
          <p:nvPr/>
        </p:nvSpPr>
        <p:spPr>
          <a:xfrm>
            <a:off x="1872672" y="6337757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557632A-6E53-11AF-051C-24B251CCD53E}"/>
              </a:ext>
            </a:extLst>
          </p:cNvPr>
          <p:cNvSpPr txBox="1"/>
          <p:nvPr/>
        </p:nvSpPr>
        <p:spPr>
          <a:xfrm>
            <a:off x="4398092" y="4426958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80D78BF-BC54-9523-92BB-11853C4E5856}"/>
              </a:ext>
            </a:extLst>
          </p:cNvPr>
          <p:cNvSpPr txBox="1"/>
          <p:nvPr/>
        </p:nvSpPr>
        <p:spPr>
          <a:xfrm>
            <a:off x="8708038" y="4411624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解密</a:t>
            </a:r>
          </a:p>
        </p:txBody>
      </p:sp>
    </p:spTree>
    <p:extLst>
      <p:ext uri="{BB962C8B-B14F-4D97-AF65-F5344CB8AC3E}">
        <p14:creationId xmlns:p14="http://schemas.microsoft.com/office/powerpoint/2010/main" val="3772066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054C-B391-CD5F-EA01-404443220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91090-52E2-F6C0-6AFF-D3356E8C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15063B-3C1F-77AD-32A1-45B8394A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576785"/>
            <a:ext cx="11289793" cy="1852216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这天，邻国的王子想给公主写一封表白信，又怕信件被坏人偷看。他就照着方法做了三件事：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1. </a:t>
            </a:r>
            <a:r>
              <a:rPr lang="zh-CN" altLang="en-US" sz="1800" dirty="0">
                <a:latin typeface="+mn-ea"/>
              </a:rPr>
              <a:t>借盒子：从加密国国民手里拿到公主打造的空盒子（获取公钥）；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2. </a:t>
            </a:r>
            <a:r>
              <a:rPr lang="zh-CN" altLang="en-US" sz="1800" dirty="0">
                <a:latin typeface="+mn-ea"/>
              </a:rPr>
              <a:t>装信上锁：把表白信放进盒子，盒子自动锁死（公钥加密）；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3. </a:t>
            </a:r>
            <a:r>
              <a:rPr lang="zh-CN" altLang="en-US" sz="1800" dirty="0">
                <a:latin typeface="+mn-ea"/>
              </a:rPr>
              <a:t>送盒子：派人把锁好的盒子送到公主手里。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zh-CN" altLang="en-US" sz="1800" dirty="0"/>
              <a:t>公主收到盒子后，掏出专属钥匙（私钥），轻轻一拧，盒子就开了，顺利读到了王子的信。</a:t>
            </a:r>
          </a:p>
          <a:p>
            <a:pPr marL="0" indent="0">
              <a:buNone/>
            </a:pPr>
            <a:endParaRPr lang="zh-CN" altLang="en-US" sz="18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7123F9-B3BA-A49A-77E9-291AD9C7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784818"/>
            <a:ext cx="1348571" cy="15657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AA6B962-6541-E2D1-E38E-7C8661B0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968" y="4928022"/>
            <a:ext cx="1569524" cy="1504762"/>
          </a:xfrm>
          <a:prstGeom prst="rect">
            <a:avLst/>
          </a:prstGeom>
        </p:spPr>
      </p:pic>
      <p:pic>
        <p:nvPicPr>
          <p:cNvPr id="9" name="图形 8" descr="盒子 轮廓">
            <a:extLst>
              <a:ext uri="{FF2B5EF4-FFF2-40B4-BE49-F238E27FC236}">
                <a16:creationId xmlns:a16="http://schemas.microsoft.com/office/drawing/2014/main" id="{4E4DF293-E51E-E962-9202-36AFFBC70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8640" y="4717584"/>
            <a:ext cx="1623780" cy="1623780"/>
          </a:xfrm>
          <a:prstGeom prst="rect">
            <a:avLst/>
          </a:prstGeom>
        </p:spPr>
      </p:pic>
      <p:pic>
        <p:nvPicPr>
          <p:cNvPr id="14" name="图形 13" descr="钥匙 轮廓">
            <a:extLst>
              <a:ext uri="{FF2B5EF4-FFF2-40B4-BE49-F238E27FC236}">
                <a16:creationId xmlns:a16="http://schemas.microsoft.com/office/drawing/2014/main" id="{3754EB29-E7D6-F3AC-0660-A2C422FCFA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605" y="4097502"/>
            <a:ext cx="914400" cy="914400"/>
          </a:xfrm>
          <a:prstGeom prst="rect">
            <a:avLst/>
          </a:prstGeom>
        </p:spPr>
      </p:pic>
      <p:pic>
        <p:nvPicPr>
          <p:cNvPr id="17" name="图形 16" descr="右箭头 轮廓">
            <a:extLst>
              <a:ext uri="{FF2B5EF4-FFF2-40B4-BE49-F238E27FC236}">
                <a16:creationId xmlns:a16="http://schemas.microsoft.com/office/drawing/2014/main" id="{009CB459-81DB-378A-F8EA-9081175FC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3747" y="5072274"/>
            <a:ext cx="914400" cy="914400"/>
          </a:xfrm>
          <a:prstGeom prst="rect">
            <a:avLst/>
          </a:prstGeom>
        </p:spPr>
      </p:pic>
      <p:pic>
        <p:nvPicPr>
          <p:cNvPr id="18" name="图形 17" descr="右箭头 轮廓">
            <a:extLst>
              <a:ext uri="{FF2B5EF4-FFF2-40B4-BE49-F238E27FC236}">
                <a16:creationId xmlns:a16="http://schemas.microsoft.com/office/drawing/2014/main" id="{CFB8029B-568C-673E-E100-093849351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9505" y="5072274"/>
            <a:ext cx="914400" cy="914400"/>
          </a:xfrm>
          <a:prstGeom prst="rect">
            <a:avLst/>
          </a:prstGeom>
        </p:spPr>
      </p:pic>
      <p:pic>
        <p:nvPicPr>
          <p:cNvPr id="19" name="图形 18" descr="右箭头 轮廓">
            <a:extLst>
              <a:ext uri="{FF2B5EF4-FFF2-40B4-BE49-F238E27FC236}">
                <a16:creationId xmlns:a16="http://schemas.microsoft.com/office/drawing/2014/main" id="{31C93D83-1D94-6A06-5BD5-BE8AA5BEF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0977" y="5038919"/>
            <a:ext cx="914400" cy="914400"/>
          </a:xfrm>
          <a:prstGeom prst="rect">
            <a:avLst/>
          </a:prstGeom>
        </p:spPr>
      </p:pic>
      <p:pic>
        <p:nvPicPr>
          <p:cNvPr id="20" name="图形 19" descr="信封 轮廓">
            <a:extLst>
              <a:ext uri="{FF2B5EF4-FFF2-40B4-BE49-F238E27FC236}">
                <a16:creationId xmlns:a16="http://schemas.microsoft.com/office/drawing/2014/main" id="{CC392C4F-33D1-D8E9-7BEF-96959C463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3332" y="5086548"/>
            <a:ext cx="914400" cy="914400"/>
          </a:xfrm>
          <a:prstGeom prst="rect">
            <a:avLst/>
          </a:prstGeom>
        </p:spPr>
      </p:pic>
      <p:pic>
        <p:nvPicPr>
          <p:cNvPr id="22" name="图形 21" descr="钥匙 轮廓">
            <a:extLst>
              <a:ext uri="{FF2B5EF4-FFF2-40B4-BE49-F238E27FC236}">
                <a16:creationId xmlns:a16="http://schemas.microsoft.com/office/drawing/2014/main" id="{14C30182-4A10-4242-440F-C7CC606E2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9208" y="4784818"/>
            <a:ext cx="457200" cy="4572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5AA69E2-EC18-0FD0-AE33-F40E5D809AAB}"/>
              </a:ext>
            </a:extLst>
          </p:cNvPr>
          <p:cNvSpPr txBox="1"/>
          <p:nvPr/>
        </p:nvSpPr>
        <p:spPr>
          <a:xfrm>
            <a:off x="1686005" y="4385829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</a:t>
            </a:r>
          </a:p>
        </p:txBody>
      </p:sp>
      <p:pic>
        <p:nvPicPr>
          <p:cNvPr id="30" name="图形 29" descr="旧钥匙 轮廓">
            <a:extLst>
              <a:ext uri="{FF2B5EF4-FFF2-40B4-BE49-F238E27FC236}">
                <a16:creationId xmlns:a16="http://schemas.microsoft.com/office/drawing/2014/main" id="{7A61823F-45A8-46C6-83F8-63EEB55391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7530" y="4124519"/>
            <a:ext cx="914400" cy="914400"/>
          </a:xfrm>
          <a:prstGeom prst="rect">
            <a:avLst/>
          </a:prstGeom>
        </p:spPr>
      </p:pic>
      <p:pic>
        <p:nvPicPr>
          <p:cNvPr id="31" name="图形 30" descr="信封 轮廓">
            <a:extLst>
              <a:ext uri="{FF2B5EF4-FFF2-40B4-BE49-F238E27FC236}">
                <a16:creationId xmlns:a16="http://schemas.microsoft.com/office/drawing/2014/main" id="{DD79E57E-5127-9516-D172-143BD92F5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8164" y="5059532"/>
            <a:ext cx="914400" cy="914400"/>
          </a:xfrm>
          <a:prstGeom prst="rect">
            <a:avLst/>
          </a:prstGeom>
        </p:spPr>
      </p:pic>
      <p:pic>
        <p:nvPicPr>
          <p:cNvPr id="32" name="图形 31" descr="右箭头 轮廓">
            <a:extLst>
              <a:ext uri="{FF2B5EF4-FFF2-40B4-BE49-F238E27FC236}">
                <a16:creationId xmlns:a16="http://schemas.microsoft.com/office/drawing/2014/main" id="{D4149023-7A37-C5EC-B46D-92AA55A7CE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1122" y="5011902"/>
            <a:ext cx="914400" cy="914400"/>
          </a:xfrm>
          <a:prstGeom prst="rect">
            <a:avLst/>
          </a:prstGeom>
        </p:spPr>
      </p:pic>
      <p:pic>
        <p:nvPicPr>
          <p:cNvPr id="33" name="图形 32" descr="旧钥匙 轮廓">
            <a:extLst>
              <a:ext uri="{FF2B5EF4-FFF2-40B4-BE49-F238E27FC236}">
                <a16:creationId xmlns:a16="http://schemas.microsoft.com/office/drawing/2014/main" id="{D6D69133-BA98-299D-97EB-8AF03ED7F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5970" y="4784818"/>
            <a:ext cx="454169" cy="454169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254DD403-FF4F-25CF-B49E-1FB91A7120DF}"/>
              </a:ext>
            </a:extLst>
          </p:cNvPr>
          <p:cNvSpPr txBox="1"/>
          <p:nvPr/>
        </p:nvSpPr>
        <p:spPr>
          <a:xfrm>
            <a:off x="9192506" y="4370036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私钥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4CBFFD1-DFCA-FE79-D1EF-E8DA0EC6CF4D}"/>
              </a:ext>
            </a:extLst>
          </p:cNvPr>
          <p:cNvSpPr txBox="1"/>
          <p:nvPr/>
        </p:nvSpPr>
        <p:spPr>
          <a:xfrm>
            <a:off x="3423801" y="4484038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AABFE2-75CB-867D-3604-42600DC6636B}"/>
              </a:ext>
            </a:extLst>
          </p:cNvPr>
          <p:cNvSpPr txBox="1"/>
          <p:nvPr/>
        </p:nvSpPr>
        <p:spPr>
          <a:xfrm>
            <a:off x="7733747" y="4468704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解密</a:t>
            </a:r>
          </a:p>
        </p:txBody>
      </p:sp>
    </p:spTree>
    <p:extLst>
      <p:ext uri="{BB962C8B-B14F-4D97-AF65-F5344CB8AC3E}">
        <p14:creationId xmlns:p14="http://schemas.microsoft.com/office/powerpoint/2010/main" val="3057104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9392E-9ABE-8ACB-29E9-38C9EDE9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BE3BB-482C-891B-D0FE-701DC4A1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5</a:t>
            </a:r>
            <a:r>
              <a:rPr lang="zh-CN" altLang="en-US" sz="4400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CC634E-D628-5CDD-833C-A3F0BBB2E483}"/>
              </a:ext>
            </a:extLst>
          </p:cNvPr>
          <p:cNvSpPr txBox="1"/>
          <p:nvPr/>
        </p:nvSpPr>
        <p:spPr>
          <a:xfrm>
            <a:off x="527304" y="1576785"/>
            <a:ext cx="11155680" cy="1395016"/>
          </a:xfrm>
          <a:prstGeom prst="rect">
            <a:avLst/>
          </a:prstGeom>
        </p:spPr>
        <p:txBody>
          <a:bodyPr lIns="109728" tIns="109728" rIns="109728" bIns="91440"/>
          <a:lstStyle>
            <a:lvl1pPr inden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spc="160">
                <a:latin typeface="+mn-ea"/>
              </a:defRPr>
            </a:lvl1pPr>
            <a:lvl2pPr marL="6858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1800" dirty="0"/>
              <a:t>半路上，坏人截住了信使，看到漂亮的盒子，想尽办法撬锁、砸盒子，却怎么也打不开 </a:t>
            </a:r>
            <a:r>
              <a:rPr lang="en-US" altLang="zh-CN" sz="1800" dirty="0"/>
              <a:t>—— </a:t>
            </a:r>
            <a:r>
              <a:rPr lang="zh-CN" altLang="en-US" sz="1800" dirty="0"/>
              <a:t>因为这盒子的锁，</a:t>
            </a:r>
            <a:r>
              <a:rPr lang="zh-CN" altLang="en-US" sz="1800" b="1" dirty="0"/>
              <a:t>只有公主的专属钥匙能解开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r>
              <a:rPr lang="zh-CN" altLang="en-US" sz="1800" dirty="0"/>
              <a:t>即使拿着人人都有的公钥也没用，因为公钥是用来加密的，不是用来解密的。</a:t>
            </a:r>
            <a:endParaRPr lang="en-US" altLang="zh-CN" sz="1800" dirty="0"/>
          </a:p>
          <a:p>
            <a:endParaRPr lang="zh-CN" altLang="en-US" sz="1800" dirty="0"/>
          </a:p>
        </p:txBody>
      </p:sp>
      <p:pic>
        <p:nvPicPr>
          <p:cNvPr id="16" name="图形 15" descr="盒子 轮廓">
            <a:extLst>
              <a:ext uri="{FF2B5EF4-FFF2-40B4-BE49-F238E27FC236}">
                <a16:creationId xmlns:a16="http://schemas.microsoft.com/office/drawing/2014/main" id="{B6701113-E879-8A09-C4A3-C3CEB55B3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8125" y="4239919"/>
            <a:ext cx="1623780" cy="1623780"/>
          </a:xfrm>
          <a:prstGeom prst="rect">
            <a:avLst/>
          </a:prstGeom>
        </p:spPr>
      </p:pic>
      <p:pic>
        <p:nvPicPr>
          <p:cNvPr id="19" name="图形 18" descr="右箭头 轮廓">
            <a:extLst>
              <a:ext uri="{FF2B5EF4-FFF2-40B4-BE49-F238E27FC236}">
                <a16:creationId xmlns:a16="http://schemas.microsoft.com/office/drawing/2014/main" id="{E87D17CE-801C-539C-0963-CAE2569C9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990" y="4594609"/>
            <a:ext cx="914400" cy="914400"/>
          </a:xfrm>
          <a:prstGeom prst="rect">
            <a:avLst/>
          </a:prstGeom>
        </p:spPr>
      </p:pic>
      <p:pic>
        <p:nvPicPr>
          <p:cNvPr id="20" name="图形 19" descr="右箭头 轮廓">
            <a:extLst>
              <a:ext uri="{FF2B5EF4-FFF2-40B4-BE49-F238E27FC236}">
                <a16:creationId xmlns:a16="http://schemas.microsoft.com/office/drawing/2014/main" id="{5E5CA79E-BA42-5C97-599E-D6C617B0E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0462" y="4561254"/>
            <a:ext cx="914400" cy="914400"/>
          </a:xfrm>
          <a:prstGeom prst="rect">
            <a:avLst/>
          </a:prstGeom>
        </p:spPr>
      </p:pic>
      <p:pic>
        <p:nvPicPr>
          <p:cNvPr id="21" name="图形 20" descr="信封 轮廓">
            <a:extLst>
              <a:ext uri="{FF2B5EF4-FFF2-40B4-BE49-F238E27FC236}">
                <a16:creationId xmlns:a16="http://schemas.microsoft.com/office/drawing/2014/main" id="{128B1E7B-6F3F-8220-AFA4-B2520F82E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2817" y="4608883"/>
            <a:ext cx="914400" cy="914400"/>
          </a:xfrm>
          <a:prstGeom prst="rect">
            <a:avLst/>
          </a:prstGeom>
        </p:spPr>
      </p:pic>
      <p:pic>
        <p:nvPicPr>
          <p:cNvPr id="22" name="图形 21" descr="钥匙 轮廓">
            <a:extLst>
              <a:ext uri="{FF2B5EF4-FFF2-40B4-BE49-F238E27FC236}">
                <a16:creationId xmlns:a16="http://schemas.microsoft.com/office/drawing/2014/main" id="{3C921A93-7260-424B-A2EB-290217E7B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8693" y="4307153"/>
            <a:ext cx="457200" cy="457200"/>
          </a:xfrm>
          <a:prstGeom prst="rect">
            <a:avLst/>
          </a:prstGeom>
        </p:spPr>
      </p:pic>
      <p:pic>
        <p:nvPicPr>
          <p:cNvPr id="25" name="图形 24" descr="生气的脸轮廓 轮廓">
            <a:extLst>
              <a:ext uri="{FF2B5EF4-FFF2-40B4-BE49-F238E27FC236}">
                <a16:creationId xmlns:a16="http://schemas.microsoft.com/office/drawing/2014/main" id="{7ECEFA72-7D49-CDAF-2459-F583E3602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6243" y="4503888"/>
            <a:ext cx="914400" cy="914400"/>
          </a:xfrm>
          <a:prstGeom prst="rect">
            <a:avLst/>
          </a:prstGeom>
        </p:spPr>
      </p:pic>
      <p:pic>
        <p:nvPicPr>
          <p:cNvPr id="27" name="图形 26" descr="关闭 轮廓">
            <a:extLst>
              <a:ext uri="{FF2B5EF4-FFF2-40B4-BE49-F238E27FC236}">
                <a16:creationId xmlns:a16="http://schemas.microsoft.com/office/drawing/2014/main" id="{B2C4FD9A-8660-8B86-4C0D-C378D3E83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1516" y="4222123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BE57D874-1367-FEC9-7B05-4E41E68B649C}"/>
              </a:ext>
            </a:extLst>
          </p:cNvPr>
          <p:cNvSpPr txBox="1"/>
          <p:nvPr/>
        </p:nvSpPr>
        <p:spPr>
          <a:xfrm>
            <a:off x="6875615" y="3885846"/>
            <a:ext cx="2293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没有私钥，无法解密</a:t>
            </a:r>
          </a:p>
        </p:txBody>
      </p:sp>
      <p:pic>
        <p:nvPicPr>
          <p:cNvPr id="30" name="图形 29" descr="信封 轮廓">
            <a:extLst>
              <a:ext uri="{FF2B5EF4-FFF2-40B4-BE49-F238E27FC236}">
                <a16:creationId xmlns:a16="http://schemas.microsoft.com/office/drawing/2014/main" id="{52DEF866-A023-2F75-5AB0-BD762BDF1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7030" y="4573651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80D0C20-6864-B976-05CC-510FECA9ECC1}"/>
              </a:ext>
            </a:extLst>
          </p:cNvPr>
          <p:cNvSpPr txBox="1"/>
          <p:nvPr/>
        </p:nvSpPr>
        <p:spPr>
          <a:xfrm>
            <a:off x="3107925" y="3988543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加密</a:t>
            </a:r>
          </a:p>
        </p:txBody>
      </p:sp>
    </p:spTree>
    <p:extLst>
      <p:ext uri="{BB962C8B-B14F-4D97-AF65-F5344CB8AC3E}">
        <p14:creationId xmlns:p14="http://schemas.microsoft.com/office/powerpoint/2010/main" val="2310521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0911C-B77C-84DB-1FEC-E9FCB863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FAEA0-BAAB-936C-3B3F-1A4F8955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6</a:t>
            </a:r>
            <a:r>
              <a:rPr lang="zh-CN" altLang="en-US" sz="4400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10E3F2-0083-5ACF-995E-5A3D8B9A25CE}"/>
              </a:ext>
            </a:extLst>
          </p:cNvPr>
          <p:cNvSpPr txBox="1"/>
          <p:nvPr/>
        </p:nvSpPr>
        <p:spPr>
          <a:xfrm>
            <a:off x="515112" y="1576785"/>
            <a:ext cx="11167872" cy="1884702"/>
          </a:xfrm>
          <a:prstGeom prst="rect">
            <a:avLst/>
          </a:prstGeom>
        </p:spPr>
        <p:txBody>
          <a:bodyPr lIns="109728" tIns="109728" rIns="109728" bIns="91440"/>
          <a:lstStyle>
            <a:lvl1pPr inden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spc="160">
                <a:latin typeface="+mn-ea"/>
              </a:defRPr>
            </a:lvl1pPr>
            <a:lvl2pPr marL="6858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1800" dirty="0"/>
              <a:t>后来，公主想给王子回信，还怕王子不信是她写的。</a:t>
            </a:r>
            <a:endParaRPr lang="en-US" altLang="zh-CN" sz="1800" dirty="0"/>
          </a:p>
          <a:p>
            <a:r>
              <a:rPr lang="zh-CN" altLang="en-US" sz="1800" dirty="0"/>
              <a:t>她就做了一个新操作：</a:t>
            </a:r>
          </a:p>
          <a:p>
            <a:r>
              <a:rPr lang="zh-CN" altLang="en-US" sz="1800" dirty="0"/>
              <a:t>把回信内容写好，再用自己的专属钥匙，在信的封口盖了一个</a:t>
            </a:r>
            <a:r>
              <a:rPr lang="zh-CN" altLang="en-US" sz="1800" b="1" dirty="0"/>
              <a:t>独一无二的印章</a:t>
            </a:r>
            <a:r>
              <a:rPr lang="zh-CN" altLang="en-US" sz="1800" dirty="0"/>
              <a:t>。</a:t>
            </a:r>
          </a:p>
          <a:p>
            <a:r>
              <a:rPr lang="zh-CN" altLang="en-US" sz="1800" dirty="0"/>
              <a:t>王子收到信后，只要拿出公主打造的空盒子（公钥），对比印章和盒子的匹配度，就能确认：这封信绝对是公主写的，没被人篡改过。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5AB5A3-0A15-D8CC-C1C6-74AC36445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114" y="4570495"/>
            <a:ext cx="1348571" cy="1565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A57DA9-A01E-E265-5EA3-B1EF7F70A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2" y="4797533"/>
            <a:ext cx="1569524" cy="1504762"/>
          </a:xfrm>
          <a:prstGeom prst="rect">
            <a:avLst/>
          </a:prstGeom>
        </p:spPr>
      </p:pic>
      <p:pic>
        <p:nvPicPr>
          <p:cNvPr id="9" name="图形 8" descr="盒子 轮廓">
            <a:extLst>
              <a:ext uri="{FF2B5EF4-FFF2-40B4-BE49-F238E27FC236}">
                <a16:creationId xmlns:a16="http://schemas.microsoft.com/office/drawing/2014/main" id="{EB290BE0-B00F-043C-5064-17A62128C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8640" y="4717584"/>
            <a:ext cx="1623780" cy="1623780"/>
          </a:xfrm>
          <a:prstGeom prst="rect">
            <a:avLst/>
          </a:prstGeom>
        </p:spPr>
      </p:pic>
      <p:pic>
        <p:nvPicPr>
          <p:cNvPr id="10" name="图形 9" descr="钥匙 轮廓">
            <a:extLst>
              <a:ext uri="{FF2B5EF4-FFF2-40B4-BE49-F238E27FC236}">
                <a16:creationId xmlns:a16="http://schemas.microsoft.com/office/drawing/2014/main" id="{80FC6D8A-22B3-72F6-1951-E2D7E27FE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3199" y="3692624"/>
            <a:ext cx="914400" cy="914400"/>
          </a:xfrm>
          <a:prstGeom prst="rect">
            <a:avLst/>
          </a:prstGeom>
        </p:spPr>
      </p:pic>
      <p:pic>
        <p:nvPicPr>
          <p:cNvPr id="11" name="图形 10" descr="右箭头 轮廓">
            <a:extLst>
              <a:ext uri="{FF2B5EF4-FFF2-40B4-BE49-F238E27FC236}">
                <a16:creationId xmlns:a16="http://schemas.microsoft.com/office/drawing/2014/main" id="{51DC8FB7-8FF3-14AD-F392-B80FE29B5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3747" y="5072274"/>
            <a:ext cx="914400" cy="914400"/>
          </a:xfrm>
          <a:prstGeom prst="rect">
            <a:avLst/>
          </a:prstGeom>
        </p:spPr>
      </p:pic>
      <p:pic>
        <p:nvPicPr>
          <p:cNvPr id="12" name="图形 11" descr="右箭头 轮廓">
            <a:extLst>
              <a:ext uri="{FF2B5EF4-FFF2-40B4-BE49-F238E27FC236}">
                <a16:creationId xmlns:a16="http://schemas.microsoft.com/office/drawing/2014/main" id="{650FFF16-AB4D-FB44-EE9A-54625B992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9505" y="5072274"/>
            <a:ext cx="914400" cy="914400"/>
          </a:xfrm>
          <a:prstGeom prst="rect">
            <a:avLst/>
          </a:prstGeom>
        </p:spPr>
      </p:pic>
      <p:pic>
        <p:nvPicPr>
          <p:cNvPr id="13" name="图形 12" descr="右箭头 轮廓">
            <a:extLst>
              <a:ext uri="{FF2B5EF4-FFF2-40B4-BE49-F238E27FC236}">
                <a16:creationId xmlns:a16="http://schemas.microsoft.com/office/drawing/2014/main" id="{2C8EB488-5B25-4FDC-B153-CBC9F3C31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0977" y="5038919"/>
            <a:ext cx="914400" cy="914400"/>
          </a:xfrm>
          <a:prstGeom prst="rect">
            <a:avLst/>
          </a:prstGeom>
        </p:spPr>
      </p:pic>
      <p:pic>
        <p:nvPicPr>
          <p:cNvPr id="14" name="图形 13" descr="信封 轮廓">
            <a:extLst>
              <a:ext uri="{FF2B5EF4-FFF2-40B4-BE49-F238E27FC236}">
                <a16:creationId xmlns:a16="http://schemas.microsoft.com/office/drawing/2014/main" id="{95FF6D0E-E46D-8A95-3C83-05911DBF1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3332" y="5086548"/>
            <a:ext cx="914400" cy="914400"/>
          </a:xfrm>
          <a:prstGeom prst="rect">
            <a:avLst/>
          </a:prstGeom>
        </p:spPr>
      </p:pic>
      <p:pic>
        <p:nvPicPr>
          <p:cNvPr id="15" name="图形 14" descr="钥匙 轮廓">
            <a:extLst>
              <a:ext uri="{FF2B5EF4-FFF2-40B4-BE49-F238E27FC236}">
                <a16:creationId xmlns:a16="http://schemas.microsoft.com/office/drawing/2014/main" id="{51AB19E4-A976-EED2-9ACF-431250652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6764" y="4755161"/>
            <a:ext cx="457200" cy="4572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A5E45E4-238C-51DC-F0ED-82B8AF354429}"/>
              </a:ext>
            </a:extLst>
          </p:cNvPr>
          <p:cNvSpPr txBox="1"/>
          <p:nvPr/>
        </p:nvSpPr>
        <p:spPr>
          <a:xfrm>
            <a:off x="1659657" y="4124436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私钥</a:t>
            </a:r>
          </a:p>
        </p:txBody>
      </p:sp>
      <p:pic>
        <p:nvPicPr>
          <p:cNvPr id="17" name="图形 16" descr="旧钥匙 轮廓">
            <a:extLst>
              <a:ext uri="{FF2B5EF4-FFF2-40B4-BE49-F238E27FC236}">
                <a16:creationId xmlns:a16="http://schemas.microsoft.com/office/drawing/2014/main" id="{87985CDE-CB31-A916-46EC-387B8E825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997" y="3941344"/>
            <a:ext cx="914400" cy="914400"/>
          </a:xfrm>
          <a:prstGeom prst="rect">
            <a:avLst/>
          </a:prstGeom>
        </p:spPr>
      </p:pic>
      <p:pic>
        <p:nvPicPr>
          <p:cNvPr id="18" name="图形 17" descr="信封 轮廓">
            <a:extLst>
              <a:ext uri="{FF2B5EF4-FFF2-40B4-BE49-F238E27FC236}">
                <a16:creationId xmlns:a16="http://schemas.microsoft.com/office/drawing/2014/main" id="{508E4D80-0150-7C6E-A97D-466496EFC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2186" y="5007367"/>
            <a:ext cx="914400" cy="914400"/>
          </a:xfrm>
          <a:prstGeom prst="rect">
            <a:avLst/>
          </a:prstGeom>
        </p:spPr>
      </p:pic>
      <p:pic>
        <p:nvPicPr>
          <p:cNvPr id="19" name="图形 18" descr="右箭头 轮廓">
            <a:extLst>
              <a:ext uri="{FF2B5EF4-FFF2-40B4-BE49-F238E27FC236}">
                <a16:creationId xmlns:a16="http://schemas.microsoft.com/office/drawing/2014/main" id="{4134A2D6-0DB2-BD37-0902-FFDD2FF13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1122" y="5011902"/>
            <a:ext cx="914400" cy="914400"/>
          </a:xfrm>
          <a:prstGeom prst="rect">
            <a:avLst/>
          </a:prstGeom>
        </p:spPr>
      </p:pic>
      <p:pic>
        <p:nvPicPr>
          <p:cNvPr id="20" name="图形 19" descr="旧钥匙 轮廓">
            <a:extLst>
              <a:ext uri="{FF2B5EF4-FFF2-40B4-BE49-F238E27FC236}">
                <a16:creationId xmlns:a16="http://schemas.microsoft.com/office/drawing/2014/main" id="{4A8BC4E6-8E7A-D422-2A3B-6F8BFC143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1741" y="4717584"/>
            <a:ext cx="454169" cy="45416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EA793A2-A762-7140-2BD5-A3FE4311EF14}"/>
              </a:ext>
            </a:extLst>
          </p:cNvPr>
          <p:cNvSpPr txBox="1"/>
          <p:nvPr/>
        </p:nvSpPr>
        <p:spPr>
          <a:xfrm>
            <a:off x="9250567" y="3941344"/>
            <a:ext cx="10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C2FB09-2D9B-B2D7-4736-CB8962104D17}"/>
              </a:ext>
            </a:extLst>
          </p:cNvPr>
          <p:cNvSpPr txBox="1"/>
          <p:nvPr/>
        </p:nvSpPr>
        <p:spPr>
          <a:xfrm>
            <a:off x="2650985" y="4355573"/>
            <a:ext cx="241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私钥签名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DD9741-0342-A43D-E17A-5697A0B39CCC}"/>
              </a:ext>
            </a:extLst>
          </p:cNvPr>
          <p:cNvSpPr txBox="1"/>
          <p:nvPr/>
        </p:nvSpPr>
        <p:spPr>
          <a:xfrm>
            <a:off x="6689327" y="4355573"/>
            <a:ext cx="241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公钥验证身份</a:t>
            </a:r>
          </a:p>
        </p:txBody>
      </p:sp>
    </p:spTree>
    <p:extLst>
      <p:ext uri="{BB962C8B-B14F-4D97-AF65-F5344CB8AC3E}">
        <p14:creationId xmlns:p14="http://schemas.microsoft.com/office/powerpoint/2010/main" val="4034049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82EE-41C1-2D0E-CB43-D1A8B5E7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DAA99-A2D6-41E6-10AC-861C2A6D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五、数学的重要性</a:t>
            </a:r>
            <a:r>
              <a:rPr lang="en-US" altLang="zh-CN" sz="4400" dirty="0"/>
              <a:t>——</a:t>
            </a:r>
            <a:r>
              <a:rPr lang="zh-CN" altLang="en-US" sz="4400" dirty="0"/>
              <a:t>算法（</a:t>
            </a:r>
            <a:r>
              <a:rPr lang="en-US" altLang="zh-CN" sz="4400" dirty="0"/>
              <a:t>7</a:t>
            </a:r>
            <a:r>
              <a:rPr lang="zh-CN" altLang="en-US" sz="4400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F1670D-B3ED-95E8-BE2E-4A70F0F92152}"/>
              </a:ext>
            </a:extLst>
          </p:cNvPr>
          <p:cNvSpPr txBox="1"/>
          <p:nvPr/>
        </p:nvSpPr>
        <p:spPr>
          <a:xfrm>
            <a:off x="515112" y="1450539"/>
            <a:ext cx="11321288" cy="2089273"/>
          </a:xfrm>
          <a:prstGeom prst="rect">
            <a:avLst/>
          </a:prstGeom>
        </p:spPr>
        <p:txBody>
          <a:bodyPr lIns="109728" tIns="109728" rIns="109728" bIns="91440"/>
          <a:lstStyle>
            <a:lvl1pPr inden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spc="160">
                <a:latin typeface="+mn-ea"/>
              </a:defRPr>
            </a:lvl1pPr>
            <a:lvl2pPr marL="6858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spc="16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1800" dirty="0"/>
              <a:t>在这个故事里：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800" dirty="0"/>
              <a:t>公主的专属钥匙 </a:t>
            </a:r>
            <a:r>
              <a:rPr lang="en-US" altLang="zh-CN" sz="1800" dirty="0"/>
              <a:t>= </a:t>
            </a:r>
            <a:r>
              <a:rPr lang="zh-CN" altLang="en-US" sz="1800" dirty="0"/>
              <a:t>私钥（唯一、保密）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800" dirty="0"/>
              <a:t>公主打造的空盒子 </a:t>
            </a:r>
            <a:r>
              <a:rPr lang="en-US" altLang="zh-CN" sz="1800" dirty="0"/>
              <a:t>= </a:t>
            </a:r>
            <a:r>
              <a:rPr lang="zh-CN" altLang="en-US" sz="1800" dirty="0"/>
              <a:t>公钥（公开、人人可获取）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800" dirty="0"/>
              <a:t>盒子“只能公主钥匙打开”的规矩 </a:t>
            </a:r>
            <a:r>
              <a:rPr lang="en-US" altLang="zh-CN" sz="1800" dirty="0"/>
              <a:t>= </a:t>
            </a:r>
            <a:r>
              <a:rPr lang="zh-CN" altLang="en-US" sz="1800" dirty="0"/>
              <a:t>非对称加密的核心：公钥加密，私钥解密；私钥签名，公钥验证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800" dirty="0"/>
              <a:t>坏人撬不开盒子 </a:t>
            </a:r>
            <a:r>
              <a:rPr lang="en-US" altLang="zh-CN" sz="1800" dirty="0"/>
              <a:t>= </a:t>
            </a:r>
            <a:r>
              <a:rPr lang="zh-CN" altLang="en-US" sz="1800" dirty="0"/>
              <a:t>数学难题的 “易算难逆” 特性，保障加密安全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8CFBBD-04E8-F6C6-B595-B4DE294E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235" y="5566163"/>
            <a:ext cx="914400" cy="87667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178267F-6500-1A14-2A57-D539DA1C5E0D}"/>
              </a:ext>
            </a:extLst>
          </p:cNvPr>
          <p:cNvSpPr txBox="1"/>
          <p:nvPr/>
        </p:nvSpPr>
        <p:spPr>
          <a:xfrm>
            <a:off x="515112" y="4493768"/>
            <a:ext cx="283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私钥（唯一，加密，签名）</a:t>
            </a:r>
          </a:p>
        </p:txBody>
      </p:sp>
      <p:pic>
        <p:nvPicPr>
          <p:cNvPr id="5" name="图形 4" descr="旧钥匙 轮廓">
            <a:extLst>
              <a:ext uri="{FF2B5EF4-FFF2-40B4-BE49-F238E27FC236}">
                <a16:creationId xmlns:a16="http://schemas.microsoft.com/office/drawing/2014/main" id="{1E7B7170-8417-353B-F838-B2E08E464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651" y="4899673"/>
            <a:ext cx="624995" cy="6249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52BC01-41A8-4776-0F99-515F9951C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178" y="5566163"/>
            <a:ext cx="775469" cy="900333"/>
          </a:xfrm>
          <a:prstGeom prst="rect">
            <a:avLst/>
          </a:prstGeom>
        </p:spPr>
      </p:pic>
      <p:pic>
        <p:nvPicPr>
          <p:cNvPr id="7" name="图形 6" descr="钥匙 轮廓">
            <a:extLst>
              <a:ext uri="{FF2B5EF4-FFF2-40B4-BE49-F238E27FC236}">
                <a16:creationId xmlns:a16="http://schemas.microsoft.com/office/drawing/2014/main" id="{FE891938-15D0-9E9D-1BEC-2DCF7F62D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4178" y="4802441"/>
            <a:ext cx="914400" cy="914400"/>
          </a:xfrm>
          <a:prstGeom prst="rect">
            <a:avLst/>
          </a:prstGeom>
        </p:spPr>
      </p:pic>
      <p:pic>
        <p:nvPicPr>
          <p:cNvPr id="10" name="图形 9" descr="钥匙 轮廓">
            <a:extLst>
              <a:ext uri="{FF2B5EF4-FFF2-40B4-BE49-F238E27FC236}">
                <a16:creationId xmlns:a16="http://schemas.microsoft.com/office/drawing/2014/main" id="{F848F32A-5ACC-A33C-146B-777320590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0943" y="4796465"/>
            <a:ext cx="914400" cy="914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482760-9027-3756-CEE5-9731E77DE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369" y="5534942"/>
            <a:ext cx="1001138" cy="8787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BB00D22-DF13-0D5D-A61F-ABE9D21100CD}"/>
              </a:ext>
            </a:extLst>
          </p:cNvPr>
          <p:cNvSpPr txBox="1"/>
          <p:nvPr/>
        </p:nvSpPr>
        <p:spPr>
          <a:xfrm>
            <a:off x="4487059" y="4305161"/>
            <a:ext cx="3022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公钥（公开的、人人可获得，用于加密和验证签名身份</a:t>
            </a:r>
          </a:p>
        </p:txBody>
      </p:sp>
      <p:pic>
        <p:nvPicPr>
          <p:cNvPr id="13" name="图形 12" descr="生气的脸轮廓 轮廓">
            <a:extLst>
              <a:ext uri="{FF2B5EF4-FFF2-40B4-BE49-F238E27FC236}">
                <a16:creationId xmlns:a16="http://schemas.microsoft.com/office/drawing/2014/main" id="{1FE2EDD6-9AB3-E400-3E9E-89BC87297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7137" y="5426730"/>
            <a:ext cx="914400" cy="914400"/>
          </a:xfrm>
          <a:prstGeom prst="rect">
            <a:avLst/>
          </a:prstGeom>
        </p:spPr>
      </p:pic>
      <p:pic>
        <p:nvPicPr>
          <p:cNvPr id="14" name="图形 13" descr="关闭 轮廓">
            <a:extLst>
              <a:ext uri="{FF2B5EF4-FFF2-40B4-BE49-F238E27FC236}">
                <a16:creationId xmlns:a16="http://schemas.microsoft.com/office/drawing/2014/main" id="{F1779579-AF0E-F007-B283-3B83CB556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85451" y="514779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CFEB623-4BB0-FD2F-527A-C713CFE40D27}"/>
              </a:ext>
            </a:extLst>
          </p:cNvPr>
          <p:cNvSpPr txBox="1"/>
          <p:nvPr/>
        </p:nvSpPr>
        <p:spPr>
          <a:xfrm>
            <a:off x="8890793" y="4796263"/>
            <a:ext cx="2293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没有私钥，无法解密</a:t>
            </a:r>
          </a:p>
        </p:txBody>
      </p:sp>
      <p:pic>
        <p:nvPicPr>
          <p:cNvPr id="16" name="图形 15" descr="信封 轮廓">
            <a:extLst>
              <a:ext uri="{FF2B5EF4-FFF2-40B4-BE49-F238E27FC236}">
                <a16:creationId xmlns:a16="http://schemas.microsoft.com/office/drawing/2014/main" id="{6EBDA8FC-569D-5939-70BD-1311E37DE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70965" y="54993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03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六、编程</a:t>
            </a:r>
            <a:r>
              <a:rPr lang="en-US" altLang="zh-CN" sz="4400" dirty="0"/>
              <a:t>(1)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11155680" cy="48014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编程归根结底，就是对前面所说的这些东西进行操控，包括数据和设备。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所有机器都有一张操作命令清单，让你可以控制它。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有时这个清单非常简短。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1800" dirty="0">
                <a:latin typeface="+mn-ea"/>
              </a:rPr>
              <a:t>电水壶就只允许两种操作：打开和关闭。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1800" dirty="0">
                <a:latin typeface="+mn-ea"/>
              </a:rPr>
              <a:t>CD</a:t>
            </a:r>
            <a:r>
              <a:rPr lang="zh-CN" altLang="en-US" sz="1800" dirty="0">
                <a:latin typeface="+mn-ea"/>
              </a:rPr>
              <a:t>播放器稍微复杂点，除了打开和关闭以外，还能调节音量、播放、暂停、快进、快退、随机播放等。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endParaRPr lang="zh-CN" altLang="en-US" sz="1800" dirty="0">
              <a:latin typeface="+mn-ea"/>
            </a:endParaRP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计算机和其他机器一样，也有一张操作命令清单。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比如，可以命令计算机把两个数相加。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这种操作命令的总和就是计算机的机器语言（</a:t>
            </a:r>
            <a:r>
              <a:rPr lang="en-US" altLang="zh-CN" sz="1800" dirty="0">
                <a:latin typeface="+mn-ea"/>
              </a:rPr>
              <a:t>machine language</a:t>
            </a:r>
            <a:r>
              <a:rPr lang="zh-CN" altLang="en-US" sz="1800" dirty="0">
                <a:latin typeface="+mn-ea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173087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C95EF-F033-7FC2-C989-F0607358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33C9E-4FC0-BDE7-EB90-093DB4926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六、编程</a:t>
            </a:r>
            <a:r>
              <a:rPr lang="en-US" altLang="zh-CN" sz="4400" dirty="0"/>
              <a:t>(2)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14C565-22EF-7114-D7BB-DDF45193D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11149584" cy="2451908"/>
          </a:xfrm>
          <a:noFill/>
        </p:spPr>
        <p:txBody>
          <a:bodyPr/>
          <a:lstStyle/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计算机刚发明的时候，所有程序就是一条条机器语言的命令。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没过多久，程序就改成使用汇编语言了，它要比机器语言写起来稍微方便一点。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命令清单还是一样的，就是每个命令换了一个更人性化的名字。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机器语言的加法命令是</a:t>
            </a:r>
            <a:r>
              <a:rPr lang="en-US" altLang="zh-CN" sz="1800" dirty="0">
                <a:latin typeface="+mn-ea"/>
              </a:rPr>
              <a:t>11001101</a:t>
            </a:r>
            <a:r>
              <a:rPr lang="zh-CN" altLang="en-US" sz="1800" dirty="0">
                <a:latin typeface="+mn-ea"/>
              </a:rPr>
              <a:t>，这可能就是计算机内部的加法表达方式，但是在汇编语言中，这条命令就改成了</a:t>
            </a:r>
            <a:r>
              <a:rPr lang="en-US" altLang="zh-CN" sz="1800" dirty="0">
                <a:latin typeface="+mn-ea"/>
              </a:rPr>
              <a:t>add</a:t>
            </a:r>
            <a:r>
              <a:rPr lang="zh-CN" altLang="en-US" sz="1800" dirty="0">
                <a:latin typeface="+mn-ea"/>
              </a:rPr>
              <a:t>。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机器语言和汇编语言的共同问题就是，只能让大多数计算机做一些很简单的事情。</a:t>
            </a:r>
          </a:p>
          <a:p>
            <a:pPr marL="0" indent="0">
              <a:buNone/>
            </a:pPr>
            <a:endParaRPr lang="zh-CN" altLang="en-US" sz="1800" dirty="0">
              <a:latin typeface="+mn-ea"/>
            </a:endParaRPr>
          </a:p>
          <a:p>
            <a:pPr marL="0" indent="0">
              <a:buNone/>
            </a:pPr>
            <a:endParaRPr lang="zh-CN" altLang="en-US" sz="18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FBA530-88D4-198A-D2C9-A6933055F860}"/>
              </a:ext>
            </a:extLst>
          </p:cNvPr>
          <p:cNvSpPr txBox="1"/>
          <p:nvPr/>
        </p:nvSpPr>
        <p:spPr>
          <a:xfrm>
            <a:off x="4533900" y="4458490"/>
            <a:ext cx="713689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+mn-ea"/>
              </a:rPr>
              <a:t>	x&lt;-10	// </a:t>
            </a:r>
            <a:r>
              <a:rPr lang="zh-CN" altLang="en-US" i="1" dirty="0">
                <a:latin typeface="+mn-ea"/>
              </a:rPr>
              <a:t>将数字</a:t>
            </a:r>
            <a:r>
              <a:rPr lang="en-US" altLang="zh-CN" i="1" dirty="0">
                <a:latin typeface="+mn-ea"/>
              </a:rPr>
              <a:t>10</a:t>
            </a:r>
            <a:r>
              <a:rPr lang="zh-CN" altLang="en-US" i="1" dirty="0">
                <a:latin typeface="+mn-ea"/>
              </a:rPr>
              <a:t>存入内存地址</a:t>
            </a:r>
            <a:r>
              <a:rPr lang="en-US" altLang="zh-CN" i="1" dirty="0">
                <a:latin typeface="+mn-ea"/>
              </a:rPr>
              <a:t>0</a:t>
            </a:r>
          </a:p>
          <a:p>
            <a:r>
              <a:rPr lang="en-US" altLang="zh-CN" i="1" dirty="0">
                <a:latin typeface="+mn-ea"/>
              </a:rPr>
              <a:t>a:	if x&lt;0 </a:t>
            </a:r>
            <a:r>
              <a:rPr lang="en-US" altLang="zh-CN" i="1" dirty="0" err="1">
                <a:latin typeface="+mn-ea"/>
              </a:rPr>
              <a:t>goto</a:t>
            </a:r>
            <a:r>
              <a:rPr lang="en-US" altLang="zh-CN" i="1" dirty="0">
                <a:latin typeface="+mn-ea"/>
              </a:rPr>
              <a:t> b	// </a:t>
            </a:r>
            <a:r>
              <a:rPr lang="zh-CN" altLang="en-US" i="1" dirty="0">
                <a:latin typeface="+mn-ea"/>
              </a:rPr>
              <a:t>如果内存地址</a:t>
            </a:r>
            <a:r>
              <a:rPr lang="en-US" altLang="zh-CN" i="1" dirty="0">
                <a:latin typeface="+mn-ea"/>
              </a:rPr>
              <a:t>0</a:t>
            </a:r>
            <a:r>
              <a:rPr lang="zh-CN" altLang="en-US" i="1" dirty="0">
                <a:latin typeface="+mn-ea"/>
              </a:rPr>
              <a:t>的值为负数，跳到</a:t>
            </a:r>
            <a:r>
              <a:rPr lang="en-US" altLang="zh-CN" i="1" dirty="0">
                <a:latin typeface="+mn-ea"/>
              </a:rPr>
              <a:t>b</a:t>
            </a:r>
            <a:r>
              <a:rPr lang="zh-CN" altLang="en-US" i="1" dirty="0">
                <a:latin typeface="+mn-ea"/>
              </a:rPr>
              <a:t>行</a:t>
            </a:r>
          </a:p>
          <a:p>
            <a:r>
              <a:rPr lang="en-US" altLang="zh-CN" i="1" dirty="0">
                <a:latin typeface="+mn-ea"/>
              </a:rPr>
              <a:t>	ring	// </a:t>
            </a:r>
            <a:r>
              <a:rPr lang="zh-CN" altLang="en-US" i="1" dirty="0">
                <a:latin typeface="+mn-ea"/>
              </a:rPr>
              <a:t>蜂鸣器发出声音</a:t>
            </a:r>
          </a:p>
          <a:p>
            <a:r>
              <a:rPr lang="zh-CN" altLang="en-US" i="1" dirty="0">
                <a:latin typeface="+mn-ea"/>
              </a:rPr>
              <a:t>	</a:t>
            </a:r>
            <a:r>
              <a:rPr lang="en-US" altLang="zh-CN" i="1" dirty="0">
                <a:latin typeface="+mn-ea"/>
              </a:rPr>
              <a:t>x-1	//</a:t>
            </a:r>
            <a:r>
              <a:rPr lang="zh-CN" altLang="en-US" i="1" dirty="0">
                <a:latin typeface="+mn-ea"/>
              </a:rPr>
              <a:t>将内存地址</a:t>
            </a:r>
            <a:r>
              <a:rPr lang="en-US" altLang="zh-CN" i="1" dirty="0">
                <a:latin typeface="+mn-ea"/>
              </a:rPr>
              <a:t>0</a:t>
            </a:r>
            <a:r>
              <a:rPr lang="zh-CN" altLang="en-US" i="1" dirty="0">
                <a:latin typeface="+mn-ea"/>
              </a:rPr>
              <a:t>的值减</a:t>
            </a:r>
            <a:r>
              <a:rPr lang="en-US" altLang="zh-CN" i="1" dirty="0">
                <a:latin typeface="+mn-ea"/>
              </a:rPr>
              <a:t>1</a:t>
            </a:r>
          </a:p>
          <a:p>
            <a:r>
              <a:rPr lang="en-US" altLang="zh-CN" i="1" dirty="0">
                <a:latin typeface="+mn-ea"/>
              </a:rPr>
              <a:t>	</a:t>
            </a:r>
            <a:r>
              <a:rPr lang="en-US" altLang="zh-CN" i="1" dirty="0" err="1">
                <a:latin typeface="+mn-ea"/>
              </a:rPr>
              <a:t>goto</a:t>
            </a:r>
            <a:r>
              <a:rPr lang="en-US" altLang="zh-CN" i="1" dirty="0">
                <a:latin typeface="+mn-ea"/>
              </a:rPr>
              <a:t> a	// </a:t>
            </a:r>
            <a:r>
              <a:rPr lang="zh-CN" altLang="en-US" i="1" dirty="0">
                <a:latin typeface="+mn-ea"/>
              </a:rPr>
              <a:t>跳到</a:t>
            </a:r>
            <a:r>
              <a:rPr lang="en-US" altLang="zh-CN" i="1" dirty="0">
                <a:latin typeface="+mn-ea"/>
              </a:rPr>
              <a:t>a</a:t>
            </a:r>
            <a:r>
              <a:rPr lang="zh-CN" altLang="en-US" i="1" dirty="0">
                <a:latin typeface="+mn-ea"/>
              </a:rPr>
              <a:t>行</a:t>
            </a:r>
          </a:p>
          <a:p>
            <a:r>
              <a:rPr lang="en-US" altLang="zh-CN" i="1" dirty="0">
                <a:latin typeface="+mn-ea"/>
              </a:rPr>
              <a:t>b:</a:t>
            </a:r>
          </a:p>
          <a:p>
            <a:r>
              <a:rPr lang="en-US" altLang="zh-CN" i="1" dirty="0">
                <a:latin typeface="+mn-ea"/>
              </a:rPr>
              <a:t>	……</a:t>
            </a:r>
            <a:r>
              <a:rPr lang="zh-CN" altLang="en-US" i="1" dirty="0">
                <a:latin typeface="+mn-ea"/>
              </a:rPr>
              <a:t>程序的其他部分</a:t>
            </a:r>
            <a:r>
              <a:rPr lang="en-US" altLang="zh-CN" i="1" dirty="0">
                <a:latin typeface="+mn-ea"/>
              </a:rPr>
              <a:t>……</a:t>
            </a:r>
            <a:endParaRPr lang="zh-CN" altLang="en-US" i="1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B663AC2-1EFB-0470-E09B-908C457238D9}"/>
              </a:ext>
            </a:extLst>
          </p:cNvPr>
          <p:cNvSpPr txBox="1">
            <a:spLocks/>
          </p:cNvSpPr>
          <p:nvPr/>
        </p:nvSpPr>
        <p:spPr>
          <a:xfrm>
            <a:off x="521208" y="4362499"/>
            <a:ext cx="3682492" cy="245190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+mn-ea"/>
              </a:rPr>
              <a:t>比如，假定你想让计算机的蜂鸣器响</a:t>
            </a:r>
            <a:r>
              <a:rPr lang="en-US" altLang="zh-CN" sz="1800" dirty="0">
                <a:latin typeface="+mn-ea"/>
              </a:rPr>
              <a:t>10</a:t>
            </a:r>
            <a:r>
              <a:rPr lang="zh-CN" altLang="en-US" sz="1800" dirty="0">
                <a:latin typeface="+mn-ea"/>
              </a:rPr>
              <a:t>次，但是不存在一条直接的机器语言命令让电脑重复进行</a:t>
            </a:r>
            <a:r>
              <a:rPr lang="en-US" altLang="zh-CN" sz="1800" dirty="0">
                <a:latin typeface="+mn-ea"/>
              </a:rPr>
              <a:t>n</a:t>
            </a:r>
            <a:r>
              <a:rPr lang="zh-CN" altLang="en-US" sz="1800" dirty="0">
                <a:latin typeface="+mn-ea"/>
              </a:rPr>
              <a:t>次操作，所以只能用机器语言写出下面这样的程序：</a:t>
            </a:r>
            <a:endParaRPr lang="en-US" altLang="zh-CN" sz="18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8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5588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58E8-9B5F-56BA-EA25-1BE7ADA9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72FF8-24A7-983A-713E-B7019FC94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4400" dirty="0"/>
              <a:t>六、编程</a:t>
            </a:r>
            <a:r>
              <a:rPr lang="en-US" altLang="zh-CN" sz="4400" dirty="0"/>
              <a:t>(3)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29737-24BB-E67D-918F-A70194956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6298692" cy="37346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如果只是为了让蜂鸣器响</a:t>
            </a:r>
            <a:r>
              <a:rPr lang="en-US" altLang="zh-CN" sz="1800" dirty="0">
                <a:latin typeface="+mn-ea"/>
              </a:rPr>
              <a:t>10</a:t>
            </a:r>
            <a:r>
              <a:rPr lang="zh-CN" altLang="en-US" sz="1800" dirty="0">
                <a:latin typeface="+mn-ea"/>
              </a:rPr>
              <a:t>次就不得不写这么多代码，不难想象写出一个文字处理器或电子表格将是一项多么浩大的工程。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顺便说一句，请再看一下上面的程序。蜂鸣器真的会响</a:t>
            </a:r>
            <a:r>
              <a:rPr lang="en-US" altLang="zh-CN" sz="1800" dirty="0">
                <a:latin typeface="+mn-ea"/>
              </a:rPr>
              <a:t>10</a:t>
            </a:r>
            <a:r>
              <a:rPr lang="zh-CN" altLang="en-US" sz="1800" dirty="0">
                <a:latin typeface="+mn-ea"/>
              </a:rPr>
              <a:t>次吗？不，响了</a:t>
            </a:r>
            <a:r>
              <a:rPr lang="en-US" altLang="zh-CN" sz="1800" dirty="0">
                <a:latin typeface="+mn-ea"/>
              </a:rPr>
              <a:t>11</a:t>
            </a:r>
            <a:r>
              <a:rPr lang="zh-CN" altLang="en-US" sz="1800" dirty="0">
                <a:latin typeface="+mn-ea"/>
              </a:rPr>
              <a:t>次。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我不应该在第一行使用</a:t>
            </a:r>
            <a:r>
              <a:rPr lang="en-US" altLang="zh-CN" sz="1800" dirty="0">
                <a:latin typeface="+mn-ea"/>
              </a:rPr>
              <a:t>10</a:t>
            </a:r>
            <a:r>
              <a:rPr lang="zh-CN" altLang="en-US" sz="1800" dirty="0">
                <a:latin typeface="+mn-ea"/>
              </a:rPr>
              <a:t>，而应该使用</a:t>
            </a:r>
            <a:r>
              <a:rPr lang="en-US" altLang="zh-CN" sz="1800" dirty="0">
                <a:latin typeface="+mn-ea"/>
              </a:rPr>
              <a:t>9</a:t>
            </a:r>
            <a:r>
              <a:rPr lang="zh-CN" altLang="en-US" sz="1800" dirty="0">
                <a:latin typeface="+mn-ea"/>
              </a:rPr>
              <a:t>。</a:t>
            </a:r>
          </a:p>
          <a:p>
            <a:pPr marL="0" indent="0">
              <a:buNone/>
            </a:pPr>
            <a:r>
              <a:rPr lang="zh-CN" altLang="en-US" sz="1800" dirty="0">
                <a:latin typeface="+mn-ea"/>
              </a:rPr>
              <a:t>我故意在这个例子中留了一个</a:t>
            </a:r>
            <a:r>
              <a:rPr lang="en-US" altLang="zh-CN" sz="1800" dirty="0">
                <a:latin typeface="+mn-ea"/>
              </a:rPr>
              <a:t>bug</a:t>
            </a:r>
            <a:r>
              <a:rPr lang="zh-CN" altLang="en-US" sz="1800" dirty="0">
                <a:latin typeface="+mn-ea"/>
              </a:rPr>
              <a:t>，证明编程语言的一个重要特点：一个操作所需的代码越多，就越难避免</a:t>
            </a:r>
            <a:r>
              <a:rPr lang="en-US" altLang="zh-CN" sz="1800" dirty="0">
                <a:latin typeface="+mn-ea"/>
              </a:rPr>
              <a:t>bug</a:t>
            </a:r>
            <a:r>
              <a:rPr lang="zh-CN" altLang="en-US" sz="1800" dirty="0">
                <a:latin typeface="+mn-ea"/>
              </a:rPr>
              <a:t>，也越难发现它们。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3B8046-C6A8-498C-4B82-7620ACE7F260}"/>
              </a:ext>
            </a:extLst>
          </p:cNvPr>
          <p:cNvSpPr txBox="1"/>
          <p:nvPr/>
        </p:nvSpPr>
        <p:spPr>
          <a:xfrm>
            <a:off x="521208" y="5548929"/>
            <a:ext cx="60960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i="1" dirty="0">
                <a:latin typeface="+mn-ea"/>
              </a:rPr>
              <a:t>高级语言</a:t>
            </a:r>
            <a:endParaRPr lang="en-US" altLang="zh-CN" i="1" dirty="0">
              <a:latin typeface="+mn-ea"/>
            </a:endParaRPr>
          </a:p>
          <a:p>
            <a:r>
              <a:rPr lang="en-US" altLang="zh-CN" i="1" dirty="0" err="1">
                <a:latin typeface="+mn-ea"/>
              </a:rPr>
              <a:t>dotimes</a:t>
            </a:r>
            <a:r>
              <a:rPr lang="en-US" altLang="zh-CN" i="1" dirty="0">
                <a:latin typeface="+mn-ea"/>
              </a:rPr>
              <a:t> 10	// </a:t>
            </a:r>
            <a:r>
              <a:rPr lang="zh-CN" altLang="en-US" i="1" dirty="0">
                <a:latin typeface="+mn-ea"/>
              </a:rPr>
              <a:t>蜂鸣器响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26916F-95EC-5D20-EB04-9686D2F34FC9}"/>
              </a:ext>
            </a:extLst>
          </p:cNvPr>
          <p:cNvSpPr txBox="1"/>
          <p:nvPr/>
        </p:nvSpPr>
        <p:spPr>
          <a:xfrm>
            <a:off x="7429500" y="1538575"/>
            <a:ext cx="38227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程序执行的顺序。</a:t>
            </a:r>
          </a:p>
          <a:p>
            <a:endParaRPr lang="zh-CN" altLang="en-US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、直接顺序执行。</a:t>
            </a:r>
          </a:p>
          <a:p>
            <a:endParaRPr lang="zh-CN" altLang="en-US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、条件跳转执行。</a:t>
            </a:r>
          </a:p>
          <a:p>
            <a:endParaRPr lang="zh-CN" altLang="en-US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、循环重复执行。</a:t>
            </a:r>
          </a:p>
          <a:p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</a:rPr>
              <a:t>解释型语言和编译型语言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CN" altLang="en-US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</a:rPr>
              <a:t>编程语言介绍及演示</a:t>
            </a:r>
          </a:p>
        </p:txBody>
      </p:sp>
    </p:spTree>
    <p:extLst>
      <p:ext uri="{BB962C8B-B14F-4D97-AF65-F5344CB8AC3E}">
        <p14:creationId xmlns:p14="http://schemas.microsoft.com/office/powerpoint/2010/main" val="4029609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1CD7-9FB1-F657-C907-C250816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1492E-272F-CB51-C162-76EBACDA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pPr algn="ctr"/>
            <a:r>
              <a:rPr lang="zh-CN" altLang="en-US" sz="4400" dirty="0"/>
              <a:t>计算机编程开门课</a:t>
            </a:r>
            <a:br>
              <a:rPr lang="en-US" altLang="zh-CN" sz="4400" dirty="0"/>
            </a:br>
            <a:r>
              <a:rPr lang="zh-CN" altLang="en-US" sz="4400" dirty="0"/>
              <a:t>感谢您的关注！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A7921E-A193-DF0A-DDCC-CA2CFD1B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5455716"/>
            <a:ext cx="11155680" cy="91352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400" dirty="0">
                <a:latin typeface="+mn-ea"/>
              </a:rPr>
              <a:t>浥尘伙伴社团 </a:t>
            </a:r>
            <a:r>
              <a:rPr lang="en-US" altLang="zh-CN" sz="1400" dirty="0">
                <a:latin typeface="+mn-ea"/>
              </a:rPr>
              <a:t>/ 2026.6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A1A7E-F71D-77E4-DC09-0880DD91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28" y="2544613"/>
            <a:ext cx="2457143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72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3241</Words>
  <Application>Microsoft Office PowerPoint</Application>
  <PresentationFormat>宽屏</PresentationFormat>
  <Paragraphs>393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Microsoft YaHei</vt:lpstr>
      <vt:lpstr>Arial</vt:lpstr>
      <vt:lpstr>Bierstadt</vt:lpstr>
      <vt:lpstr>Wingdings</vt:lpstr>
      <vt:lpstr>GestaltVTI</vt:lpstr>
      <vt:lpstr>计算机编程开门课</vt:lpstr>
      <vt:lpstr>一、计算机的发明（1）</vt:lpstr>
      <vt:lpstr>一、计算机的发明（2）</vt:lpstr>
      <vt:lpstr>一、计算机的发明（3）</vt:lpstr>
      <vt:lpstr>一、计算机的发明（4）</vt:lpstr>
      <vt:lpstr>一、计算机的发明（4）</vt:lpstr>
      <vt:lpstr>一、计算机的发明（4）</vt:lpstr>
      <vt:lpstr>二、计算机的基本组成（1）</vt:lpstr>
      <vt:lpstr>二、计算机的基本组成（2）</vt:lpstr>
      <vt:lpstr>二、计算机的基本组成（3）</vt:lpstr>
      <vt:lpstr>三、数据表示和运算（1）</vt:lpstr>
      <vt:lpstr>三、数据表示和运算（2）</vt:lpstr>
      <vt:lpstr>三、数据表示和运算（3）</vt:lpstr>
      <vt:lpstr>三、数据表示和运算（4）</vt:lpstr>
      <vt:lpstr>三、数据表示和运算（5）</vt:lpstr>
      <vt:lpstr>四、操作系统（1）</vt:lpstr>
      <vt:lpstr>四、操作系统（2）</vt:lpstr>
      <vt:lpstr>四、操作系统（3）</vt:lpstr>
      <vt:lpstr>五、数学的重要性——算法（1）</vt:lpstr>
      <vt:lpstr>五、数学的重要性——算法（2）</vt:lpstr>
      <vt:lpstr>五、数学的重要性——算法（3）</vt:lpstr>
      <vt:lpstr>五、数学的重要性——算法（4）</vt:lpstr>
      <vt:lpstr>五、数学的重要性——算法（5）</vt:lpstr>
      <vt:lpstr>五、数学的重要性——算法（6）</vt:lpstr>
      <vt:lpstr>五、数学的重要性——算法（7）</vt:lpstr>
      <vt:lpstr>六、编程(1)</vt:lpstr>
      <vt:lpstr>六、编程(2)</vt:lpstr>
      <vt:lpstr>六、编程(3)</vt:lpstr>
      <vt:lpstr>计算机编程开门课 感谢您的关注！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浥尘伙伴社团原创：计算机编程开门课</dc:title>
  <dc:creator>浥尘伙伴社团高老师</dc:creator>
  <cp:lastModifiedBy>ABC</cp:lastModifiedBy>
  <cp:revision>874</cp:revision>
  <dcterms:created xsi:type="dcterms:W3CDTF">2025-09-26T07:10:55Z</dcterms:created>
  <dcterms:modified xsi:type="dcterms:W3CDTF">2026-05-26T07:26:27Z</dcterms:modified>
</cp:coreProperties>
</file>