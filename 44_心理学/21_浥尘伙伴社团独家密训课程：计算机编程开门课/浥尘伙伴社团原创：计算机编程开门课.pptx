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8"/>
  </p:notesMasterIdLst>
  <p:sldIdLst>
    <p:sldId id="256" r:id="rId2"/>
    <p:sldId id="257" r:id="rId3"/>
    <p:sldId id="295" r:id="rId4"/>
    <p:sldId id="296" r:id="rId5"/>
    <p:sldId id="297" r:id="rId6"/>
    <p:sldId id="300" r:id="rId7"/>
    <p:sldId id="299" r:id="rId8"/>
    <p:sldId id="259" r:id="rId9"/>
    <p:sldId id="301" r:id="rId10"/>
    <p:sldId id="302" r:id="rId11"/>
    <p:sldId id="258" r:id="rId12"/>
    <p:sldId id="298" r:id="rId13"/>
    <p:sldId id="304" r:id="rId14"/>
    <p:sldId id="303" r:id="rId15"/>
    <p:sldId id="305" r:id="rId16"/>
    <p:sldId id="283" r:id="rId17"/>
    <p:sldId id="306" r:id="rId18"/>
    <p:sldId id="307" r:id="rId19"/>
    <p:sldId id="278" r:id="rId20"/>
    <p:sldId id="309" r:id="rId21"/>
    <p:sldId id="288" r:id="rId22"/>
    <p:sldId id="308" r:id="rId23"/>
    <p:sldId id="260" r:id="rId24"/>
    <p:sldId id="293" r:id="rId25"/>
    <p:sldId id="294" r:id="rId26"/>
    <p:sldId id="292" r:id="rId2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42" autoAdjust="0"/>
    <p:restoredTop sz="94660"/>
  </p:normalViewPr>
  <p:slideViewPr>
    <p:cSldViewPr snapToGrid="0">
      <p:cViewPr varScale="1">
        <p:scale>
          <a:sx n="76" d="100"/>
          <a:sy n="76" d="100"/>
        </p:scale>
        <p:origin x="24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3034E8-7B60-43FC-987C-A54D5D393751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DFCB7D-42D9-486B-87B3-4BC90113BD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338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DFCB7D-42D9-486B-87B3-4BC90113BD5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82318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b"/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280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762753"/>
            <a:ext cx="11155680" cy="936652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28800"/>
            <a:ext cx="11155680" cy="4517136"/>
          </a:xfrm>
        </p:spPr>
        <p:txBody>
          <a:bodyPr/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055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876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44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127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569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288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917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444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71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494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403" y="730521"/>
            <a:ext cx="11155680" cy="988415"/>
          </a:xfrm>
          <a:prstGeom prst="rect">
            <a:avLst/>
          </a:prstGeom>
        </p:spPr>
        <p:txBody>
          <a:bodyPr lIns="109728" tIns="109728" rIns="109728" bIns="91440"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1792088"/>
            <a:ext cx="11155680" cy="4553848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232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89" r:id="rId6"/>
    <p:sldLayoutId id="2147483685" r:id="rId7"/>
    <p:sldLayoutId id="2147483686" r:id="rId8"/>
    <p:sldLayoutId id="2147483687" r:id="rId9"/>
    <p:sldLayoutId id="2147483688" r:id="rId10"/>
    <p:sldLayoutId id="214748369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800" b="1" kern="1200" spc="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5000"/>
        </a:lnSpc>
        <a:spcBef>
          <a:spcPts val="10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抽象遗传概念">
            <a:extLst>
              <a:ext uri="{FF2B5EF4-FFF2-40B4-BE49-F238E27FC236}">
                <a16:creationId xmlns:a16="http://schemas.microsoft.com/office/drawing/2014/main" id="{99060100-A8AA-6674-2EEF-E313A8EA5A0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2077292-5498-36F7-C035-FCC8AE3838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739969"/>
            <a:ext cx="6828905" cy="960120"/>
          </a:xfrm>
          <a:ln>
            <a:noFill/>
          </a:ln>
        </p:spPr>
        <p:txBody>
          <a:bodyPr anchor="ctr">
            <a:noAutofit/>
          </a:bodyPr>
          <a:lstStyle/>
          <a:p>
            <a:r>
              <a:rPr lang="zh-CN" altLang="en-US" sz="5400" dirty="0"/>
              <a:t>计算机编程开门课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73B8A1-D398-BE75-6533-FFFB3C95EA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68965" y="5739969"/>
            <a:ext cx="3366306" cy="960120"/>
          </a:xfrm>
        </p:spPr>
        <p:txBody>
          <a:bodyPr anchor="ctr">
            <a:noAutofit/>
          </a:bodyPr>
          <a:lstStyle/>
          <a:p>
            <a:pPr algn="r"/>
            <a:r>
              <a:rPr lang="zh-CN" altLang="en-US" sz="1800" dirty="0"/>
              <a:t>浥尘伙伴社团内部密训课程</a:t>
            </a:r>
            <a:endParaRPr lang="en-US" altLang="zh-CN" sz="1800" dirty="0"/>
          </a:p>
          <a:p>
            <a:pPr algn="r"/>
            <a:r>
              <a:rPr lang="zh-CN" altLang="en-US" sz="1800" dirty="0"/>
              <a:t> </a:t>
            </a:r>
            <a:r>
              <a:rPr lang="en-US" altLang="zh-CN" sz="1800" dirty="0"/>
              <a:t>2026</a:t>
            </a:r>
            <a:r>
              <a:rPr lang="zh-CN" altLang="en-US" sz="1800" dirty="0"/>
              <a:t>年</a:t>
            </a:r>
            <a:r>
              <a:rPr lang="en-US" altLang="zh-CN" sz="1800" dirty="0"/>
              <a:t>5</a:t>
            </a:r>
            <a:r>
              <a:rPr lang="zh-CN" altLang="en-US" sz="1800" dirty="0"/>
              <a:t>月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591D6BB-48ED-6480-AF23-1FC615EF83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35272" y="5641734"/>
            <a:ext cx="1152372" cy="1152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282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11E1E6-6BB0-22D9-BC45-494D62AE4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一、计算机的发明（</a:t>
            </a:r>
            <a:r>
              <a:rPr lang="en-US" altLang="zh-CN" sz="4400" dirty="0"/>
              <a:t>1</a:t>
            </a:r>
            <a:r>
              <a:rPr lang="zh-CN" altLang="en-US" sz="4400" dirty="0"/>
              <a:t>）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F9DBE2-383A-D9C1-E91B-E61391090A26}"/>
              </a:ext>
            </a:extLst>
          </p:cNvPr>
          <p:cNvSpPr txBox="1"/>
          <p:nvPr/>
        </p:nvSpPr>
        <p:spPr>
          <a:xfrm>
            <a:off x="515111" y="1599392"/>
            <a:ext cx="111556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计算机不是某个人突然发明的，而是几百年来，从算盘→齿轮→继电器→真空管→芯片，一步一步“叠”出来的，再加上数学理论和战争需求的推动。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DE905209-D9FD-C359-BB21-A0FB4AB4C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145" y="2522721"/>
            <a:ext cx="2673350" cy="1884179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900CB28E-AC3C-1715-5CDE-6FD6EF4B5B1D}"/>
              </a:ext>
            </a:extLst>
          </p:cNvPr>
          <p:cNvSpPr txBox="1"/>
          <p:nvPr/>
        </p:nvSpPr>
        <p:spPr>
          <a:xfrm>
            <a:off x="3352145" y="5046583"/>
            <a:ext cx="26733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②</a:t>
            </a:r>
            <a:r>
              <a:rPr lang="en-US" altLang="zh-CN" dirty="0"/>
              <a:t>1642 </a:t>
            </a:r>
            <a:r>
              <a:rPr lang="zh-CN" altLang="en-US" dirty="0"/>
              <a:t>年法国帕斯卡做了一台齿轮加法机（帕斯卡林），用齿轮转来转去算加减。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C7C2BF8-BF86-5FA6-A076-387D5D7428D2}"/>
              </a:ext>
            </a:extLst>
          </p:cNvPr>
          <p:cNvSpPr txBox="1"/>
          <p:nvPr/>
        </p:nvSpPr>
        <p:spPr>
          <a:xfrm>
            <a:off x="6096000" y="4822397"/>
            <a:ext cx="274385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③</a:t>
            </a:r>
            <a:r>
              <a:rPr lang="en-US" altLang="zh-CN" dirty="0"/>
              <a:t>1822–1834 </a:t>
            </a:r>
            <a:r>
              <a:rPr lang="zh-CN" altLang="en-US" dirty="0"/>
              <a:t>年（英国）巴贝奇设计差分机</a:t>
            </a:r>
            <a:r>
              <a:rPr lang="en-US" altLang="zh-CN" dirty="0"/>
              <a:t>+</a:t>
            </a:r>
            <a:r>
              <a:rPr lang="zh-CN" altLang="en-US" dirty="0"/>
              <a:t>分析机</a:t>
            </a:r>
            <a:r>
              <a:rPr lang="en-US" altLang="zh-CN" dirty="0"/>
              <a:t>—— </a:t>
            </a:r>
            <a:r>
              <a:rPr lang="zh-CN" altLang="en-US" dirty="0"/>
              <a:t>已经有“输入、运算、存储、输出”，和现代电脑结构几乎一样！</a:t>
            </a: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E9F09D7D-18C4-508C-FE66-585D93DC7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913" y="2531571"/>
            <a:ext cx="2681877" cy="1875329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919198C1-65FA-6161-09C2-30D374F1943F}"/>
              </a:ext>
            </a:extLst>
          </p:cNvPr>
          <p:cNvSpPr txBox="1"/>
          <p:nvPr/>
        </p:nvSpPr>
        <p:spPr>
          <a:xfrm>
            <a:off x="8988912" y="4492586"/>
            <a:ext cx="268187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④</a:t>
            </a:r>
            <a:r>
              <a:rPr lang="en-US" altLang="zh-CN" dirty="0"/>
              <a:t>1946</a:t>
            </a:r>
            <a:r>
              <a:rPr lang="zh-CN" altLang="en-US" dirty="0"/>
              <a:t>年</a:t>
            </a:r>
            <a:r>
              <a:rPr lang="en-US" altLang="zh-CN" dirty="0"/>
              <a:t>2</a:t>
            </a:r>
            <a:r>
              <a:rPr lang="zh-CN" altLang="en-US" dirty="0"/>
              <a:t>月</a:t>
            </a:r>
            <a:r>
              <a:rPr lang="en-US" altLang="zh-CN" dirty="0"/>
              <a:t>14</a:t>
            </a:r>
            <a:r>
              <a:rPr lang="zh-CN" altLang="en-US" dirty="0"/>
              <a:t>日美国宾大莫奇利、埃克特发明</a:t>
            </a:r>
            <a:r>
              <a:rPr lang="en-US" altLang="zh-CN" dirty="0"/>
              <a:t>ENIAC—— </a:t>
            </a:r>
            <a:r>
              <a:rPr lang="zh-CN" altLang="en-US" dirty="0"/>
              <a:t>第一台通用电子数字计算机。</a:t>
            </a:r>
          </a:p>
          <a:p>
            <a:r>
              <a:rPr lang="zh-CN" altLang="en-US" dirty="0"/>
              <a:t>用了</a:t>
            </a:r>
            <a:r>
              <a:rPr lang="en-US" altLang="zh-CN" dirty="0"/>
              <a:t>18000 </a:t>
            </a:r>
            <a:r>
              <a:rPr lang="zh-CN" altLang="en-US" dirty="0"/>
              <a:t>个真空管，占地</a:t>
            </a:r>
            <a:r>
              <a:rPr lang="en-US" altLang="zh-CN" dirty="0"/>
              <a:t>170㎡</a:t>
            </a:r>
            <a:r>
              <a:rPr lang="zh-CN" altLang="en-US" dirty="0"/>
              <a:t>，重 </a:t>
            </a:r>
            <a:r>
              <a:rPr lang="en-US" altLang="zh-CN" dirty="0"/>
              <a:t>30 </a:t>
            </a:r>
            <a:r>
              <a:rPr lang="zh-CN" altLang="en-US" dirty="0"/>
              <a:t>吨，耗电</a:t>
            </a:r>
            <a:r>
              <a:rPr lang="en-US" altLang="zh-CN" dirty="0"/>
              <a:t>150kW</a:t>
            </a:r>
            <a:r>
              <a:rPr lang="zh-CN" altLang="en-US" dirty="0"/>
              <a:t>，每秒约</a:t>
            </a:r>
            <a:r>
              <a:rPr lang="en-US" altLang="zh-CN" dirty="0"/>
              <a:t>5000</a:t>
            </a:r>
            <a:r>
              <a:rPr lang="zh-CN" altLang="en-US" dirty="0"/>
              <a:t>次加法。</a:t>
            </a: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A5078399-7330-2C13-07E9-C9BA697202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6507" y="2531571"/>
            <a:ext cx="2673351" cy="1875329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D8E9409A-DDF0-08DC-C5A4-A6B0425D25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111" y="2531571"/>
            <a:ext cx="2654463" cy="1875329"/>
          </a:xfrm>
          <a:prstGeom prst="rect">
            <a:avLst/>
          </a:prstGeom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25A78C35-3B3D-CA20-9137-A0F7066ED08A}"/>
              </a:ext>
            </a:extLst>
          </p:cNvPr>
          <p:cNvSpPr txBox="1"/>
          <p:nvPr/>
        </p:nvSpPr>
        <p:spPr>
          <a:xfrm>
            <a:off x="515111" y="5237896"/>
            <a:ext cx="27864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①古代中国的算盘和算筹</a:t>
            </a:r>
          </a:p>
        </p:txBody>
      </p:sp>
    </p:spTree>
    <p:extLst>
      <p:ext uri="{BB962C8B-B14F-4D97-AF65-F5344CB8AC3E}">
        <p14:creationId xmlns:p14="http://schemas.microsoft.com/office/powerpoint/2010/main" val="1856905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D0896-272D-0497-C8AF-6FE669FF7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A4AB16-29C8-10A8-5106-3760AEBAD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一、计算机的发明（</a:t>
            </a:r>
            <a:r>
              <a:rPr lang="en-US" altLang="zh-CN" sz="4400" dirty="0"/>
              <a:t>2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2F70084-BC68-EAB8-F267-B6EB82A0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4" y="1576785"/>
            <a:ext cx="11161774" cy="658415"/>
          </a:xfrm>
        </p:spPr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计算机为什么是二进制（</a:t>
            </a:r>
            <a:r>
              <a:rPr lang="en-US" altLang="zh-CN" sz="1800" dirty="0">
                <a:latin typeface="+mn-ea"/>
              </a:rPr>
              <a:t>1</a:t>
            </a:r>
            <a:r>
              <a:rPr lang="zh-CN" altLang="en-US" sz="1800" dirty="0">
                <a:latin typeface="+mn-ea"/>
              </a:rPr>
              <a:t>和</a:t>
            </a:r>
            <a:r>
              <a:rPr lang="en-US" altLang="zh-CN" sz="1800" dirty="0">
                <a:latin typeface="+mn-ea"/>
              </a:rPr>
              <a:t>0</a:t>
            </a:r>
            <a:r>
              <a:rPr lang="zh-CN" altLang="en-US" sz="1800" dirty="0">
                <a:latin typeface="+mn-ea"/>
              </a:rPr>
              <a:t>）？</a:t>
            </a:r>
            <a:endParaRPr lang="en-US" altLang="zh-CN" sz="1800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0BFBF86-66B1-6144-13FC-AA870C5A40F0}"/>
              </a:ext>
            </a:extLst>
          </p:cNvPr>
          <p:cNvSpPr txBox="1"/>
          <p:nvPr/>
        </p:nvSpPr>
        <p:spPr>
          <a:xfrm>
            <a:off x="515112" y="2235200"/>
            <a:ext cx="431088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因为电子元件只有通电、断电两种状态，刚好对应 </a:t>
            </a:r>
            <a:r>
              <a:rPr lang="en-US" altLang="zh-CN" dirty="0"/>
              <a:t>1 </a:t>
            </a:r>
            <a:r>
              <a:rPr lang="zh-CN" altLang="en-US" dirty="0"/>
              <a:t>和 </a:t>
            </a:r>
            <a:r>
              <a:rPr lang="en-US" altLang="zh-CN" dirty="0"/>
              <a:t>0</a:t>
            </a:r>
          </a:p>
          <a:p>
            <a:r>
              <a:rPr lang="en-US" altLang="zh-CN" dirty="0"/>
              <a:t>1. </a:t>
            </a:r>
            <a:r>
              <a:rPr lang="zh-CN" altLang="en-US" dirty="0"/>
              <a:t>硬件最容易实现</a:t>
            </a:r>
          </a:p>
          <a:p>
            <a:r>
              <a:rPr lang="zh-CN" altLang="en-US" dirty="0"/>
              <a:t>    通电 </a:t>
            </a:r>
            <a:r>
              <a:rPr lang="en-US" altLang="zh-CN" dirty="0"/>
              <a:t>= 1</a:t>
            </a:r>
          </a:p>
          <a:p>
            <a:r>
              <a:rPr lang="en-US" altLang="zh-CN" dirty="0"/>
              <a:t>    </a:t>
            </a:r>
            <a:r>
              <a:rPr lang="zh-CN" altLang="en-US" dirty="0"/>
              <a:t>断电 </a:t>
            </a:r>
            <a:r>
              <a:rPr lang="en-US" altLang="zh-CN" dirty="0"/>
              <a:t>= 0</a:t>
            </a:r>
          </a:p>
          <a:p>
            <a:r>
              <a:rPr lang="en-US" altLang="zh-CN" dirty="0"/>
              <a:t>    </a:t>
            </a:r>
            <a:r>
              <a:rPr lang="zh-CN" altLang="en-US" dirty="0"/>
              <a:t>只有两种状态，电路最简单、最稳定。</a:t>
            </a:r>
          </a:p>
          <a:p>
            <a:r>
              <a:rPr lang="zh-CN" altLang="en-US" dirty="0"/>
              <a:t>    如果用十进制，要做出 </a:t>
            </a:r>
            <a:r>
              <a:rPr lang="en-US" altLang="zh-CN" dirty="0"/>
              <a:t>10 </a:t>
            </a:r>
            <a:r>
              <a:rPr lang="zh-CN" altLang="en-US" dirty="0"/>
              <a:t>种电压状态，难度极大、极易出错。</a:t>
            </a:r>
          </a:p>
          <a:p>
            <a:r>
              <a:rPr lang="en-US" altLang="zh-CN" dirty="0"/>
              <a:t>2. </a:t>
            </a:r>
            <a:r>
              <a:rPr lang="zh-CN" altLang="en-US" dirty="0"/>
              <a:t>运算最简单</a:t>
            </a:r>
          </a:p>
          <a:p>
            <a:r>
              <a:rPr lang="zh-CN" altLang="en-US" dirty="0"/>
              <a:t>二进制只有</a:t>
            </a:r>
            <a:r>
              <a:rPr lang="en-US" altLang="zh-CN" dirty="0"/>
              <a:t>0</a:t>
            </a:r>
            <a:r>
              <a:rPr lang="zh-CN" altLang="en-US" dirty="0"/>
              <a:t>、</a:t>
            </a:r>
            <a:r>
              <a:rPr lang="en-US" altLang="zh-CN" dirty="0"/>
              <a:t>1</a:t>
            </a:r>
            <a:r>
              <a:rPr lang="zh-CN" altLang="en-US" dirty="0"/>
              <a:t>，加减逻辑超级简单，芯片计算速度飞快。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61B7DC9-C77A-6C6E-B541-179A55B9C3D3}"/>
              </a:ext>
            </a:extLst>
          </p:cNvPr>
          <p:cNvSpPr txBox="1"/>
          <p:nvPr/>
        </p:nvSpPr>
        <p:spPr>
          <a:xfrm>
            <a:off x="5580886" y="2081243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3. </a:t>
            </a:r>
            <a:r>
              <a:rPr lang="zh-CN" altLang="en-US" dirty="0"/>
              <a:t>抗干扰最强</a:t>
            </a:r>
          </a:p>
          <a:p>
            <a:r>
              <a:rPr lang="zh-CN" altLang="en-US" dirty="0"/>
              <a:t>只有两种信号，电压轻微波动不会认错，不容易传错数据。</a:t>
            </a:r>
          </a:p>
          <a:p>
            <a:r>
              <a:rPr lang="en-US" altLang="zh-CN" dirty="0"/>
              <a:t>4. </a:t>
            </a:r>
            <a:r>
              <a:rPr lang="zh-CN" altLang="en-US" dirty="0"/>
              <a:t>逻辑天生匹配</a:t>
            </a:r>
          </a:p>
          <a:p>
            <a:r>
              <a:rPr lang="zh-CN" altLang="en-US" dirty="0"/>
              <a:t>电脑本质是逻辑电路：真 </a:t>
            </a:r>
            <a:r>
              <a:rPr lang="en-US" altLang="zh-CN" dirty="0"/>
              <a:t>= 1</a:t>
            </a:r>
            <a:r>
              <a:rPr lang="zh-CN" altLang="en-US" dirty="0"/>
              <a:t>，假 </a:t>
            </a:r>
            <a:r>
              <a:rPr lang="en-US" altLang="zh-CN" dirty="0"/>
              <a:t>= 0</a:t>
            </a:r>
            <a:r>
              <a:rPr lang="zh-CN" altLang="en-US" dirty="0"/>
              <a:t>，完美对应二进制。</a:t>
            </a:r>
          </a:p>
          <a:p>
            <a:r>
              <a:rPr lang="zh-CN" altLang="en-US" dirty="0"/>
              <a:t>通俗比喻</a:t>
            </a:r>
          </a:p>
          <a:p>
            <a:r>
              <a:rPr lang="zh-CN" altLang="en-US" dirty="0"/>
              <a:t>电灯只有亮、灭，没法亮一半，电脑就跟电灯一样，只有两种状态，所以只用 </a:t>
            </a:r>
            <a:r>
              <a:rPr lang="en-US" altLang="zh-CN" dirty="0"/>
              <a:t>0 </a:t>
            </a:r>
            <a:r>
              <a:rPr lang="zh-CN" altLang="en-US" dirty="0"/>
              <a:t>和 </a:t>
            </a:r>
            <a:r>
              <a:rPr lang="en-US" altLang="zh-CN" dirty="0"/>
              <a:t>1</a:t>
            </a:r>
            <a:r>
              <a:rPr lang="zh-CN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780347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F3C76-F002-BBA3-FA74-A66CDB883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E62598-213C-6120-38B2-1808402EE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一、计算机的发明（</a:t>
            </a:r>
            <a:r>
              <a:rPr lang="en-US" altLang="zh-CN" sz="4400" dirty="0"/>
              <a:t>3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254EFB-6F34-B371-001A-10B21857B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4" y="1576785"/>
            <a:ext cx="11161774" cy="1497806"/>
          </a:xfrm>
        </p:spPr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朱传榘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>
                <a:latin typeface="+mn-ea"/>
              </a:rPr>
              <a:t>二进制逻辑电路设计</a:t>
            </a:r>
            <a:endParaRPr lang="en-US" altLang="zh-CN" sz="1800" dirty="0">
              <a:latin typeface="+mn-ea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512DA5F-8659-C6CA-4CE8-342C88E7D5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112" y="2297681"/>
            <a:ext cx="2660073" cy="3200400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775EBADF-6808-9523-3B66-D6E2AE51FF3D}"/>
              </a:ext>
            </a:extLst>
          </p:cNvPr>
          <p:cNvSpPr txBox="1"/>
          <p:nvPr/>
        </p:nvSpPr>
        <p:spPr>
          <a:xfrm>
            <a:off x="7751642" y="5951644"/>
            <a:ext cx="39252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核心团队合影，右上角者就是朱传榘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ACDEE37-FB83-38B7-B09C-33F3D891D94E}"/>
              </a:ext>
            </a:extLst>
          </p:cNvPr>
          <p:cNvSpPr txBox="1"/>
          <p:nvPr/>
        </p:nvSpPr>
        <p:spPr>
          <a:xfrm>
            <a:off x="3969974" y="5951644"/>
            <a:ext cx="34377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朱传榘在 </a:t>
            </a:r>
            <a:r>
              <a:rPr lang="en-US" altLang="ja-JP" dirty="0"/>
              <a:t>ENIAC </a:t>
            </a:r>
            <a:r>
              <a:rPr lang="ja-JP" altLang="en-US" dirty="0"/>
              <a:t>的工作照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D3109B2-98FF-FC36-39ED-5C83F2A3A197}"/>
              </a:ext>
            </a:extLst>
          </p:cNvPr>
          <p:cNvSpPr txBox="1"/>
          <p:nvPr/>
        </p:nvSpPr>
        <p:spPr>
          <a:xfrm>
            <a:off x="515112" y="5628479"/>
            <a:ext cx="31424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朱传榘是唯一华人，也是最年轻核心成员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3B6F65B-E704-BEF1-C9E6-71C734D77840}"/>
              </a:ext>
            </a:extLst>
          </p:cNvPr>
          <p:cNvSpPr txBox="1"/>
          <p:nvPr/>
        </p:nvSpPr>
        <p:spPr>
          <a:xfrm>
            <a:off x="4845012" y="1725769"/>
            <a:ext cx="683187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为什么很多地方不提他？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 当时美国种族歧视，华人贡献常被淡化。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 长期宣传重点放在莫奇利、埃克特、冯・诺依曼身上。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 直到</a:t>
            </a:r>
            <a:r>
              <a:rPr lang="en-US" altLang="zh-CN" dirty="0"/>
              <a:t>1981</a:t>
            </a:r>
            <a:r>
              <a:rPr lang="zh-CN" altLang="en-US" dirty="0"/>
              <a:t>年，</a:t>
            </a:r>
            <a:r>
              <a:rPr lang="en-US" altLang="zh-CN" dirty="0"/>
              <a:t>IEEE</a:t>
            </a:r>
            <a:r>
              <a:rPr lang="zh-CN" altLang="en-US" dirty="0"/>
              <a:t>首届“计算机先驱奖”颁给他，才正式承认：他是</a:t>
            </a:r>
            <a:r>
              <a:rPr lang="en-US" altLang="zh-CN" dirty="0"/>
              <a:t>ENIAC</a:t>
            </a:r>
            <a:r>
              <a:rPr lang="zh-CN" altLang="en-US" dirty="0"/>
              <a:t>核心发明人之一。</a:t>
            </a:r>
          </a:p>
          <a:p>
            <a:pPr marL="285750" indent="-285750">
              <a:buFont typeface="Wingdings" panose="05000000000000000000" pitchFamily="2" charset="2"/>
              <a:buChar char="n"/>
            </a:pPr>
            <a:r>
              <a:rPr lang="zh-CN" altLang="en-US" dirty="0"/>
              <a:t> </a:t>
            </a:r>
            <a:r>
              <a:rPr lang="en-US" altLang="zh-CN" dirty="0"/>
              <a:t>1996</a:t>
            </a:r>
            <a:r>
              <a:rPr lang="zh-CN" altLang="en-US" dirty="0"/>
              <a:t>年</a:t>
            </a:r>
            <a:r>
              <a:rPr lang="en-US" altLang="zh-CN" dirty="0"/>
              <a:t>ENIAC50</a:t>
            </a:r>
            <a:r>
              <a:rPr lang="zh-CN" altLang="en-US" dirty="0"/>
              <a:t>周年，宾大官方把他列入</a:t>
            </a:r>
            <a:r>
              <a:rPr lang="en-US" altLang="zh-CN" dirty="0"/>
              <a:t>6</a:t>
            </a:r>
            <a:r>
              <a:rPr lang="zh-CN" altLang="en-US" dirty="0"/>
              <a:t>位核心缔造者。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2C1C50CA-B00F-8E27-8DED-DE343AEE33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756" y="3606472"/>
            <a:ext cx="3461197" cy="2076107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4968DB5A-2427-ABCB-F208-12BC9CFB0B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9974" y="3606472"/>
            <a:ext cx="3120992" cy="207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761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30888-7F58-2ADB-8F32-6A52A8B23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7F5299-D1A0-2D8E-A646-65677C4BE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一、计算机的发明（</a:t>
            </a:r>
            <a:r>
              <a:rPr lang="en-US" altLang="zh-CN" sz="4400" dirty="0"/>
              <a:t>4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A8EE14-151E-0347-08EC-71A1A50220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4" y="1576785"/>
            <a:ext cx="11161774" cy="734615"/>
          </a:xfrm>
        </p:spPr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为什么会有互联网？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51B0830-465A-4604-363F-875B7C5B27D6}"/>
              </a:ext>
            </a:extLst>
          </p:cNvPr>
          <p:cNvSpPr txBox="1"/>
          <p:nvPr/>
        </p:nvSpPr>
        <p:spPr>
          <a:xfrm>
            <a:off x="515114" y="2513437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如何判断一个人是聋子？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有一个人，他说他的一只耳朵听不见了，怎么判断他说的是真的还是假的？</a:t>
            </a: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6CBA6713-0EC6-0D44-5F63-56FF1682B7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5933" y="1944092"/>
            <a:ext cx="3133333" cy="41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103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662B1-A128-2110-071C-307C62D71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>
            <a:extLst>
              <a:ext uri="{FF2B5EF4-FFF2-40B4-BE49-F238E27FC236}">
                <a16:creationId xmlns:a16="http://schemas.microsoft.com/office/drawing/2014/main" id="{F251C309-229C-94BE-E17F-9C4F4AD7A3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449" y="3509915"/>
            <a:ext cx="3168353" cy="2914884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035F1A93-96C0-B8BE-CEA0-0011425F7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一、计算机的发明（</a:t>
            </a:r>
            <a:r>
              <a:rPr lang="en-US" altLang="zh-CN" sz="4400" dirty="0"/>
              <a:t>4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07B045B-1DD4-6674-10D5-BACAC44E3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4" y="1576785"/>
            <a:ext cx="11161774" cy="734615"/>
          </a:xfrm>
        </p:spPr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为什么会有互联网？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9F63178-B10F-C80E-1A3B-37C53EC920DC}"/>
              </a:ext>
            </a:extLst>
          </p:cNvPr>
          <p:cNvSpPr txBox="1"/>
          <p:nvPr/>
        </p:nvSpPr>
        <p:spPr>
          <a:xfrm>
            <a:off x="515112" y="2081685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互联网不是某一个人“发明”的，而是冷战军事需求 </a:t>
            </a:r>
            <a:r>
              <a:rPr lang="en-US" altLang="zh-CN" dirty="0"/>
              <a:t>+ </a:t>
            </a:r>
            <a:r>
              <a:rPr lang="zh-CN" altLang="en-US" dirty="0"/>
              <a:t>分组交换技术 </a:t>
            </a:r>
            <a:r>
              <a:rPr lang="en-US" altLang="zh-CN" dirty="0"/>
              <a:t>+ TCP/IP </a:t>
            </a:r>
            <a:r>
              <a:rPr lang="zh-CN" altLang="en-US" dirty="0"/>
              <a:t>协议 </a:t>
            </a:r>
            <a:r>
              <a:rPr lang="en-US" altLang="zh-CN" dirty="0"/>
              <a:t>+ </a:t>
            </a:r>
            <a:r>
              <a:rPr lang="zh-CN" altLang="en-US" dirty="0"/>
              <a:t>万维网，一步步拼出来的全球网络。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53DC772-BCD8-BD4E-657D-4D8C007AD1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104" y="3390263"/>
            <a:ext cx="3034536" cy="3034536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5CE6F474-C3D6-7C97-2558-64FCE708A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6361" y="1524409"/>
            <a:ext cx="3168353" cy="2624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5093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0D15C-81CF-06F4-79D7-E0980D2E1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22E9B1-9C5A-5A06-AE2E-96705EA73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一、计算机的发明（</a:t>
            </a:r>
            <a:r>
              <a:rPr lang="en-US" altLang="zh-CN" sz="4400" dirty="0"/>
              <a:t>4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F6501A-682B-BF08-2796-B40802B0A0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4" y="1576785"/>
            <a:ext cx="11161774" cy="734615"/>
          </a:xfrm>
        </p:spPr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为什么会有互联网？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BCE59DAF-2267-7255-376F-A92A7426D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1236" y="2143196"/>
            <a:ext cx="4052064" cy="4052064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655E3F61-F5A6-4B58-F53E-101529508C03}"/>
              </a:ext>
            </a:extLst>
          </p:cNvPr>
          <p:cNvSpPr txBox="1"/>
          <p:nvPr/>
        </p:nvSpPr>
        <p:spPr>
          <a:xfrm>
            <a:off x="515114" y="2691537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传统电话网是 “中心化” 的，中心一炸全网瘫痪。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保罗・巴兰（</a:t>
            </a:r>
            <a:r>
              <a:rPr lang="en-US" altLang="zh-CN" dirty="0"/>
              <a:t>Paul Baran</a:t>
            </a:r>
            <a:r>
              <a:rPr lang="zh-CN" altLang="en-US" dirty="0"/>
              <a:t>）等提出：把数据切成小块（分组），走不同路径，到目的地再拼起来；没有中心，炸掉几个节点，剩下的还能通。</a:t>
            </a:r>
            <a:endParaRPr lang="en-US" altLang="zh-CN" dirty="0"/>
          </a:p>
          <a:p>
            <a:endParaRPr lang="zh-CN" altLang="en-US" dirty="0"/>
          </a:p>
          <a:p>
            <a:r>
              <a:rPr lang="zh-CN" altLang="en-US" dirty="0"/>
              <a:t>这就是分组交换（</a:t>
            </a:r>
            <a:r>
              <a:rPr lang="en-US" altLang="zh-CN" dirty="0"/>
              <a:t>Packet Switching</a:t>
            </a:r>
            <a:r>
              <a:rPr lang="zh-CN" altLang="en-US" dirty="0"/>
              <a:t>），互联网的底层基因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569D6E4-65D8-DF99-CB4F-92A1B596C4E4}"/>
              </a:ext>
            </a:extLst>
          </p:cNvPr>
          <p:cNvSpPr txBox="1"/>
          <p:nvPr/>
        </p:nvSpPr>
        <p:spPr>
          <a:xfrm>
            <a:off x="515114" y="546649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开放、共享、去中心化、反封闭</a:t>
            </a:r>
            <a:r>
              <a:rPr lang="en-US" altLang="zh-CN" dirty="0"/>
              <a:t>—— </a:t>
            </a:r>
            <a:r>
              <a:rPr lang="zh-CN" altLang="en-US" dirty="0"/>
              <a:t>整个互联网底层价值观</a:t>
            </a:r>
          </a:p>
        </p:txBody>
      </p:sp>
    </p:spTree>
    <p:extLst>
      <p:ext uri="{BB962C8B-B14F-4D97-AF65-F5344CB8AC3E}">
        <p14:creationId xmlns:p14="http://schemas.microsoft.com/office/powerpoint/2010/main" val="847043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E9D2F-1F09-0631-8AF8-DAFD26160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56FC73-5505-DDD6-8338-9EEEF77426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二、计算机的基本组成（</a:t>
            </a:r>
            <a:r>
              <a:rPr lang="en-US" altLang="zh-CN" sz="4400" dirty="0"/>
              <a:t>1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C90094-C0B5-790F-FC0B-773883AD0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89891"/>
            <a:ext cx="6385221" cy="1773593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为什么电脑是世界上最笨的东西？</a:t>
            </a:r>
            <a:endParaRPr lang="en-US" altLang="zh-CN" sz="1800" dirty="0">
              <a:latin typeface="+mn-ea"/>
            </a:endParaRPr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加法器原理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en-US" altLang="zh-CN" sz="1800" dirty="0">
              <a:latin typeface="+mn-ea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AC7F64B-E707-A899-8451-59B2FA5A654B}"/>
              </a:ext>
            </a:extLst>
          </p:cNvPr>
          <p:cNvSpPr txBox="1"/>
          <p:nvPr/>
        </p:nvSpPr>
        <p:spPr>
          <a:xfrm>
            <a:off x="665818" y="3242439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A </a:t>
            </a:r>
            <a:r>
              <a:rPr lang="zh-CN" altLang="en-US" dirty="0"/>
              <a:t>和 </a:t>
            </a:r>
            <a:r>
              <a:rPr lang="en-US" altLang="zh-CN" dirty="0"/>
              <a:t>B </a:t>
            </a:r>
            <a:r>
              <a:rPr lang="zh-CN" altLang="en-US" dirty="0"/>
              <a:t>是两个要相加的二进制数（</a:t>
            </a:r>
            <a:r>
              <a:rPr lang="en-US" altLang="zh-CN" dirty="0"/>
              <a:t>0 </a:t>
            </a:r>
            <a:r>
              <a:rPr lang="zh-CN" altLang="en-US" dirty="0"/>
              <a:t>或 </a:t>
            </a:r>
            <a:r>
              <a:rPr lang="en-US" altLang="zh-CN" dirty="0"/>
              <a:t>1</a:t>
            </a:r>
            <a:r>
              <a:rPr lang="zh-CN" altLang="en-US" dirty="0"/>
              <a:t>）。</a:t>
            </a:r>
          </a:p>
          <a:p>
            <a:r>
              <a:rPr lang="zh-CN" altLang="en-US" dirty="0"/>
              <a:t>算 “和”</a:t>
            </a:r>
            <a:r>
              <a:rPr lang="en-US" altLang="zh-CN" dirty="0"/>
              <a:t>(S)</a:t>
            </a:r>
            <a:r>
              <a:rPr lang="zh-CN" altLang="en-US" dirty="0"/>
              <a:t>：用一个异或门。</a:t>
            </a:r>
          </a:p>
          <a:p>
            <a:endParaRPr lang="zh-CN" altLang="en-US" dirty="0"/>
          </a:p>
          <a:p>
            <a:r>
              <a:rPr lang="zh-CN" altLang="en-US" dirty="0"/>
              <a:t>    规则：</a:t>
            </a:r>
            <a:r>
              <a:rPr lang="en-US" altLang="zh-CN" dirty="0"/>
              <a:t>A </a:t>
            </a:r>
            <a:r>
              <a:rPr lang="zh-CN" altLang="en-US" dirty="0"/>
              <a:t>和 </a:t>
            </a:r>
            <a:r>
              <a:rPr lang="en-US" altLang="zh-CN" dirty="0"/>
              <a:t>B </a:t>
            </a:r>
            <a:r>
              <a:rPr lang="zh-CN" altLang="en-US" dirty="0"/>
              <a:t>不一样，输出 </a:t>
            </a:r>
            <a:r>
              <a:rPr lang="en-US" altLang="zh-CN" dirty="0"/>
              <a:t>1</a:t>
            </a:r>
            <a:r>
              <a:rPr lang="zh-CN" altLang="en-US" dirty="0"/>
              <a:t>；</a:t>
            </a:r>
            <a:r>
              <a:rPr lang="en-US" altLang="zh-CN" dirty="0"/>
              <a:t>A </a:t>
            </a:r>
            <a:r>
              <a:rPr lang="zh-CN" altLang="en-US" dirty="0"/>
              <a:t>和 </a:t>
            </a:r>
            <a:r>
              <a:rPr lang="en-US" altLang="zh-CN" dirty="0"/>
              <a:t>B </a:t>
            </a:r>
            <a:r>
              <a:rPr lang="zh-CN" altLang="en-US" dirty="0"/>
              <a:t>一样，输出 </a:t>
            </a:r>
            <a:r>
              <a:rPr lang="en-US" altLang="zh-CN" dirty="0"/>
              <a:t>0</a:t>
            </a:r>
            <a:r>
              <a:rPr lang="zh-CN" altLang="en-US" dirty="0"/>
              <a:t>。</a:t>
            </a:r>
          </a:p>
          <a:p>
            <a:r>
              <a:rPr lang="zh-CN" altLang="en-US" dirty="0"/>
              <a:t>    对应加法：</a:t>
            </a:r>
            <a:r>
              <a:rPr lang="en-US" altLang="zh-CN" dirty="0"/>
              <a:t>0+0=0</a:t>
            </a:r>
            <a:r>
              <a:rPr lang="zh-CN" altLang="en-US" dirty="0"/>
              <a:t>，</a:t>
            </a:r>
            <a:r>
              <a:rPr lang="en-US" altLang="zh-CN" dirty="0"/>
              <a:t>0+1=1</a:t>
            </a:r>
            <a:r>
              <a:rPr lang="zh-CN" altLang="en-US" dirty="0"/>
              <a:t>，</a:t>
            </a:r>
            <a:r>
              <a:rPr lang="en-US" altLang="zh-CN" dirty="0"/>
              <a:t>1+0=1</a:t>
            </a:r>
            <a:r>
              <a:rPr lang="zh-CN" altLang="en-US" dirty="0"/>
              <a:t>。</a:t>
            </a:r>
          </a:p>
          <a:p>
            <a:endParaRPr lang="zh-CN" altLang="en-US" dirty="0"/>
          </a:p>
          <a:p>
            <a:r>
              <a:rPr lang="zh-CN" altLang="en-US" dirty="0"/>
              <a:t>算 “进位”</a:t>
            </a:r>
            <a:r>
              <a:rPr lang="en-US" altLang="zh-CN" dirty="0"/>
              <a:t>(C)</a:t>
            </a:r>
            <a:r>
              <a:rPr lang="zh-CN" altLang="en-US" dirty="0"/>
              <a:t>：用一个与门。</a:t>
            </a:r>
          </a:p>
          <a:p>
            <a:endParaRPr lang="zh-CN" altLang="en-US" dirty="0"/>
          </a:p>
          <a:p>
            <a:r>
              <a:rPr lang="zh-CN" altLang="en-US" dirty="0"/>
              <a:t>    规则：只有 </a:t>
            </a:r>
            <a:r>
              <a:rPr lang="en-US" altLang="zh-CN" dirty="0"/>
              <a:t>A </a:t>
            </a:r>
            <a:r>
              <a:rPr lang="zh-CN" altLang="en-US" dirty="0"/>
              <a:t>和 </a:t>
            </a:r>
            <a:r>
              <a:rPr lang="en-US" altLang="zh-CN" dirty="0"/>
              <a:t>B </a:t>
            </a:r>
            <a:r>
              <a:rPr lang="zh-CN" altLang="en-US" dirty="0"/>
              <a:t>都是 </a:t>
            </a:r>
            <a:r>
              <a:rPr lang="en-US" altLang="zh-CN" dirty="0"/>
              <a:t>1 </a:t>
            </a:r>
            <a:r>
              <a:rPr lang="zh-CN" altLang="en-US" dirty="0"/>
              <a:t>时，才输出 </a:t>
            </a:r>
            <a:r>
              <a:rPr lang="en-US" altLang="zh-CN" dirty="0"/>
              <a:t>1</a:t>
            </a:r>
            <a:r>
              <a:rPr lang="zh-CN" altLang="en-US" dirty="0"/>
              <a:t>，否则都是 </a:t>
            </a:r>
            <a:r>
              <a:rPr lang="en-US" altLang="zh-CN" dirty="0"/>
              <a:t>0</a:t>
            </a:r>
            <a:r>
              <a:rPr lang="zh-CN" altLang="en-US" dirty="0"/>
              <a:t>。</a:t>
            </a:r>
          </a:p>
          <a:p>
            <a:r>
              <a:rPr lang="zh-CN" altLang="en-US" dirty="0"/>
              <a:t>    对应加法：只有 </a:t>
            </a:r>
            <a:r>
              <a:rPr lang="en-US" altLang="zh-CN" dirty="0"/>
              <a:t>1+1 </a:t>
            </a:r>
            <a:r>
              <a:rPr lang="zh-CN" altLang="en-US" dirty="0"/>
              <a:t>时，才会产生进位 </a:t>
            </a:r>
            <a:r>
              <a:rPr lang="en-US" altLang="zh-CN" dirty="0"/>
              <a:t>1</a:t>
            </a:r>
            <a:r>
              <a:rPr lang="zh-CN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28083855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9830D-107C-9BF8-CB5E-E755497BF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549A4E-8E61-105B-87B7-711AEF18C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二、计算机的基本组成（</a:t>
            </a:r>
            <a:r>
              <a:rPr lang="en-US" altLang="zh-CN" sz="4400" dirty="0"/>
              <a:t>2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679D4A-B77F-6D02-540C-4CDDB2009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89891"/>
            <a:ext cx="6385221" cy="1773593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五个核心组成部分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en-US" altLang="zh-CN" sz="1800" dirty="0">
              <a:latin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23B2699-7898-F728-7E38-D49CDBBB6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576" y="2503791"/>
            <a:ext cx="7896841" cy="3820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84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C4251-9623-AEB1-7FB7-EE6D2647D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EF3213-AAC5-65CC-9CD2-4F36030E27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二、计算机的基本组成（</a:t>
            </a:r>
            <a:r>
              <a:rPr lang="en-US" altLang="zh-CN" sz="4400" dirty="0"/>
              <a:t>3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CD8DF84-D96C-18C1-E51C-52D9739A75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89891"/>
            <a:ext cx="6385221" cy="1773593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两个基本功能</a:t>
            </a:r>
            <a:endParaRPr lang="en-US" altLang="zh-CN" sz="1800" dirty="0">
              <a:latin typeface="+mn-ea"/>
            </a:endParaRPr>
          </a:p>
          <a:p>
            <a:pPr>
              <a:buFont typeface="Wingdings" panose="05000000000000000000" pitchFamily="2" charset="2"/>
              <a:buChar char="l"/>
            </a:pPr>
            <a:endParaRPr lang="en-US" altLang="zh-CN" sz="1800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76369E8-84AF-485A-15F3-290EFC87C9AE}"/>
              </a:ext>
            </a:extLst>
          </p:cNvPr>
          <p:cNvSpPr txBox="1"/>
          <p:nvPr/>
        </p:nvSpPr>
        <p:spPr>
          <a:xfrm>
            <a:off x="665818" y="3240038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冯</a:t>
            </a:r>
            <a:r>
              <a:rPr lang="en-US" altLang="zh-CN" dirty="0"/>
              <a:t>·</a:t>
            </a:r>
            <a:r>
              <a:rPr lang="zh-CN" altLang="en-US" dirty="0"/>
              <a:t>诺依曼体系结构的工作原理可以概括为“存储程序”和“程序控制”：</a:t>
            </a:r>
          </a:p>
          <a:p>
            <a:endParaRPr lang="zh-CN" altLang="en-US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存储程序：将程序和数据以二进制代码的形式预先存储在存储器中。</a:t>
            </a: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程序控制：计算机在运行时，控制器从存储器中逐条取出指令，进行译码，并根据指令控制运算器、存储器、输入设备和输出设备协同工作，完成程序规定的任务。</a:t>
            </a:r>
          </a:p>
        </p:txBody>
      </p:sp>
    </p:spTree>
    <p:extLst>
      <p:ext uri="{BB962C8B-B14F-4D97-AF65-F5344CB8AC3E}">
        <p14:creationId xmlns:p14="http://schemas.microsoft.com/office/powerpoint/2010/main" val="4192227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CAF12-4DDE-0849-072C-6C7A1019F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02C733-3636-BB01-688C-78434C45E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三、数据表示和运算（</a:t>
            </a:r>
            <a:r>
              <a:rPr lang="en-US" altLang="zh-CN" sz="4400" dirty="0"/>
              <a:t>1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38BED31-3B76-FBDD-58BF-40DFD9DD1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55680" cy="49928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进制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4C7F7A0-C16B-6BC0-3A78-17E2DFE8CC85}"/>
              </a:ext>
            </a:extLst>
          </p:cNvPr>
          <p:cNvSpPr txBox="1"/>
          <p:nvPr/>
        </p:nvSpPr>
        <p:spPr>
          <a:xfrm>
            <a:off x="679958" y="2321004"/>
            <a:ext cx="51874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阴爻（</a:t>
            </a:r>
            <a:r>
              <a:rPr lang="en-US" altLang="zh-CN" dirty="0"/>
              <a:t>- -</a:t>
            </a:r>
            <a:r>
              <a:rPr lang="zh-CN" altLang="en-US" dirty="0"/>
              <a:t>）</a:t>
            </a:r>
            <a:r>
              <a:rPr lang="en-US" altLang="zh-CN" dirty="0"/>
              <a:t>= 0</a:t>
            </a:r>
          </a:p>
          <a:p>
            <a:r>
              <a:rPr lang="zh-CN" altLang="en-US" dirty="0"/>
              <a:t>阳爻（</a:t>
            </a:r>
            <a:r>
              <a:rPr lang="en-US" altLang="zh-CN" dirty="0"/>
              <a:t>—</a:t>
            </a:r>
            <a:r>
              <a:rPr lang="zh-CN" altLang="en-US" dirty="0"/>
              <a:t>）</a:t>
            </a:r>
            <a:r>
              <a:rPr lang="en-US" altLang="zh-CN" dirty="0"/>
              <a:t>= 1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DD380CC-BDDF-5B53-03E1-491E863E3BB9}"/>
              </a:ext>
            </a:extLst>
          </p:cNvPr>
          <p:cNvSpPr txBox="1"/>
          <p:nvPr/>
        </p:nvSpPr>
        <p:spPr>
          <a:xfrm>
            <a:off x="679958" y="3429000"/>
            <a:ext cx="410768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德国数学家莱布尼茨发明二进制，后来看到伏羲先天八卦图，惊奇发现：</a:t>
            </a:r>
            <a:endParaRPr lang="en-US" altLang="zh-CN" dirty="0"/>
          </a:p>
          <a:p>
            <a:r>
              <a:rPr lang="zh-CN" altLang="en-US" dirty="0"/>
              <a:t>八卦排列逻辑 </a:t>
            </a:r>
            <a:r>
              <a:rPr lang="en-US" altLang="zh-CN" dirty="0"/>
              <a:t>= </a:t>
            </a:r>
            <a:r>
              <a:rPr lang="zh-CN" altLang="en-US" dirty="0"/>
              <a:t>自己发明的二进制他惊叹：中国人几千年前就懂二进制思维</a:t>
            </a: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A091AF2D-30A4-7C5D-BAB2-EFD01F67E4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717900"/>
              </p:ext>
            </p:extLst>
          </p:nvPr>
        </p:nvGraphicFramePr>
        <p:xfrm>
          <a:off x="6940804" y="2076070"/>
          <a:ext cx="4406392" cy="3975947"/>
        </p:xfrm>
        <a:graphic>
          <a:graphicData uri="http://schemas.openxmlformats.org/drawingml/2006/table">
            <a:tbl>
              <a:tblPr/>
              <a:tblGrid>
                <a:gridCol w="671087">
                  <a:extLst>
                    <a:ext uri="{9D8B030D-6E8A-4147-A177-3AD203B41FA5}">
                      <a16:colId xmlns:a16="http://schemas.microsoft.com/office/drawing/2014/main" val="2880063002"/>
                    </a:ext>
                  </a:extLst>
                </a:gridCol>
                <a:gridCol w="582302">
                  <a:extLst>
                    <a:ext uri="{9D8B030D-6E8A-4147-A177-3AD203B41FA5}">
                      <a16:colId xmlns:a16="http://schemas.microsoft.com/office/drawing/2014/main" val="563832993"/>
                    </a:ext>
                  </a:extLst>
                </a:gridCol>
                <a:gridCol w="1248032">
                  <a:extLst>
                    <a:ext uri="{9D8B030D-6E8A-4147-A177-3AD203B41FA5}">
                      <a16:colId xmlns:a16="http://schemas.microsoft.com/office/drawing/2014/main" val="2254696014"/>
                    </a:ext>
                  </a:extLst>
                </a:gridCol>
                <a:gridCol w="804212">
                  <a:extLst>
                    <a:ext uri="{9D8B030D-6E8A-4147-A177-3AD203B41FA5}">
                      <a16:colId xmlns:a16="http://schemas.microsoft.com/office/drawing/2014/main" val="275942993"/>
                    </a:ext>
                  </a:extLst>
                </a:gridCol>
                <a:gridCol w="1100759">
                  <a:extLst>
                    <a:ext uri="{9D8B030D-6E8A-4147-A177-3AD203B41FA5}">
                      <a16:colId xmlns:a16="http://schemas.microsoft.com/office/drawing/2014/main" val="4215335964"/>
                    </a:ext>
                  </a:extLst>
                </a:gridCol>
              </a:tblGrid>
              <a:tr h="51609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卦名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卦符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下中上三爻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二进制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十进制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7721858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坤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☷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0 0 0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000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871328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艮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☶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0 0 1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001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5320936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坎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☵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0 1 0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010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2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720595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巽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☴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0 1 1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011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3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3418301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震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☳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1 0 0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100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4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3600068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离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☲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1 0 1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101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5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9949357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兑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☱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1 1 0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110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6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9734023"/>
                  </a:ext>
                </a:extLst>
              </a:tr>
              <a:tr h="4324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 dirty="0">
                          <a:effectLst/>
                        </a:rPr>
                        <a:t>乾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altLang="en-US" sz="1800">
                          <a:effectLst/>
                        </a:rPr>
                        <a:t>☰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1 1 1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>
                          <a:effectLst/>
                        </a:rPr>
                        <a:t>111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dirty="0">
                          <a:effectLst/>
                        </a:rPr>
                        <a:t>7</a:t>
                      </a:r>
                    </a:p>
                  </a:txBody>
                  <a:tcPr marL="37197" marR="37197" marT="37197" marB="37197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5751682"/>
                  </a:ext>
                </a:extLst>
              </a:tr>
            </a:tbl>
          </a:graphicData>
        </a:graphic>
      </p:graphicFrame>
      <p:sp>
        <p:nvSpPr>
          <p:cNvPr id="16" name="文本框 15">
            <a:extLst>
              <a:ext uri="{FF2B5EF4-FFF2-40B4-BE49-F238E27FC236}">
                <a16:creationId xmlns:a16="http://schemas.microsoft.com/office/drawing/2014/main" id="{98C1C1A4-9C62-BAD6-6632-A39AB4EA8947}"/>
              </a:ext>
            </a:extLst>
          </p:cNvPr>
          <p:cNvSpPr txBox="1"/>
          <p:nvPr/>
        </p:nvSpPr>
        <p:spPr>
          <a:xfrm>
            <a:off x="679958" y="58259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有趣的二进制计数器，巧妙的木制结构～</a:t>
            </a:r>
            <a:r>
              <a:rPr lang="en-US" altLang="zh-CN" b="1" dirty="0"/>
              <a:t>.mp4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1957676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2E4E8-148D-6016-D28E-6A9DDE60A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A23598-9F9D-0DB6-A347-69469695E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三、数据表示和运算（</a:t>
            </a:r>
            <a:r>
              <a:rPr lang="en-US" altLang="zh-CN" sz="4400" dirty="0"/>
              <a:t>2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7CF679-0EB4-32C0-8A37-6D73A0D98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55680" cy="18522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编码</a:t>
            </a:r>
            <a:endParaRPr lang="en-US" altLang="zh-CN" sz="1800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1F387E4-EDAD-1630-EC52-0B0CCA710C76}"/>
              </a:ext>
            </a:extLst>
          </p:cNvPr>
          <p:cNvSpPr txBox="1"/>
          <p:nvPr/>
        </p:nvSpPr>
        <p:spPr>
          <a:xfrm>
            <a:off x="521208" y="2911884"/>
            <a:ext cx="1052779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编码实现二进制的核心逻辑：**将字符 </a:t>
            </a:r>
            <a:r>
              <a:rPr lang="en-US" altLang="zh-CN" dirty="0"/>
              <a:t>/ </a:t>
            </a:r>
            <a:r>
              <a:rPr lang="zh-CN" altLang="en-US" dirty="0"/>
              <a:t>指令映射为固定长度的二进制数字串**。</a:t>
            </a:r>
          </a:p>
          <a:p>
            <a:endParaRPr lang="zh-CN" altLang="en-US" dirty="0"/>
          </a:p>
          <a:p>
            <a:r>
              <a:rPr lang="zh-CN" altLang="en-US" dirty="0"/>
              <a:t>简单说两步：</a:t>
            </a:r>
          </a:p>
          <a:p>
            <a:endParaRPr lang="zh-CN" altLang="en-US" dirty="0"/>
          </a:p>
          <a:p>
            <a:r>
              <a:rPr lang="en-US" altLang="zh-CN" dirty="0"/>
              <a:t>1. </a:t>
            </a:r>
            <a:r>
              <a:rPr lang="zh-CN" altLang="en-US" dirty="0"/>
              <a:t>建立**映射规则**（如 </a:t>
            </a:r>
            <a:r>
              <a:rPr lang="en-US" altLang="zh-CN" dirty="0"/>
              <a:t>ASCII</a:t>
            </a:r>
            <a:r>
              <a:rPr lang="zh-CN" altLang="en-US" dirty="0"/>
              <a:t>、</a:t>
            </a:r>
            <a:r>
              <a:rPr lang="en-US" altLang="zh-CN" dirty="0"/>
              <a:t>UTF-8</a:t>
            </a:r>
            <a:r>
              <a:rPr lang="zh-CN" altLang="en-US" dirty="0"/>
              <a:t>），给每个字符分配唯一二进制编号（例：</a:t>
            </a:r>
            <a:r>
              <a:rPr lang="en-US" altLang="zh-CN" dirty="0"/>
              <a:t>ASCII </a:t>
            </a:r>
            <a:r>
              <a:rPr lang="zh-CN" altLang="en-US" dirty="0"/>
              <a:t>中 “</a:t>
            </a:r>
            <a:r>
              <a:rPr lang="en-US" altLang="zh-CN" dirty="0"/>
              <a:t>A” </a:t>
            </a:r>
            <a:r>
              <a:rPr lang="zh-CN" altLang="en-US" dirty="0"/>
              <a:t>对应</a:t>
            </a:r>
            <a:r>
              <a:rPr lang="en-US" altLang="zh-CN" dirty="0"/>
              <a:t>`01000001`</a:t>
            </a:r>
            <a:r>
              <a:rPr lang="zh-CN" altLang="en-US" dirty="0"/>
              <a:t>）；</a:t>
            </a:r>
          </a:p>
          <a:p>
            <a:r>
              <a:rPr lang="en-US" altLang="zh-CN" dirty="0"/>
              <a:t>2. </a:t>
            </a:r>
            <a:r>
              <a:rPr lang="zh-CN" altLang="en-US" dirty="0"/>
              <a:t>存储或传输时，用 </a:t>
            </a:r>
            <a:r>
              <a:rPr lang="en-US" altLang="zh-CN" dirty="0"/>
              <a:t>0 </a:t>
            </a:r>
            <a:r>
              <a:rPr lang="zh-CN" altLang="en-US" dirty="0"/>
              <a:t>和 </a:t>
            </a:r>
            <a:r>
              <a:rPr lang="en-US" altLang="zh-CN" dirty="0"/>
              <a:t>1 </a:t>
            </a:r>
            <a:r>
              <a:rPr lang="zh-CN" altLang="en-US" dirty="0"/>
              <a:t>的组合替代原字符，读取时反向查表还原。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C368AFAF-95CC-662C-A0C4-5E7039F0A1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5018549"/>
              </p:ext>
            </p:extLst>
          </p:nvPr>
        </p:nvGraphicFramePr>
        <p:xfrm>
          <a:off x="515112" y="5089841"/>
          <a:ext cx="6619875" cy="1165860"/>
        </p:xfrm>
        <a:graphic>
          <a:graphicData uri="http://schemas.openxmlformats.org/drawingml/2006/table">
            <a:tbl>
              <a:tblPr/>
              <a:tblGrid>
                <a:gridCol w="2206625">
                  <a:extLst>
                    <a:ext uri="{9D8B030D-6E8A-4147-A177-3AD203B41FA5}">
                      <a16:colId xmlns:a16="http://schemas.microsoft.com/office/drawing/2014/main" val="820628918"/>
                    </a:ext>
                  </a:extLst>
                </a:gridCol>
                <a:gridCol w="2206625">
                  <a:extLst>
                    <a:ext uri="{9D8B030D-6E8A-4147-A177-3AD203B41FA5}">
                      <a16:colId xmlns:a16="http://schemas.microsoft.com/office/drawing/2014/main" val="3663460703"/>
                    </a:ext>
                  </a:extLst>
                </a:gridCol>
                <a:gridCol w="2206625">
                  <a:extLst>
                    <a:ext uri="{9D8B030D-6E8A-4147-A177-3AD203B41FA5}">
                      <a16:colId xmlns:a16="http://schemas.microsoft.com/office/drawing/2014/main" val="12949146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b="1">
                          <a:effectLst/>
                        </a:rPr>
                        <a:t>字符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b="1">
                          <a:effectLst/>
                        </a:rPr>
                        <a:t>十进制值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b="1">
                          <a:effectLst/>
                        </a:rPr>
                        <a:t>二进制编码（</a:t>
                      </a:r>
                      <a:r>
                        <a:rPr lang="en-US" altLang="zh-CN" b="1">
                          <a:effectLst/>
                        </a:rPr>
                        <a:t>8 </a:t>
                      </a:r>
                      <a:r>
                        <a:rPr lang="zh-CN" altLang="en-US" b="1">
                          <a:effectLst/>
                        </a:rPr>
                        <a:t>位）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4697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A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effectLst/>
                        </a:rPr>
                        <a:t>65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effectLst/>
                        </a:rPr>
                        <a:t>01000001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95590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B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>
                          <a:effectLst/>
                        </a:rPr>
                        <a:t>66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dirty="0">
                          <a:effectLst/>
                        </a:rPr>
                        <a:t>01000010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2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931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2480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86CA2-AC0E-61E1-CE8D-F38A4ACFE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53FA3B-6704-9E5A-33E2-BB370126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三、数据表示和运算（</a:t>
            </a:r>
            <a:r>
              <a:rPr lang="en-US" altLang="zh-CN" sz="4400" dirty="0"/>
              <a:t>3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6661D2-4DA9-27FD-DDBD-1F1E906FA3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55680" cy="18522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编码</a:t>
            </a:r>
            <a:endParaRPr lang="en-US" altLang="zh-CN" sz="1800" dirty="0">
              <a:latin typeface="+mn-ea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E2D3C23-2EA5-B5A3-5CF4-275A94DA75A8}"/>
              </a:ext>
            </a:extLst>
          </p:cNvPr>
          <p:cNvSpPr txBox="1"/>
          <p:nvPr/>
        </p:nvSpPr>
        <p:spPr>
          <a:xfrm>
            <a:off x="521208" y="2080887"/>
            <a:ext cx="1128979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凯撒密码（古典密码）</a:t>
            </a:r>
            <a:endParaRPr lang="en-US" altLang="zh-CN" dirty="0"/>
          </a:p>
          <a:p>
            <a:r>
              <a:rPr lang="zh-CN" altLang="en-US" dirty="0"/>
              <a:t>最早最简单的移位加密，古罗马凯撒大帝打仗用来传密信。原理：字母整体向后挪固定位数</a:t>
            </a:r>
          </a:p>
          <a:p>
            <a:endParaRPr lang="en-US" altLang="zh-CN" dirty="0"/>
          </a:p>
          <a:p>
            <a:r>
              <a:rPr lang="zh-CN" altLang="en-US" dirty="0"/>
              <a:t>通用规则</a:t>
            </a:r>
          </a:p>
          <a:p>
            <a:r>
              <a:rPr lang="zh-CN" altLang="en-US" dirty="0"/>
              <a:t>默认最常用：偏移 </a:t>
            </a:r>
            <a:r>
              <a:rPr lang="en-US" altLang="zh-CN" dirty="0"/>
              <a:t>3 </a:t>
            </a:r>
            <a:r>
              <a:rPr lang="zh-CN" altLang="en-US" dirty="0"/>
              <a:t>位</a:t>
            </a:r>
            <a:r>
              <a:rPr lang="en-US" altLang="zh-CN" dirty="0"/>
              <a:t>A→D B→E C→F ……X→A Y→B Z→C</a:t>
            </a:r>
          </a:p>
          <a:p>
            <a:r>
              <a:rPr lang="zh-CN" altLang="en-US" dirty="0"/>
              <a:t>明文（原字）→ 密文（密码）</a:t>
            </a:r>
          </a:p>
          <a:p>
            <a:r>
              <a:rPr lang="zh-CN" altLang="en-US" dirty="0"/>
              <a:t>向前挪 </a:t>
            </a:r>
            <a:r>
              <a:rPr lang="en-US" altLang="zh-CN" dirty="0"/>
              <a:t>3 </a:t>
            </a:r>
            <a:r>
              <a:rPr lang="zh-CN" altLang="en-US" dirty="0"/>
              <a:t>位 </a:t>
            </a:r>
            <a:r>
              <a:rPr lang="en-US" altLang="zh-CN" dirty="0"/>
              <a:t>= </a:t>
            </a:r>
            <a:r>
              <a:rPr lang="zh-CN" altLang="en-US" dirty="0"/>
              <a:t>加密向后挪 </a:t>
            </a:r>
            <a:r>
              <a:rPr lang="en-US" altLang="zh-CN" dirty="0"/>
              <a:t>3 </a:t>
            </a:r>
            <a:r>
              <a:rPr lang="zh-CN" altLang="en-US" dirty="0"/>
              <a:t>位 </a:t>
            </a:r>
            <a:r>
              <a:rPr lang="en-US" altLang="zh-CN" dirty="0"/>
              <a:t>= </a:t>
            </a:r>
            <a:r>
              <a:rPr lang="zh-CN" altLang="en-US" dirty="0"/>
              <a:t>解密</a:t>
            </a:r>
          </a:p>
          <a:p>
            <a:endParaRPr lang="en-US" altLang="zh-CN" dirty="0"/>
          </a:p>
          <a:p>
            <a:r>
              <a:rPr lang="zh-CN" altLang="en-US" dirty="0"/>
              <a:t>举例</a:t>
            </a:r>
          </a:p>
          <a:p>
            <a:r>
              <a:rPr lang="zh-CN" altLang="en-US" dirty="0"/>
              <a:t>明文：</a:t>
            </a:r>
            <a:r>
              <a:rPr lang="en-US" altLang="zh-CN" dirty="0"/>
              <a:t>HELLO</a:t>
            </a:r>
            <a:r>
              <a:rPr lang="zh-CN" altLang="en-US" dirty="0"/>
              <a:t>偏移 </a:t>
            </a:r>
            <a:r>
              <a:rPr lang="en-US" altLang="zh-CN" dirty="0"/>
              <a:t>3 </a:t>
            </a:r>
            <a:r>
              <a:rPr lang="zh-CN" altLang="en-US" dirty="0"/>
              <a:t>位：</a:t>
            </a:r>
            <a:r>
              <a:rPr lang="en-US" altLang="zh-CN" dirty="0"/>
              <a:t>H→K E→H L→O </a:t>
            </a:r>
            <a:r>
              <a:rPr lang="en-US" altLang="zh-CN" dirty="0" err="1"/>
              <a:t>L→O</a:t>
            </a:r>
            <a:r>
              <a:rPr lang="en-US" altLang="zh-CN" dirty="0"/>
              <a:t> O→R</a:t>
            </a:r>
            <a:r>
              <a:rPr lang="zh-CN" altLang="en-US" dirty="0"/>
              <a:t>密文：</a:t>
            </a:r>
            <a:r>
              <a:rPr lang="en-US" altLang="zh-CN" dirty="0"/>
              <a:t>KHOOR</a:t>
            </a:r>
          </a:p>
          <a:p>
            <a:r>
              <a:rPr lang="zh-CN" altLang="en-US" dirty="0"/>
              <a:t>解密：</a:t>
            </a:r>
            <a:r>
              <a:rPr lang="en-US" altLang="zh-CN" dirty="0"/>
              <a:t>KHOOR </a:t>
            </a:r>
            <a:r>
              <a:rPr lang="zh-CN" altLang="en-US" dirty="0"/>
              <a:t>往前退 </a:t>
            </a:r>
            <a:r>
              <a:rPr lang="en-US" altLang="zh-CN" dirty="0"/>
              <a:t>3 </a:t>
            </a:r>
            <a:r>
              <a:rPr lang="zh-CN" altLang="en-US" dirty="0"/>
              <a:t>位 → </a:t>
            </a:r>
            <a:r>
              <a:rPr lang="en-US" altLang="zh-CN" dirty="0"/>
              <a:t>HELLO</a:t>
            </a:r>
          </a:p>
          <a:p>
            <a:endParaRPr lang="en-US" altLang="zh-CN" dirty="0"/>
          </a:p>
          <a:p>
            <a:r>
              <a:rPr lang="zh-CN" altLang="en-US" dirty="0"/>
              <a:t>公式</a:t>
            </a:r>
          </a:p>
          <a:p>
            <a:r>
              <a:rPr lang="zh-CN" altLang="en-US" dirty="0"/>
              <a:t>加密：字母序号 </a:t>
            </a:r>
            <a:r>
              <a:rPr lang="en-US" altLang="zh-CN" dirty="0"/>
              <a:t>+ </a:t>
            </a:r>
            <a:r>
              <a:rPr lang="zh-CN" altLang="en-US" dirty="0"/>
              <a:t>偏移数解密：字母序号 </a:t>
            </a:r>
            <a:r>
              <a:rPr lang="en-US" altLang="zh-CN" dirty="0"/>
              <a:t>- </a:t>
            </a:r>
            <a:r>
              <a:rPr lang="zh-CN" altLang="en-US" dirty="0"/>
              <a:t>偏移数超出 </a:t>
            </a:r>
            <a:r>
              <a:rPr lang="en-US" altLang="zh-CN" dirty="0"/>
              <a:t>26 </a:t>
            </a:r>
            <a:r>
              <a:rPr lang="zh-CN" altLang="en-US" dirty="0"/>
              <a:t>个字母就循环从头来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9BBF84A4-FF2E-6A6F-C873-8EFC833D4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2494" y="2973907"/>
            <a:ext cx="2778298" cy="358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9105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20B61-FD53-9740-DF33-03EBB8DBC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4054E0-17AF-9BAF-70C9-D041CA5F3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三、数据表示和运算（</a:t>
            </a:r>
            <a:r>
              <a:rPr lang="en-US" altLang="zh-CN" sz="4400" dirty="0"/>
              <a:t>4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76ED22F-9C2E-DB4F-6B4C-8E9F48364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55680" cy="7092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编码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E4F6A3C-D057-67E5-F4A2-44C6A4F1A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992930"/>
            <a:ext cx="4175649" cy="143607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21C4B811-3B3A-C357-17C2-39FA0CBF8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4993" y="1915181"/>
            <a:ext cx="3845228" cy="143531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5B1BDC4-672F-58CB-4BBE-26B081FDE6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112" y="4221512"/>
            <a:ext cx="4133333" cy="1333333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8C16FBA8-A4E7-D2EC-5CF7-239CD36C01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8290" y="4013749"/>
            <a:ext cx="3996854" cy="1650523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05FDAE36-E0BE-FB83-9FEC-10D436B723CA}"/>
              </a:ext>
            </a:extLst>
          </p:cNvPr>
          <p:cNvSpPr txBox="1"/>
          <p:nvPr/>
        </p:nvSpPr>
        <p:spPr>
          <a:xfrm>
            <a:off x="515112" y="353912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①从你家拉一要电线到朋友家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C91AC3-CB7F-CEA6-0AE6-416F5577DCAE}"/>
              </a:ext>
            </a:extLst>
          </p:cNvPr>
          <p:cNvSpPr txBox="1"/>
          <p:nvPr/>
        </p:nvSpPr>
        <p:spPr>
          <a:xfrm>
            <a:off x="6428476" y="3460619"/>
            <a:ext cx="4305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②从朋友家再拉一根电线到自己家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4D4BCF1-D0EF-B51B-D051-0804DCABF9FC}"/>
              </a:ext>
            </a:extLst>
          </p:cNvPr>
          <p:cNvSpPr txBox="1"/>
          <p:nvPr/>
        </p:nvSpPr>
        <p:spPr>
          <a:xfrm>
            <a:off x="515112" y="5664272"/>
            <a:ext cx="530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③你发现电线似乎有点小贵，想着节省一点是一点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D16E9B5-ECFA-D40B-7A32-95CB984B94CE}"/>
              </a:ext>
            </a:extLst>
          </p:cNvPr>
          <p:cNvSpPr txBox="1"/>
          <p:nvPr/>
        </p:nvSpPr>
        <p:spPr>
          <a:xfrm>
            <a:off x="6428476" y="5587347"/>
            <a:ext cx="530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④节省到最后就成这样了</a:t>
            </a:r>
          </a:p>
        </p:txBody>
      </p:sp>
    </p:spTree>
    <p:extLst>
      <p:ext uri="{BB962C8B-B14F-4D97-AF65-F5344CB8AC3E}">
        <p14:creationId xmlns:p14="http://schemas.microsoft.com/office/powerpoint/2010/main" val="29049316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D9AA9-3CFE-E674-329B-BE969778B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8F87B3EE-5AD5-0B38-5459-BAC70CF539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397" y="3200045"/>
            <a:ext cx="4076395" cy="3001564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DE1B4B18-2DBC-0018-264A-284B8F92B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三、数据表示和运算（</a:t>
            </a:r>
            <a:r>
              <a:rPr lang="en-US" altLang="zh-CN" sz="4400" dirty="0"/>
              <a:t>5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4F47F1-FF7A-3667-316B-9775413CFC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55680" cy="7092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运算</a:t>
            </a:r>
            <a:r>
              <a:rPr lang="en-US" altLang="zh-CN" sz="1800" dirty="0">
                <a:latin typeface="+mn-ea"/>
              </a:rPr>
              <a:t>——</a:t>
            </a:r>
            <a:r>
              <a:rPr lang="zh-CN" altLang="en-US" sz="1800" dirty="0"/>
              <a:t>十进制和二进制的互相转换</a:t>
            </a:r>
          </a:p>
          <a:p>
            <a:pPr>
              <a:buFont typeface="Wingdings" panose="05000000000000000000" pitchFamily="2" charset="2"/>
              <a:buChar char="l"/>
            </a:pPr>
            <a:endParaRPr lang="zh-CN" altLang="en-US" sz="1800" dirty="0">
              <a:latin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B0EAD7B-5188-9BF9-5B75-C6E408664C46}"/>
              </a:ext>
            </a:extLst>
          </p:cNvPr>
          <p:cNvSpPr txBox="1"/>
          <p:nvPr/>
        </p:nvSpPr>
        <p:spPr>
          <a:xfrm>
            <a:off x="515112" y="2987426"/>
            <a:ext cx="751789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CN" dirty="0"/>
              <a:t>10</a:t>
            </a:r>
            <a:r>
              <a:rPr lang="zh-CN" altLang="en-US" dirty="0"/>
              <a:t>进制→</a:t>
            </a:r>
            <a:r>
              <a:rPr lang="en-US" altLang="zh-CN" dirty="0"/>
              <a:t>2</a:t>
            </a:r>
            <a:r>
              <a:rPr lang="zh-CN" altLang="en-US" dirty="0"/>
              <a:t>进制</a:t>
            </a:r>
            <a:endParaRPr lang="en-US" altLang="zh-CN" dirty="0"/>
          </a:p>
          <a:p>
            <a:r>
              <a:rPr lang="zh-CN" altLang="en-US" dirty="0"/>
              <a:t>地球人说了一个数字：</a:t>
            </a:r>
            <a:r>
              <a:rPr lang="en-US" altLang="zh-CN" dirty="0"/>
              <a:t>5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硅基星人只懂，要么分成</a:t>
            </a:r>
            <a:r>
              <a:rPr lang="en-US" altLang="zh-CN" dirty="0"/>
              <a:t>2</a:t>
            </a:r>
            <a:r>
              <a:rPr lang="zh-CN" altLang="en-US" dirty="0"/>
              <a:t>个，要么不分</a:t>
            </a:r>
            <a:endParaRPr lang="en-US" altLang="zh-CN" dirty="0"/>
          </a:p>
          <a:p>
            <a:r>
              <a:rPr lang="zh-CN" altLang="en-US" dirty="0"/>
              <a:t>于是它就这么算：</a:t>
            </a:r>
            <a:endParaRPr lang="en-US" altLang="zh-CN" dirty="0"/>
          </a:p>
          <a:p>
            <a:r>
              <a:rPr lang="zh-CN" altLang="en-US" dirty="0"/>
              <a:t>第①步：</a:t>
            </a:r>
            <a:r>
              <a:rPr lang="en-US" altLang="zh-CN" dirty="0"/>
              <a:t>5÷2=2</a:t>
            </a:r>
            <a:r>
              <a:rPr lang="zh-CN" altLang="en-US" dirty="0"/>
              <a:t>余</a:t>
            </a:r>
            <a:r>
              <a:rPr lang="en-US" altLang="zh-CN" dirty="0"/>
              <a:t>1</a:t>
            </a:r>
          </a:p>
          <a:p>
            <a:r>
              <a:rPr lang="zh-CN" altLang="en-US" dirty="0"/>
              <a:t>第②步：</a:t>
            </a:r>
            <a:r>
              <a:rPr lang="en-US" altLang="zh-CN" dirty="0"/>
              <a:t>2÷2=1</a:t>
            </a:r>
            <a:r>
              <a:rPr lang="zh-CN" altLang="en-US" dirty="0"/>
              <a:t>余</a:t>
            </a:r>
            <a:r>
              <a:rPr lang="en-US" altLang="zh-CN" dirty="0"/>
              <a:t>0</a:t>
            </a:r>
          </a:p>
          <a:p>
            <a:r>
              <a:rPr lang="zh-CN" altLang="en-US" dirty="0"/>
              <a:t>第③步：</a:t>
            </a:r>
            <a:r>
              <a:rPr lang="en-US" altLang="zh-CN" dirty="0"/>
              <a:t>1÷2=0</a:t>
            </a:r>
            <a:r>
              <a:rPr lang="zh-CN" altLang="en-US" dirty="0"/>
              <a:t>余</a:t>
            </a:r>
            <a:r>
              <a:rPr lang="en-US" altLang="zh-CN" dirty="0"/>
              <a:t>1</a:t>
            </a:r>
          </a:p>
          <a:p>
            <a:r>
              <a:rPr lang="zh-CN" altLang="en-US" dirty="0"/>
              <a:t>最后从下往上把余数排好，硅基星人看懂了，人类说的</a:t>
            </a:r>
            <a:r>
              <a:rPr lang="en-US" altLang="zh-CN" dirty="0"/>
              <a:t>5</a:t>
            </a:r>
            <a:r>
              <a:rPr lang="zh-CN" altLang="en-US" dirty="0"/>
              <a:t>是二进制的</a:t>
            </a:r>
            <a:r>
              <a:rPr lang="en-US" altLang="zh-CN" dirty="0"/>
              <a:t>101</a:t>
            </a:r>
            <a:r>
              <a:rPr lang="zh-CN" altLang="en-US" dirty="0"/>
              <a:t>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375F176-BB5C-D383-FF76-926E2FF76ABD}"/>
              </a:ext>
            </a:extLst>
          </p:cNvPr>
          <p:cNvSpPr txBox="1"/>
          <p:nvPr/>
        </p:nvSpPr>
        <p:spPr>
          <a:xfrm>
            <a:off x="521208" y="5346682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硅基星人说了一个数字：</a:t>
            </a:r>
            <a:r>
              <a:rPr lang="en-US" altLang="zh-CN" dirty="0"/>
              <a:t>110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地球人就这么算：</a:t>
            </a:r>
          </a:p>
          <a:p>
            <a:r>
              <a:rPr lang="en-US" altLang="zh-CN" dirty="0"/>
              <a:t>1×(4)+1×(2)+0×(1) =6</a:t>
            </a:r>
          </a:p>
          <a:p>
            <a:r>
              <a:rPr lang="zh-CN" altLang="en-US" dirty="0"/>
              <a:t>最后地球人知道了，二进制的</a:t>
            </a:r>
            <a:r>
              <a:rPr lang="en-US" altLang="zh-CN" dirty="0"/>
              <a:t>110</a:t>
            </a:r>
            <a:r>
              <a:rPr lang="zh-CN" altLang="en-US" dirty="0"/>
              <a:t>就是人类的十进制</a:t>
            </a:r>
            <a:r>
              <a:rPr lang="en-US" altLang="zh-CN" dirty="0"/>
              <a:t>6</a:t>
            </a:r>
            <a:r>
              <a:rPr lang="zh-CN" altLang="en-US" dirty="0"/>
              <a:t>！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C13DB85-27D0-7DA3-6BA2-D2D10836287F}"/>
              </a:ext>
            </a:extLst>
          </p:cNvPr>
          <p:cNvSpPr txBox="1"/>
          <p:nvPr/>
        </p:nvSpPr>
        <p:spPr>
          <a:xfrm>
            <a:off x="521208" y="2160237"/>
            <a:ext cx="83428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有一个地球人遇到了一个硅基星人，可硅基星人只懂二进制，不懂人类的十进制。</a:t>
            </a:r>
            <a:endParaRPr lang="en-US" altLang="zh-CN" dirty="0"/>
          </a:p>
          <a:p>
            <a:r>
              <a:rPr lang="zh-CN" altLang="en-US" dirty="0"/>
              <a:t>他们都想看懂对方的数字，怎么办呢？</a:t>
            </a:r>
          </a:p>
        </p:txBody>
      </p:sp>
    </p:spTree>
    <p:extLst>
      <p:ext uri="{BB962C8B-B14F-4D97-AF65-F5344CB8AC3E}">
        <p14:creationId xmlns:p14="http://schemas.microsoft.com/office/powerpoint/2010/main" val="37696110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BF18-68B3-9A47-41FC-391E95CB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714C52-71FA-E09F-C265-C5DDC12C9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四、操作系统（</a:t>
            </a:r>
            <a:r>
              <a:rPr lang="en-US" altLang="zh-CN" sz="4400" dirty="0"/>
              <a:t>1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83BB2B-8CED-2E37-4741-ADAA63639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61776" cy="6711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文件的表示</a:t>
            </a:r>
            <a:endParaRPr lang="en-US" altLang="zh-CN" sz="1800" dirty="0">
              <a:latin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DF77F11-DF98-0BBE-F671-E8EE93A2726C}"/>
              </a:ext>
            </a:extLst>
          </p:cNvPr>
          <p:cNvSpPr txBox="1"/>
          <p:nvPr/>
        </p:nvSpPr>
        <p:spPr>
          <a:xfrm>
            <a:off x="515112" y="2228671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三个功能：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划分文件夹 </a:t>
            </a:r>
            <a:r>
              <a:rPr lang="en-US" altLang="zh-CN" dirty="0"/>
              <a:t>= </a:t>
            </a:r>
            <a:r>
              <a:rPr lang="zh-CN" altLang="en-US" dirty="0"/>
              <a:t>分区域放东西</a:t>
            </a: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记录文件位置 </a:t>
            </a:r>
            <a:r>
              <a:rPr lang="en-US" altLang="zh-CN" dirty="0"/>
              <a:t>= </a:t>
            </a:r>
            <a:r>
              <a:rPr lang="zh-CN" altLang="en-US" dirty="0"/>
              <a:t>记清东西放哪一格</a:t>
            </a: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CN" altLang="en-US" dirty="0"/>
              <a:t>改名、删除、移动 </a:t>
            </a:r>
            <a:r>
              <a:rPr lang="en-US" altLang="zh-CN" dirty="0"/>
              <a:t>= </a:t>
            </a:r>
            <a:r>
              <a:rPr lang="zh-CN" altLang="en-US" dirty="0"/>
              <a:t>整理收纳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9C7E0303-7637-DF08-3E3F-1552F2917D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5835" y="1741964"/>
            <a:ext cx="3066451" cy="485140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A80F820-5E13-B029-1747-935BF28774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827" y="3626029"/>
            <a:ext cx="3696570" cy="2967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5179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D1D89-9BD1-6B64-8C69-0484DF4A6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C19B64-6BE8-C33F-1995-6AFF2CFA1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四、操作系统（</a:t>
            </a:r>
            <a:r>
              <a:rPr lang="en-US" altLang="zh-CN" sz="4400" dirty="0"/>
              <a:t>2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B79BEBA-4997-9DD6-3632-717900E0F7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61776" cy="5568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诡异的计算机病毒</a:t>
            </a:r>
            <a:endParaRPr lang="en-US" altLang="zh-CN" sz="1800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41DA2B4-847F-9140-CA65-A6634074047B}"/>
              </a:ext>
            </a:extLst>
          </p:cNvPr>
          <p:cNvSpPr txBox="1"/>
          <p:nvPr/>
        </p:nvSpPr>
        <p:spPr>
          <a:xfrm>
            <a:off x="571087" y="350088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[</a:t>
            </a:r>
            <a:r>
              <a:rPr lang="zh-CN" altLang="en-US" dirty="0"/>
              <a:t>国内首发</a:t>
            </a:r>
            <a:r>
              <a:rPr lang="en-US" altLang="zh-CN" dirty="0"/>
              <a:t>]</a:t>
            </a:r>
            <a:r>
              <a:rPr lang="zh-CN" altLang="en-US" dirty="0"/>
              <a:t>当你运行国内第一例电脑病毒 </a:t>
            </a:r>
            <a:r>
              <a:rPr lang="en-US" altLang="zh-CN" dirty="0"/>
              <a:t>(</a:t>
            </a:r>
            <a:r>
              <a:rPr lang="zh-CN" altLang="en-US" dirty="0"/>
              <a:t>小球病毒</a:t>
            </a:r>
            <a:r>
              <a:rPr lang="en-US" altLang="zh-CN" dirty="0"/>
              <a:t>).mp4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DCDDEAB-0E1A-A439-6747-9A341C753C77}"/>
              </a:ext>
            </a:extLst>
          </p:cNvPr>
          <p:cNvSpPr txBox="1"/>
          <p:nvPr/>
        </p:nvSpPr>
        <p:spPr>
          <a:xfrm>
            <a:off x="571087" y="2156790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电脑病毒：必须依附文件，自己不能乱跑，靠人点开才传染</a:t>
            </a:r>
          </a:p>
          <a:p>
            <a:r>
              <a:rPr lang="zh-CN" altLang="en-US" dirty="0"/>
              <a:t>蠕虫：不用依附文件，自己主动联网到处钻，自动传播</a:t>
            </a:r>
          </a:p>
          <a:p>
            <a:r>
              <a:rPr lang="zh-CN" altLang="en-US" dirty="0"/>
              <a:t>木马：不自我复制，只偷偷开门偷东西、控电脑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5B12FA-3ADD-1694-9C07-3CD51C0B69D5}"/>
              </a:ext>
            </a:extLst>
          </p:cNvPr>
          <p:cNvSpPr txBox="1"/>
          <p:nvPr/>
        </p:nvSpPr>
        <p:spPr>
          <a:xfrm>
            <a:off x="4921586" y="4285870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古希腊特洛伊战争打了十年，希腊军队久攻不下特洛伊城。</a:t>
            </a:r>
          </a:p>
          <a:p>
            <a:r>
              <a:rPr lang="zh-CN" altLang="en-US" dirty="0"/>
              <a:t>希腊人想出妙计：造一匹巨大的空心木头马，把精锐士兵藏在马肚子里，其余大军假装撤退。</a:t>
            </a:r>
          </a:p>
          <a:p>
            <a:r>
              <a:rPr lang="zh-CN" altLang="en-US" dirty="0"/>
              <a:t>特洛伊人以为木马是敌军留下的祭品战利品，高高兴兴把大木马拖进城里。</a:t>
            </a:r>
          </a:p>
          <a:p>
            <a:r>
              <a:rPr lang="zh-CN" altLang="en-US" dirty="0"/>
              <a:t>深夜全城放松戒备，木马里的士兵悄悄钻出，打开城门，城外埋伏的大军一拥而入，特洛伊城就此沦陷。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F0E095E-EA89-769C-F2D0-11880A37D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5599" y="3870214"/>
            <a:ext cx="2915987" cy="2640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6418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DDDF7-85A8-FA20-FDED-4633CA0CF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1CFABA-B908-166E-014B-9CB9CAC1B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四、操作系统（</a:t>
            </a:r>
            <a:r>
              <a:rPr lang="en-US" altLang="zh-CN" sz="4400" dirty="0"/>
              <a:t>3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1AC9C5E-6BD6-A883-0B3D-984CA4CE77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576785"/>
            <a:ext cx="11161776" cy="594915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高级语言与低级语言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BFEADF6-1F78-E6F7-470D-2A31E127E110}"/>
              </a:ext>
            </a:extLst>
          </p:cNvPr>
          <p:cNvSpPr txBox="1"/>
          <p:nvPr/>
        </p:nvSpPr>
        <p:spPr>
          <a:xfrm>
            <a:off x="515112" y="2172466"/>
            <a:ext cx="740968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主人想让电脑管家帮忙：烧水</a:t>
            </a:r>
          </a:p>
          <a:p>
            <a:endParaRPr lang="en-US" altLang="zh-CN" dirty="0"/>
          </a:p>
          <a:p>
            <a:r>
              <a:rPr lang="en-US" altLang="zh-CN" dirty="0"/>
              <a:t>1. </a:t>
            </a:r>
            <a:r>
              <a:rPr lang="zh-CN" altLang="en-US" dirty="0"/>
              <a:t>低级语言（机器语言 </a:t>
            </a:r>
            <a:r>
              <a:rPr lang="en-US" altLang="zh-CN" dirty="0"/>
              <a:t>/ </a:t>
            </a:r>
            <a:r>
              <a:rPr lang="zh-CN" altLang="en-US" dirty="0"/>
              <a:t>汇编）</a:t>
            </a:r>
          </a:p>
          <a:p>
            <a:r>
              <a:rPr lang="zh-CN" altLang="en-US" dirty="0"/>
              <a:t>主人一字一句下达最细碎指令：</a:t>
            </a:r>
          </a:p>
          <a:p>
            <a:r>
              <a:rPr lang="zh-CN" altLang="en-US" dirty="0"/>
              <a:t>    ①伸出左手</a:t>
            </a:r>
          </a:p>
          <a:p>
            <a:r>
              <a:rPr lang="zh-CN" altLang="en-US" dirty="0"/>
              <a:t>    ②拿起水壶</a:t>
            </a:r>
          </a:p>
          <a:p>
            <a:r>
              <a:rPr lang="zh-CN" altLang="en-US" dirty="0"/>
              <a:t>    ③走到水龙头</a:t>
            </a:r>
          </a:p>
          <a:p>
            <a:r>
              <a:rPr lang="zh-CN" altLang="en-US" dirty="0"/>
              <a:t>    ④拧开水阀接水</a:t>
            </a:r>
          </a:p>
          <a:p>
            <a:r>
              <a:rPr lang="zh-CN" altLang="en-US" dirty="0"/>
              <a:t>    ⑤关掉水阀</a:t>
            </a:r>
          </a:p>
          <a:p>
            <a:r>
              <a:rPr lang="zh-CN" altLang="en-US" dirty="0"/>
              <a:t>    ⑥放到灶台</a:t>
            </a:r>
          </a:p>
          <a:p>
            <a:r>
              <a:rPr lang="zh-CN" altLang="en-US" dirty="0"/>
              <a:t>    ⑦点火</a:t>
            </a:r>
          </a:p>
          <a:p>
            <a:r>
              <a:rPr lang="zh-CN" altLang="en-US" dirty="0"/>
              <a:t>    </a:t>
            </a:r>
            <a:r>
              <a:rPr lang="en-US" altLang="zh-CN" dirty="0"/>
              <a:t>……</a:t>
            </a:r>
          </a:p>
          <a:p>
            <a:r>
              <a:rPr lang="en-US" altLang="zh-CN" dirty="0"/>
              <a:t>    </a:t>
            </a:r>
            <a:r>
              <a:rPr lang="zh-CN" altLang="en-US" dirty="0"/>
              <a:t>一步都不能少，说错一个动作就做错。</a:t>
            </a:r>
          </a:p>
          <a:p>
            <a:endParaRPr lang="zh-CN" altLang="en-US" dirty="0"/>
          </a:p>
          <a:p>
            <a:r>
              <a:rPr lang="zh-CN" altLang="en-US" dirty="0"/>
              <a:t>特点：贴近电脑本能，死板繁琐，人写着很累，电脑一看就懂。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F1E00F9-FAE9-DFE1-1FD3-84523721D1B4}"/>
              </a:ext>
            </a:extLst>
          </p:cNvPr>
          <p:cNvSpPr txBox="1"/>
          <p:nvPr/>
        </p:nvSpPr>
        <p:spPr>
          <a:xfrm>
            <a:off x="5867400" y="2171700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2. </a:t>
            </a:r>
            <a:r>
              <a:rPr lang="zh-CN" altLang="en-US" dirty="0"/>
              <a:t>高级语言（</a:t>
            </a:r>
            <a:r>
              <a:rPr lang="en-US" altLang="zh-CN" dirty="0"/>
              <a:t>Python/C/Java </a:t>
            </a:r>
            <a:r>
              <a:rPr lang="zh-CN" altLang="en-US" dirty="0"/>
              <a:t>等）</a:t>
            </a:r>
          </a:p>
          <a:p>
            <a:r>
              <a:rPr lang="zh-CN" altLang="en-US" dirty="0"/>
              <a:t>主人只说一句话：“帮我煮一碗热汤”</a:t>
            </a:r>
          </a:p>
          <a:p>
            <a:r>
              <a:rPr lang="zh-CN" altLang="en-US" dirty="0"/>
              <a:t>剩下所有举手、放水、开火、关火细节，全都由翻译官自动完成。</a:t>
            </a:r>
          </a:p>
          <a:p>
            <a:r>
              <a:rPr lang="zh-CN" altLang="en-US" dirty="0"/>
              <a:t>特点：贴近人类说话，简单好懂，写起来轻松，需要翻译后电脑才能执行。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55ECBA7D-3ACD-48C2-B989-EA0E465FC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033" y="4006216"/>
            <a:ext cx="2305465" cy="233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5509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BF18-68B3-9A47-41FC-391E95CB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714C52-71FA-E09F-C265-C5DDC12C9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五、数学的重要性</a:t>
            </a:r>
            <a:r>
              <a:rPr lang="en-US" altLang="zh-CN" sz="4400" dirty="0"/>
              <a:t>——</a:t>
            </a:r>
            <a:r>
              <a:rPr lang="zh-CN" altLang="en-US" sz="4400" dirty="0"/>
              <a:t>算法（</a:t>
            </a:r>
            <a:r>
              <a:rPr lang="en-US" altLang="zh-CN" sz="4400" dirty="0"/>
              <a:t>1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83BB2B-8CED-2E37-4741-ADAA63639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9" y="1606204"/>
            <a:ext cx="3580892" cy="1479896"/>
          </a:xfrm>
        </p:spPr>
        <p:txBody>
          <a:bodyPr lIns="109728" tIns="109728" rIns="109728" bIns="91440"/>
          <a:lstStyle/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排序算法</a:t>
            </a:r>
            <a:endParaRPr lang="en-US" altLang="zh-CN" sz="1800" dirty="0">
              <a:latin typeface="+mn-ea"/>
            </a:endParaRPr>
          </a:p>
          <a:p>
            <a:pPr>
              <a:buFont typeface="Wingdings" panose="05000000000000000000" pitchFamily="2" charset="2"/>
              <a:buChar char="l"/>
            </a:pPr>
            <a:r>
              <a:rPr lang="zh-CN" altLang="en-US" sz="1800" dirty="0">
                <a:latin typeface="+mn-ea"/>
              </a:rPr>
              <a:t>数据结构、离散数学</a:t>
            </a: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F706EE60-89D4-3A3A-CC9B-8DA555220A8D}"/>
              </a:ext>
            </a:extLst>
          </p:cNvPr>
          <p:cNvSpPr txBox="1">
            <a:spLocks/>
          </p:cNvSpPr>
          <p:nvPr/>
        </p:nvSpPr>
        <p:spPr>
          <a:xfrm>
            <a:off x="181199" y="2930814"/>
            <a:ext cx="6031991" cy="1873596"/>
          </a:xfrm>
          <a:prstGeom prst="rect">
            <a:avLst/>
          </a:prstGeom>
        </p:spPr>
        <p:txBody>
          <a:bodyPr lIns="109728" tIns="109728" rIns="109728" bIns="91440"/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16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举个音乐数理的例子。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中国历法与音乐的关系核心是 “律历合一”，二者同源于对自然节律的感知，有着共通的数理逻辑与哲学思维，还通过具体制度和工具深度绑定。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52A3540-D14E-0977-CBCC-552369154010}"/>
              </a:ext>
            </a:extLst>
          </p:cNvPr>
          <p:cNvSpPr txBox="1"/>
          <p:nvPr/>
        </p:nvSpPr>
        <p:spPr>
          <a:xfrm>
            <a:off x="355600" y="5251796"/>
            <a:ext cx="565640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### </a:t>
            </a:r>
            <a:r>
              <a:rPr lang="zh-CN" altLang="en-US" dirty="0"/>
              <a:t>律历与相关元素关联图示</a:t>
            </a:r>
          </a:p>
          <a:p>
            <a:endParaRPr lang="zh-CN" altLang="en-US" dirty="0"/>
          </a:p>
          <a:p>
            <a:r>
              <a:rPr lang="zh-CN" altLang="en-US" dirty="0"/>
              <a:t>该图整合了十二律吕、十二地支、月份、二十四节气的对应关系，直观呈现历法与音律的绑定，具体如下：</a:t>
            </a:r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B8A98744-A735-B7CD-81A9-078890C023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1204850"/>
              </p:ext>
            </p:extLst>
          </p:nvPr>
        </p:nvGraphicFramePr>
        <p:xfrm>
          <a:off x="6179995" y="1812752"/>
          <a:ext cx="5490796" cy="4765348"/>
        </p:xfrm>
        <a:graphic>
          <a:graphicData uri="http://schemas.openxmlformats.org/drawingml/2006/table">
            <a:tbl>
              <a:tblPr/>
              <a:tblGrid>
                <a:gridCol w="1372699">
                  <a:extLst>
                    <a:ext uri="{9D8B030D-6E8A-4147-A177-3AD203B41FA5}">
                      <a16:colId xmlns:a16="http://schemas.microsoft.com/office/drawing/2014/main" val="2224427173"/>
                    </a:ext>
                  </a:extLst>
                </a:gridCol>
                <a:gridCol w="1372699">
                  <a:extLst>
                    <a:ext uri="{9D8B030D-6E8A-4147-A177-3AD203B41FA5}">
                      <a16:colId xmlns:a16="http://schemas.microsoft.com/office/drawing/2014/main" val="2293194833"/>
                    </a:ext>
                  </a:extLst>
                </a:gridCol>
                <a:gridCol w="1372699">
                  <a:extLst>
                    <a:ext uri="{9D8B030D-6E8A-4147-A177-3AD203B41FA5}">
                      <a16:colId xmlns:a16="http://schemas.microsoft.com/office/drawing/2014/main" val="1262266314"/>
                    </a:ext>
                  </a:extLst>
                </a:gridCol>
                <a:gridCol w="1372699">
                  <a:extLst>
                    <a:ext uri="{9D8B030D-6E8A-4147-A177-3AD203B41FA5}">
                      <a16:colId xmlns:a16="http://schemas.microsoft.com/office/drawing/2014/main" val="1119782568"/>
                    </a:ext>
                  </a:extLst>
                </a:gridCol>
              </a:tblGrid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十二律吕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 dirty="0">
                          <a:effectLst/>
                        </a:rPr>
                        <a:t>对应地支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对应农历月份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对应节气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6816594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黄钟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子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十一月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冬至、小寒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8180200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大吕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丑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十二月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大寒、立春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2348054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太簇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寅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正月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雨水、惊蛰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5548156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夹钟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卯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二月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春分、清明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2202052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姑洗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辰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三月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谷雨、立夏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1636832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中吕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巳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四月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小满、芒种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0223582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蕤宾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五月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夏至、小暑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9702691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林钟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未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六月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大暑、立秋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6104511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夷则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申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七月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处暑、白露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719541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南吕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酉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八月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秋分、寒露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4837413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无射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戌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九月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霜降、立冬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6030525"/>
                  </a:ext>
                </a:extLst>
              </a:tr>
              <a:tr h="242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应钟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亥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>
                          <a:effectLst/>
                        </a:rPr>
                        <a:t>十月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1700" dirty="0">
                          <a:effectLst/>
                        </a:rPr>
                        <a:t>小雪、大雪</a:t>
                      </a:r>
                    </a:p>
                  </a:txBody>
                  <a:tcPr marL="87557" marR="87557" marT="43778" marB="43778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10585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09162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F058A-FA0B-84A0-95E8-2AF2D42D2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82FAA8-9535-68A2-F43A-82A5FD60E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五、数学的重要性</a:t>
            </a:r>
            <a:r>
              <a:rPr lang="en-US" altLang="zh-CN" sz="4400" dirty="0"/>
              <a:t>——</a:t>
            </a:r>
            <a:r>
              <a:rPr lang="zh-CN" altLang="en-US" sz="4400" dirty="0"/>
              <a:t>算法（</a:t>
            </a:r>
            <a:r>
              <a:rPr lang="en-US" altLang="zh-CN" sz="4400" dirty="0"/>
              <a:t>2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95E2600-CE25-0868-E614-A8BC06FA3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576785"/>
            <a:ext cx="11289792" cy="1166592"/>
          </a:xfrm>
        </p:spPr>
        <p:txBody>
          <a:bodyPr lIns="109728" tIns="109728" rIns="109728" bIns="91440"/>
          <a:lstStyle/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非对称加密（网络通讯）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 一对密钥（公钥加密、私钥解密，反之亦可），**公钥公开、私钥保密**，实现安全传输与身份验证。 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5681E0B-DA99-C8DB-24D4-94E039B40A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0039" y="2513437"/>
            <a:ext cx="5342857" cy="281904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F2D9AE1-83D4-298F-AA1D-7CC77008F5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7096" y="4187638"/>
            <a:ext cx="2715895" cy="2007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3591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BF18-68B3-9A47-41FC-391E95CB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714C52-71FA-E09F-C265-C5DDC12C9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五、数学的重要性</a:t>
            </a:r>
            <a:r>
              <a:rPr lang="en-US" altLang="zh-CN" sz="4400" dirty="0"/>
              <a:t>——</a:t>
            </a:r>
            <a:r>
              <a:rPr lang="zh-CN" altLang="en-US" sz="4400" dirty="0"/>
              <a:t>算法（</a:t>
            </a:r>
            <a:r>
              <a:rPr lang="en-US" altLang="zh-CN" sz="4400" dirty="0"/>
              <a:t>3</a:t>
            </a:r>
            <a:r>
              <a:rPr lang="zh-CN" altLang="en-US" sz="4400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83BB2B-8CED-2E37-4741-ADAA63639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576784"/>
            <a:ext cx="5898896" cy="4892595"/>
          </a:xfrm>
        </p:spPr>
        <p:txBody>
          <a:bodyPr lIns="109728" tIns="109728" rIns="109728" bIns="91440"/>
          <a:lstStyle/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非对称加密（网络通讯）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 一对密钥（公钥加密、私钥解密，反之亦可），**公钥公开、私钥保密**，实现安全传输与身份验证。 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#### </a:t>
            </a:r>
            <a:r>
              <a:rPr lang="zh-CN" altLang="en-US" sz="1400" dirty="0">
                <a:latin typeface="+mn-ea"/>
              </a:rPr>
              <a:t>一封只有公主能拆开的信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从前，有个王国叫**加密国**，里面住着聪明的**公主（私钥）** 和热情的**国民（公钥）**。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公主有个独门绝技：能打造一种**带锁的空盒子**，这种盒子有个神奇的规矩 </a:t>
            </a:r>
            <a:r>
              <a:rPr lang="en-US" altLang="zh-CN" sz="1400" dirty="0">
                <a:latin typeface="+mn-ea"/>
              </a:rPr>
              <a:t>——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1. </a:t>
            </a:r>
            <a:r>
              <a:rPr lang="zh-CN" altLang="en-US" sz="1400" dirty="0">
                <a:latin typeface="+mn-ea"/>
              </a:rPr>
              <a:t>任何人都能拿到盒子（公钥公开），把想给公主的信放进去，轻轻一扣，盒子就会自动上锁，**谁也打不开，除了公主本人**；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2. </a:t>
            </a:r>
            <a:r>
              <a:rPr lang="zh-CN" altLang="en-US" sz="1400" dirty="0">
                <a:latin typeface="+mn-ea"/>
              </a:rPr>
              <a:t>公主还有一把**专属钥匙**（私钥保密），只有这把钥匙能打开所有她打造的盒子，钥匙丢了就再也没法解锁。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这天，邻国的王子想给公主写一封表白信，又怕信件被坏人偷看。他就照着方法做了三件事：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1. **</a:t>
            </a:r>
            <a:r>
              <a:rPr lang="zh-CN" altLang="en-US" sz="1400" dirty="0">
                <a:latin typeface="+mn-ea"/>
              </a:rPr>
              <a:t>借盒子**：从加密国国民手里拿到公主打造的空盒子（获取公钥）；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2. **</a:t>
            </a:r>
            <a:r>
              <a:rPr lang="zh-CN" altLang="en-US" sz="1400" dirty="0">
                <a:latin typeface="+mn-ea"/>
              </a:rPr>
              <a:t>装信上锁**：把表白信放进盒子，盒子自动锁死（公钥加密）；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3. **</a:t>
            </a:r>
            <a:r>
              <a:rPr lang="zh-CN" altLang="en-US" sz="1400" dirty="0">
                <a:latin typeface="+mn-ea"/>
              </a:rPr>
              <a:t>送盒子**：派人把锁好的盒子送到公主手里。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003CB55-924E-B43B-9331-4DFB233D1CDA}"/>
              </a:ext>
            </a:extLst>
          </p:cNvPr>
          <p:cNvSpPr txBox="1"/>
          <p:nvPr/>
        </p:nvSpPr>
        <p:spPr>
          <a:xfrm>
            <a:off x="6279896" y="1576784"/>
            <a:ext cx="5403088" cy="5262979"/>
          </a:xfrm>
          <a:prstGeom prst="rect">
            <a:avLst/>
          </a:prstGeom>
        </p:spPr>
        <p:txBody>
          <a:bodyPr lIns="109728" tIns="109728" rIns="109728" bIns="91440"/>
          <a:lstStyle>
            <a:lvl1pPr indent="0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spc="160">
                <a:latin typeface="+mn-ea"/>
              </a:defRPr>
            </a:lvl1pPr>
            <a:lvl2pPr marL="6858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2pPr>
            <a:lvl3pPr marL="11430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3pPr>
            <a:lvl4pPr marL="16002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4pPr>
            <a:lvl5pPr marL="20574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路上，坏人截住了信使，看到漂亮的盒子，想尽办法撬锁、砸盒子，却怎么也打不开 </a:t>
            </a:r>
            <a:r>
              <a:rPr lang="en-US" altLang="zh-CN" dirty="0"/>
              <a:t>—— </a:t>
            </a:r>
            <a:r>
              <a:rPr lang="zh-CN" altLang="en-US" dirty="0"/>
              <a:t>因为这盒子的锁，**只有公主的专属钥匙能解开**。</a:t>
            </a:r>
          </a:p>
          <a:p>
            <a:r>
              <a:rPr lang="zh-CN" altLang="en-US" dirty="0"/>
              <a:t>公主收到盒子后，掏出专属钥匙（私钥），轻轻一拧，盒子就开了，顺利读到了王子的信。</a:t>
            </a:r>
          </a:p>
          <a:p>
            <a:r>
              <a:rPr lang="zh-CN" altLang="en-US" dirty="0"/>
              <a:t>后来，公主想给王子回信，还怕王子不信是她写的。她就做了一个新操作：</a:t>
            </a:r>
          </a:p>
          <a:p>
            <a:r>
              <a:rPr lang="zh-CN" altLang="en-US" dirty="0"/>
              <a:t>把回信内容写好，再用自己的专属钥匙，在信的封口盖了一个**独一无二的印章**</a:t>
            </a:r>
          </a:p>
          <a:p>
            <a:r>
              <a:rPr lang="zh-CN" altLang="en-US" dirty="0"/>
              <a:t>王子收到信后，只要拿出公主打造的空盒子（公钥），对比印章和盒子的匹配度，就能确认：这封信绝对是公主写的，没被人篡改过。</a:t>
            </a:r>
          </a:p>
          <a:p>
            <a:r>
              <a:rPr lang="zh-CN" altLang="en-US" dirty="0"/>
              <a:t>这个故事里：</a:t>
            </a:r>
          </a:p>
          <a:p>
            <a:r>
              <a:rPr lang="en-US" altLang="zh-CN" dirty="0"/>
              <a:t>- **</a:t>
            </a:r>
            <a:r>
              <a:rPr lang="zh-CN" altLang="en-US" dirty="0"/>
              <a:t>公主的专属钥匙** </a:t>
            </a:r>
            <a:r>
              <a:rPr lang="en-US" altLang="zh-CN" dirty="0"/>
              <a:t>= </a:t>
            </a:r>
            <a:r>
              <a:rPr lang="zh-CN" altLang="en-US" dirty="0"/>
              <a:t>私钥（唯一、保密）</a:t>
            </a:r>
          </a:p>
          <a:p>
            <a:r>
              <a:rPr lang="en-US" altLang="zh-CN" dirty="0"/>
              <a:t>- **</a:t>
            </a:r>
            <a:r>
              <a:rPr lang="zh-CN" altLang="en-US" dirty="0"/>
              <a:t>公主打造的空盒子** </a:t>
            </a:r>
            <a:r>
              <a:rPr lang="en-US" altLang="zh-CN" dirty="0"/>
              <a:t>= </a:t>
            </a:r>
            <a:r>
              <a:rPr lang="zh-CN" altLang="en-US" dirty="0"/>
              <a:t>公钥（公开、人人可获取）</a:t>
            </a:r>
          </a:p>
          <a:p>
            <a:r>
              <a:rPr lang="en-US" altLang="zh-CN" dirty="0"/>
              <a:t>- **</a:t>
            </a:r>
            <a:r>
              <a:rPr lang="zh-CN" altLang="en-US" dirty="0"/>
              <a:t>盒子 “只能公主钥匙打开” 的规矩** </a:t>
            </a:r>
            <a:r>
              <a:rPr lang="en-US" altLang="zh-CN" dirty="0"/>
              <a:t>= </a:t>
            </a:r>
            <a:r>
              <a:rPr lang="zh-CN" altLang="en-US" dirty="0"/>
              <a:t>非对称加密的核心：公钥加密，私钥解密；私钥签名，公钥验证</a:t>
            </a:r>
          </a:p>
          <a:p>
            <a:r>
              <a:rPr lang="en-US" altLang="zh-CN" dirty="0"/>
              <a:t>- **</a:t>
            </a:r>
            <a:r>
              <a:rPr lang="zh-CN" altLang="en-US" dirty="0"/>
              <a:t>坏人撬不开盒子** </a:t>
            </a:r>
            <a:r>
              <a:rPr lang="en-US" altLang="zh-CN" dirty="0"/>
              <a:t>= </a:t>
            </a:r>
            <a:r>
              <a:rPr lang="zh-CN" altLang="en-US" dirty="0"/>
              <a:t>数学难题的 “易算难逆” 特性，保障加密安全</a:t>
            </a:r>
          </a:p>
        </p:txBody>
      </p:sp>
    </p:spTree>
    <p:extLst>
      <p:ext uri="{BB962C8B-B14F-4D97-AF65-F5344CB8AC3E}">
        <p14:creationId xmlns:p14="http://schemas.microsoft.com/office/powerpoint/2010/main" val="37720666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9392E-9ABE-8ACB-29E9-38C9EDE9A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1BE3BB-482C-891B-D0FE-701DC4A16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五、数学的重要性</a:t>
            </a:r>
            <a:r>
              <a:rPr lang="en-US" altLang="zh-CN" sz="4400" dirty="0"/>
              <a:t>——</a:t>
            </a:r>
            <a:r>
              <a:rPr lang="zh-CN" altLang="en-US" sz="4400" dirty="0"/>
              <a:t>算法（</a:t>
            </a:r>
            <a:r>
              <a:rPr lang="en-US" altLang="zh-CN" sz="4400" dirty="0"/>
              <a:t>4</a:t>
            </a:r>
            <a:r>
              <a:rPr lang="zh-CN" altLang="en-US" sz="4400"/>
              <a:t>）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2209714-0941-CF61-065F-E9F68919B3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576784"/>
            <a:ext cx="5898896" cy="4892595"/>
          </a:xfrm>
        </p:spPr>
        <p:txBody>
          <a:bodyPr lIns="109728" tIns="109728" rIns="109728" bIns="91440"/>
          <a:lstStyle/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非对称加密（网络通讯）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 一对密钥（公钥加密、私钥解密，反之亦可），**公钥公开、私钥保密**，实现安全传输与身份验证。 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#### </a:t>
            </a:r>
            <a:r>
              <a:rPr lang="zh-CN" altLang="en-US" sz="1400" dirty="0">
                <a:latin typeface="+mn-ea"/>
              </a:rPr>
              <a:t>一封只有公主能拆开的信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从前，有个王国叫**加密国**，里面住着聪明的**公主（私钥）** 和热情的**国民（公钥）**。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公主有个独门绝技：能打造一种**带锁的空盒子**，这种盒子有个神奇的规矩 </a:t>
            </a:r>
            <a:r>
              <a:rPr lang="en-US" altLang="zh-CN" sz="1400" dirty="0">
                <a:latin typeface="+mn-ea"/>
              </a:rPr>
              <a:t>——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1. </a:t>
            </a:r>
            <a:r>
              <a:rPr lang="zh-CN" altLang="en-US" sz="1400" dirty="0">
                <a:latin typeface="+mn-ea"/>
              </a:rPr>
              <a:t>任何人都能拿到盒子（公钥公开），把想给公主的信放进去，轻轻一扣，盒子就会自动上锁，**谁也打不开，除了公主本人**；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2. </a:t>
            </a:r>
            <a:r>
              <a:rPr lang="zh-CN" altLang="en-US" sz="1400" dirty="0">
                <a:latin typeface="+mn-ea"/>
              </a:rPr>
              <a:t>公主还有一把**专属钥匙**（私钥保密），只有这把钥匙能打开所有她打造的盒子，钥匙丢了就再也没法解锁。</a:t>
            </a:r>
          </a:p>
          <a:p>
            <a:pPr marL="0" indent="0">
              <a:buNone/>
            </a:pPr>
            <a:r>
              <a:rPr lang="zh-CN" altLang="en-US" sz="1400" dirty="0">
                <a:latin typeface="+mn-ea"/>
              </a:rPr>
              <a:t>这天，邻国的王子想给公主写一封表白信，又怕信件被坏人偷看。他就照着方法做了三件事：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1. **</a:t>
            </a:r>
            <a:r>
              <a:rPr lang="zh-CN" altLang="en-US" sz="1400" dirty="0">
                <a:latin typeface="+mn-ea"/>
              </a:rPr>
              <a:t>借盒子**：从加密国国民手里拿到公主打造的空盒子（获取公钥）；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2. **</a:t>
            </a:r>
            <a:r>
              <a:rPr lang="zh-CN" altLang="en-US" sz="1400" dirty="0">
                <a:latin typeface="+mn-ea"/>
              </a:rPr>
              <a:t>装信上锁**：把表白信放进盒子，盒子自动锁死（公钥加密）；</a:t>
            </a:r>
          </a:p>
          <a:p>
            <a:pPr marL="0" indent="0">
              <a:buNone/>
            </a:pPr>
            <a:r>
              <a:rPr lang="en-US" altLang="zh-CN" sz="1400" dirty="0">
                <a:latin typeface="+mn-ea"/>
              </a:rPr>
              <a:t>3. **</a:t>
            </a:r>
            <a:r>
              <a:rPr lang="zh-CN" altLang="en-US" sz="1400" dirty="0">
                <a:latin typeface="+mn-ea"/>
              </a:rPr>
              <a:t>送盒子**：派人把锁好的盒子送到公主手里。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CCC634E-D628-5CDD-833C-A3F0BBB2E483}"/>
              </a:ext>
            </a:extLst>
          </p:cNvPr>
          <p:cNvSpPr txBox="1"/>
          <p:nvPr/>
        </p:nvSpPr>
        <p:spPr>
          <a:xfrm>
            <a:off x="6279896" y="1576784"/>
            <a:ext cx="5403088" cy="5262979"/>
          </a:xfrm>
          <a:prstGeom prst="rect">
            <a:avLst/>
          </a:prstGeom>
        </p:spPr>
        <p:txBody>
          <a:bodyPr lIns="109728" tIns="109728" rIns="109728" bIns="91440"/>
          <a:lstStyle>
            <a:lvl1pPr indent="0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spc="160">
                <a:latin typeface="+mn-ea"/>
              </a:defRPr>
            </a:lvl1pPr>
            <a:lvl2pPr marL="6858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2pPr>
            <a:lvl3pPr marL="11430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3pPr>
            <a:lvl4pPr marL="16002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4pPr>
            <a:lvl5pPr marL="2057400" indent="-228600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spc="16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CN" altLang="en-US" dirty="0"/>
              <a:t>路上，坏人截住了信使，看到漂亮的盒子，想尽办法撬锁、砸盒子，却怎么也打不开 </a:t>
            </a:r>
            <a:r>
              <a:rPr lang="en-US" altLang="zh-CN" dirty="0"/>
              <a:t>—— </a:t>
            </a:r>
            <a:r>
              <a:rPr lang="zh-CN" altLang="en-US" dirty="0"/>
              <a:t>因为这盒子的锁，**只有公主的专属钥匙能解开**。</a:t>
            </a:r>
          </a:p>
          <a:p>
            <a:r>
              <a:rPr lang="zh-CN" altLang="en-US" dirty="0"/>
              <a:t>公主收到盒子后，掏出专属钥匙（私钥），轻轻一拧，盒子就开了，顺利读到了王子的信。</a:t>
            </a:r>
          </a:p>
          <a:p>
            <a:r>
              <a:rPr lang="zh-CN" altLang="en-US" dirty="0"/>
              <a:t>后来，公主想给王子回信，还怕王子不信是她写的。她就做了一个新操作：</a:t>
            </a:r>
          </a:p>
          <a:p>
            <a:r>
              <a:rPr lang="zh-CN" altLang="en-US" dirty="0"/>
              <a:t>把回信内容写好，再用自己的专属钥匙，在信的封口盖了一个**独一无二的印章**</a:t>
            </a:r>
          </a:p>
          <a:p>
            <a:r>
              <a:rPr lang="zh-CN" altLang="en-US" dirty="0"/>
              <a:t>王子收到信后，只要拿出公主打造的空盒子（公钥），对比印章和盒子的匹配度，就能确认：这封信绝对是公主写的，没被人篡改过。</a:t>
            </a:r>
          </a:p>
          <a:p>
            <a:r>
              <a:rPr lang="zh-CN" altLang="en-US" dirty="0"/>
              <a:t>这个故事里：</a:t>
            </a:r>
          </a:p>
          <a:p>
            <a:r>
              <a:rPr lang="en-US" altLang="zh-CN" dirty="0"/>
              <a:t>- **</a:t>
            </a:r>
            <a:r>
              <a:rPr lang="zh-CN" altLang="en-US" dirty="0"/>
              <a:t>公主的专属钥匙** </a:t>
            </a:r>
            <a:r>
              <a:rPr lang="en-US" altLang="zh-CN" dirty="0"/>
              <a:t>= </a:t>
            </a:r>
            <a:r>
              <a:rPr lang="zh-CN" altLang="en-US" dirty="0"/>
              <a:t>私钥（唯一、保密）</a:t>
            </a:r>
          </a:p>
          <a:p>
            <a:r>
              <a:rPr lang="en-US" altLang="zh-CN" dirty="0"/>
              <a:t>- **</a:t>
            </a:r>
            <a:r>
              <a:rPr lang="zh-CN" altLang="en-US" dirty="0"/>
              <a:t>公主打造的空盒子** </a:t>
            </a:r>
            <a:r>
              <a:rPr lang="en-US" altLang="zh-CN" dirty="0"/>
              <a:t>= </a:t>
            </a:r>
            <a:r>
              <a:rPr lang="zh-CN" altLang="en-US" dirty="0"/>
              <a:t>公钥（公开、人人可获取）</a:t>
            </a:r>
          </a:p>
          <a:p>
            <a:r>
              <a:rPr lang="en-US" altLang="zh-CN" dirty="0"/>
              <a:t>- **</a:t>
            </a:r>
            <a:r>
              <a:rPr lang="zh-CN" altLang="en-US" dirty="0"/>
              <a:t>盒子 “只能公主钥匙打开” 的规矩** </a:t>
            </a:r>
            <a:r>
              <a:rPr lang="en-US" altLang="zh-CN" dirty="0"/>
              <a:t>= </a:t>
            </a:r>
            <a:r>
              <a:rPr lang="zh-CN" altLang="en-US" dirty="0"/>
              <a:t>非对称加密的核心：公钥加密，私钥解密；私钥签名，公钥验证</a:t>
            </a:r>
          </a:p>
          <a:p>
            <a:r>
              <a:rPr lang="en-US" altLang="zh-CN" dirty="0"/>
              <a:t>- **</a:t>
            </a:r>
            <a:r>
              <a:rPr lang="zh-CN" altLang="en-US" dirty="0"/>
              <a:t>坏人撬不开盒子** </a:t>
            </a:r>
            <a:r>
              <a:rPr lang="en-US" altLang="zh-CN" dirty="0"/>
              <a:t>= </a:t>
            </a:r>
            <a:r>
              <a:rPr lang="zh-CN" altLang="en-US" dirty="0"/>
              <a:t>数学难题的 “易算难逆” 特性，保障加密安全</a:t>
            </a:r>
          </a:p>
        </p:txBody>
      </p:sp>
    </p:spTree>
    <p:extLst>
      <p:ext uri="{BB962C8B-B14F-4D97-AF65-F5344CB8AC3E}">
        <p14:creationId xmlns:p14="http://schemas.microsoft.com/office/powerpoint/2010/main" val="23105217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96558-2DAC-5999-297B-E0B3AE56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349C3E-DF4A-5692-11D9-7759D7A03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六、编程</a:t>
            </a:r>
            <a:r>
              <a:rPr lang="en-US" altLang="zh-CN" sz="4400" dirty="0"/>
              <a:t>(1)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D0EA631-E968-3474-CCB7-474210E1A4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599392"/>
            <a:ext cx="11155680" cy="4359448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编程归根结底，就是对前面所说的这些东西进行操控，包括数据和设备。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所有机器都有一张操作命令清单，让你可以控制它。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有时这个清单非常简短。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电水壶就只允许两种操作：打开和关闭。</a:t>
            </a:r>
          </a:p>
          <a:p>
            <a:pPr marL="0" indent="0">
              <a:buNone/>
            </a:pPr>
            <a:r>
              <a:rPr lang="en-US" altLang="zh-CN" sz="1800" dirty="0">
                <a:latin typeface="+mn-ea"/>
              </a:rPr>
              <a:t>CD</a:t>
            </a:r>
            <a:r>
              <a:rPr lang="zh-CN" altLang="en-US" sz="1800" dirty="0">
                <a:latin typeface="+mn-ea"/>
              </a:rPr>
              <a:t>播放器稍微复杂点，除了打开和关闭以外，还能调节音量、播放、暂停、快进、快退、随机播放等。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计算机和其他机器一样，也有一张操作命令清单。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比如，可以命令计算机把两个数相加。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这种操作命令的总和就是计算机的机器语言（</a:t>
            </a:r>
            <a:r>
              <a:rPr lang="en-US" altLang="zh-CN" sz="1800" dirty="0">
                <a:latin typeface="+mn-ea"/>
              </a:rPr>
              <a:t>machine language</a:t>
            </a:r>
            <a:r>
              <a:rPr lang="zh-CN" altLang="en-US" sz="1800" dirty="0">
                <a:latin typeface="+mn-ea"/>
              </a:rPr>
              <a:t>）。</a:t>
            </a:r>
          </a:p>
        </p:txBody>
      </p:sp>
    </p:spTree>
    <p:extLst>
      <p:ext uri="{BB962C8B-B14F-4D97-AF65-F5344CB8AC3E}">
        <p14:creationId xmlns:p14="http://schemas.microsoft.com/office/powerpoint/2010/main" val="11730877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C95EF-F033-7FC2-C989-F06073589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833C9E-4FC0-BDE7-EB90-093DB4926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六、编程</a:t>
            </a:r>
            <a:r>
              <a:rPr lang="en-US" altLang="zh-CN" sz="4400" dirty="0"/>
              <a:t>(2)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314C565-22EF-7114-D7BB-DDF45193D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599392"/>
            <a:ext cx="11149584" cy="2451908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计算机刚发明的时候，所有程序就是一条条机器语言的命令。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没过多久，程序就改成使用汇编语言了，它要比机器语言写起来稍微方便一点。命令清单还是一样的，就是每个命令换了一个更人性化的名字。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机器语言的加法命令是</a:t>
            </a:r>
            <a:r>
              <a:rPr lang="en-US" altLang="zh-CN" sz="1800" dirty="0">
                <a:latin typeface="+mn-ea"/>
              </a:rPr>
              <a:t>11001101</a:t>
            </a:r>
            <a:r>
              <a:rPr lang="zh-CN" altLang="en-US" sz="1800" dirty="0">
                <a:latin typeface="+mn-ea"/>
              </a:rPr>
              <a:t>，这可能就是计算机内部的加法表达方式，但是在汇编语言中，这条命令就改成了</a:t>
            </a:r>
            <a:r>
              <a:rPr lang="en-US" altLang="zh-CN" sz="1800" dirty="0">
                <a:latin typeface="+mn-ea"/>
              </a:rPr>
              <a:t>add</a:t>
            </a:r>
            <a:r>
              <a:rPr lang="zh-CN" altLang="en-US" sz="1800" dirty="0">
                <a:latin typeface="+mn-ea"/>
              </a:rPr>
              <a:t>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机器语言和汇编语言的共同问题就是，只能让大多数计算机做一些很简单的事情。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比如，假定你想让计算机的蜂鸣器响</a:t>
            </a:r>
            <a:r>
              <a:rPr lang="en-US" altLang="zh-CN" sz="1800" dirty="0">
                <a:latin typeface="+mn-ea"/>
              </a:rPr>
              <a:t>10</a:t>
            </a:r>
            <a:r>
              <a:rPr lang="zh-CN" altLang="en-US" sz="1800" dirty="0">
                <a:latin typeface="+mn-ea"/>
              </a:rPr>
              <a:t>次，但是不存在一条直接的机器语言命令让电脑重复进行</a:t>
            </a:r>
            <a:r>
              <a:rPr lang="en-US" altLang="zh-CN" sz="1800" dirty="0">
                <a:latin typeface="+mn-ea"/>
              </a:rPr>
              <a:t>n</a:t>
            </a:r>
            <a:r>
              <a:rPr lang="zh-CN" altLang="en-US" sz="1800" dirty="0">
                <a:latin typeface="+mn-ea"/>
              </a:rPr>
              <a:t>次操作，所以只能用机器语言写出下面这样的程序：</a:t>
            </a:r>
            <a:endParaRPr lang="en-US" altLang="zh-CN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  <a:p>
            <a:pPr marL="0" indent="0">
              <a:buNone/>
            </a:pPr>
            <a:endParaRPr lang="zh-CN" altLang="en-US" sz="1800" dirty="0">
              <a:latin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0FBA530-88D4-198A-D2C9-A6933055F860}"/>
              </a:ext>
            </a:extLst>
          </p:cNvPr>
          <p:cNvSpPr txBox="1"/>
          <p:nvPr/>
        </p:nvSpPr>
        <p:spPr>
          <a:xfrm>
            <a:off x="4483100" y="4826675"/>
            <a:ext cx="75438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	x&lt;-10			// </a:t>
            </a:r>
            <a:r>
              <a:rPr lang="zh-CN" altLang="en-US" dirty="0"/>
              <a:t>将数字</a:t>
            </a:r>
            <a:r>
              <a:rPr lang="en-US" altLang="zh-CN" dirty="0"/>
              <a:t>10</a:t>
            </a:r>
            <a:r>
              <a:rPr lang="zh-CN" altLang="en-US" dirty="0"/>
              <a:t>存入内存地址</a:t>
            </a:r>
            <a:r>
              <a:rPr lang="en-US" altLang="zh-CN" dirty="0"/>
              <a:t>0</a:t>
            </a:r>
          </a:p>
          <a:p>
            <a:r>
              <a:rPr lang="en-US" altLang="zh-CN" dirty="0"/>
              <a:t>a:	if x&lt;0 </a:t>
            </a:r>
            <a:r>
              <a:rPr lang="en-US" altLang="zh-CN" dirty="0" err="1"/>
              <a:t>goto</a:t>
            </a:r>
            <a:r>
              <a:rPr lang="en-US" altLang="zh-CN" dirty="0"/>
              <a:t> b	// </a:t>
            </a:r>
            <a:r>
              <a:rPr lang="zh-CN" altLang="en-US" dirty="0"/>
              <a:t>如果内存地址</a:t>
            </a:r>
            <a:r>
              <a:rPr lang="en-US" altLang="zh-CN" dirty="0"/>
              <a:t>0</a:t>
            </a:r>
            <a:r>
              <a:rPr lang="zh-CN" altLang="en-US" dirty="0"/>
              <a:t>的值为负数，跳到</a:t>
            </a:r>
            <a:r>
              <a:rPr lang="en-US" altLang="zh-CN" dirty="0"/>
              <a:t>b</a:t>
            </a:r>
            <a:r>
              <a:rPr lang="zh-CN" altLang="en-US" dirty="0"/>
              <a:t>行</a:t>
            </a:r>
          </a:p>
          <a:p>
            <a:r>
              <a:rPr lang="zh-CN" altLang="en-US" dirty="0"/>
              <a:t>	</a:t>
            </a:r>
            <a:r>
              <a:rPr lang="en-US" altLang="zh-CN" dirty="0"/>
              <a:t>ring			// </a:t>
            </a:r>
            <a:r>
              <a:rPr lang="zh-CN" altLang="en-US" dirty="0"/>
              <a:t>蜂鸣器发出声音</a:t>
            </a:r>
          </a:p>
          <a:p>
            <a:r>
              <a:rPr lang="zh-CN" altLang="en-US" dirty="0"/>
              <a:t>	</a:t>
            </a:r>
            <a:r>
              <a:rPr lang="en-US" altLang="zh-CN" dirty="0"/>
              <a:t>x-1				//</a:t>
            </a:r>
            <a:r>
              <a:rPr lang="zh-CN" altLang="en-US" dirty="0"/>
              <a:t>将内存地址</a:t>
            </a:r>
            <a:r>
              <a:rPr lang="en-US" altLang="zh-CN" dirty="0"/>
              <a:t>0</a:t>
            </a:r>
            <a:r>
              <a:rPr lang="zh-CN" altLang="en-US" dirty="0"/>
              <a:t>的值减</a:t>
            </a:r>
            <a:r>
              <a:rPr lang="en-US" altLang="zh-CN" dirty="0"/>
              <a:t>1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goto</a:t>
            </a:r>
            <a:r>
              <a:rPr lang="en-US" altLang="zh-CN" dirty="0"/>
              <a:t> a			// </a:t>
            </a:r>
            <a:r>
              <a:rPr lang="zh-CN" altLang="en-US" dirty="0"/>
              <a:t>跳到</a:t>
            </a:r>
            <a:r>
              <a:rPr lang="en-US" altLang="zh-CN" dirty="0"/>
              <a:t>a</a:t>
            </a:r>
            <a:r>
              <a:rPr lang="zh-CN" altLang="en-US" dirty="0"/>
              <a:t>行</a:t>
            </a:r>
          </a:p>
          <a:p>
            <a:r>
              <a:rPr lang="en-US" altLang="zh-CN" dirty="0"/>
              <a:t>b:</a:t>
            </a:r>
          </a:p>
          <a:p>
            <a:r>
              <a:rPr lang="en-US" altLang="zh-CN" dirty="0"/>
              <a:t>	……</a:t>
            </a:r>
            <a:r>
              <a:rPr lang="zh-CN" altLang="en-US" dirty="0"/>
              <a:t>程序的其他部分</a:t>
            </a:r>
            <a:r>
              <a:rPr lang="en-US" altLang="zh-CN" dirty="0"/>
              <a:t>……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755889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F58E8-9B5F-56BA-EA25-1BE7ADA91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572FF8-24A7-983A-713E-B7019FC94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r>
              <a:rPr lang="zh-CN" altLang="en-US" sz="4400" dirty="0"/>
              <a:t>六、编程</a:t>
            </a:r>
            <a:r>
              <a:rPr lang="en-US" altLang="zh-CN" sz="4400" dirty="0"/>
              <a:t>(3)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729737-24BB-E67D-918F-A70194956E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599392"/>
            <a:ext cx="6298692" cy="2705908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如果只是为了让蜂鸣器响</a:t>
            </a:r>
            <a:r>
              <a:rPr lang="en-US" altLang="zh-CN" sz="1800" dirty="0">
                <a:latin typeface="+mn-ea"/>
              </a:rPr>
              <a:t>10</a:t>
            </a:r>
            <a:r>
              <a:rPr lang="zh-CN" altLang="en-US" sz="1800" dirty="0">
                <a:latin typeface="+mn-ea"/>
              </a:rPr>
              <a:t>次就不得不写这么多代码，不难想象写出一个文字处理器或电子表格将是一项多么浩大的工程。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顺便说一句，请再看一下上面的程序。蜂鸣器真的会响</a:t>
            </a:r>
            <a:r>
              <a:rPr lang="en-US" altLang="zh-CN" sz="1800" dirty="0">
                <a:latin typeface="+mn-ea"/>
              </a:rPr>
              <a:t>10</a:t>
            </a:r>
            <a:r>
              <a:rPr lang="zh-CN" altLang="en-US" sz="1800" dirty="0">
                <a:latin typeface="+mn-ea"/>
              </a:rPr>
              <a:t>次吗？不，响了</a:t>
            </a:r>
            <a:r>
              <a:rPr lang="en-US" altLang="zh-CN" sz="1800" dirty="0">
                <a:latin typeface="+mn-ea"/>
              </a:rPr>
              <a:t>11</a:t>
            </a:r>
            <a:r>
              <a:rPr lang="zh-CN" altLang="en-US" sz="1800" dirty="0">
                <a:latin typeface="+mn-ea"/>
              </a:rPr>
              <a:t>次。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我不应该在第一行使用</a:t>
            </a:r>
            <a:r>
              <a:rPr lang="en-US" altLang="zh-CN" sz="1800" dirty="0">
                <a:latin typeface="+mn-ea"/>
              </a:rPr>
              <a:t>10</a:t>
            </a:r>
            <a:r>
              <a:rPr lang="zh-CN" altLang="en-US" sz="1800" dirty="0">
                <a:latin typeface="+mn-ea"/>
              </a:rPr>
              <a:t>，而应该使用</a:t>
            </a:r>
            <a:r>
              <a:rPr lang="en-US" altLang="zh-CN" sz="1800" dirty="0">
                <a:latin typeface="+mn-ea"/>
              </a:rPr>
              <a:t>9</a:t>
            </a:r>
            <a:r>
              <a:rPr lang="zh-CN" altLang="en-US" sz="1800" dirty="0">
                <a:latin typeface="+mn-ea"/>
              </a:rPr>
              <a:t>。</a:t>
            </a:r>
          </a:p>
          <a:p>
            <a:pPr marL="0" indent="0">
              <a:buNone/>
            </a:pPr>
            <a:r>
              <a:rPr lang="zh-CN" altLang="en-US" sz="1800" dirty="0">
                <a:latin typeface="+mn-ea"/>
              </a:rPr>
              <a:t>我故意在这个例子中留了一个</a:t>
            </a:r>
            <a:r>
              <a:rPr lang="en-US" altLang="zh-CN" sz="1800" dirty="0">
                <a:latin typeface="+mn-ea"/>
              </a:rPr>
              <a:t>bug</a:t>
            </a:r>
            <a:r>
              <a:rPr lang="zh-CN" altLang="en-US" sz="1800" dirty="0">
                <a:latin typeface="+mn-ea"/>
              </a:rPr>
              <a:t>，证明编程语言的一个重要特点：一个操作所需的代码越多，就越难避免</a:t>
            </a:r>
            <a:r>
              <a:rPr lang="en-US" altLang="zh-CN" sz="1800" dirty="0">
                <a:latin typeface="+mn-ea"/>
              </a:rPr>
              <a:t>bug</a:t>
            </a:r>
            <a:r>
              <a:rPr lang="zh-CN" altLang="en-US" sz="1800" dirty="0">
                <a:latin typeface="+mn-ea"/>
              </a:rPr>
              <a:t>，也越难发现它们。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83B8046-C6A8-498C-4B82-7620ACE7F260}"/>
              </a:ext>
            </a:extLst>
          </p:cNvPr>
          <p:cNvSpPr txBox="1"/>
          <p:nvPr/>
        </p:nvSpPr>
        <p:spPr>
          <a:xfrm>
            <a:off x="521208" y="573972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高级语言</a:t>
            </a:r>
            <a:endParaRPr lang="en-US" altLang="zh-CN" dirty="0"/>
          </a:p>
          <a:p>
            <a:r>
              <a:rPr lang="en-US" altLang="zh-CN" dirty="0" err="1"/>
              <a:t>dotimes</a:t>
            </a:r>
            <a:r>
              <a:rPr lang="en-US" altLang="zh-CN" dirty="0"/>
              <a:t> 10	// </a:t>
            </a:r>
            <a:r>
              <a:rPr lang="zh-CN" altLang="en-US" dirty="0"/>
              <a:t>蜂鸣器响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26916F-95EC-5D20-EB04-9686D2F34FC9}"/>
              </a:ext>
            </a:extLst>
          </p:cNvPr>
          <p:cNvSpPr txBox="1"/>
          <p:nvPr/>
        </p:nvSpPr>
        <p:spPr>
          <a:xfrm>
            <a:off x="7429500" y="1538575"/>
            <a:ext cx="38227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程序执行的顺序。</a:t>
            </a:r>
          </a:p>
          <a:p>
            <a:endParaRPr lang="zh-CN" altLang="en-US" dirty="0"/>
          </a:p>
          <a:p>
            <a:r>
              <a:rPr lang="en-US" altLang="zh-CN" dirty="0"/>
              <a:t>1</a:t>
            </a:r>
            <a:r>
              <a:rPr lang="zh-CN" altLang="en-US" dirty="0"/>
              <a:t>、直接顺序执行。</a:t>
            </a:r>
          </a:p>
          <a:p>
            <a:endParaRPr lang="zh-CN" altLang="en-US" dirty="0"/>
          </a:p>
          <a:p>
            <a:r>
              <a:rPr lang="en-US" altLang="zh-CN" dirty="0"/>
              <a:t>2</a:t>
            </a:r>
            <a:r>
              <a:rPr lang="zh-CN" altLang="en-US" dirty="0"/>
              <a:t>、条件跳转执行。</a:t>
            </a:r>
          </a:p>
          <a:p>
            <a:endParaRPr lang="zh-CN" altLang="en-US" dirty="0"/>
          </a:p>
          <a:p>
            <a:r>
              <a:rPr lang="en-US" altLang="zh-CN" dirty="0"/>
              <a:t>3</a:t>
            </a:r>
            <a:r>
              <a:rPr lang="zh-CN" altLang="en-US" dirty="0"/>
              <a:t>、循环重复执行。</a:t>
            </a:r>
          </a:p>
          <a:p>
            <a:endParaRPr lang="zh-CN" altLang="en-US" dirty="0"/>
          </a:p>
          <a:p>
            <a:endParaRPr lang="zh-CN" altLang="en-US" dirty="0"/>
          </a:p>
          <a:p>
            <a:endParaRPr lang="zh-CN" altLang="en-US" dirty="0"/>
          </a:p>
          <a:p>
            <a:r>
              <a:rPr lang="zh-CN" altLang="en-US" dirty="0"/>
              <a:t>解释型语言和编译型语言</a:t>
            </a:r>
          </a:p>
          <a:p>
            <a:endParaRPr lang="zh-CN" altLang="en-US" dirty="0"/>
          </a:p>
          <a:p>
            <a:endParaRPr lang="zh-CN" altLang="en-US" dirty="0"/>
          </a:p>
          <a:p>
            <a:endParaRPr lang="zh-CN" altLang="en-US" dirty="0"/>
          </a:p>
          <a:p>
            <a:endParaRPr lang="zh-CN" altLang="en-US" dirty="0"/>
          </a:p>
          <a:p>
            <a:r>
              <a:rPr lang="zh-CN" altLang="en-US" dirty="0"/>
              <a:t>编程语言介绍及演示</a:t>
            </a:r>
          </a:p>
        </p:txBody>
      </p:sp>
    </p:spTree>
    <p:extLst>
      <p:ext uri="{BB962C8B-B14F-4D97-AF65-F5344CB8AC3E}">
        <p14:creationId xmlns:p14="http://schemas.microsoft.com/office/powerpoint/2010/main" val="40296095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41CD7-9FB1-F657-C907-C25081611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21492E-272F-CB51-C162-76EBACDA2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662740"/>
            <a:ext cx="11155680" cy="936652"/>
          </a:xfrm>
        </p:spPr>
        <p:txBody>
          <a:bodyPr/>
          <a:lstStyle/>
          <a:p>
            <a:pPr algn="ctr"/>
            <a:r>
              <a:rPr lang="zh-CN" altLang="en-US" sz="4400" dirty="0"/>
              <a:t>计算机编程开门课</a:t>
            </a:r>
            <a:br>
              <a:rPr lang="en-US" altLang="zh-CN" sz="4400" dirty="0"/>
            </a:br>
            <a:r>
              <a:rPr lang="zh-CN" altLang="en-US" sz="4400" dirty="0"/>
              <a:t>感谢您的关注！</a:t>
            </a:r>
          </a:p>
        </p:txBody>
      </p:sp>
      <p:sp>
        <p:nvSpPr>
          <p:cNvPr id="10" name="内容占位符 2">
            <a:extLst>
              <a:ext uri="{FF2B5EF4-FFF2-40B4-BE49-F238E27FC236}">
                <a16:creationId xmlns:a16="http://schemas.microsoft.com/office/drawing/2014/main" id="{13A7921E-A193-DF0A-DDCC-CA2CFD1B8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7" y="5455716"/>
            <a:ext cx="11155680" cy="913524"/>
          </a:xfrm>
        </p:spPr>
        <p:txBody>
          <a:bodyPr/>
          <a:lstStyle/>
          <a:p>
            <a:pPr marL="0" indent="0" algn="ctr">
              <a:buNone/>
            </a:pPr>
            <a:r>
              <a:rPr lang="zh-CN" altLang="en-US" sz="1400" dirty="0">
                <a:latin typeface="+mn-ea"/>
              </a:rPr>
              <a:t>浥尘伙伴社团 </a:t>
            </a:r>
            <a:r>
              <a:rPr lang="en-US" altLang="zh-CN" sz="1400" dirty="0">
                <a:latin typeface="+mn-ea"/>
              </a:rPr>
              <a:t>/ 2026.5</a:t>
            </a:r>
            <a:endParaRPr lang="zh-CN" altLang="en-US" sz="1400" dirty="0">
              <a:latin typeface="+mn-ea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D4A1A7E-F71D-77E4-DC09-0880DD9172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7428" y="2544613"/>
            <a:ext cx="2457143" cy="24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107272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2658</TotalTime>
  <Words>3757</Words>
  <Application>Microsoft Office PowerPoint</Application>
  <PresentationFormat>宽屏</PresentationFormat>
  <Paragraphs>372</Paragraphs>
  <Slides>26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2" baseType="lpstr">
      <vt:lpstr>等线</vt:lpstr>
      <vt:lpstr>微软雅黑</vt:lpstr>
      <vt:lpstr>Arial</vt:lpstr>
      <vt:lpstr>Bierstadt</vt:lpstr>
      <vt:lpstr>Wingdings</vt:lpstr>
      <vt:lpstr>GestaltVTI</vt:lpstr>
      <vt:lpstr>计算机编程开门课</vt:lpstr>
      <vt:lpstr>一、计算机的发明（1）</vt:lpstr>
      <vt:lpstr>一、计算机的发明（2）</vt:lpstr>
      <vt:lpstr>一、计算机的发明（3）</vt:lpstr>
      <vt:lpstr>一、计算机的发明（4）</vt:lpstr>
      <vt:lpstr>一、计算机的发明（4）</vt:lpstr>
      <vt:lpstr>一、计算机的发明（4）</vt:lpstr>
      <vt:lpstr>二、计算机的基本组成（1）</vt:lpstr>
      <vt:lpstr>二、计算机的基本组成（2）</vt:lpstr>
      <vt:lpstr>二、计算机的基本组成（3）</vt:lpstr>
      <vt:lpstr>三、数据表示和运算（1）</vt:lpstr>
      <vt:lpstr>三、数据表示和运算（2）</vt:lpstr>
      <vt:lpstr>三、数据表示和运算（3）</vt:lpstr>
      <vt:lpstr>三、数据表示和运算（4）</vt:lpstr>
      <vt:lpstr>三、数据表示和运算（5）</vt:lpstr>
      <vt:lpstr>四、操作系统（1）</vt:lpstr>
      <vt:lpstr>四、操作系统（2）</vt:lpstr>
      <vt:lpstr>四、操作系统（3）</vt:lpstr>
      <vt:lpstr>五、数学的重要性——算法（1）</vt:lpstr>
      <vt:lpstr>五、数学的重要性——算法（2）</vt:lpstr>
      <vt:lpstr>五、数学的重要性——算法（3）</vt:lpstr>
      <vt:lpstr>五、数学的重要性——算法（4）</vt:lpstr>
      <vt:lpstr>六、编程(1)</vt:lpstr>
      <vt:lpstr>六、编程(2)</vt:lpstr>
      <vt:lpstr>六、编程(3)</vt:lpstr>
      <vt:lpstr>计算机编程开门课 感谢您的关注！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智慧家长课堂</dc:title>
  <dc:creator>ABC</dc:creator>
  <cp:lastModifiedBy>ABC</cp:lastModifiedBy>
  <cp:revision>772</cp:revision>
  <dcterms:created xsi:type="dcterms:W3CDTF">2025-09-26T07:10:55Z</dcterms:created>
  <dcterms:modified xsi:type="dcterms:W3CDTF">2026-05-20T08:15:10Z</dcterms:modified>
</cp:coreProperties>
</file>