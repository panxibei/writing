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9"/>
  </p:notesMasterIdLst>
  <p:sldIdLst>
    <p:sldId id="256" r:id="rId2"/>
    <p:sldId id="257" r:id="rId3"/>
    <p:sldId id="258" r:id="rId4"/>
    <p:sldId id="259" r:id="rId5"/>
    <p:sldId id="278" r:id="rId6"/>
    <p:sldId id="260" r:id="rId7"/>
    <p:sldId id="261" r:id="rId8"/>
    <p:sldId id="262" r:id="rId9"/>
    <p:sldId id="263" r:id="rId10"/>
    <p:sldId id="265" r:id="rId11"/>
    <p:sldId id="277" r:id="rId12"/>
    <p:sldId id="276" r:id="rId13"/>
    <p:sldId id="281" r:id="rId14"/>
    <p:sldId id="268" r:id="rId15"/>
    <p:sldId id="269" r:id="rId16"/>
    <p:sldId id="270" r:id="rId17"/>
    <p:sldId id="271" r:id="rId18"/>
    <p:sldId id="272" r:id="rId19"/>
    <p:sldId id="273" r:id="rId20"/>
    <p:sldId id="279" r:id="rId21"/>
    <p:sldId id="274" r:id="rId22"/>
    <p:sldId id="280" r:id="rId23"/>
    <p:sldId id="275" r:id="rId24"/>
    <p:sldId id="266" r:id="rId25"/>
    <p:sldId id="267" r:id="rId26"/>
    <p:sldId id="282" r:id="rId27"/>
    <p:sldId id="264"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6" d="100"/>
          <a:sy n="86" d="100"/>
        </p:scale>
        <p:origin x="100" y="6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12/8/2025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12/8/2025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hqprint">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10252710" cy="960120"/>
          </a:xfrm>
          <a:ln>
            <a:noFill/>
          </a:ln>
        </p:spPr>
        <p:txBody>
          <a:bodyPr anchor="ctr">
            <a:noAutofit/>
          </a:bodyPr>
          <a:lstStyle/>
          <a:p>
            <a:r>
              <a:rPr lang="zh-CN" altLang="en-US" sz="5400" dirty="0"/>
              <a:t>音乐情绪释放（</a:t>
            </a:r>
            <a:r>
              <a:rPr lang="en-US" altLang="zh-CN" sz="5400" dirty="0"/>
              <a:t>EFT</a:t>
            </a:r>
            <a:r>
              <a:rPr lang="zh-CN" altLang="en-US" sz="5400" dirty="0"/>
              <a:t>）心理训练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的形成背景</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55678" cy="1609328"/>
          </a:xfrm>
        </p:spPr>
        <p:txBody>
          <a:bodyPr/>
          <a:lstStyle/>
          <a:p>
            <a:pPr marL="0" indent="0">
              <a:buNone/>
            </a:pPr>
            <a:r>
              <a:rPr lang="zh-CN" altLang="en-US" sz="1800" dirty="0">
                <a:latin typeface="+mn-ea"/>
              </a:rPr>
              <a:t>情绪释放技术（</a:t>
            </a:r>
            <a:r>
              <a:rPr lang="en-US" altLang="zh-CN" sz="1800" dirty="0">
                <a:latin typeface="+mn-ea"/>
              </a:rPr>
              <a:t>Emotional Freedom Technique, EFT</a:t>
            </a:r>
            <a:r>
              <a:rPr lang="zh-CN" altLang="en-US" sz="1800" dirty="0">
                <a:latin typeface="+mn-ea"/>
              </a:rPr>
              <a:t>）是借鉴中医经络理论并结合心理学创建的一种心理治疗技术，通过敲击特定的身体部位（眉头、眼尾、眼下、鼻下、下巴、锁骨、腋下、头顶</a:t>
            </a:r>
            <a:r>
              <a:rPr lang="en-US" altLang="zh-CN" sz="1800" dirty="0">
                <a:latin typeface="+mn-ea"/>
              </a:rPr>
              <a:t>8</a:t>
            </a:r>
            <a:r>
              <a:rPr lang="zh-CN" altLang="en-US" sz="1800" dirty="0">
                <a:latin typeface="+mn-ea"/>
              </a:rPr>
              <a:t>个穴位），同时倾吐出内心积压的情绪事件，再通过积极赋义，转变信念和惯性模式，以达到清理潜意识和缓解身心不适的目的。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4" y="4462264"/>
            <a:ext cx="7328724" cy="232886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情绪释放技术可以视为能量心理学的一个有效应用，就像是一个“情绪橡皮擦”，可以快速地抚平情绪，如愤怒、委屈、恐惧等，心理学家、医师、治疗师等采用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a:latin typeface="+mn-ea"/>
              </a:rPr>
              <a:t>云南省解毒管理以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186113"/>
            <a:ext cx="11155678" cy="255230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 </a:t>
            </a:r>
            <a:r>
              <a:rPr lang="zh-CN" altLang="en-US" sz="1800" dirty="0">
                <a:latin typeface="+mn-ea"/>
              </a:rPr>
              <a:t>情绪释放技术源于美国，由盖瑞・奎格（</a:t>
            </a:r>
            <a:r>
              <a:rPr lang="en-US" altLang="zh-CN" sz="1800" dirty="0">
                <a:latin typeface="+mn-ea"/>
              </a:rPr>
              <a:t>Gary  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hqprint">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177497" y="4239220"/>
            <a:ext cx="3432390" cy="2288569"/>
          </a:xfrm>
          <a:prstGeom prst="rect">
            <a:avLst/>
          </a:prstGeom>
        </p:spPr>
      </p:pic>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900" dirty="0"/>
              <a:t>情绪释放技术</a:t>
            </a:r>
            <a:r>
              <a:rPr lang="en-US" altLang="zh-CN" sz="900" dirty="0"/>
              <a:t>EFT</a:t>
            </a:r>
            <a:r>
              <a:rPr lang="zh-CN" altLang="en-US" sz="9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dirty="0">
                <a:latin typeface="+mn-ea"/>
              </a:rPr>
              <a:t>EFT</a:t>
            </a:r>
            <a:r>
              <a:rPr lang="zh-CN" altLang="en-US" sz="1800" dirty="0">
                <a:latin typeface="+mn-ea"/>
              </a:rPr>
              <a:t>以中医心理学理论为背景，以经络学说为基础，并融合了神经语言程序学技术以及现代心理治疗理论。人类身体是个带电体，身体中的能量系统存在电流（能量）的明显证据是脑电图（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EFT</a:t>
            </a:r>
            <a:r>
              <a:rPr lang="zh-CN" altLang="en-US" sz="1800"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825360" y="4128189"/>
            <a:ext cx="3857625" cy="2571750"/>
          </a:xfrm>
          <a:prstGeom prst="rect">
            <a:avLst/>
          </a:prstGeom>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中八个被敲击的穴位是精心选择的，对应着人体多条经络，当按照顺序敲击时，基本可以阻断常见的各种应激反应和激烈情绪，让人体快速地放松下来。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900" dirty="0"/>
              <a:t>情绪释放技术</a:t>
            </a:r>
            <a:r>
              <a:rPr lang="en-US" altLang="zh-CN" sz="900" dirty="0"/>
              <a:t>EFT</a:t>
            </a:r>
            <a:r>
              <a:rPr lang="zh-CN" altLang="en-US" sz="9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515112" y="1576785"/>
            <a:ext cx="11500677" cy="3109515"/>
          </a:xfrm>
        </p:spPr>
        <p:txBody>
          <a:bodyPr/>
          <a:lstStyle/>
          <a:p>
            <a:pPr marL="0" indent="0">
              <a:buNone/>
            </a:pPr>
            <a:r>
              <a:rPr lang="zh-CN" altLang="en-US" sz="1800" dirty="0">
                <a:latin typeface="+mn-ea"/>
              </a:rPr>
              <a:t>情绪释放技术</a:t>
            </a:r>
            <a:r>
              <a:rPr lang="en-US" altLang="zh-CN" sz="1800" dirty="0">
                <a:latin typeface="+mn-ea"/>
              </a:rPr>
              <a:t>EFT</a:t>
            </a:r>
            <a:r>
              <a:rPr lang="zh-CN" altLang="en-US" sz="1800" dirty="0">
                <a:latin typeface="+mn-ea"/>
              </a:rPr>
              <a:t>的主要特点如下：</a:t>
            </a:r>
            <a:endParaRPr lang="en-US" altLang="zh-CN" sz="1800" dirty="0">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endParaRPr lang="en-US" altLang="zh-CN" sz="1800" dirty="0">
              <a:latin typeface="+mn-ea"/>
            </a:endParaRPr>
          </a:p>
          <a:p>
            <a:pPr marL="0" indent="0">
              <a:buNone/>
            </a:pPr>
            <a:r>
              <a:rPr lang="zh-CN" altLang="en-US" sz="1800" dirty="0">
                <a:latin typeface="+mn-ea"/>
              </a:rPr>
              <a:t>二是简单易学、便捷有效，普通人不需要学习太多深奥的心理学知识，操作流程一学就会，立即使用就能有较明显效果；</a:t>
            </a:r>
            <a:endParaRPr lang="en-US" altLang="zh-CN" sz="1800" dirty="0">
              <a:latin typeface="+mn-ea"/>
            </a:endParaRPr>
          </a:p>
          <a:p>
            <a:pPr marL="0" indent="0">
              <a:buNone/>
            </a:pPr>
            <a:r>
              <a:rPr lang="zh-CN" altLang="en-US" sz="1800" dirty="0">
                <a:latin typeface="+mn-ea"/>
              </a:rPr>
              <a:t>三是操作流程规范统一、可推广性强，针对不同的情绪问题可使用同样的治疗流程和方法，学会之后可自行习练改善自身情绪问题，又能教会身边人进行习练，能较容易实现自助和助人。</a:t>
            </a: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4110037" y="4522432"/>
            <a:ext cx="3233738" cy="2155825"/>
          </a:xfrm>
          <a:prstGeom prst="rect">
            <a:avLst/>
          </a:prstGeom>
        </p:spPr>
      </p:pic>
    </p:spTree>
    <p:extLst>
      <p:ext uri="{BB962C8B-B14F-4D97-AF65-F5344CB8AC3E}">
        <p14:creationId xmlns:p14="http://schemas.microsoft.com/office/powerpoint/2010/main" val="28083855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技术主要应用范围举例</a:t>
            </a:r>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5580887" cy="3882300"/>
          </a:xfrm>
        </p:spPr>
        <p:txBody>
          <a:bodyPr/>
          <a:lstStyle/>
          <a:p>
            <a:pPr marL="0" indent="0">
              <a:buNone/>
            </a:pPr>
            <a:r>
              <a:rPr lang="en-US" altLang="zh-CN" sz="1800" dirty="0">
                <a:latin typeface="+mn-ea"/>
              </a:rPr>
              <a:t>1. </a:t>
            </a:r>
            <a:r>
              <a:rPr lang="zh-CN" altLang="en-US" sz="1800" dirty="0">
                <a:latin typeface="+mn-ea"/>
              </a:rPr>
              <a:t>心理创伤</a:t>
            </a:r>
          </a:p>
          <a:p>
            <a:pPr marL="0" indent="0">
              <a:buNone/>
            </a:pPr>
            <a:r>
              <a:rPr lang="en-US" altLang="zh-CN" sz="1800" dirty="0">
                <a:latin typeface="+mn-ea"/>
              </a:rPr>
              <a:t>(</a:t>
            </a:r>
            <a:r>
              <a:rPr lang="zh-CN" altLang="en-US" sz="1800" dirty="0">
                <a:latin typeface="+mn-ea"/>
              </a:rPr>
              <a:t>创伤后压力心理障碍、童年虐待、性侵事件</a:t>
            </a:r>
            <a:r>
              <a:rPr lang="en-US" altLang="zh-CN" sz="1800" dirty="0">
                <a:latin typeface="+mn-ea"/>
              </a:rPr>
              <a:t>)</a:t>
            </a:r>
            <a:r>
              <a:rPr lang="zh-CN" altLang="en-US" sz="1800" dirty="0">
                <a:latin typeface="+mn-ea"/>
              </a:rPr>
              <a:t>；</a:t>
            </a:r>
          </a:p>
          <a:p>
            <a:pPr marL="0" indent="0">
              <a:buNone/>
            </a:pPr>
            <a:r>
              <a:rPr lang="en-US" altLang="zh-CN" sz="1800" dirty="0">
                <a:latin typeface="+mn-ea"/>
              </a:rPr>
              <a:t>2. </a:t>
            </a:r>
            <a:r>
              <a:rPr lang="zh-CN" altLang="en-US" sz="1800" dirty="0">
                <a:latin typeface="+mn-ea"/>
              </a:rPr>
              <a:t>情绪困扰</a:t>
            </a:r>
          </a:p>
          <a:p>
            <a:pPr marL="0" indent="0">
              <a:buNone/>
            </a:pPr>
            <a:r>
              <a:rPr lang="en-US" altLang="zh-CN" sz="1800" dirty="0">
                <a:latin typeface="+mn-ea"/>
              </a:rPr>
              <a:t>(</a:t>
            </a:r>
            <a:r>
              <a:rPr lang="zh-CN" altLang="en-US" sz="1800" dirty="0">
                <a:latin typeface="+mn-ea"/>
              </a:rPr>
              <a:t>焦虑、紧张压力、愤怒、自卑、悲伤等负面情绪</a:t>
            </a:r>
            <a:r>
              <a:rPr lang="en-US" altLang="zh-CN" sz="1800" dirty="0">
                <a:latin typeface="+mn-ea"/>
              </a:rPr>
              <a:t>)</a:t>
            </a:r>
            <a:r>
              <a:rPr lang="zh-CN" altLang="en-US" sz="1800" dirty="0">
                <a:latin typeface="+mn-ea"/>
              </a:rPr>
              <a:t>；</a:t>
            </a:r>
          </a:p>
          <a:p>
            <a:pPr marL="0" indent="0">
              <a:buNone/>
            </a:pPr>
            <a:r>
              <a:rPr lang="en-US" altLang="zh-CN" sz="1800" dirty="0">
                <a:latin typeface="+mn-ea"/>
              </a:rPr>
              <a:t>3. </a:t>
            </a:r>
            <a:r>
              <a:rPr lang="zh-CN" altLang="en-US" sz="1800" dirty="0">
                <a:latin typeface="+mn-ea"/>
              </a:rPr>
              <a:t>各种瘾症</a:t>
            </a:r>
          </a:p>
          <a:p>
            <a:pPr marL="0" indent="0">
              <a:buNone/>
            </a:pPr>
            <a:r>
              <a:rPr lang="en-US" altLang="zh-CN" sz="1800" dirty="0">
                <a:latin typeface="+mn-ea"/>
              </a:rPr>
              <a:t>(</a:t>
            </a:r>
            <a:r>
              <a:rPr lang="zh-CN" altLang="en-US" sz="1800" dirty="0">
                <a:latin typeface="+mn-ea"/>
              </a:rPr>
              <a:t>网瘾、酒瘾、毒瘾</a:t>
            </a:r>
            <a:r>
              <a:rPr lang="en-US" altLang="zh-CN" sz="1800" dirty="0">
                <a:latin typeface="+mn-ea"/>
              </a:rPr>
              <a:t>)</a:t>
            </a:r>
            <a:r>
              <a:rPr lang="zh-CN" altLang="en-US" sz="1800" dirty="0">
                <a:latin typeface="+mn-ea"/>
              </a:rPr>
              <a:t>；</a:t>
            </a:r>
          </a:p>
          <a:p>
            <a:pPr marL="0" indent="0">
              <a:buNone/>
            </a:pPr>
            <a:r>
              <a:rPr lang="en-US" altLang="zh-CN" sz="1800" dirty="0">
                <a:latin typeface="+mn-ea"/>
              </a:rPr>
              <a:t>4. </a:t>
            </a:r>
            <a:r>
              <a:rPr lang="zh-CN" altLang="en-US" sz="1800" dirty="0">
                <a:latin typeface="+mn-ea"/>
              </a:rPr>
              <a:t>恐惧症</a:t>
            </a:r>
          </a:p>
          <a:p>
            <a:pPr marL="0" indent="0">
              <a:buNone/>
            </a:pPr>
            <a:r>
              <a:rPr lang="en-US" altLang="zh-CN" sz="1800" dirty="0">
                <a:latin typeface="+mn-ea"/>
              </a:rPr>
              <a:t>(</a:t>
            </a:r>
            <a:r>
              <a:rPr lang="zh-CN" altLang="en-US" sz="1800" dirty="0">
                <a:latin typeface="+mn-ea"/>
              </a:rPr>
              <a:t>恐高症、恐水症、幽闭恐惧症</a:t>
            </a:r>
            <a:r>
              <a:rPr lang="en-US" altLang="zh-CN" sz="1800" dirty="0">
                <a:latin typeface="+mn-ea"/>
              </a:rPr>
              <a:t>)</a:t>
            </a:r>
            <a:r>
              <a:rPr lang="zh-CN" altLang="en-US" sz="1800" dirty="0">
                <a:latin typeface="+mn-ea"/>
              </a:rPr>
              <a:t>；</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6621874" y="4615670"/>
            <a:ext cx="3233738" cy="2155825"/>
          </a:xfrm>
          <a:prstGeom prst="rect">
            <a:avLst/>
          </a:prstGeom>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2095" y="1506155"/>
            <a:ext cx="5568697"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5. </a:t>
            </a:r>
            <a:r>
              <a:rPr lang="zh-CN" altLang="en-US" sz="1800" dirty="0">
                <a:latin typeface="+mn-ea"/>
              </a:rPr>
              <a:t>心理问题</a:t>
            </a:r>
          </a:p>
          <a:p>
            <a:pPr marL="0" indent="0">
              <a:buFont typeface="Arial" panose="020B0604020202020204" pitchFamily="34" charset="0"/>
              <a:buNone/>
            </a:pPr>
            <a:r>
              <a:rPr lang="en-US" altLang="zh-CN" sz="1800" dirty="0">
                <a:latin typeface="+mn-ea"/>
              </a:rPr>
              <a:t>(</a:t>
            </a:r>
            <a:r>
              <a:rPr lang="zh-CN" altLang="en-US" sz="1800" dirty="0">
                <a:latin typeface="+mn-ea"/>
              </a:rPr>
              <a:t>抑郁症、躁郁症、强迫症</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6. </a:t>
            </a:r>
            <a:r>
              <a:rPr lang="zh-CN" altLang="en-US" sz="1800" dirty="0">
                <a:latin typeface="+mn-ea"/>
              </a:rPr>
              <a:t>生理疾病</a:t>
            </a:r>
          </a:p>
          <a:p>
            <a:pPr marL="0" indent="0">
              <a:buFont typeface="Arial" panose="020B0604020202020204" pitchFamily="34" charset="0"/>
              <a:buNone/>
            </a:pPr>
            <a:r>
              <a:rPr lang="en-US" altLang="zh-CN" sz="1800" dirty="0">
                <a:latin typeface="+mn-ea"/>
              </a:rPr>
              <a:t>(</a:t>
            </a:r>
            <a:r>
              <a:rPr lang="zh-CN" altLang="en-US" sz="1800" dirty="0">
                <a:latin typeface="+mn-ea"/>
              </a:rPr>
              <a:t>偏头痛、内分泌失调、性功能障碍、失眠、胸闷、身体疼痛</a:t>
            </a:r>
            <a:r>
              <a:rPr lang="en-US" altLang="zh-CN" sz="1800" dirty="0">
                <a:latin typeface="+mn-ea"/>
              </a:rPr>
              <a:t>)</a:t>
            </a:r>
            <a:r>
              <a:rPr lang="zh-CN" altLang="en-US" sz="1800" dirty="0">
                <a:latin typeface="+mn-ea"/>
              </a:rPr>
              <a:t>；</a:t>
            </a:r>
          </a:p>
          <a:p>
            <a:pPr marL="0" indent="0">
              <a:buFont typeface="Arial" panose="020B0604020202020204" pitchFamily="34" charset="0"/>
              <a:buNone/>
            </a:pPr>
            <a:r>
              <a:rPr lang="en-US" altLang="zh-CN" sz="1800" dirty="0">
                <a:latin typeface="+mn-ea"/>
              </a:rPr>
              <a:t>7. </a:t>
            </a:r>
            <a:r>
              <a:rPr lang="zh-CN" altLang="en-US" sz="1800" dirty="0">
                <a:latin typeface="+mn-ea"/>
              </a:rPr>
              <a:t>提升自我能量</a:t>
            </a:r>
          </a:p>
          <a:p>
            <a:pPr marL="0" indent="0">
              <a:buFont typeface="Arial" panose="020B0604020202020204" pitchFamily="34" charset="0"/>
              <a:buNone/>
            </a:pPr>
            <a:r>
              <a:rPr lang="en-US" altLang="zh-CN" sz="1800" dirty="0">
                <a:latin typeface="+mn-ea"/>
              </a:rPr>
              <a:t>(</a:t>
            </a:r>
            <a:r>
              <a:rPr lang="zh-CN" altLang="en-US" sz="1800" dirty="0">
                <a:latin typeface="+mn-ea"/>
              </a:rPr>
              <a:t>提高效率、增强内在力量，提升运动表现</a:t>
            </a:r>
            <a:r>
              <a:rPr lang="en-US" altLang="zh-CN" sz="1800" dirty="0">
                <a:latin typeface="+mn-ea"/>
              </a:rPr>
              <a:t>)</a:t>
            </a:r>
            <a:r>
              <a:rPr lang="zh-CN" altLang="en-US" sz="1800" dirty="0">
                <a:latin typeface="+mn-ea"/>
              </a:rPr>
              <a:t>等。</a:t>
            </a:r>
          </a:p>
        </p:txBody>
      </p:sp>
    </p:spTree>
    <p:extLst>
      <p:ext uri="{BB962C8B-B14F-4D97-AF65-F5344CB8AC3E}">
        <p14:creationId xmlns:p14="http://schemas.microsoft.com/office/powerpoint/2010/main" val="1340916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心理自助操的内容设计（</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55679" cy="1772991"/>
          </a:xfrm>
        </p:spPr>
        <p:txBody>
          <a:bodyPr/>
          <a:lstStyle/>
          <a:p>
            <a:pPr marL="0" indent="0">
              <a:buNone/>
            </a:pPr>
            <a:r>
              <a:rPr lang="en-US" altLang="zh-CN" sz="1800" dirty="0">
                <a:latin typeface="+mn-ea"/>
              </a:rPr>
              <a:t>1.</a:t>
            </a:r>
            <a:r>
              <a:rPr lang="zh-CN" altLang="en-US" sz="1800" dirty="0">
                <a:latin typeface="+mn-ea"/>
              </a:rPr>
              <a:t>设置自助目标</a:t>
            </a:r>
          </a:p>
          <a:p>
            <a:pPr marL="0" indent="0">
              <a:buNone/>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心理自助操前，需要帮助戒毒人员聚焦情绪状态，将当前最大的情绪困扰或伤痛回忆起来，例如与亲人分离的场景、人际关系紧张的状态等，保持让自己不愉快的情绪状态。</a:t>
            </a: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228975"/>
            <a:ext cx="4779455" cy="23371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294565" y="3228975"/>
            <a:ext cx="6506910" cy="33289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1730877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心理自助操的内容设计（</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15112" y="1033407"/>
            <a:ext cx="11155680" cy="1744630"/>
          </a:xfrm>
        </p:spPr>
        <p:txBody>
          <a:bodyPr/>
          <a:lstStyle/>
          <a:p>
            <a:pPr marL="0" indent="0">
              <a:buNone/>
            </a:pPr>
            <a:r>
              <a:rPr lang="en-US" altLang="zh-CN" sz="1800" dirty="0">
                <a:latin typeface="+mn-ea"/>
              </a:rPr>
              <a:t>2.</a:t>
            </a:r>
            <a:r>
              <a:rPr lang="zh-CN" altLang="en-US" sz="1800"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p>
        </p:txBody>
      </p:sp>
      <p:sp>
        <p:nvSpPr>
          <p:cNvPr id="14" name="内容占位符 2">
            <a:extLst>
              <a:ext uri="{FF2B5EF4-FFF2-40B4-BE49-F238E27FC236}">
                <a16:creationId xmlns:a16="http://schemas.microsoft.com/office/drawing/2014/main" id="{1F80AA0B-1AEC-8D96-94B2-7D26FE0727C6}"/>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2789708"/>
            <a:ext cx="2756726" cy="138237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3.NLP</a:t>
            </a:r>
            <a:r>
              <a:rPr lang="zh-CN" altLang="en-US" sz="1800" dirty="0">
                <a:latin typeface="+mn-ea"/>
              </a:rPr>
              <a:t>情绪脱敏</a:t>
            </a:r>
          </a:p>
          <a:p>
            <a:pPr marL="0" indent="0">
              <a:buFont typeface="Arial" panose="020B0604020202020204" pitchFamily="34" charset="0"/>
              <a:buNone/>
            </a:pPr>
            <a:r>
              <a:rPr lang="zh-CN" altLang="en-US" sz="1800" dirty="0">
                <a:latin typeface="+mn-ea"/>
              </a:rPr>
              <a:t>敲击中渚穴时，运用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500437" y="2789708"/>
            <a:ext cx="8170355" cy="1922640"/>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4.</a:t>
            </a:r>
            <a:r>
              <a:rPr lang="zh-CN" altLang="en-US" sz="1800"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08566" y="4753718"/>
            <a:ext cx="2562226" cy="1708151"/>
          </a:xfrm>
          <a:prstGeom prst="rect">
            <a:avLst/>
          </a:prstGeom>
        </p:spPr>
      </p:pic>
    </p:spTree>
    <p:extLst>
      <p:ext uri="{BB962C8B-B14F-4D97-AF65-F5344CB8AC3E}">
        <p14:creationId xmlns:p14="http://schemas.microsoft.com/office/powerpoint/2010/main" val="735928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15113" y="1576785"/>
            <a:ext cx="5574791" cy="3989337"/>
          </a:xfrm>
        </p:spPr>
        <p:txBody>
          <a:bodyPr/>
          <a:lstStyle/>
          <a:p>
            <a:pPr marL="0" indent="0">
              <a:buNone/>
            </a:pPr>
            <a:r>
              <a:rPr lang="zh-CN" altLang="en-US" sz="1800" dirty="0">
                <a:latin typeface="+mn-ea"/>
              </a:rPr>
              <a:t>热身环节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14" name="内容占位符 2">
            <a:extLst>
              <a:ext uri="{FF2B5EF4-FFF2-40B4-BE49-F238E27FC236}">
                <a16:creationId xmlns:a16="http://schemas.microsoft.com/office/drawing/2014/main" id="{5D4BAE04-8616-9958-3637-F6DE8BD5E07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热身环节</a:t>
            </a: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102096"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做法：用一只手持续轻敲**手腕内侧（备用穴位 </a:t>
            </a:r>
            <a:r>
              <a:rPr lang="en-US" altLang="zh-CN" sz="1800" dirty="0">
                <a:latin typeface="+mn-ea"/>
              </a:rPr>
              <a:t>KC</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具体情绪 </a:t>
            </a:r>
            <a:r>
              <a:rPr lang="en-US" altLang="zh-CN" sz="1800" dirty="0">
                <a:latin typeface="+mn-ea"/>
              </a:rPr>
              <a:t>+ </a:t>
            </a:r>
            <a:r>
              <a:rPr lang="zh-CN" altLang="en-US" sz="1800" dirty="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示例：“尽管我害怕接触水，想到靠近水就心慌，，但我完全接纳自己现在的感受和状态”。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2" y="1576785"/>
            <a:ext cx="4528377" cy="2995215"/>
          </a:xfrm>
        </p:spPr>
        <p:txBody>
          <a:bodyPr/>
          <a:lstStyle/>
          <a:p>
            <a:pPr marL="0" indent="0">
              <a:buNone/>
            </a:pPr>
            <a:r>
              <a:rPr lang="en-US" altLang="zh-CN" dirty="0">
                <a:latin typeface="+mn-ea"/>
              </a:rPr>
              <a:t>2.</a:t>
            </a:r>
            <a:r>
              <a:rPr lang="zh-CN" altLang="en-US" dirty="0">
                <a:latin typeface="+mn-ea"/>
              </a:rPr>
              <a:t>情绪调节敲击操环节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14" name="内容占位符 2">
            <a:extLst>
              <a:ext uri="{FF2B5EF4-FFF2-40B4-BE49-F238E27FC236}">
                <a16:creationId xmlns:a16="http://schemas.microsoft.com/office/drawing/2014/main" id="{D4F17EAE-CD6F-3527-91B7-6253A30D3D3A}"/>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敲击操环节</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5043489" y="1576785"/>
            <a:ext cx="680084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3</a:t>
            </a:r>
            <a:r>
              <a:rPr lang="zh-CN" altLang="en-US" sz="1400"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4</a:t>
            </a:r>
            <a:r>
              <a:rPr lang="zh-CN" altLang="en-US" sz="1400" dirty="0">
                <a:latin typeface="+mn-ea"/>
              </a:rPr>
              <a:t>）持续敲击中渚穴时进行以下</a:t>
            </a:r>
            <a:r>
              <a:rPr lang="en-US" altLang="zh-CN" sz="1400" dirty="0">
                <a:latin typeface="+mn-ea"/>
              </a:rPr>
              <a:t>9</a:t>
            </a:r>
            <a:r>
              <a:rPr lang="zh-CN" altLang="en-US" sz="1400" dirty="0">
                <a:latin typeface="+mn-ea"/>
              </a:rPr>
              <a:t>个步骤：眼睛闭上；眼睛张开；眼睛往右下看并保持头部不动；眼睛向左下看并保持头部不动；眼睛顺时钟旋转；眼睛逆时钟旋转；哼快乐的歌</a:t>
            </a:r>
            <a:r>
              <a:rPr lang="en-US" altLang="zh-CN" sz="1400" dirty="0">
                <a:latin typeface="+mn-ea"/>
              </a:rPr>
              <a:t>2</a:t>
            </a:r>
            <a:r>
              <a:rPr lang="zh-CN" altLang="en-US" sz="1400" dirty="0">
                <a:latin typeface="+mn-ea"/>
              </a:rPr>
              <a:t>秒钟；快速地数</a:t>
            </a:r>
            <a:r>
              <a:rPr lang="en-US" altLang="zh-CN" sz="1400" dirty="0">
                <a:latin typeface="+mn-ea"/>
              </a:rPr>
              <a:t>1</a:t>
            </a:r>
            <a:r>
              <a:rPr lang="zh-CN" altLang="en-US" sz="1400" dirty="0">
                <a:latin typeface="+mn-ea"/>
              </a:rPr>
              <a:t>～</a:t>
            </a:r>
            <a:r>
              <a:rPr lang="en-US" altLang="zh-CN" sz="1400" dirty="0">
                <a:latin typeface="+mn-ea"/>
              </a:rPr>
              <a:t>5</a:t>
            </a:r>
            <a:r>
              <a:rPr lang="zh-CN" altLang="en-US" sz="1400" dirty="0">
                <a:latin typeface="+mn-ea"/>
              </a:rPr>
              <a:t>；再哼快乐的歌</a:t>
            </a:r>
            <a:r>
              <a:rPr lang="en-US" altLang="zh-CN" sz="1400" dirty="0">
                <a:latin typeface="+mn-ea"/>
              </a:rPr>
              <a:t>2</a:t>
            </a:r>
            <a:r>
              <a:rPr lang="zh-CN" altLang="en-US" sz="1400"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5043489" y="3529013"/>
            <a:ext cx="3757611" cy="175220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a:t>
            </a:r>
            <a:r>
              <a:rPr lang="en-US" altLang="zh-CN" sz="1400" dirty="0">
                <a:latin typeface="+mn-ea"/>
              </a:rPr>
              <a:t>5</a:t>
            </a:r>
            <a:r>
              <a:rPr lang="zh-CN" altLang="en-US" sz="1400" dirty="0">
                <a:latin typeface="+mn-ea"/>
              </a:rPr>
              <a:t>）再次敲击或按摩攒竹、瞳子髎、承泣、人中、承浆、俞府、檀中、百会等穴位，每个穴位</a:t>
            </a:r>
            <a:r>
              <a:rPr lang="en-US" altLang="zh-CN" sz="1400" dirty="0">
                <a:latin typeface="+mn-ea"/>
              </a:rPr>
              <a:t>5-10</a:t>
            </a:r>
            <a:r>
              <a:rPr lang="zh-CN" altLang="en-US" sz="1400"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sz="1400" dirty="0">
                <a:latin typeface="+mn-ea"/>
              </a:rPr>
              <a:t>（</a:t>
            </a:r>
            <a:r>
              <a:rPr lang="en-US" altLang="zh-CN" sz="1400" dirty="0">
                <a:latin typeface="+mn-ea"/>
              </a:rPr>
              <a:t>6</a:t>
            </a:r>
            <a:r>
              <a:rPr lang="zh-CN" altLang="en-US" sz="1400"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801100" y="4300641"/>
            <a:ext cx="2875788" cy="1917191"/>
          </a:xfrm>
          <a:prstGeom prst="rect">
            <a:avLst/>
          </a:prstGeom>
        </p:spPr>
      </p:pic>
    </p:spTree>
    <p:extLst>
      <p:ext uri="{BB962C8B-B14F-4D97-AF65-F5344CB8AC3E}">
        <p14:creationId xmlns:p14="http://schemas.microsoft.com/office/powerpoint/2010/main" val="526567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p:spPr>
        <p:txBody>
          <a:bodyPr/>
          <a:lstStyle/>
          <a:p>
            <a:pPr marL="0" indent="0">
              <a:buNone/>
            </a:pPr>
            <a:r>
              <a:rPr lang="en-US" altLang="zh-CN" sz="1800" dirty="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59CCCEB8-3295-D86B-06BC-F3F388E86B24}"/>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敲击核心穴位</a:t>
            </a: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p:spPr>
      </p:pic>
    </p:spTree>
    <p:extLst>
      <p:ext uri="{BB962C8B-B14F-4D97-AF65-F5344CB8AC3E}">
        <p14:creationId xmlns:p14="http://schemas.microsoft.com/office/powerpoint/2010/main" val="995358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marL="0" indent="0">
              <a:buNone/>
            </a:pPr>
            <a:r>
              <a:rPr lang="en-US" altLang="zh-CN" sz="1800" dirty="0">
                <a:latin typeface="+mn-ea"/>
              </a:rPr>
              <a:t>- </a:t>
            </a:r>
            <a:r>
              <a:rPr lang="zh-CN" altLang="en-US" sz="1800" dirty="0">
                <a:latin typeface="+mn-ea"/>
              </a:rPr>
              <a:t>注意：</a:t>
            </a:r>
            <a:r>
              <a:rPr lang="en-US" altLang="zh-CN" sz="1800" dirty="0">
                <a:latin typeface="+mn-ea"/>
              </a:rPr>
              <a:t>EFT </a:t>
            </a:r>
            <a:r>
              <a:rPr lang="zh-CN" altLang="en-US" sz="1800" dirty="0">
                <a:latin typeface="+mn-ea"/>
              </a:rPr>
              <a:t>仅作为情绪缓解的辅助方式，若有严重心理问题，仍需结合专业心理治疗。</a:t>
            </a:r>
          </a:p>
        </p:txBody>
      </p:sp>
      <p:sp>
        <p:nvSpPr>
          <p:cNvPr id="14" name="内容占位符 2">
            <a:extLst>
              <a:ext uri="{FF2B5EF4-FFF2-40B4-BE49-F238E27FC236}">
                <a16:creationId xmlns:a16="http://schemas.microsoft.com/office/drawing/2014/main" id="{96155DA5-FBF2-4804-5626-274C474DBDA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基础操作原则</a:t>
            </a:r>
          </a:p>
        </p:txBody>
      </p:sp>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701915" y="4500564"/>
            <a:ext cx="3971925" cy="2066725"/>
          </a:xfrm>
          <a:prstGeom prst="rect">
            <a:avLst/>
          </a:prstGeom>
        </p:spPr>
      </p:pic>
    </p:spTree>
    <p:extLst>
      <p:ext uri="{BB962C8B-B14F-4D97-AF65-F5344CB8AC3E}">
        <p14:creationId xmlns:p14="http://schemas.microsoft.com/office/powerpoint/2010/main" val="2876360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471154" y="4305300"/>
            <a:ext cx="2324100" cy="2324100"/>
          </a:xfrm>
          <a:prstGeom prst="rect">
            <a:avLst/>
          </a:prstGeom>
        </p:spPr>
      </p:pic>
    </p:spTree>
    <p:extLst>
      <p:ext uri="{BB962C8B-B14F-4D97-AF65-F5344CB8AC3E}">
        <p14:creationId xmlns:p14="http://schemas.microsoft.com/office/powerpoint/2010/main" val="28488490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9</a:t>
            </a:r>
            <a:r>
              <a:rPr lang="zh-CN" altLang="en-US" sz="900" dirty="0"/>
              <a:t>）</a:t>
            </a:r>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264033"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41126" y="4546600"/>
            <a:ext cx="3438852" cy="1933567"/>
          </a:xfrm>
          <a:prstGeom prst="rect">
            <a:avLst/>
          </a:prstGeom>
        </p:spPr>
      </p:pic>
    </p:spTree>
    <p:extLst>
      <p:ext uri="{BB962C8B-B14F-4D97-AF65-F5344CB8AC3E}">
        <p14:creationId xmlns:p14="http://schemas.microsoft.com/office/powerpoint/2010/main" val="26499669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1</a:t>
            </a:r>
            <a:r>
              <a:rPr lang="zh-CN" altLang="en-US" sz="900" dirty="0"/>
              <a:t>）</a:t>
            </a:r>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8096470" y="1604609"/>
            <a:ext cx="3704190" cy="3989337"/>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264035" y="5566122"/>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671964" y="4171070"/>
            <a:ext cx="2361063" cy="2361063"/>
          </a:xfrm>
          <a:prstGeom prst="rect">
            <a:avLst/>
          </a:prstGeom>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15112" y="1562100"/>
            <a:ext cx="744539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方法：用两根手指（随便哪只手都行）敲击或按摩。敲击时要坚定而柔和，动作不要过重，以免损伤身体。但是要连续敲击，这样才能刺激体内能量的流动。同时一边敲击，一边说肯定句。</a:t>
            </a:r>
          </a:p>
          <a:p>
            <a:pPr marL="0" indent="0">
              <a:buFont typeface="Arial" panose="020B0604020202020204" pitchFamily="34" charset="0"/>
              <a:buNone/>
            </a:pPr>
            <a:r>
              <a:rPr lang="zh-CN" altLang="en-US" sz="1800" dirty="0">
                <a:latin typeface="+mn-ea"/>
              </a:rPr>
              <a:t>膀胱经这条经络的情绪包括，优柔寡断，无能为力，没有意志力，无法或很难下决定，缺乏安全感，绝望，没耐性，害怕冒犯他人。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2</a:t>
            </a:r>
            <a:r>
              <a:rPr lang="zh-CN" altLang="en-US" sz="900" dirty="0"/>
              <a:t>）</a:t>
            </a:r>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子髎」，位于两眼尾外角约两指宽的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233757" y="5930044"/>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338601" y="4168562"/>
            <a:ext cx="1880281" cy="1880281"/>
          </a:xfrm>
          <a:prstGeom prst="rect">
            <a:avLst/>
          </a:prstGeom>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3</a:t>
            </a:r>
            <a:r>
              <a:rPr lang="zh-CN" altLang="en-US" sz="900" dirty="0"/>
              <a:t>）</a:t>
            </a:r>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282201" y="5953682"/>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承泣穴和四白穴</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150859" y="4691837"/>
            <a:ext cx="1897039" cy="1897039"/>
          </a:xfrm>
          <a:prstGeom prst="rect">
            <a:avLst/>
          </a:prstGeom>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12855"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437134" y="2973633"/>
            <a:ext cx="5233656"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a:t>
            </a: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61708" y="4309147"/>
            <a:ext cx="2014182" cy="2014182"/>
          </a:xfrm>
          <a:prstGeom prst="rect">
            <a:avLst/>
          </a:prstGeom>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8450072"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7" y="1595372"/>
            <a:ext cx="4819857" cy="1068153"/>
          </a:xfrm>
        </p:spPr>
        <p:txBody>
          <a:bodyPr/>
          <a:lstStyle/>
          <a:p>
            <a:pPr>
              <a:buFont typeface="Wingdings" panose="05000000000000000000" pitchFamily="2" charset="2"/>
              <a:buChar char="n"/>
            </a:pPr>
            <a:r>
              <a:rPr lang="zh-CN" altLang="en-US" sz="1200" dirty="0">
                <a:latin typeface="+mn-ea"/>
              </a:rPr>
              <a:t>对应情绪</a:t>
            </a:r>
            <a:r>
              <a:rPr lang="zh-CN" altLang="en-US" sz="1200" dirty="0" smtClean="0">
                <a:latin typeface="+mn-ea"/>
              </a:rPr>
              <a:t>：</a:t>
            </a:r>
            <a:r>
              <a:rPr lang="zh-CN" altLang="en-US" sz="1200" dirty="0">
                <a:latin typeface="+mn-ea"/>
              </a:rPr>
              <a:t>被压抑的</a:t>
            </a:r>
            <a:r>
              <a:rPr lang="zh-CN" altLang="en-US" sz="1200" dirty="0" smtClean="0">
                <a:latin typeface="+mn-ea"/>
              </a:rPr>
              <a:t>情绪</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穴位</a:t>
            </a:r>
            <a:r>
              <a:rPr lang="zh-CN" altLang="en-US" sz="1200" dirty="0">
                <a:latin typeface="+mn-ea"/>
              </a:rPr>
              <a:t>位置</a:t>
            </a:r>
            <a:r>
              <a:rPr lang="zh-CN" altLang="en-US" sz="1200" dirty="0" smtClean="0">
                <a:latin typeface="+mn-ea"/>
              </a:rPr>
              <a:t>：</a:t>
            </a:r>
            <a:r>
              <a:rPr lang="zh-CN" altLang="en-US" sz="1200" dirty="0">
                <a:latin typeface="+mn-ea"/>
              </a:rPr>
              <a:t>下嘴唇下方、下巴骨上方的凹陷</a:t>
            </a:r>
            <a:r>
              <a:rPr lang="zh-CN" altLang="en-US" sz="1200" dirty="0" smtClean="0">
                <a:latin typeface="+mn-ea"/>
              </a:rPr>
              <a:t>处</a:t>
            </a:r>
            <a:endParaRPr lang="en-US" altLang="zh-CN" sz="1200" dirty="0" smtClean="0">
              <a:latin typeface="+mn-ea"/>
            </a:endParaRPr>
          </a:p>
          <a:p>
            <a:pPr>
              <a:buFont typeface="Wingdings" panose="05000000000000000000" pitchFamily="2" charset="2"/>
              <a:buChar char="n"/>
            </a:pPr>
            <a:r>
              <a:rPr lang="zh-CN" altLang="en-US" sz="1200" dirty="0" smtClean="0">
                <a:latin typeface="+mn-ea"/>
              </a:rPr>
              <a:t>功效</a:t>
            </a:r>
            <a:r>
              <a:rPr lang="zh-CN" altLang="en-US" sz="1200" dirty="0">
                <a:latin typeface="+mn-ea"/>
              </a:rPr>
              <a:t>作用</a:t>
            </a:r>
            <a:r>
              <a:rPr lang="zh-CN" altLang="en-US" sz="1200" dirty="0" smtClean="0">
                <a:latin typeface="+mn-ea"/>
              </a:rPr>
              <a:t>：</a:t>
            </a:r>
            <a:r>
              <a:rPr lang="zh-CN" altLang="en-US" sz="1200" dirty="0" smtClean="0">
                <a:latin typeface="+mn-ea"/>
              </a:rPr>
              <a:t>稳定</a:t>
            </a:r>
            <a:r>
              <a:rPr lang="zh-CN" altLang="en-US" sz="1200" dirty="0">
                <a:latin typeface="+mn-ea"/>
              </a:rPr>
              <a:t>情绪状态，尤其适合缓解失控感、无助</a:t>
            </a:r>
            <a:r>
              <a:rPr lang="zh-CN" altLang="en-US" sz="1200" dirty="0" smtClean="0">
                <a:latin typeface="+mn-ea"/>
              </a:rPr>
              <a:t>感</a:t>
            </a:r>
            <a:endParaRPr lang="zh-CN" altLang="en-US" sz="12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248800" y="5971849"/>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9140717" y="3911946"/>
            <a:ext cx="1959591" cy="1959591"/>
          </a:xfrm>
          <a:prstGeom prst="rect">
            <a:avLst/>
          </a:prstGeom>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791644"/>
            <a:ext cx="8042929"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smtClean="0">
                <a:latin typeface="+mn-ea"/>
              </a:rPr>
              <a:t>任</a:t>
            </a:r>
            <a:r>
              <a:rPr lang="zh-CN" altLang="en-US" sz="1200" dirty="0">
                <a:latin typeface="+mn-ea"/>
              </a:rPr>
              <a:t>脉和督脉一样，与内在器官连结。</a:t>
            </a:r>
          </a:p>
          <a:p>
            <a:pPr marL="0" indent="0">
              <a:buFont typeface="Arial" panose="020B0604020202020204" pitchFamily="34" charset="0"/>
              <a:buNone/>
            </a:pPr>
            <a:r>
              <a:rPr lang="zh-CN" altLang="en-US" sz="1200" dirty="0">
                <a:latin typeface="+mn-ea"/>
              </a:rPr>
              <a:t>与生殖荷尔蒙及生殖器官，也就是摄护腺和子宫，有着紧密的连结</a:t>
            </a:r>
            <a:r>
              <a:rPr lang="zh-CN" altLang="en-US" sz="1200" dirty="0" smtClean="0">
                <a:latin typeface="+mn-ea"/>
              </a:rPr>
              <a:t>。</a:t>
            </a:r>
            <a:endParaRPr lang="en-US" altLang="zh-CN" sz="1200" dirty="0" smtClean="0">
              <a:latin typeface="+mn-ea"/>
            </a:endParaRPr>
          </a:p>
          <a:p>
            <a:pPr marL="0" indent="0">
              <a:buFont typeface="Arial" panose="020B0604020202020204" pitchFamily="34" charset="0"/>
              <a:buNone/>
            </a:pPr>
            <a:r>
              <a:rPr lang="zh-CN" altLang="en-US" sz="1200" dirty="0" smtClean="0">
                <a:latin typeface="+mn-ea"/>
              </a:rPr>
              <a:t>这</a:t>
            </a:r>
            <a:r>
              <a:rPr lang="zh-CN" altLang="en-US" sz="1200" dirty="0">
                <a:latin typeface="+mn-ea"/>
              </a:rPr>
              <a:t>是一条强而有力的经络，对急性的压力和环境的反应有重大影响。</a:t>
            </a:r>
          </a:p>
          <a:p>
            <a:pPr marL="0" indent="0">
              <a:buFont typeface="Arial" panose="020B0604020202020204" pitchFamily="34" charset="0"/>
              <a:buNone/>
            </a:pPr>
            <a:r>
              <a:rPr lang="zh-CN" altLang="en-US" sz="1200" dirty="0">
                <a:latin typeface="+mn-ea"/>
              </a:rPr>
              <a:t>我们常常为了好面子，而假装自己没有受到压力，我们学会了压抑自己的情绪和感觉，而且非常擅于此道。</a:t>
            </a:r>
          </a:p>
          <a:p>
            <a:pPr marL="0" indent="0">
              <a:buFont typeface="Arial" panose="020B0604020202020204" pitchFamily="34" charset="0"/>
              <a:buNone/>
            </a:pPr>
            <a:r>
              <a:rPr lang="zh-CN" altLang="en-US" sz="1200" dirty="0">
                <a:latin typeface="+mn-ea"/>
              </a:rPr>
              <a:t>擅长到甚至相信自己没有任何压力。这会导致情绪爆发，变得不可理喻，大题小作，爆发的反应甚至大到会吓坏自己。</a:t>
            </a:r>
          </a:p>
          <a:p>
            <a:pPr marL="0" indent="0">
              <a:buFont typeface="Arial" panose="020B0604020202020204" pitchFamily="34" charset="0"/>
              <a:buNone/>
            </a:pPr>
            <a:r>
              <a:rPr lang="zh-CN" altLang="en-US" sz="1200" dirty="0">
                <a:latin typeface="+mn-ea"/>
              </a:rPr>
              <a:t>压抑情绪发生的比例，比我们想象的要高。</a:t>
            </a:r>
          </a:p>
          <a:p>
            <a:pPr marL="0" indent="0">
              <a:buFont typeface="Arial" panose="020B0604020202020204" pitchFamily="34" charset="0"/>
              <a:buNone/>
            </a:pPr>
            <a:r>
              <a:rPr lang="zh-CN" altLang="en-US" sz="1200" dirty="0">
                <a:latin typeface="+mn-ea"/>
              </a:rPr>
              <a:t>长时间压抑情绪造成的生理反应，可能影响子宫，摄护腺等器官，造成子宫肌瘤，摄护腺肥大等。</a:t>
            </a:r>
          </a:p>
          <a:p>
            <a:pPr marL="0" indent="0">
              <a:buFont typeface="Arial" panose="020B0604020202020204" pitchFamily="34" charset="0"/>
              <a:buNone/>
            </a:pPr>
            <a:r>
              <a:rPr lang="zh-CN" altLang="en-US" sz="12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5952683" y="1595372"/>
            <a:ext cx="5724205"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200" dirty="0">
                <a:latin typeface="+mn-ea"/>
              </a:rPr>
              <a:t>将那些情境带回到现在</a:t>
            </a:r>
            <a:r>
              <a:rPr lang="zh-CN" altLang="en-US" sz="1200" dirty="0" smtClean="0">
                <a:latin typeface="+mn-ea"/>
              </a:rPr>
              <a:t>。那时</a:t>
            </a:r>
            <a:r>
              <a:rPr lang="zh-CN" altLang="en-US" sz="12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200" dirty="0">
                <a:latin typeface="+mn-ea"/>
              </a:rPr>
              <a:t>是的，只要是人，就会有情绪，请允许自己接受这点。</a:t>
            </a:r>
          </a:p>
          <a:p>
            <a:pPr marL="0" indent="0">
              <a:buFont typeface="Arial" panose="020B0604020202020204" pitchFamily="34" charset="0"/>
              <a:buNone/>
            </a:pPr>
            <a:r>
              <a:rPr lang="zh-CN" altLang="en-US" sz="1200" dirty="0">
                <a:latin typeface="+mn-ea"/>
              </a:rPr>
              <a:t>接着，轻敲或按摩任脉的穴道「承浆</a:t>
            </a:r>
            <a:r>
              <a:rPr lang="zh-CN" altLang="en-US" sz="1200" dirty="0" smtClean="0">
                <a:latin typeface="+mn-ea"/>
              </a:rPr>
              <a:t>」</a:t>
            </a:r>
            <a:endParaRPr lang="zh-CN" altLang="en-US" sz="12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2699505" cy="3989337"/>
          </a:xfrm>
        </p:spPr>
        <p:txBody>
          <a:bodyPr/>
          <a:lstStyle/>
          <a:p>
            <a:pPr marL="0" indent="0">
              <a:buNone/>
            </a:pPr>
            <a:r>
              <a:rPr lang="en-US" altLang="zh-CN" sz="1200" dirty="0">
                <a:latin typeface="+mn-ea"/>
              </a:rPr>
              <a:t>- </a:t>
            </a:r>
            <a:r>
              <a:rPr lang="zh-CN" altLang="en-US" sz="1200" dirty="0">
                <a:latin typeface="+mn-ea"/>
              </a:rPr>
              <a:t>位置：两侧锁骨与胸骨连接处的凹陷处（锁骨内侧端点下方）。</a:t>
            </a:r>
          </a:p>
          <a:p>
            <a:pPr marL="0" indent="0">
              <a:buNone/>
            </a:pPr>
            <a:r>
              <a:rPr lang="en-US" altLang="zh-CN" sz="1200" dirty="0">
                <a:latin typeface="+mn-ea"/>
              </a:rPr>
              <a:t>- </a:t>
            </a:r>
            <a:r>
              <a:rPr lang="zh-CN" altLang="en-US" sz="1200" dirty="0">
                <a:latin typeface="+mn-ea"/>
              </a:rPr>
              <a:t>定位：低头时摸到锁骨，向中间靠近胸骨的位置，能感受到明显凹陷。</a:t>
            </a:r>
          </a:p>
          <a:p>
            <a:pPr marL="0" indent="0">
              <a:buNone/>
            </a:pPr>
            <a:r>
              <a:rPr lang="en-US" altLang="zh-CN" sz="1200" dirty="0">
                <a:latin typeface="+mn-ea"/>
              </a:rPr>
              <a:t>- </a:t>
            </a:r>
            <a:r>
              <a:rPr lang="zh-CN" altLang="en-US" sz="1200" dirty="0">
                <a:latin typeface="+mn-ea"/>
              </a:rPr>
              <a:t>作用：释放深层压力，调节呼吸相关的情绪反应（如紧张导致的呼吸急促）。</a:t>
            </a: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977384" y="4863731"/>
            <a:ext cx="2210937" cy="1473958"/>
          </a:xfrm>
          <a:prstGeom prst="rect">
            <a:avLst/>
          </a:prstGeom>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900"/>
              <a:t>EFT </a:t>
            </a:r>
            <a:r>
              <a:rPr lang="zh-CN" altLang="en-US" sz="900"/>
              <a:t>核心</a:t>
            </a:r>
            <a:r>
              <a:rPr lang="zh-CN" altLang="en-US" sz="900" dirty="0"/>
              <a:t>敲击穴位（</a:t>
            </a:r>
            <a:r>
              <a:rPr lang="en-US" altLang="zh-CN" sz="900"/>
              <a:t>6</a:t>
            </a:r>
            <a:r>
              <a:rPr lang="zh-CN" altLang="en-US" sz="900"/>
              <a:t>）</a:t>
            </a:r>
            <a:endParaRPr lang="zh-CN" altLang="en-US" sz="9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latin typeface="+mn-ea"/>
              </a:rPr>
              <a:t>俞府</a:t>
            </a:r>
            <a:r>
              <a:rPr lang="zh-CN" altLang="en-US" sz="3200" dirty="0">
                <a:effectLst>
                  <a:outerShdw blurRad="38100" dist="38100" dir="2700000" algn="tl">
                    <a:srgbClr val="000000">
                      <a:alpha val="43137"/>
                    </a:srgbClr>
                  </a:outerShdw>
                </a:effectLst>
                <a:latin typeface="+mn-ea"/>
              </a:rPr>
              <a:t>穴</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546956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情绪要穴</a:t>
            </a:r>
            <a:r>
              <a:rPr lang="en-US" altLang="zh-CN" sz="1200" dirty="0">
                <a:latin typeface="+mn-ea"/>
              </a:rPr>
              <a:t>6</a:t>
            </a:r>
            <a:r>
              <a:rPr lang="zh-CN" altLang="en-US" sz="1200" dirty="0">
                <a:latin typeface="+mn-ea"/>
              </a:rPr>
              <a:t>：肾经之「俞府」－恐惧</a:t>
            </a:r>
          </a:p>
          <a:p>
            <a:pPr marL="0" indent="0">
              <a:buFont typeface="Arial" panose="020B0604020202020204" pitchFamily="34" charset="0"/>
              <a:buNone/>
            </a:pPr>
            <a:r>
              <a:rPr lang="zh-CN" altLang="en-US" sz="1200" dirty="0">
                <a:latin typeface="+mn-ea"/>
              </a:rPr>
              <a:t>与肾经相关的能量与情绪有，不信任，怀疑，觉得自己被利用，心神不宁，害怕，觉得不安全。</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灵魂会招来情绪，让我们知道，自己还有哪些未处理的创伤，还要面对什么样的事情。恐惧，是其中最强烈的情绪。</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恐惧是通往生命进化的一扇门，勇敢的面对恐惧，往前大步迈进。如果不敢面对恐惧，我们就无法真正的活着，而且某些门永远不会为我们而开。</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怀着这样的心情，我们要勇敢的面对，被拒绝，对立，被指责，被批判，等等等等的恐惧。我们要接受，每个人都可能这样子对待我，这是人生的一部分。</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我们每个人都有权力对别人说不，不让别人越雷池一步。</a:t>
            </a:r>
          </a:p>
          <a:p>
            <a:pPr marL="0" indent="0">
              <a:buFont typeface="Arial" panose="020B0604020202020204" pitchFamily="34" charset="0"/>
              <a:buNone/>
            </a:pPr>
            <a:endParaRPr lang="zh-CN" altLang="en-US" sz="1200" dirty="0">
              <a:latin typeface="+mn-ea"/>
            </a:endParaRPr>
          </a:p>
          <a:p>
            <a:pPr marL="0" indent="0">
              <a:buFont typeface="Arial" panose="020B0604020202020204" pitchFamily="34" charset="0"/>
              <a:buNone/>
            </a:pPr>
            <a:r>
              <a:rPr lang="zh-CN" altLang="en-US" sz="1200" dirty="0">
                <a:latin typeface="+mn-ea"/>
              </a:rPr>
              <a:t>对死亡的恐惧，是恐惧放下我们所知的一切，恐惧未知，克服死亡的恐惧，是接受人生，只是一趟短暂的旅程。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6032157" y="1320251"/>
            <a:ext cx="5638635"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dirty="0"/>
              <a:t>首先，闭上眼睛，回想过去让你觉得恐惧的情境。尢其是那些对立，拒绝，死亡，等等。</a:t>
            </a:r>
          </a:p>
          <a:p>
            <a:endParaRPr lang="zh-CN" altLang="en-US" dirty="0"/>
          </a:p>
          <a:p>
            <a:r>
              <a:rPr lang="zh-CN" altLang="en-US" dirty="0"/>
              <a:t>观想那时的感觉，当时的事件，参与的人，当时的场景。将那些情境带回到现在。</a:t>
            </a:r>
          </a:p>
          <a:p>
            <a:endParaRPr lang="zh-CN" altLang="en-US" dirty="0"/>
          </a:p>
          <a:p>
            <a:r>
              <a:rPr lang="zh-CN" altLang="en-US" dirty="0"/>
              <a:t>允许自己去感受那些情绪，体验自己的情绪，不要和它对抗，去感受它的存在。</a:t>
            </a:r>
          </a:p>
          <a:p>
            <a:endParaRPr lang="zh-CN" altLang="en-US" dirty="0"/>
          </a:p>
          <a:p>
            <a:r>
              <a:rPr lang="zh-CN" altLang="en-US" dirty="0"/>
              <a:t>接着，轻敲或按摩肾经的穴道「俞府」，位于锁骨下方与肋骨中间的位置。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7240" y="4395690"/>
            <a:ext cx="4160520" cy="2340864"/>
          </a:xfrm>
          <a:prstGeom prst="rect">
            <a:avLst/>
          </a:prstGeom>
        </p:spPr>
      </p:pic>
    </p:spTree>
    <p:extLst>
      <p:ext uri="{BB962C8B-B14F-4D97-AF65-F5344CB8AC3E}">
        <p14:creationId xmlns:p14="http://schemas.microsoft.com/office/powerpoint/2010/main" val="205614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500677" cy="3989337"/>
          </a:xfrm>
        </p:spPr>
        <p:txBody>
          <a:bodyPr/>
          <a:lstStyle/>
          <a:p>
            <a:pPr marL="0" indent="0">
              <a:buNone/>
            </a:pPr>
            <a:r>
              <a:rPr lang="zh-CN" altLang="en-US" sz="1400" dirty="0">
                <a:latin typeface="+mn-ea"/>
              </a:rPr>
              <a:t>情绪要穴</a:t>
            </a:r>
            <a:r>
              <a:rPr lang="en-US" altLang="zh-CN" sz="1400" dirty="0">
                <a:latin typeface="+mn-ea"/>
              </a:rPr>
              <a:t>7</a:t>
            </a:r>
            <a:r>
              <a:rPr lang="zh-CN" altLang="en-US" sz="1400" dirty="0">
                <a:latin typeface="+mn-ea"/>
              </a:rPr>
              <a:t>：脾经之「大包」－低自尊</a:t>
            </a:r>
          </a:p>
          <a:p>
            <a:pPr marL="0" indent="0">
              <a:buNone/>
            </a:pPr>
            <a:r>
              <a:rPr lang="zh-CN" altLang="en-US" sz="1400" dirty="0">
                <a:latin typeface="+mn-ea"/>
              </a:rPr>
              <a:t>脾经，对免疫系统非常重要，与内分泌系统息息相关。</a:t>
            </a:r>
          </a:p>
          <a:p>
            <a:pPr marL="0" indent="0">
              <a:buNone/>
            </a:pPr>
            <a:endParaRPr lang="zh-CN" altLang="en-US" sz="1400" dirty="0">
              <a:latin typeface="+mn-ea"/>
            </a:endParaRPr>
          </a:p>
          <a:p>
            <a:pPr marL="0" indent="0">
              <a:buNone/>
            </a:pPr>
            <a:r>
              <a:rPr lang="zh-CN" altLang="en-US" sz="1400" dirty="0">
                <a:latin typeface="+mn-ea"/>
              </a:rPr>
              <a:t>和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endParaRPr lang="zh-CN" altLang="en-US" sz="1400" dirty="0">
              <a:latin typeface="+mn-ea"/>
            </a:endParaRPr>
          </a:p>
          <a:p>
            <a:pPr marL="0" indent="0">
              <a:buNone/>
            </a:pPr>
            <a:r>
              <a:rPr lang="zh-CN" altLang="en-US" sz="1400" dirty="0">
                <a:latin typeface="+mn-ea"/>
              </a:rPr>
              <a:t>去观想，你是否有这些情绪。</a:t>
            </a:r>
          </a:p>
          <a:p>
            <a:pPr marL="0" indent="0">
              <a:buNone/>
            </a:pPr>
            <a:r>
              <a:rPr lang="zh-CN" altLang="en-US" sz="1400"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sz="1400"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a:t>
            </a:r>
          </a:p>
        </p:txBody>
      </p:sp>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9131300" y="4892648"/>
            <a:ext cx="1890776" cy="1890776"/>
          </a:xfrm>
          <a:prstGeom prst="rect">
            <a:avLst/>
          </a:prstGeom>
        </p:spPr>
      </p:pic>
    </p:spTree>
    <p:extLst>
      <p:ext uri="{BB962C8B-B14F-4D97-AF65-F5344CB8AC3E}">
        <p14:creationId xmlns:p14="http://schemas.microsoft.com/office/powerpoint/2010/main" val="1785199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7</a:t>
            </a:r>
            <a:r>
              <a:rPr lang="zh-CN" altLang="en-US" sz="900" dirty="0"/>
              <a:t>）</a:t>
            </a:r>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位置：两侧腋下约 </a:t>
            </a:r>
            <a:r>
              <a:rPr lang="en-US" altLang="zh-CN" sz="1800" dirty="0">
                <a:latin typeface="+mn-ea"/>
              </a:rPr>
              <a:t>10 </a:t>
            </a:r>
            <a:r>
              <a:rPr lang="zh-CN" altLang="en-US" sz="1800" dirty="0">
                <a:latin typeface="+mn-ea"/>
              </a:rPr>
              <a:t>厘米处（乳房外侧上方，手臂自然下垂时的腋窝下方）。</a:t>
            </a:r>
          </a:p>
          <a:p>
            <a:pPr marL="0" indent="0">
              <a:buNone/>
            </a:pPr>
            <a:r>
              <a:rPr lang="en-US" altLang="zh-CN" sz="1800" dirty="0">
                <a:latin typeface="+mn-ea"/>
              </a:rPr>
              <a:t>- </a:t>
            </a:r>
            <a:r>
              <a:rPr lang="zh-CN" altLang="en-US" sz="1800" dirty="0">
                <a:latin typeface="+mn-ea"/>
              </a:rPr>
              <a:t>定位：手臂自然下垂，腋窝往下约一掌宽的位置，贴近肋骨外侧。</a:t>
            </a:r>
          </a:p>
          <a:p>
            <a:pPr marL="0" indent="0">
              <a:buNone/>
            </a:pPr>
            <a:r>
              <a:rPr lang="en-US" altLang="zh-CN" sz="1800" dirty="0">
                <a:latin typeface="+mn-ea"/>
              </a:rPr>
              <a:t>- </a:t>
            </a:r>
            <a:r>
              <a:rPr lang="zh-CN" altLang="en-US" sz="1800" dirty="0">
                <a:latin typeface="+mn-ea"/>
              </a:rPr>
              <a:t>作用：疏导积压的负面情绪，尤其适合缓解长期压抑的恐惧、焦虑。</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a:t>
            </a:r>
            <a:r>
              <a:rPr lang="en-US" altLang="zh-CN" sz="3200" dirty="0">
                <a:effectLst>
                  <a:outerShdw blurRad="38100" dist="38100" dir="2700000" algn="tl">
                    <a:srgbClr val="000000">
                      <a:alpha val="43137"/>
                    </a:srgbClr>
                  </a:outerShdw>
                </a:effectLst>
                <a:latin typeface="+mn-ea"/>
              </a:rPr>
              <a:t>UA - Under Arm</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a:t>
            </a: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71664" y="4422009"/>
            <a:ext cx="3087237" cy="2058158"/>
          </a:xfrm>
          <a:prstGeom prst="rect">
            <a:avLst/>
          </a:prstGeom>
        </p:spPr>
      </p:pic>
    </p:spTree>
    <p:extLst>
      <p:ext uri="{BB962C8B-B14F-4D97-AF65-F5344CB8AC3E}">
        <p14:creationId xmlns:p14="http://schemas.microsoft.com/office/powerpoint/2010/main" val="3269094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900" dirty="0"/>
              <a:t>EFT </a:t>
            </a:r>
            <a:r>
              <a:rPr lang="zh-CN" altLang="en-US" sz="900" dirty="0"/>
              <a:t>核心敲击穴位（</a:t>
            </a:r>
            <a:r>
              <a:rPr lang="en-US" altLang="zh-CN" sz="900" dirty="0"/>
              <a:t>8</a:t>
            </a:r>
            <a:r>
              <a:rPr lang="zh-CN" altLang="en-US" sz="900" dirty="0"/>
              <a:t>）</a:t>
            </a:r>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位置：头顶正中央（百会穴区域，两耳尖连线与头顶中线的交点）。</a:t>
            </a:r>
          </a:p>
          <a:p>
            <a:pPr marL="0" indent="0">
              <a:buNone/>
            </a:pPr>
            <a:r>
              <a:rPr lang="en-US" altLang="zh-CN" sz="1800" dirty="0">
                <a:latin typeface="+mn-ea"/>
              </a:rPr>
              <a:t>- </a:t>
            </a:r>
            <a:r>
              <a:rPr lang="zh-CN" altLang="en-US" sz="1800" dirty="0">
                <a:latin typeface="+mn-ea"/>
              </a:rPr>
              <a:t>定位：头顶最顶端，用手指按压有轻微酸胀感处。</a:t>
            </a:r>
          </a:p>
          <a:p>
            <a:pPr marL="0" indent="0">
              <a:buNone/>
            </a:pPr>
            <a:r>
              <a:rPr lang="en-US" altLang="zh-CN" sz="1800" dirty="0">
                <a:latin typeface="+mn-ea"/>
              </a:rPr>
              <a:t>- </a:t>
            </a:r>
            <a:r>
              <a:rPr lang="zh-CN" altLang="en-US" sz="1800" dirty="0">
                <a:latin typeface="+mn-ea"/>
              </a:rPr>
              <a:t>作用：平衡全身情绪能量，收尾并稳定敲击后的情绪状态。</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264034"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头顶（</a:t>
            </a:r>
            <a:r>
              <a:rPr lang="en-US" altLang="zh-CN" sz="3200" dirty="0">
                <a:effectLst>
                  <a:outerShdw blurRad="38100" dist="38100" dir="2700000" algn="tl">
                    <a:srgbClr val="000000">
                      <a:alpha val="43137"/>
                    </a:srgbClr>
                  </a:outerShdw>
                </a:effectLst>
                <a:latin typeface="+mn-ea"/>
              </a:rPr>
              <a:t>Top of Head - TH</a:t>
            </a:r>
            <a:r>
              <a:rPr lang="zh-CN" altLang="en-US" sz="3200" dirty="0">
                <a:effectLst>
                  <a:outerShdw blurRad="38100" dist="38100" dir="2700000" algn="tl">
                    <a:srgbClr val="000000">
                      <a:alpha val="43137"/>
                    </a:srgbClr>
                  </a:outerShdw>
                </a:effectLst>
                <a:latin typeface="+mn-ea"/>
              </a:rPr>
              <a:t>）</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7598960" y="4241934"/>
            <a:ext cx="3357350" cy="2238233"/>
          </a:xfrm>
          <a:prstGeom prst="rect">
            <a:avLst/>
          </a:prstGeom>
        </p:spPr>
      </p:pic>
    </p:spTree>
    <p:extLst>
      <p:ext uri="{BB962C8B-B14F-4D97-AF65-F5344CB8AC3E}">
        <p14:creationId xmlns:p14="http://schemas.microsoft.com/office/powerpoint/2010/main" val="20816149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4</a:t>
            </a:r>
            <a:r>
              <a:rPr lang="zh-CN" altLang="en-US" sz="900" dirty="0"/>
              <a:t>）</a:t>
            </a:r>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5112" y="1576785"/>
            <a:ext cx="11500677" cy="3989337"/>
          </a:xfrm>
        </p:spPr>
        <p:txBody>
          <a:bodyPr/>
          <a:lstStyle/>
          <a:p>
            <a:pPr marL="0" indent="0">
              <a:buNone/>
            </a:pPr>
            <a:r>
              <a:rPr lang="en-US" altLang="zh-CN" sz="1800" dirty="0">
                <a:latin typeface="+mn-ea"/>
              </a:rPr>
              <a:t>### </a:t>
            </a:r>
            <a:r>
              <a:rPr lang="zh-CN" altLang="en-US" sz="1800" dirty="0">
                <a:latin typeface="+mn-ea"/>
              </a:rPr>
              <a:t>收尾稳定（</a:t>
            </a:r>
            <a:r>
              <a:rPr lang="en-US" altLang="zh-CN" sz="1800" dirty="0">
                <a:latin typeface="+mn-ea"/>
              </a:rPr>
              <a:t>1 </a:t>
            </a:r>
            <a:r>
              <a:rPr lang="zh-CN" altLang="en-US" sz="1800" dirty="0">
                <a:latin typeface="+mn-ea"/>
              </a:rPr>
              <a:t>分钟）</a:t>
            </a:r>
          </a:p>
          <a:p>
            <a:pPr marL="0" indent="0">
              <a:buNone/>
            </a:pPr>
            <a:endParaRPr lang="zh-CN" altLang="en-US" sz="1800" dirty="0">
              <a:latin typeface="+mn-ea"/>
            </a:endParaRPr>
          </a:p>
          <a:p>
            <a:pPr marL="0" indent="0">
              <a:buNone/>
            </a:pPr>
            <a:r>
              <a:rPr lang="en-US" altLang="zh-CN" sz="1800" dirty="0">
                <a:latin typeface="+mn-ea"/>
              </a:rPr>
              <a:t>- </a:t>
            </a:r>
            <a:r>
              <a:rPr lang="zh-CN" altLang="en-US" sz="1800" dirty="0">
                <a:latin typeface="+mn-ea"/>
              </a:rPr>
              <a:t>持续敲击**头顶穴位**</a:t>
            </a:r>
            <a:r>
              <a:rPr lang="en-US" altLang="zh-CN" sz="1800" dirty="0">
                <a:latin typeface="+mn-ea"/>
              </a:rPr>
              <a:t>10 </a:t>
            </a:r>
            <a:r>
              <a:rPr lang="zh-CN" altLang="en-US" sz="1800" dirty="0">
                <a:latin typeface="+mn-ea"/>
              </a:rPr>
              <a:t>次，同时默念：“我现在感到平静、安全，我的身心都在放松”。</a:t>
            </a:r>
          </a:p>
          <a:p>
            <a:pPr marL="0" indent="0">
              <a:buNone/>
            </a:pPr>
            <a:r>
              <a:rPr lang="en-US" altLang="zh-CN" sz="1800" dirty="0">
                <a:latin typeface="+mn-ea"/>
              </a:rPr>
              <a:t>- </a:t>
            </a:r>
            <a:r>
              <a:rPr lang="zh-CN" altLang="en-US" sz="1800" dirty="0">
                <a:latin typeface="+mn-ea"/>
              </a:rPr>
              <a:t>再深呼吸 </a:t>
            </a:r>
            <a:r>
              <a:rPr lang="en-US" altLang="zh-CN" sz="1800" dirty="0">
                <a:latin typeface="+mn-ea"/>
              </a:rPr>
              <a:t>3 </a:t>
            </a:r>
            <a:r>
              <a:rPr lang="zh-CN" altLang="en-US" sz="1800" dirty="0">
                <a:latin typeface="+mn-ea"/>
              </a:rPr>
              <a:t>次，感受身体变化（如紧张感是否减轻、呼吸是否平稳），结束操作。</a:t>
            </a:r>
          </a:p>
        </p:txBody>
      </p:sp>
      <p:sp>
        <p:nvSpPr>
          <p:cNvPr id="14" name="内容占位符 2">
            <a:extLst>
              <a:ext uri="{FF2B5EF4-FFF2-40B4-BE49-F238E27FC236}">
                <a16:creationId xmlns:a16="http://schemas.microsoft.com/office/drawing/2014/main" id="{F16DB7D6-54F0-0849-5B5E-EFE315F70565}"/>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a:t>
            </a:r>
          </a:p>
        </p:txBody>
      </p:sp>
    </p:spTree>
    <p:extLst>
      <p:ext uri="{BB962C8B-B14F-4D97-AF65-F5344CB8AC3E}">
        <p14:creationId xmlns:p14="http://schemas.microsoft.com/office/powerpoint/2010/main" val="17029035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8623299" y="5377512"/>
            <a:ext cx="3053587" cy="1345614"/>
          </a:xfrm>
          <a:prstGeom prst="rect">
            <a:avLst/>
          </a:prstGeom>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5" y="1576785"/>
            <a:ext cx="3085590" cy="3989337"/>
          </a:xfrm>
        </p:spPr>
        <p:txBody>
          <a:bodyPr/>
          <a:lstStyle/>
          <a:p>
            <a:pPr marL="0" indent="0">
              <a:buNone/>
            </a:pPr>
            <a:r>
              <a:rPr lang="zh-CN" altLang="en-US" sz="1200" dirty="0">
                <a:latin typeface="+mn-ea"/>
              </a:rPr>
              <a:t>    允许 </a:t>
            </a:r>
            <a:r>
              <a:rPr lang="en-US" altLang="zh-CN" sz="1200" dirty="0">
                <a:latin typeface="+mn-ea"/>
              </a:rPr>
              <a:t>1-2 </a:t>
            </a:r>
            <a:r>
              <a:rPr lang="zh-CN" altLang="en-US" sz="1200" dirty="0">
                <a:latin typeface="+mn-ea"/>
              </a:rPr>
              <a:t>厘米的偏差：比如 “眼侧穴”（瞳子髎附近），只要敲击在眼外侧眶骨周围 </a:t>
            </a:r>
            <a:r>
              <a:rPr lang="en-US" altLang="zh-CN" sz="1200" dirty="0">
                <a:latin typeface="+mn-ea"/>
              </a:rPr>
              <a:t>1 </a:t>
            </a:r>
            <a:r>
              <a:rPr lang="zh-CN" altLang="en-US" sz="1200" dirty="0">
                <a:latin typeface="+mn-ea"/>
              </a:rPr>
              <a:t>厘米范围内，就能触发对应的情绪能量疏导，无需严格卡在 “外眼角 </a:t>
            </a:r>
            <a:r>
              <a:rPr lang="en-US" altLang="zh-CN" sz="1200" dirty="0">
                <a:latin typeface="+mn-ea"/>
              </a:rPr>
              <a:t>0.5 </a:t>
            </a:r>
            <a:r>
              <a:rPr lang="zh-CN" altLang="en-US" sz="1200" dirty="0">
                <a:latin typeface="+mn-ea"/>
              </a:rPr>
              <a:t>厘米凹陷处”；再如 “锁骨下方穴”，只要敲击在锁骨与第一肋的交汇处附近（前后偏差不超过 </a:t>
            </a:r>
            <a:r>
              <a:rPr lang="en-US" altLang="zh-CN" sz="1200" dirty="0">
                <a:latin typeface="+mn-ea"/>
              </a:rPr>
              <a:t>2 </a:t>
            </a:r>
            <a:r>
              <a:rPr lang="zh-CN" altLang="en-US" sz="1200" dirty="0">
                <a:latin typeface="+mn-ea"/>
              </a:rPr>
              <a:t>厘米），无论是否精准命中俞府穴，都能起到缓解胸闷的作用。</a:t>
            </a:r>
          </a:p>
          <a:p>
            <a:pPr marL="0" indent="0">
              <a:buNone/>
            </a:pPr>
            <a:r>
              <a:rPr lang="zh-CN" altLang="en-US" sz="1200" dirty="0">
                <a:latin typeface="+mn-ea"/>
              </a:rPr>
              <a:t>    以 “感觉舒适 </a:t>
            </a:r>
            <a:r>
              <a:rPr lang="en-US" altLang="zh-CN" sz="1200" dirty="0">
                <a:latin typeface="+mn-ea"/>
              </a:rPr>
              <a:t>+ </a:t>
            </a:r>
            <a:r>
              <a:rPr lang="zh-CN" altLang="en-US" sz="1200" dirty="0">
                <a:latin typeface="+mn-ea"/>
              </a:rPr>
              <a:t>有酸胀感” 为辅助判断：敲击时若能感受到轻微的酸胀、发麻，或单纯觉得 “这个位置敲击起来情绪更易流动”，即使位置略有偏差，也符合 </a:t>
            </a:r>
            <a:r>
              <a:rPr lang="en-US" altLang="zh-CN" sz="1200" dirty="0">
                <a:latin typeface="+mn-ea"/>
              </a:rPr>
              <a:t>EFT </a:t>
            </a:r>
            <a:r>
              <a:rPr lang="zh-CN" altLang="en-US" sz="1200" dirty="0">
                <a:latin typeface="+mn-ea"/>
              </a:rPr>
              <a:t>的要求；反之，若敲击时感到疼痛、不适（如眼部周围用力过猛），则需调整位置，而非强行对准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3479800" y="1538447"/>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穴位区域不能错：比如 “眉头穴” 必须在眉头内侧区域（不能敲到额头中间），“腋下穴” 必须在腋窝下方 </a:t>
            </a:r>
            <a:r>
              <a:rPr lang="en-US" altLang="zh-CN" sz="1200" dirty="0">
                <a:latin typeface="+mn-ea"/>
              </a:rPr>
              <a:t>10 </a:t>
            </a:r>
            <a:r>
              <a:rPr lang="zh-CN" altLang="en-US" sz="1200" dirty="0">
                <a:latin typeface="+mn-ea"/>
              </a:rPr>
              <a:t>厘米左右（不能敲到上臂或胸口正中间）</a:t>
            </a:r>
            <a:r>
              <a:rPr lang="en-US" altLang="zh-CN" sz="1200" dirty="0">
                <a:latin typeface="+mn-ea"/>
              </a:rPr>
              <a:t>—— </a:t>
            </a:r>
            <a:r>
              <a:rPr lang="zh-CN" altLang="en-US" sz="1200" dirty="0">
                <a:latin typeface="+mn-ea"/>
              </a:rPr>
              <a:t>核心区域不能偏离，否则无法联动对应的情绪疏导通道。</a:t>
            </a:r>
          </a:p>
          <a:p>
            <a:pPr marL="0" indent="0">
              <a:buFont typeface="Arial" panose="020B0604020202020204" pitchFamily="34" charset="0"/>
              <a:buNone/>
            </a:pPr>
            <a:r>
              <a:rPr lang="zh-CN" altLang="en-US" sz="1200" dirty="0">
                <a:latin typeface="+mn-ea"/>
              </a:rPr>
              <a:t>    敏感部位需轻柔 </a:t>
            </a:r>
            <a:r>
              <a:rPr lang="en-US" altLang="zh-CN" sz="1200" dirty="0">
                <a:latin typeface="+mn-ea"/>
              </a:rPr>
              <a:t>+ </a:t>
            </a:r>
            <a:r>
              <a:rPr lang="zh-CN" altLang="en-US" sz="1200" dirty="0">
                <a:latin typeface="+mn-ea"/>
              </a:rPr>
              <a:t>避开创伤：眼部周围（眼侧、眼下）、人中、头顶等部位，必须用指尖轻柔敲击（避免用力按压），且不能敲眼球、鼻孔、耳道等脆弱组织；若有面部伤口、眼部炎症、锁骨骨折等情况，需避开对应区域，不可强行敲击。</a:t>
            </a:r>
          </a:p>
          <a:p>
            <a:pPr marL="0" indent="0">
              <a:buFont typeface="Arial" panose="020B0604020202020204" pitchFamily="34" charset="0"/>
              <a:buNone/>
            </a:pPr>
            <a:r>
              <a:rPr lang="zh-CN" altLang="en-US" sz="1200" dirty="0">
                <a:latin typeface="+mn-ea"/>
              </a:rPr>
              <a:t>    核心穴位不可随意替换：基础 </a:t>
            </a:r>
            <a:r>
              <a:rPr lang="en-US" altLang="zh-CN" sz="1200" dirty="0">
                <a:latin typeface="+mn-ea"/>
              </a:rPr>
              <a:t>8-9 </a:t>
            </a:r>
            <a:r>
              <a:rPr lang="zh-CN" altLang="en-US" sz="12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3473703" y="3985811"/>
            <a:ext cx="82031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200" dirty="0">
                <a:latin typeface="+mn-ea"/>
              </a:rPr>
              <a:t>    新手阶段：参考 “标准区域” 找感觉：初期可按 </a:t>
            </a:r>
            <a:r>
              <a:rPr lang="en-US" altLang="zh-CN" sz="1200" dirty="0">
                <a:latin typeface="+mn-ea"/>
              </a:rPr>
              <a:t>EFT </a:t>
            </a:r>
            <a:r>
              <a:rPr lang="zh-CN" altLang="en-US" sz="1200" dirty="0">
                <a:latin typeface="+mn-ea"/>
              </a:rPr>
              <a:t>的标准描述（如 “眉头内侧凹陷处”“锁骨与第一肋交汇处”）定位，先建立 “区域认知”，敲击时感受情绪是否有流动（如胸闷缓解、烦躁感减轻）。</a:t>
            </a:r>
          </a:p>
          <a:p>
            <a:pPr marL="0" indent="0">
              <a:buFont typeface="Arial" panose="020B0604020202020204" pitchFamily="34" charset="0"/>
              <a:buNone/>
            </a:pPr>
            <a:r>
              <a:rPr lang="zh-CN" altLang="en-US" sz="1200" dirty="0">
                <a:latin typeface="+mn-ea"/>
              </a:rPr>
              <a:t>    熟练后：按 “个人感受” 微调：若发现 “稍微偏离标准点” 敲击时情绪释放更明显（比如有人敲 “眼侧” 时，偏上 </a:t>
            </a:r>
            <a:r>
              <a:rPr lang="en-US" altLang="zh-CN" sz="1200" dirty="0">
                <a:latin typeface="+mn-ea"/>
              </a:rPr>
              <a:t>1 </a:t>
            </a:r>
            <a:r>
              <a:rPr lang="zh-CN" altLang="en-US" sz="1200" dirty="0">
                <a:latin typeface="+mn-ea"/>
              </a:rPr>
              <a:t>厘米的位置更易平复紧张），可固定自己的 “舒适位置”，无需强行纠正为 “标准点”。</a:t>
            </a:r>
          </a:p>
          <a:p>
            <a:pPr marL="0" indent="0">
              <a:buFont typeface="Arial" panose="020B0604020202020204" pitchFamily="34" charset="0"/>
              <a:buNone/>
            </a:pPr>
            <a:r>
              <a:rPr lang="zh-CN" altLang="en-US" sz="1200" dirty="0">
                <a:latin typeface="+mn-ea"/>
              </a:rPr>
              <a:t>    避免两个极端：① 不必纠结 “是否绝对精准”，过度追求解剖学定位会忽视情绪感受，反而降低效果；② 不可完全随意敲击（如把 “腋下穴” 敲到大腿上），核心区域偏离会导致情绪能量无法有效疏导，相当于 “无效敲击”。</a:t>
            </a:r>
          </a:p>
          <a:p>
            <a:pPr marL="0" indent="0">
              <a:buFont typeface="Arial" panose="020B0604020202020204" pitchFamily="34" charset="0"/>
              <a:buNone/>
            </a:pPr>
            <a:endParaRPr lang="zh-CN" altLang="en-US" sz="1200" dirty="0">
              <a:latin typeface="+mn-ea"/>
            </a:endParaRPr>
          </a:p>
        </p:txBody>
      </p:sp>
    </p:spTree>
    <p:extLst>
      <p:ext uri="{BB962C8B-B14F-4D97-AF65-F5344CB8AC3E}">
        <p14:creationId xmlns:p14="http://schemas.microsoft.com/office/powerpoint/2010/main" val="40426743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心理自助操的流程设计（</a:t>
            </a:r>
            <a:r>
              <a:rPr lang="en-US" altLang="zh-CN" sz="900" dirty="0"/>
              <a:t>5</a:t>
            </a:r>
            <a:r>
              <a:rPr lang="zh-CN" altLang="en-US" sz="900" dirty="0"/>
              <a:t>）</a:t>
            </a:r>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sz="1400" dirty="0">
                <a:latin typeface="+mn-ea"/>
              </a:rPr>
              <a:t>1. </a:t>
            </a:r>
            <a:r>
              <a:rPr lang="zh-CN" altLang="en-US" sz="1400" dirty="0">
                <a:latin typeface="+mn-ea"/>
              </a:rPr>
              <a:t>情绪强度未下降？</a:t>
            </a:r>
          </a:p>
          <a:p>
            <a:pPr marL="0" indent="0">
              <a:buNone/>
            </a:pPr>
            <a:r>
              <a:rPr lang="zh-CN" altLang="en-US" sz="1400" dirty="0">
                <a:latin typeface="+mn-ea"/>
              </a:rPr>
              <a:t>   </a:t>
            </a:r>
            <a:r>
              <a:rPr lang="en-US" altLang="zh-CN" sz="1400" dirty="0">
                <a:latin typeface="+mn-ea"/>
              </a:rPr>
              <a:t>- </a:t>
            </a:r>
            <a:r>
              <a:rPr lang="zh-CN" altLang="en-US" sz="1400" dirty="0">
                <a:latin typeface="+mn-ea"/>
              </a:rPr>
              <a:t>检查是否情绪描述不够具体（如把 “怕水” 细化为 “怕泳池的深水”），重新设定语句。</a:t>
            </a:r>
          </a:p>
          <a:p>
            <a:pPr marL="0" indent="0">
              <a:buNone/>
            </a:pPr>
            <a:r>
              <a:rPr lang="zh-CN" altLang="en-US" sz="1400" dirty="0">
                <a:latin typeface="+mn-ea"/>
              </a:rPr>
              <a:t>   </a:t>
            </a:r>
            <a:r>
              <a:rPr lang="en-US" altLang="zh-CN" sz="1400" dirty="0">
                <a:latin typeface="+mn-ea"/>
              </a:rPr>
              <a:t>- </a:t>
            </a:r>
            <a:r>
              <a:rPr lang="zh-CN" altLang="en-US" sz="1400" dirty="0">
                <a:latin typeface="+mn-ea"/>
              </a:rPr>
              <a:t>增加 “腋下” 和 “锁骨” 穴位的敲击次数（各 </a:t>
            </a:r>
            <a:r>
              <a:rPr lang="en-US" altLang="zh-CN" sz="1400" dirty="0">
                <a:latin typeface="+mn-ea"/>
              </a:rPr>
              <a:t>10 </a:t>
            </a:r>
            <a:r>
              <a:rPr lang="zh-CN" altLang="en-US" sz="1400" dirty="0">
                <a:latin typeface="+mn-ea"/>
              </a:rPr>
              <a:t>次），这两个穴位更易疏导深层情绪。</a:t>
            </a:r>
          </a:p>
          <a:p>
            <a:pPr marL="0" indent="0">
              <a:buNone/>
            </a:pPr>
            <a:r>
              <a:rPr lang="en-US" altLang="zh-CN" sz="1400" dirty="0">
                <a:latin typeface="+mn-ea"/>
              </a:rPr>
              <a:t>2. </a:t>
            </a:r>
            <a:r>
              <a:rPr lang="zh-CN" altLang="en-US" sz="1400" dirty="0">
                <a:latin typeface="+mn-ea"/>
              </a:rPr>
              <a:t>伴随躯体不适（如胃痛、手抖）？</a:t>
            </a:r>
          </a:p>
          <a:p>
            <a:pPr marL="0" indent="0">
              <a:buNone/>
            </a:pPr>
            <a:r>
              <a:rPr lang="zh-CN" altLang="en-US" sz="1400" dirty="0">
                <a:latin typeface="+mn-ea"/>
              </a:rPr>
              <a:t>   </a:t>
            </a:r>
            <a:r>
              <a:rPr lang="en-US" altLang="zh-CN" sz="1400" dirty="0">
                <a:latin typeface="+mn-ea"/>
              </a:rPr>
              <a:t>- </a:t>
            </a:r>
            <a:r>
              <a:rPr lang="zh-CN" altLang="en-US" sz="1400" dirty="0">
                <a:latin typeface="+mn-ea"/>
              </a:rPr>
              <a:t>敲击时重点强化 “眼下”“锁骨” 穴位，提示语可结合躯体感受（如 “这份怕水带来的胃痛”）。</a:t>
            </a:r>
          </a:p>
          <a:p>
            <a:pPr marL="0" indent="0">
              <a:buNone/>
            </a:pPr>
            <a:r>
              <a:rPr lang="en-US" altLang="zh-CN" sz="1400" dirty="0">
                <a:latin typeface="+mn-ea"/>
              </a:rPr>
              <a:t>3. </a:t>
            </a:r>
            <a:r>
              <a:rPr lang="zh-CN" altLang="en-US" sz="1400" dirty="0">
                <a:latin typeface="+mn-ea"/>
              </a:rPr>
              <a:t>多次循环后仍无改善？</a:t>
            </a:r>
          </a:p>
          <a:p>
            <a:pPr marL="0" indent="0">
              <a:buNone/>
            </a:pPr>
            <a:r>
              <a:rPr lang="zh-CN" altLang="en-US" sz="1400" dirty="0">
                <a:latin typeface="+mn-ea"/>
              </a:rPr>
              <a:t>   </a:t>
            </a:r>
            <a:r>
              <a:rPr lang="en-US" altLang="zh-CN" sz="1400" dirty="0">
                <a:latin typeface="+mn-ea"/>
              </a:rPr>
              <a:t>- </a:t>
            </a:r>
            <a:r>
              <a:rPr lang="zh-CN" altLang="en-US" sz="1400"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i="1" dirty="0">
                <a:latin typeface="+mn-ea"/>
              </a:rPr>
              <a:t>重要提醒</a:t>
            </a:r>
          </a:p>
          <a:p>
            <a:pPr marL="0" indent="0">
              <a:buFont typeface="Arial" panose="020B0604020202020204" pitchFamily="34" charset="0"/>
              <a:buNone/>
            </a:pPr>
            <a:r>
              <a:rPr lang="en-US" altLang="zh-CN" sz="1400" i="1" dirty="0">
                <a:latin typeface="+mn-ea"/>
              </a:rPr>
              <a:t>- EFT </a:t>
            </a:r>
            <a:r>
              <a:rPr lang="zh-CN" altLang="en-US" sz="1400" i="1" dirty="0">
                <a:latin typeface="+mn-ea"/>
              </a:rPr>
              <a:t>是**情绪缓解辅助工具**，不能替代专业心理治疗，若情绪问题严重（如影响正常生活、有极端想法），请及时寻求心理咨询师或医生帮助。</a:t>
            </a:r>
          </a:p>
          <a:p>
            <a:pPr marL="0" indent="0">
              <a:buFont typeface="Arial" panose="020B0604020202020204" pitchFamily="34" charset="0"/>
              <a:buNone/>
            </a:pPr>
            <a:r>
              <a:rPr lang="en-US" altLang="zh-CN" sz="1400" i="1" dirty="0">
                <a:latin typeface="+mn-ea"/>
              </a:rPr>
              <a:t>- </a:t>
            </a:r>
            <a:r>
              <a:rPr lang="zh-CN" altLang="en-US" sz="1400" i="1" dirty="0">
                <a:latin typeface="+mn-ea"/>
              </a:rPr>
              <a:t>操作时若出现情绪崩溃（如哭泣、强烈不适），可先停止敲击，深呼吸平复后再继续，或分多次短时间操作。</a:t>
            </a:r>
          </a:p>
        </p:txBody>
      </p:sp>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5972123" y="4209227"/>
            <a:ext cx="5704764" cy="2513899"/>
          </a:xfrm>
          <a:prstGeom prst="rect">
            <a:avLst/>
          </a:prstGeom>
        </p:spPr>
      </p:pic>
    </p:spTree>
    <p:extLst>
      <p:ext uri="{BB962C8B-B14F-4D97-AF65-F5344CB8AC3E}">
        <p14:creationId xmlns:p14="http://schemas.microsoft.com/office/powerpoint/2010/main" val="33341801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900" dirty="0"/>
              <a:t>EFT</a:t>
            </a:r>
            <a:r>
              <a:rPr lang="zh-CN" altLang="en-US" sz="9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dirty="0">
                <a:latin typeface="+mn-ea"/>
              </a:rPr>
              <a:t>1.</a:t>
            </a:r>
            <a:r>
              <a:rPr lang="zh-CN" altLang="en-US" sz="1400" dirty="0">
                <a:latin typeface="+mn-ea"/>
              </a:rPr>
              <a:t>热身阶段迅速活跃身心状态为情绪敲击做好准备。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14" name="内容占位符 2">
            <a:extLst>
              <a:ext uri="{FF2B5EF4-FFF2-40B4-BE49-F238E27FC236}">
                <a16:creationId xmlns:a16="http://schemas.microsoft.com/office/drawing/2014/main" id="{60C08BF9-B244-DDD6-3562-787B531F682A}"/>
              </a:ext>
            </a:extLst>
          </p:cNvPr>
          <p:cNvSpPr txBox="1">
            <a:spLocks/>
          </p:cNvSpPr>
          <p:nvPr/>
        </p:nvSpPr>
        <p:spPr>
          <a:xfrm>
            <a:off x="264035" y="5566122"/>
            <a:ext cx="564037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altLang="zh-CN" sz="3200" dirty="0">
                <a:effectLst>
                  <a:outerShdw blurRad="38100" dist="38100" dir="2700000" algn="tl">
                    <a:srgbClr val="000000">
                      <a:alpha val="43137"/>
                    </a:srgbClr>
                  </a:outerShdw>
                </a:effectLst>
                <a:latin typeface="+mn-ea"/>
              </a:rPr>
              <a:t>EFT</a:t>
            </a:r>
            <a:r>
              <a:rPr lang="zh-CN" altLang="en-US" sz="3200" dirty="0">
                <a:effectLst>
                  <a:outerShdw blurRad="38100" dist="38100" dir="2700000" algn="tl">
                    <a:srgbClr val="000000">
                      <a:alpha val="43137"/>
                    </a:srgbClr>
                  </a:outerShdw>
                </a:effectLst>
                <a:latin typeface="+mn-ea"/>
              </a:rPr>
              <a:t>心理自助操的作用分析</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21208" y="2969347"/>
            <a:ext cx="5703678"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2.</a:t>
            </a:r>
            <a:r>
              <a:rPr lang="zh-CN" altLang="en-US" sz="1400" dirty="0">
                <a:latin typeface="+mn-ea"/>
              </a:rPr>
              <a:t>情绪聚焦找准问题实现心理反转机制的有效解除。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6230982" y="2899819"/>
            <a:ext cx="5316583" cy="22612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dirty="0">
                <a:latin typeface="+mn-ea"/>
              </a:rPr>
              <a:t>3.</a:t>
            </a:r>
            <a:r>
              <a:rPr lang="zh-CN" altLang="en-US" sz="1400" dirty="0">
                <a:latin typeface="+mn-ea"/>
              </a:rPr>
              <a:t>用中立化的引导语有效帮助修改心理反转机制。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1319</TotalTime>
  <Words>5581</Words>
  <Application>Microsoft Office PowerPoint</Application>
  <PresentationFormat>宽屏</PresentationFormat>
  <Paragraphs>221</Paragraphs>
  <Slides>27</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27</vt:i4>
      </vt:variant>
    </vt:vector>
  </HeadingPairs>
  <TitlesOfParts>
    <vt:vector size="33" baseType="lpstr">
      <vt:lpstr>Bierstadt</vt:lpstr>
      <vt:lpstr>等线</vt:lpstr>
      <vt:lpstr>Microsoft YaHei</vt:lpstr>
      <vt:lpstr>Arial</vt:lpstr>
      <vt:lpstr>Wingdings</vt:lpstr>
      <vt:lpstr>GestaltVTI</vt:lpstr>
      <vt:lpstr>音乐情绪释放（EFT）心理训练</vt:lpstr>
      <vt:lpstr>情绪释放技术EFT的形成背景</vt:lpstr>
      <vt:lpstr>情绪释放技术EFT的治疗原理</vt:lpstr>
      <vt:lpstr>情绪释放技术EFT的主要特点</vt:lpstr>
      <vt:lpstr>EFT技术主要应用范围举例</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核心敲击穴位（9）</vt:lpstr>
      <vt:lpstr>EFT 核心敲击穴位（9）</vt:lpstr>
      <vt:lpstr>EFT 核心敲击穴位（1）</vt:lpstr>
      <vt:lpstr>EFT 核心敲击穴位（2）</vt:lpstr>
      <vt:lpstr>EFT 核心敲击穴位（3）</vt:lpstr>
      <vt:lpstr>EFT 核心敲击穴位（4）</vt:lpstr>
      <vt:lpstr>EFT 核心敲击穴位（5）</vt:lpstr>
      <vt:lpstr>EFT 核心敲击穴位（6）</vt:lpstr>
      <vt:lpstr>EFT 核心敲击穴位（6）</vt:lpstr>
      <vt:lpstr>EFT 核心敲击穴位（7）</vt:lpstr>
      <vt:lpstr>EFT 核心敲击穴位（7）</vt:lpstr>
      <vt:lpstr>EFT 核心敲击穴位（8）</vt:lpstr>
      <vt:lpstr>EFT心理自助操的流程设计（4）</vt:lpstr>
      <vt:lpstr>EFT心理自助操的流程设计（5）</vt:lpstr>
      <vt:lpstr>EFT心理自助操的流程设计（5）</vt:lpstr>
      <vt:lpstr>EFT心理自助操的作用分析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426</cp:revision>
  <dcterms:created xsi:type="dcterms:W3CDTF">2025-09-26T07:10:55Z</dcterms:created>
  <dcterms:modified xsi:type="dcterms:W3CDTF">2025-12-08T13:44:09Z</dcterms:modified>
</cp:coreProperties>
</file>