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4"/>
  </p:notesMasterIdLst>
  <p:sldIdLst>
    <p:sldId id="256" r:id="rId2"/>
    <p:sldId id="257" r:id="rId3"/>
    <p:sldId id="258" r:id="rId4"/>
    <p:sldId id="259" r:id="rId5"/>
    <p:sldId id="260" r:id="rId6"/>
    <p:sldId id="261" r:id="rId7"/>
    <p:sldId id="262" r:id="rId8"/>
    <p:sldId id="263" r:id="rId9"/>
    <p:sldId id="265" r:id="rId10"/>
    <p:sldId id="277" r:id="rId11"/>
    <p:sldId id="268" r:id="rId12"/>
    <p:sldId id="269" r:id="rId13"/>
    <p:sldId id="270" r:id="rId14"/>
    <p:sldId id="271" r:id="rId15"/>
    <p:sldId id="272" r:id="rId16"/>
    <p:sldId id="273" r:id="rId17"/>
    <p:sldId id="274" r:id="rId18"/>
    <p:sldId id="275" r:id="rId19"/>
    <p:sldId id="276" r:id="rId20"/>
    <p:sldId id="266" r:id="rId21"/>
    <p:sldId id="267" r:id="rId22"/>
    <p:sldId id="264" r:id="rId2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7" d="100"/>
          <a:sy n="67" d="100"/>
        </p:scale>
        <p:origin x="58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2025/12/3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12/3/2025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12/3/2025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12/3/2025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12/3/2025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12/3/2025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12/3/2025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12/3/2025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12/3/2025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12/3/2025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12/3/2025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12/3/2025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12/3/2025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2"/>
          <a:srcRect t="32657" b="11093"/>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40" y="5739969"/>
            <a:ext cx="10252710" cy="960120"/>
          </a:xfrm>
          <a:ln>
            <a:noFill/>
          </a:ln>
        </p:spPr>
        <p:txBody>
          <a:bodyPr anchor="ctr">
            <a:noAutofit/>
          </a:bodyPr>
          <a:lstStyle/>
          <a:p>
            <a:r>
              <a:rPr lang="zh-CN" altLang="en-US" sz="5400" dirty="0"/>
              <a:t>情绪释放疗法（</a:t>
            </a:r>
            <a:r>
              <a:rPr lang="en-US" altLang="zh-CN" sz="5400" dirty="0"/>
              <a:t>EFT</a:t>
            </a:r>
            <a:r>
              <a:rPr lang="zh-CN" altLang="en-US" sz="5400" dirty="0"/>
              <a:t>）心理训练</a:t>
            </a:r>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7386639" y="5739969"/>
            <a:ext cx="4610646" cy="960120"/>
          </a:xfrm>
        </p:spPr>
        <p:txBody>
          <a:bodyPr anchor="ctr">
            <a:normAutofit fontScale="92500" lnSpcReduction="10000"/>
          </a:bodyPr>
          <a:lstStyle/>
          <a:p>
            <a:pPr algn="r"/>
            <a:r>
              <a:rPr lang="zh-CN" altLang="en-US" sz="1900" dirty="0"/>
              <a:t>浥尘伙伴社团</a:t>
            </a:r>
            <a:endParaRPr lang="en-US" altLang="zh-CN" sz="1900" dirty="0"/>
          </a:p>
          <a:p>
            <a:pPr algn="r"/>
            <a:r>
              <a:rPr lang="zh-CN" altLang="en-US" sz="1900" dirty="0"/>
              <a:t> </a:t>
            </a:r>
            <a:r>
              <a:rPr lang="en-US" altLang="zh-CN" sz="1900" dirty="0"/>
              <a:t>2026</a:t>
            </a:r>
            <a:r>
              <a:rPr lang="zh-CN" altLang="en-US" sz="1900" dirty="0"/>
              <a:t>年</a:t>
            </a:r>
            <a:r>
              <a:rPr lang="en-US" altLang="zh-CN" sz="1900" dirty="0"/>
              <a:t>1</a:t>
            </a:r>
            <a:r>
              <a:rPr lang="zh-CN" altLang="en-US" sz="1900" dirty="0"/>
              <a:t>月</a:t>
            </a:r>
          </a:p>
        </p:txBody>
      </p:sp>
    </p:spTree>
    <p:extLst>
      <p:ext uri="{BB962C8B-B14F-4D97-AF65-F5344CB8AC3E}">
        <p14:creationId xmlns:p14="http://schemas.microsoft.com/office/powerpoint/2010/main" val="22892823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的形成背景</a:t>
            </a:r>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15114" y="1576785"/>
            <a:ext cx="11155678" cy="1609328"/>
          </a:xfrm>
        </p:spPr>
        <p:txBody>
          <a:bodyPr/>
          <a:lstStyle/>
          <a:p>
            <a:pPr marL="0" indent="0">
              <a:buNone/>
            </a:pPr>
            <a:r>
              <a:rPr lang="zh-CN" altLang="en-US" sz="1800" dirty="0">
                <a:latin typeface="+mn-ea"/>
              </a:rPr>
              <a:t>情绪释放技术（</a:t>
            </a:r>
            <a:r>
              <a:rPr lang="en-US" altLang="zh-CN" sz="1800" dirty="0">
                <a:latin typeface="+mn-ea"/>
              </a:rPr>
              <a:t>Emotional Freedom Technique, EFT</a:t>
            </a:r>
            <a:r>
              <a:rPr lang="zh-CN" altLang="en-US" sz="1800" dirty="0">
                <a:latin typeface="+mn-ea"/>
              </a:rPr>
              <a:t>）是借鉴中医经络理论并结合心理学创建的一种心理治疗技术，通过敲击特定的身体部位（眉头、眼尾、眼下、鼻下、下巴、锁骨、腋下、头顶</a:t>
            </a:r>
            <a:r>
              <a:rPr lang="en-US" altLang="zh-CN" sz="1800" dirty="0">
                <a:latin typeface="+mn-ea"/>
              </a:rPr>
              <a:t>8</a:t>
            </a:r>
            <a:r>
              <a:rPr lang="zh-CN" altLang="en-US" sz="1800" dirty="0">
                <a:latin typeface="+mn-ea"/>
              </a:rPr>
              <a:t>个穴位），同时倾吐出内心积压的情绪事件，再通过积极赋义，转变信念和惯性模式，以达到清理潜意识和缓解身心不适的目的。 </a:t>
            </a:r>
          </a:p>
        </p:txBody>
      </p:sp>
      <p:sp>
        <p:nvSpPr>
          <p:cNvPr id="4" name="内容占位符 2">
            <a:extLst>
              <a:ext uri="{FF2B5EF4-FFF2-40B4-BE49-F238E27FC236}">
                <a16:creationId xmlns:a16="http://schemas.microsoft.com/office/drawing/2014/main" id="{996D10F9-157C-68E3-92F5-D979FA02811C}"/>
              </a:ext>
            </a:extLst>
          </p:cNvPr>
          <p:cNvSpPr txBox="1">
            <a:spLocks/>
          </p:cNvSpPr>
          <p:nvPr/>
        </p:nvSpPr>
        <p:spPr>
          <a:xfrm>
            <a:off x="515114" y="4462264"/>
            <a:ext cx="7328724" cy="232886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情绪释放技术可以视为能量心理学的一个有效应用，就像是一个“情绪橡皮擦”，可以快速地抚平情绪，如愤怒、委屈、恐惧等，心理学家、医师、治疗师等采用</a:t>
            </a:r>
            <a:r>
              <a:rPr lang="en-US" altLang="zh-CN" sz="1800" dirty="0">
                <a:latin typeface="+mn-ea"/>
              </a:rPr>
              <a:t>EFT</a:t>
            </a:r>
            <a:r>
              <a:rPr lang="zh-CN" altLang="en-US" sz="1800" dirty="0">
                <a:latin typeface="+mn-ea"/>
              </a:rPr>
              <a:t>治疗焦虑症、抑郁症、恐惧障碍等多种心理疾病和心理问题，其疗效已得到公认。</a:t>
            </a:r>
          </a:p>
          <a:p>
            <a:pPr marL="0" indent="0">
              <a:buFont typeface="Arial" panose="020B0604020202020204" pitchFamily="34" charset="0"/>
              <a:buNone/>
            </a:pPr>
            <a:r>
              <a:rPr lang="zh-CN" altLang="en-US" sz="1800" dirty="0">
                <a:latin typeface="+mn-ea"/>
              </a:rPr>
              <a:t>云南省解毒管理以</a:t>
            </a:r>
            <a:r>
              <a:rPr lang="en-US" altLang="zh-CN" sz="1800" dirty="0">
                <a:latin typeface="+mn-ea"/>
              </a:rPr>
              <a:t>EFT</a:t>
            </a:r>
            <a:r>
              <a:rPr lang="zh-CN" altLang="en-US" sz="1800" dirty="0">
                <a:latin typeface="+mn-ea"/>
              </a:rPr>
              <a:t>为基础的心理自助操应用到了戒毒人员情绪改善方面。</a:t>
            </a:r>
          </a:p>
        </p:txBody>
      </p:sp>
      <p:sp>
        <p:nvSpPr>
          <p:cNvPr id="5" name="内容占位符 2">
            <a:extLst>
              <a:ext uri="{FF2B5EF4-FFF2-40B4-BE49-F238E27FC236}">
                <a16:creationId xmlns:a16="http://schemas.microsoft.com/office/drawing/2014/main" id="{808BDDD4-8D26-7397-823A-964584E74491}"/>
              </a:ext>
            </a:extLst>
          </p:cNvPr>
          <p:cNvSpPr txBox="1">
            <a:spLocks/>
          </p:cNvSpPr>
          <p:nvPr/>
        </p:nvSpPr>
        <p:spPr>
          <a:xfrm>
            <a:off x="515114" y="3186113"/>
            <a:ext cx="11155678" cy="255230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EFT </a:t>
            </a:r>
            <a:r>
              <a:rPr lang="zh-CN" altLang="en-US" sz="1800" dirty="0">
                <a:latin typeface="+mn-ea"/>
              </a:rPr>
              <a:t>情绪释放技术源于美国，由盖瑞・奎格（</a:t>
            </a:r>
            <a:r>
              <a:rPr lang="en-US" altLang="zh-CN" sz="1800" dirty="0">
                <a:latin typeface="+mn-ea"/>
              </a:rPr>
              <a:t>Gary  Craig</a:t>
            </a:r>
            <a:r>
              <a:rPr lang="zh-CN" altLang="en-US" sz="1800" dirty="0">
                <a:latin typeface="+mn-ea"/>
              </a:rPr>
              <a:t>）在罗杰・卡拉汉（</a:t>
            </a:r>
            <a:r>
              <a:rPr lang="en-US" altLang="zh-CN" sz="1800" dirty="0">
                <a:latin typeface="+mn-ea"/>
              </a:rPr>
              <a:t>Roger Callahan</a:t>
            </a:r>
            <a:r>
              <a:rPr lang="zh-CN" altLang="en-US" sz="1800" dirty="0">
                <a:latin typeface="+mn-ea"/>
              </a:rPr>
              <a:t>）的思维场疗法（</a:t>
            </a:r>
            <a:r>
              <a:rPr lang="en-US" altLang="zh-CN" sz="1800" dirty="0">
                <a:latin typeface="+mn-ea"/>
              </a:rPr>
              <a:t>TFT</a:t>
            </a:r>
            <a:r>
              <a:rPr lang="zh-CN" altLang="en-US" sz="1800" dirty="0">
                <a:latin typeface="+mn-ea"/>
              </a:rPr>
              <a:t>）基础上于</a:t>
            </a:r>
            <a:r>
              <a:rPr lang="en-US" altLang="zh-CN" sz="1800" dirty="0">
                <a:latin typeface="+mn-ea"/>
              </a:rPr>
              <a:t>1993</a:t>
            </a:r>
            <a:r>
              <a:rPr lang="zh-CN" altLang="en-US" sz="1800" dirty="0">
                <a:latin typeface="+mn-ea"/>
              </a:rPr>
              <a:t>年改良而成，核心是结合中医经络穴位与认知心理学，通过轻拍或叩击特定穴位释放情绪能量阻塞。</a:t>
            </a:r>
            <a:endParaRPr lang="en-US" altLang="zh-CN" sz="1800" dirty="0">
              <a:latin typeface="+mn-ea"/>
            </a:endParaRPr>
          </a:p>
        </p:txBody>
      </p:sp>
      <p:pic>
        <p:nvPicPr>
          <p:cNvPr id="7" name="图片 6" descr="卡通人物&#10;&#10;AI 生成的内容可能不正确。">
            <a:extLst>
              <a:ext uri="{FF2B5EF4-FFF2-40B4-BE49-F238E27FC236}">
                <a16:creationId xmlns:a16="http://schemas.microsoft.com/office/drawing/2014/main" id="{914D042E-C98C-54C5-96BC-A5C5C70854E5}"/>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tretch>
            <a:fillRect/>
          </a:stretch>
        </p:blipFill>
        <p:spPr>
          <a:xfrm>
            <a:off x="8177497" y="4239220"/>
            <a:ext cx="3432390" cy="2288569"/>
          </a:xfrm>
          <a:prstGeom prst="rect">
            <a:avLst/>
          </a:prstGeom>
        </p:spPr>
      </p:pic>
    </p:spTree>
    <p:extLst>
      <p:ext uri="{BB962C8B-B14F-4D97-AF65-F5344CB8AC3E}">
        <p14:creationId xmlns:p14="http://schemas.microsoft.com/office/powerpoint/2010/main" val="18569056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CAF12-4DDE-0849-072C-6C7A1019F7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02C733-3636-BB01-688C-78434C45E605}"/>
              </a:ext>
            </a:extLst>
          </p:cNvPr>
          <p:cNvSpPr>
            <a:spLocks noGrp="1"/>
          </p:cNvSpPr>
          <p:nvPr>
            <p:ph type="title"/>
          </p:nvPr>
        </p:nvSpPr>
        <p:spPr>
          <a:xfrm>
            <a:off x="521208" y="662740"/>
            <a:ext cx="11155680" cy="936652"/>
          </a:xfrm>
        </p:spPr>
        <p:txBody>
          <a:bodyPr/>
          <a:lstStyle/>
          <a:p>
            <a:r>
              <a:rPr lang="zh-CN" altLang="en-US" sz="900" dirty="0"/>
              <a:t>情绪释放技术</a:t>
            </a:r>
            <a:r>
              <a:rPr lang="en-US" altLang="zh-CN" sz="900" dirty="0"/>
              <a:t>EFT</a:t>
            </a:r>
            <a:r>
              <a:rPr lang="zh-CN" altLang="en-US" sz="900" dirty="0"/>
              <a:t>的治疗原理</a:t>
            </a:r>
          </a:p>
        </p:txBody>
      </p:sp>
      <p:sp>
        <p:nvSpPr>
          <p:cNvPr id="3" name="内容占位符 2">
            <a:extLst>
              <a:ext uri="{FF2B5EF4-FFF2-40B4-BE49-F238E27FC236}">
                <a16:creationId xmlns:a16="http://schemas.microsoft.com/office/drawing/2014/main" id="{238BED31-3B76-FBDD-58BF-40DFD9DD18CD}"/>
              </a:ext>
            </a:extLst>
          </p:cNvPr>
          <p:cNvSpPr>
            <a:spLocks noGrp="1"/>
          </p:cNvSpPr>
          <p:nvPr>
            <p:ph idx="1"/>
          </p:nvPr>
        </p:nvSpPr>
        <p:spPr>
          <a:xfrm>
            <a:off x="515112" y="1576785"/>
            <a:ext cx="11155680" cy="1852215"/>
          </a:xfrm>
        </p:spPr>
        <p:txBody>
          <a:bodyPr/>
          <a:lstStyle/>
          <a:p>
            <a:pPr marL="0" indent="0">
              <a:buNone/>
            </a:pPr>
            <a:r>
              <a:rPr lang="en-US" altLang="zh-CN" sz="1800" dirty="0">
                <a:latin typeface="+mn-ea"/>
              </a:rPr>
              <a:t>EFT</a:t>
            </a:r>
            <a:r>
              <a:rPr lang="zh-CN" altLang="en-US" sz="1800" dirty="0">
                <a:latin typeface="+mn-ea"/>
              </a:rPr>
              <a:t>以中医心理学理论为背景，以经络学说为基础，并融合了神经语言程序学技术以及现代心理治疗理论。人类身体是个带电体，身体中的能量系统存在电流（能量）的明显证据是脑电图（</a:t>
            </a:r>
            <a:r>
              <a:rPr lang="en-US" altLang="zh-CN" sz="1800" dirty="0">
                <a:latin typeface="+mn-ea"/>
              </a:rPr>
              <a:t>EEG</a:t>
            </a:r>
            <a:r>
              <a:rPr lang="zh-CN" altLang="en-US" sz="1800" dirty="0">
                <a:latin typeface="+mn-ea"/>
              </a:rPr>
              <a:t>）和心电图（</a:t>
            </a:r>
            <a:r>
              <a:rPr lang="en-US" altLang="zh-CN" sz="1800" dirty="0">
                <a:latin typeface="+mn-ea"/>
              </a:rPr>
              <a:t>ECG</a:t>
            </a:r>
            <a:r>
              <a:rPr lang="zh-CN" altLang="en-US" sz="1800" dirty="0">
                <a:latin typeface="+mn-ea"/>
              </a:rPr>
              <a:t>），身体中的能量系统紊乱是产生情绪障碍的原因。哈佛医学院研究发现，刺激特定的穴位能降低杏仁核的红色警示，使人不再感觉到紧张恐惧，而是感觉到安全。对比实验发现，针灸和指压穴位产生的效果不相上下。</a:t>
            </a:r>
          </a:p>
        </p:txBody>
      </p:sp>
      <p:sp>
        <p:nvSpPr>
          <p:cNvPr id="4" name="内容占位符 2">
            <a:extLst>
              <a:ext uri="{FF2B5EF4-FFF2-40B4-BE49-F238E27FC236}">
                <a16:creationId xmlns:a16="http://schemas.microsoft.com/office/drawing/2014/main" id="{83C36F22-4008-9D54-EA34-962E447F22BD}"/>
              </a:ext>
            </a:extLst>
          </p:cNvPr>
          <p:cNvSpPr txBox="1">
            <a:spLocks/>
          </p:cNvSpPr>
          <p:nvPr/>
        </p:nvSpPr>
        <p:spPr>
          <a:xfrm>
            <a:off x="509015" y="3429000"/>
            <a:ext cx="7316345" cy="305116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EFT</a:t>
            </a:r>
            <a:r>
              <a:rPr lang="zh-CN" altLang="en-US" sz="1800" dirty="0">
                <a:latin typeface="+mn-ea"/>
              </a:rPr>
              <a:t>不仅能阻断应激反应，而且还能重塑大脑边缘系统。</a:t>
            </a:r>
            <a:r>
              <a:rPr lang="en-US" altLang="zh-CN" sz="1800" dirty="0">
                <a:latin typeface="+mn-ea"/>
              </a:rPr>
              <a:t>EFT</a:t>
            </a:r>
            <a:r>
              <a:rPr lang="zh-CN" altLang="en-US" sz="1800" dirty="0">
                <a:latin typeface="+mn-ea"/>
              </a:rPr>
              <a:t>技术要求使用者一边敲击穴位，一边回忆特定的让自己感到焦虑或者痛苦的事件，当想到这些不好的事件时，身体会产生战斗或逃跑反应，敲击穴位可以让杏仁核安静下来。</a:t>
            </a:r>
            <a:r>
              <a:rPr lang="en-US" altLang="zh-CN" sz="1800" dirty="0">
                <a:latin typeface="+mn-ea"/>
              </a:rPr>
              <a:t>EFT</a:t>
            </a:r>
            <a:r>
              <a:rPr lang="zh-CN" altLang="en-US" sz="1800" dirty="0">
                <a:latin typeface="+mn-ea"/>
              </a:rPr>
              <a:t>技术让使用者与自己的身体对话，即使生活中出现的负性事件伤害了自己、给自己带来了困扰，但如果接受这样的自己，反复多次后，身体会对这些不良事件产生不一样的反应，从一开始的紧张恐惧到“没什么大不了的”。在无法改变已经发生的事件的情况下，</a:t>
            </a:r>
            <a:r>
              <a:rPr lang="en-US" altLang="zh-CN" sz="1800" dirty="0">
                <a:latin typeface="+mn-ea"/>
              </a:rPr>
              <a:t>EFT</a:t>
            </a:r>
            <a:r>
              <a:rPr lang="zh-CN" altLang="en-US" sz="1800" dirty="0">
                <a:latin typeface="+mn-ea"/>
              </a:rPr>
              <a:t>通过改变身体对事件的反应，从而让使用者能走出创伤，恢复正常的生活。</a:t>
            </a:r>
          </a:p>
        </p:txBody>
      </p:sp>
      <p:pic>
        <p:nvPicPr>
          <p:cNvPr id="6" name="图片 5"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25360" y="4128189"/>
            <a:ext cx="3857625" cy="2571750"/>
          </a:xfrm>
          <a:prstGeom prst="rect">
            <a:avLst/>
          </a:prstGeom>
        </p:spPr>
      </p:pic>
      <p:sp>
        <p:nvSpPr>
          <p:cNvPr id="7" name="内容占位符 2">
            <a:extLst>
              <a:ext uri="{FF2B5EF4-FFF2-40B4-BE49-F238E27FC236}">
                <a16:creationId xmlns:a16="http://schemas.microsoft.com/office/drawing/2014/main" id="{E0DADA0D-EF22-AC62-0324-B5C1E3154AFA}"/>
              </a:ext>
            </a:extLst>
          </p:cNvPr>
          <p:cNvSpPr txBox="1">
            <a:spLocks/>
          </p:cNvSpPr>
          <p:nvPr/>
        </p:nvSpPr>
        <p:spPr>
          <a:xfrm>
            <a:off x="7825360" y="3049296"/>
            <a:ext cx="4018978" cy="1078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a:latin typeface="+mn-ea"/>
              </a:rPr>
              <a:t>中八个被敲击的穴位是精心选择的，对应着人体多条经络，当按照顺序敲击时，基本可以阻断常见的各种应激反应和激烈情绪，让人体快速地放松下来。</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957676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E9D2F-1F09-0631-8AF8-DAFD261605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56FC73-5505-DDD6-8338-9EEEF774262A}"/>
              </a:ext>
            </a:extLst>
          </p:cNvPr>
          <p:cNvSpPr>
            <a:spLocks noGrp="1"/>
          </p:cNvSpPr>
          <p:nvPr>
            <p:ph type="title"/>
          </p:nvPr>
        </p:nvSpPr>
        <p:spPr>
          <a:xfrm>
            <a:off x="521208" y="662740"/>
            <a:ext cx="11155680" cy="936652"/>
          </a:xfrm>
        </p:spPr>
        <p:txBody>
          <a:bodyPr/>
          <a:lstStyle/>
          <a:p>
            <a:r>
              <a:rPr lang="zh-CN" altLang="en-US" sz="900" dirty="0"/>
              <a:t>情绪释放技术</a:t>
            </a:r>
            <a:r>
              <a:rPr lang="en-US" altLang="zh-CN" sz="900" dirty="0"/>
              <a:t>EFT</a:t>
            </a:r>
            <a:r>
              <a:rPr lang="zh-CN" altLang="en-US" sz="900" dirty="0"/>
              <a:t>的主要特点</a:t>
            </a:r>
          </a:p>
        </p:txBody>
      </p:sp>
      <p:sp>
        <p:nvSpPr>
          <p:cNvPr id="3" name="内容占位符 2">
            <a:extLst>
              <a:ext uri="{FF2B5EF4-FFF2-40B4-BE49-F238E27FC236}">
                <a16:creationId xmlns:a16="http://schemas.microsoft.com/office/drawing/2014/main" id="{C3C90094-C0B5-790F-FC0B-773883AD0A9A}"/>
              </a:ext>
            </a:extLst>
          </p:cNvPr>
          <p:cNvSpPr>
            <a:spLocks noGrp="1"/>
          </p:cNvSpPr>
          <p:nvPr>
            <p:ph idx="1"/>
          </p:nvPr>
        </p:nvSpPr>
        <p:spPr>
          <a:xfrm>
            <a:off x="515112" y="1576785"/>
            <a:ext cx="11500677" cy="3109515"/>
          </a:xfrm>
        </p:spPr>
        <p:txBody>
          <a:bodyPr/>
          <a:lstStyle/>
          <a:p>
            <a:pPr marL="0" indent="0">
              <a:buNone/>
            </a:pPr>
            <a:r>
              <a:rPr lang="zh-CN" altLang="en-US" sz="1800" dirty="0">
                <a:latin typeface="+mn-ea"/>
              </a:rPr>
              <a:t>情绪释放技术</a:t>
            </a:r>
            <a:r>
              <a:rPr lang="en-US" altLang="zh-CN" sz="1800" dirty="0">
                <a:latin typeface="+mn-ea"/>
              </a:rPr>
              <a:t>EFT</a:t>
            </a:r>
            <a:r>
              <a:rPr lang="zh-CN" altLang="en-US" sz="1800" dirty="0">
                <a:latin typeface="+mn-ea"/>
              </a:rPr>
              <a:t>的主要特点如下：</a:t>
            </a:r>
            <a:endParaRPr lang="en-US" altLang="zh-CN" sz="1800" dirty="0">
              <a:latin typeface="+mn-ea"/>
            </a:endParaRPr>
          </a:p>
          <a:p>
            <a:pPr marL="0" indent="0">
              <a:buNone/>
            </a:pPr>
            <a:r>
              <a:rPr lang="zh-CN" altLang="en-US" sz="1800" dirty="0">
                <a:latin typeface="+mn-ea"/>
              </a:rPr>
              <a:t>一是基于中医的经络理论根植于中国的传统文化，具有明显的中国特色，符合中国人的情感特点，在普通大众中推行更易于被接受；</a:t>
            </a:r>
            <a:endParaRPr lang="en-US" altLang="zh-CN" sz="1800" dirty="0">
              <a:latin typeface="+mn-ea"/>
            </a:endParaRPr>
          </a:p>
          <a:p>
            <a:pPr marL="0" indent="0">
              <a:buNone/>
            </a:pPr>
            <a:r>
              <a:rPr lang="zh-CN" altLang="en-US" sz="1800" dirty="0">
                <a:latin typeface="+mn-ea"/>
              </a:rPr>
              <a:t>二是简单易学、便捷有效，普通人不需要学习太多深奥的心理学知识，操作流程一学就会，立即使用就能有较明显效果；</a:t>
            </a:r>
            <a:endParaRPr lang="en-US" altLang="zh-CN" sz="1800" dirty="0">
              <a:latin typeface="+mn-ea"/>
            </a:endParaRPr>
          </a:p>
          <a:p>
            <a:pPr marL="0" indent="0">
              <a:buNone/>
            </a:pPr>
            <a:r>
              <a:rPr lang="zh-CN" altLang="en-US" sz="1800" dirty="0">
                <a:latin typeface="+mn-ea"/>
              </a:rPr>
              <a:t>三是操作流程规范统一、可推广性强，针对不同的情绪问题可使用同样的治疗流程和方法，学会之后可自行习练改善自身情绪问题，又能教会身边人进行习练，能较容易实现自助和助人。</a:t>
            </a:r>
          </a:p>
        </p:txBody>
      </p:sp>
      <p:pic>
        <p:nvPicPr>
          <p:cNvPr id="5" name="图片 4" descr="卡通人物&#10;&#10;AI 生成的内容可能不正确。">
            <a:extLst>
              <a:ext uri="{FF2B5EF4-FFF2-40B4-BE49-F238E27FC236}">
                <a16:creationId xmlns:a16="http://schemas.microsoft.com/office/drawing/2014/main" id="{41B65075-63F5-D672-A41B-CC761312EA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10037" y="4522432"/>
            <a:ext cx="3233738" cy="2155825"/>
          </a:xfrm>
          <a:prstGeom prst="rect">
            <a:avLst/>
          </a:prstGeom>
        </p:spPr>
      </p:pic>
    </p:spTree>
    <p:extLst>
      <p:ext uri="{BB962C8B-B14F-4D97-AF65-F5344CB8AC3E}">
        <p14:creationId xmlns:p14="http://schemas.microsoft.com/office/powerpoint/2010/main" val="28083855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心理自助操的内容设计（</a:t>
            </a:r>
            <a:r>
              <a:rPr lang="en-US" altLang="zh-CN" sz="900" dirty="0"/>
              <a:t>1</a:t>
            </a:r>
            <a:r>
              <a:rPr lang="zh-CN" altLang="en-US" sz="900" dirty="0"/>
              <a:t>）</a:t>
            </a:r>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15111" y="1576785"/>
            <a:ext cx="11155679" cy="1772991"/>
          </a:xfrm>
        </p:spPr>
        <p:txBody>
          <a:bodyPr/>
          <a:lstStyle/>
          <a:p>
            <a:pPr marL="0" indent="0">
              <a:buNone/>
            </a:pPr>
            <a:r>
              <a:rPr lang="en-US" altLang="zh-CN" sz="1800" dirty="0">
                <a:latin typeface="+mn-ea"/>
              </a:rPr>
              <a:t>1.</a:t>
            </a:r>
            <a:r>
              <a:rPr lang="zh-CN" altLang="en-US" sz="1800" dirty="0">
                <a:latin typeface="+mn-ea"/>
              </a:rPr>
              <a:t>设置自助目标</a:t>
            </a:r>
          </a:p>
          <a:p>
            <a:pPr marL="0" indent="0">
              <a:buNone/>
            </a:pPr>
            <a:r>
              <a:rPr lang="zh-CN" altLang="en-US" sz="1800" dirty="0">
                <a:latin typeface="+mn-ea"/>
              </a:rPr>
              <a:t>首先，聚焦情绪状态：在习练</a:t>
            </a:r>
            <a:r>
              <a:rPr lang="en-US" altLang="zh-CN" sz="1800" dirty="0">
                <a:latin typeface="+mn-ea"/>
              </a:rPr>
              <a:t>EFT</a:t>
            </a:r>
            <a:r>
              <a:rPr lang="zh-CN" altLang="en-US" sz="1800" dirty="0">
                <a:latin typeface="+mn-ea"/>
              </a:rPr>
              <a:t>心理自助操前，需要帮助戒毒人员聚焦情绪状态，将当前最大的情绪困扰或伤痛回忆起来，例如与亲人分离的场景、人际关系紧张的状态等，保持让自己不愉快的情绪状态。</a:t>
            </a:r>
          </a:p>
        </p:txBody>
      </p:sp>
      <p:sp>
        <p:nvSpPr>
          <p:cNvPr id="14" name="内容占位符 2">
            <a:extLst>
              <a:ext uri="{FF2B5EF4-FFF2-40B4-BE49-F238E27FC236}">
                <a16:creationId xmlns:a16="http://schemas.microsoft.com/office/drawing/2014/main" id="{9DBF91CB-3A96-6F6F-8B3C-1EBB61235F91}"/>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sp>
        <p:nvSpPr>
          <p:cNvPr id="4" name="内容占位符 2">
            <a:extLst>
              <a:ext uri="{FF2B5EF4-FFF2-40B4-BE49-F238E27FC236}">
                <a16:creationId xmlns:a16="http://schemas.microsoft.com/office/drawing/2014/main" id="{A429CAB2-BB7C-9ADE-6CC2-14410DF44855}"/>
              </a:ext>
            </a:extLst>
          </p:cNvPr>
          <p:cNvSpPr txBox="1">
            <a:spLocks/>
          </p:cNvSpPr>
          <p:nvPr/>
        </p:nvSpPr>
        <p:spPr>
          <a:xfrm>
            <a:off x="515110" y="3228975"/>
            <a:ext cx="4779455" cy="233714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其次，评估情绪强度：在聚焦好情绪状态后，评估一下情绪的强度，从</a:t>
            </a:r>
            <a:r>
              <a:rPr lang="en-US" altLang="zh-CN" sz="1800" dirty="0">
                <a:latin typeface="+mn-ea"/>
              </a:rPr>
              <a:t>0</a:t>
            </a:r>
            <a:r>
              <a:rPr lang="zh-CN" altLang="en-US" sz="1800" dirty="0">
                <a:latin typeface="+mn-ea"/>
              </a:rPr>
              <a:t>分到</a:t>
            </a:r>
            <a:r>
              <a:rPr lang="en-US" altLang="zh-CN" sz="1800" dirty="0">
                <a:latin typeface="+mn-ea"/>
              </a:rPr>
              <a:t>10</a:t>
            </a:r>
            <a:r>
              <a:rPr lang="zh-CN" altLang="en-US" sz="1800" dirty="0">
                <a:latin typeface="+mn-ea"/>
              </a:rPr>
              <a:t>分为自己的情绪强度打分，</a:t>
            </a:r>
            <a:r>
              <a:rPr lang="en-US" altLang="zh-CN" sz="1800" dirty="0">
                <a:latin typeface="+mn-ea"/>
              </a:rPr>
              <a:t>0</a:t>
            </a:r>
            <a:r>
              <a:rPr lang="zh-CN" altLang="en-US" sz="1800" dirty="0">
                <a:latin typeface="+mn-ea"/>
              </a:rPr>
              <a:t>分代表完全没有情绪，</a:t>
            </a:r>
            <a:r>
              <a:rPr lang="en-US" altLang="zh-CN" sz="1800" dirty="0">
                <a:latin typeface="+mn-ea"/>
              </a:rPr>
              <a:t>10</a:t>
            </a:r>
            <a:r>
              <a:rPr lang="zh-CN" altLang="en-US" sz="1800" dirty="0">
                <a:latin typeface="+mn-ea"/>
              </a:rPr>
              <a:t>分代表情绪强度达到忍受极限，评估的目的是为了关注每一轮敲打后的情绪变化情况，可以作为参照和对比的依据。</a:t>
            </a:r>
          </a:p>
        </p:txBody>
      </p:sp>
      <p:sp>
        <p:nvSpPr>
          <p:cNvPr id="5" name="内容占位符 2">
            <a:extLst>
              <a:ext uri="{FF2B5EF4-FFF2-40B4-BE49-F238E27FC236}">
                <a16:creationId xmlns:a16="http://schemas.microsoft.com/office/drawing/2014/main" id="{3C9C649B-D7EB-2129-76B0-0E6000146EAE}"/>
              </a:ext>
            </a:extLst>
          </p:cNvPr>
          <p:cNvSpPr txBox="1">
            <a:spLocks/>
          </p:cNvSpPr>
          <p:nvPr/>
        </p:nvSpPr>
        <p:spPr>
          <a:xfrm>
            <a:off x="5294565" y="3228975"/>
            <a:ext cx="6506910" cy="332898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最后，建立心理支持提示语：心理支持提示语是作为念给自己听用于强化情绪改善的固定格式文字：“我对我自身存在的情绪负责；尽管我现在有（抑郁、紧张、焦虑或当前存在的其他任何）情绪，但我完完全全接受和爱自己；虽然我内心现在有很多负能量，生活中也遭遇了许多不好的事情，但我完完全全接受和爱自己，我敞开心扉去面对这些感受，并放松自己；当我释放之后，我内心也会回归平静，焦虑也会不复存在。”在说出心理支持提示语时要同时敲击手掌侧“手刀点”，以强化心理支持作用。</a:t>
            </a:r>
          </a:p>
        </p:txBody>
      </p:sp>
    </p:spTree>
    <p:extLst>
      <p:ext uri="{BB962C8B-B14F-4D97-AF65-F5344CB8AC3E}">
        <p14:creationId xmlns:p14="http://schemas.microsoft.com/office/powerpoint/2010/main" val="11730877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FDDC8-E075-3136-3925-596442A580E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2374151-AFDB-6284-23A0-2F82B2E7847E}"/>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心理自助操的内容设计（</a:t>
            </a:r>
            <a:r>
              <a:rPr lang="en-US" altLang="zh-CN" sz="900" dirty="0"/>
              <a:t>2</a:t>
            </a:r>
            <a:r>
              <a:rPr lang="zh-CN" altLang="en-US" sz="900" dirty="0"/>
              <a:t>）</a:t>
            </a:r>
          </a:p>
        </p:txBody>
      </p:sp>
      <p:sp>
        <p:nvSpPr>
          <p:cNvPr id="3" name="内容占位符 2">
            <a:extLst>
              <a:ext uri="{FF2B5EF4-FFF2-40B4-BE49-F238E27FC236}">
                <a16:creationId xmlns:a16="http://schemas.microsoft.com/office/drawing/2014/main" id="{2982672E-FD8D-A136-4837-D6D66C9969BB}"/>
              </a:ext>
            </a:extLst>
          </p:cNvPr>
          <p:cNvSpPr>
            <a:spLocks noGrp="1"/>
          </p:cNvSpPr>
          <p:nvPr>
            <p:ph idx="1"/>
          </p:nvPr>
        </p:nvSpPr>
        <p:spPr>
          <a:xfrm>
            <a:off x="515112" y="1033407"/>
            <a:ext cx="11155680" cy="1744630"/>
          </a:xfrm>
        </p:spPr>
        <p:txBody>
          <a:bodyPr/>
          <a:lstStyle/>
          <a:p>
            <a:pPr marL="0" indent="0">
              <a:buNone/>
            </a:pPr>
            <a:r>
              <a:rPr lang="en-US" altLang="zh-CN" sz="1800" dirty="0">
                <a:latin typeface="+mn-ea"/>
              </a:rPr>
              <a:t>2.</a:t>
            </a:r>
            <a:r>
              <a:rPr lang="zh-CN" altLang="en-US" sz="1800" dirty="0">
                <a:latin typeface="+mn-ea"/>
              </a:rPr>
              <a:t>敲击穴位</a:t>
            </a:r>
          </a:p>
          <a:p>
            <a:pPr marL="0" indent="0">
              <a:buNone/>
            </a:pPr>
            <a:r>
              <a:rPr lang="zh-CN" altLang="en-US" sz="1800" dirty="0">
                <a:latin typeface="+mn-ea"/>
              </a:rPr>
              <a:t>用两根手指依次敲击或按摩攒竹、瞳子髎、承泣、人中、承浆、俞府、檀中、百会等穴位，同时保持持续聚焦情绪的状态，敲击穴位时重复心理提示语“虽然我现在有一些（当下的情绪状态）问题，但我完完全全接受和爱自己”</a:t>
            </a:r>
          </a:p>
        </p:txBody>
      </p:sp>
      <p:sp>
        <p:nvSpPr>
          <p:cNvPr id="14" name="内容占位符 2">
            <a:extLst>
              <a:ext uri="{FF2B5EF4-FFF2-40B4-BE49-F238E27FC236}">
                <a16:creationId xmlns:a16="http://schemas.microsoft.com/office/drawing/2014/main" id="{1F80AA0B-1AEC-8D96-94B2-7D26FE0727C6}"/>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sp>
        <p:nvSpPr>
          <p:cNvPr id="4" name="内容占位符 2">
            <a:extLst>
              <a:ext uri="{FF2B5EF4-FFF2-40B4-BE49-F238E27FC236}">
                <a16:creationId xmlns:a16="http://schemas.microsoft.com/office/drawing/2014/main" id="{6B31B6E5-2BCF-DF35-3173-D1DC5254FFC3}"/>
              </a:ext>
            </a:extLst>
          </p:cNvPr>
          <p:cNvSpPr txBox="1">
            <a:spLocks/>
          </p:cNvSpPr>
          <p:nvPr/>
        </p:nvSpPr>
        <p:spPr>
          <a:xfrm>
            <a:off x="515112" y="2789708"/>
            <a:ext cx="2756726" cy="138237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3.NLP</a:t>
            </a:r>
            <a:r>
              <a:rPr lang="zh-CN" altLang="en-US" sz="1800" dirty="0">
                <a:latin typeface="+mn-ea"/>
              </a:rPr>
              <a:t>情绪脱敏</a:t>
            </a:r>
          </a:p>
          <a:p>
            <a:pPr marL="0" indent="0">
              <a:buFont typeface="Arial" panose="020B0604020202020204" pitchFamily="34" charset="0"/>
              <a:buNone/>
            </a:pPr>
            <a:r>
              <a:rPr lang="zh-CN" altLang="en-US" sz="1800" dirty="0">
                <a:latin typeface="+mn-ea"/>
              </a:rPr>
              <a:t>敲击中渚穴时，运用</a:t>
            </a:r>
            <a:r>
              <a:rPr lang="en-US" altLang="zh-CN" sz="1800" dirty="0">
                <a:latin typeface="+mn-ea"/>
              </a:rPr>
              <a:t>9</a:t>
            </a:r>
            <a:r>
              <a:rPr lang="zh-CN" altLang="en-US" sz="1800" dirty="0">
                <a:latin typeface="+mn-ea"/>
              </a:rPr>
              <a:t>个</a:t>
            </a:r>
            <a:r>
              <a:rPr lang="en-US" altLang="zh-CN" sz="1800" dirty="0">
                <a:latin typeface="+mn-ea"/>
              </a:rPr>
              <a:t>NLP</a:t>
            </a:r>
            <a:r>
              <a:rPr lang="zh-CN" altLang="en-US" sz="1800" dirty="0">
                <a:latin typeface="+mn-ea"/>
              </a:rPr>
              <a:t>动作促进左右脑协调以加强情绪释放效能，这一步骤有时可以省略，直接进入下一项内容。</a:t>
            </a:r>
          </a:p>
        </p:txBody>
      </p:sp>
      <p:sp>
        <p:nvSpPr>
          <p:cNvPr id="5" name="内容占位符 2">
            <a:extLst>
              <a:ext uri="{FF2B5EF4-FFF2-40B4-BE49-F238E27FC236}">
                <a16:creationId xmlns:a16="http://schemas.microsoft.com/office/drawing/2014/main" id="{6378A394-F5BF-AD90-0F01-C72E22ECC6BC}"/>
              </a:ext>
            </a:extLst>
          </p:cNvPr>
          <p:cNvSpPr txBox="1">
            <a:spLocks/>
          </p:cNvSpPr>
          <p:nvPr/>
        </p:nvSpPr>
        <p:spPr>
          <a:xfrm>
            <a:off x="3500437" y="2789708"/>
            <a:ext cx="8170355" cy="192264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4.</a:t>
            </a:r>
            <a:r>
              <a:rPr lang="zh-CN" altLang="en-US" sz="1800" dirty="0">
                <a:latin typeface="+mn-ea"/>
              </a:rPr>
              <a:t>再次敲打穴位</a:t>
            </a:r>
          </a:p>
          <a:p>
            <a:pPr marL="0" indent="0">
              <a:buFont typeface="Arial" panose="020B0604020202020204" pitchFamily="34" charset="0"/>
              <a:buNone/>
            </a:pPr>
            <a:r>
              <a:rPr lang="zh-CN" altLang="en-US" sz="1800" dirty="0">
                <a:latin typeface="+mn-ea"/>
              </a:rPr>
              <a:t>重复第二步依次敲击穴位，再一次通过穴位的敲击完成身心状态的调整，随着情绪强度的减弱，将心理支持引导语做部分调整，将“虽然我现在有一些（当下的情绪状态）问题”改成“虽然我现在还有一些（当下的情绪状态）问题”。如在习练中有时问题只消失了一部分，可重复几次</a:t>
            </a:r>
            <a:r>
              <a:rPr lang="en-US" altLang="zh-CN" sz="1800" dirty="0">
                <a:latin typeface="+mn-ea"/>
              </a:rPr>
              <a:t>EFT</a:t>
            </a:r>
            <a:r>
              <a:rPr lang="zh-CN" altLang="en-US" sz="1800" dirty="0">
                <a:latin typeface="+mn-ea"/>
              </a:rPr>
              <a:t>心理自助操的习练。</a:t>
            </a:r>
          </a:p>
        </p:txBody>
      </p:sp>
      <p:pic>
        <p:nvPicPr>
          <p:cNvPr id="7" name="图片 6">
            <a:extLst>
              <a:ext uri="{FF2B5EF4-FFF2-40B4-BE49-F238E27FC236}">
                <a16:creationId xmlns:a16="http://schemas.microsoft.com/office/drawing/2014/main" id="{AF1DC903-0E6B-A195-2750-4BFC51F1D6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08566" y="4753718"/>
            <a:ext cx="2562226" cy="1708151"/>
          </a:xfrm>
          <a:prstGeom prst="rect">
            <a:avLst/>
          </a:prstGeom>
        </p:spPr>
      </p:pic>
    </p:spTree>
    <p:extLst>
      <p:ext uri="{BB962C8B-B14F-4D97-AF65-F5344CB8AC3E}">
        <p14:creationId xmlns:p14="http://schemas.microsoft.com/office/powerpoint/2010/main" val="7359287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906C8-BD47-E841-6E50-F5E7D9705C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422501A-6458-63C6-21BD-9029DB962412}"/>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1</a:t>
            </a:r>
            <a:r>
              <a:rPr lang="zh-CN" altLang="en-US" sz="900" dirty="0"/>
              <a:t>）</a:t>
            </a:r>
          </a:p>
        </p:txBody>
      </p:sp>
      <p:sp>
        <p:nvSpPr>
          <p:cNvPr id="3" name="内容占位符 2">
            <a:extLst>
              <a:ext uri="{FF2B5EF4-FFF2-40B4-BE49-F238E27FC236}">
                <a16:creationId xmlns:a16="http://schemas.microsoft.com/office/drawing/2014/main" id="{85BA5891-ADA9-69A0-B53C-3E2FD554BCC8}"/>
              </a:ext>
            </a:extLst>
          </p:cNvPr>
          <p:cNvSpPr>
            <a:spLocks noGrp="1"/>
          </p:cNvSpPr>
          <p:nvPr>
            <p:ph idx="1"/>
          </p:nvPr>
        </p:nvSpPr>
        <p:spPr>
          <a:xfrm>
            <a:off x="515113" y="1576785"/>
            <a:ext cx="5574791" cy="3989337"/>
          </a:xfrm>
        </p:spPr>
        <p:txBody>
          <a:bodyPr/>
          <a:lstStyle/>
          <a:p>
            <a:pPr marL="0" indent="0">
              <a:buNone/>
            </a:pPr>
            <a:r>
              <a:rPr lang="zh-CN" altLang="en-US" sz="1800" dirty="0">
                <a:latin typeface="+mn-ea"/>
              </a:rPr>
              <a:t>热身环节</a:t>
            </a:r>
          </a:p>
          <a:p>
            <a:pPr marL="0" indent="0">
              <a:buNone/>
            </a:pPr>
            <a:r>
              <a:rPr lang="zh-CN" altLang="en-US" sz="1800" dirty="0">
                <a:latin typeface="+mn-ea"/>
              </a:rPr>
              <a:t>（</a:t>
            </a:r>
            <a:r>
              <a:rPr lang="en-US" altLang="zh-CN" sz="1800" dirty="0">
                <a:latin typeface="+mn-ea"/>
              </a:rPr>
              <a:t>1</a:t>
            </a:r>
            <a:r>
              <a:rPr lang="zh-CN" altLang="en-US" sz="1800" dirty="0">
                <a:latin typeface="+mn-ea"/>
              </a:rPr>
              <a:t>）双手握拳，双肘打开与地面平行，手肘上下扇动四个八拍。</a:t>
            </a:r>
          </a:p>
          <a:p>
            <a:pPr marL="0" indent="0">
              <a:buNone/>
            </a:pPr>
            <a:r>
              <a:rPr lang="zh-CN" altLang="en-US" sz="1800" dirty="0">
                <a:latin typeface="+mn-ea"/>
              </a:rPr>
              <a:t>（</a:t>
            </a:r>
            <a:r>
              <a:rPr lang="en-US" altLang="zh-CN" sz="1800" dirty="0">
                <a:latin typeface="+mn-ea"/>
              </a:rPr>
              <a:t>2</a:t>
            </a:r>
            <a:r>
              <a:rPr lang="zh-CN" altLang="en-US" sz="1800" dirty="0">
                <a:latin typeface="+mn-ea"/>
              </a:rPr>
              <a:t>）双手合掌，指尖向正前方，手臂伸直与地面平行，伸直收回四个八拍。</a:t>
            </a:r>
          </a:p>
          <a:p>
            <a:pPr marL="0" indent="0">
              <a:buNone/>
            </a:pPr>
            <a:r>
              <a:rPr lang="zh-CN" altLang="en-US" sz="1800" dirty="0">
                <a:latin typeface="+mn-ea"/>
              </a:rPr>
              <a:t>（</a:t>
            </a:r>
            <a:r>
              <a:rPr lang="en-US" altLang="zh-CN" sz="1800" dirty="0">
                <a:latin typeface="+mn-ea"/>
              </a:rPr>
              <a:t>3</a:t>
            </a:r>
            <a:r>
              <a:rPr lang="zh-CN" altLang="en-US" sz="1800" dirty="0">
                <a:latin typeface="+mn-ea"/>
              </a:rPr>
              <a:t>）手指交叉置于后颈，收腹抬头眼睛看向天花板，保持四个八拍。</a:t>
            </a:r>
          </a:p>
          <a:p>
            <a:pPr marL="0" indent="0">
              <a:buNone/>
            </a:pPr>
            <a:r>
              <a:rPr lang="zh-CN" altLang="en-US" sz="1800" dirty="0">
                <a:latin typeface="+mn-ea"/>
              </a:rPr>
              <a:t>（</a:t>
            </a:r>
            <a:r>
              <a:rPr lang="en-US" altLang="zh-CN" sz="1800" dirty="0">
                <a:latin typeface="+mn-ea"/>
              </a:rPr>
              <a:t>4</a:t>
            </a:r>
            <a:r>
              <a:rPr lang="zh-CN" altLang="en-US" sz="1800" dirty="0">
                <a:latin typeface="+mn-ea"/>
              </a:rPr>
              <a:t>）双掌从上至下拍击双肋外侧，四个八拍。</a:t>
            </a:r>
          </a:p>
          <a:p>
            <a:pPr marL="0" indent="0">
              <a:buNone/>
            </a:pPr>
            <a:r>
              <a:rPr lang="zh-CN" altLang="en-US" sz="1800" dirty="0">
                <a:latin typeface="+mn-ea"/>
              </a:rPr>
              <a:t>（</a:t>
            </a:r>
            <a:r>
              <a:rPr lang="en-US" altLang="zh-CN" sz="1800" dirty="0">
                <a:latin typeface="+mn-ea"/>
              </a:rPr>
              <a:t>5</a:t>
            </a:r>
            <a:r>
              <a:rPr lang="zh-CN" altLang="en-US" sz="1800" dirty="0">
                <a:latin typeface="+mn-ea"/>
              </a:rPr>
              <a:t>）双掌拍击腋下，左右各两个八拍。</a:t>
            </a:r>
            <a:endParaRPr lang="en-US" altLang="zh-CN" sz="1800" dirty="0">
              <a:latin typeface="+mn-ea"/>
            </a:endParaRPr>
          </a:p>
        </p:txBody>
      </p:sp>
      <p:sp>
        <p:nvSpPr>
          <p:cNvPr id="14" name="内容占位符 2">
            <a:extLst>
              <a:ext uri="{FF2B5EF4-FFF2-40B4-BE49-F238E27FC236}">
                <a16:creationId xmlns:a16="http://schemas.microsoft.com/office/drawing/2014/main" id="{5D4BAE04-8616-9958-3637-F6DE8BD5E074}"/>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热身环节</a:t>
            </a:r>
          </a:p>
        </p:txBody>
      </p:sp>
      <p:sp>
        <p:nvSpPr>
          <p:cNvPr id="4" name="内容占位符 2">
            <a:extLst>
              <a:ext uri="{FF2B5EF4-FFF2-40B4-BE49-F238E27FC236}">
                <a16:creationId xmlns:a16="http://schemas.microsoft.com/office/drawing/2014/main" id="{4D5131DC-464B-E65F-389D-DB5A03B76DAD}"/>
              </a:ext>
            </a:extLst>
          </p:cNvPr>
          <p:cNvSpPr txBox="1">
            <a:spLocks/>
          </p:cNvSpPr>
          <p:nvPr/>
        </p:nvSpPr>
        <p:spPr>
          <a:xfrm>
            <a:off x="6102096" y="1599392"/>
            <a:ext cx="558698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 </a:t>
            </a:r>
            <a:r>
              <a:rPr lang="zh-CN" altLang="en-US" sz="1800" dirty="0">
                <a:latin typeface="+mn-ea"/>
              </a:rPr>
              <a:t>目的：让潜意识聚焦目标情绪，建立情绪与穴位的连接。</a:t>
            </a:r>
          </a:p>
          <a:p>
            <a:pPr marL="0" indent="0">
              <a:buFont typeface="Arial" panose="020B0604020202020204" pitchFamily="34" charset="0"/>
              <a:buNone/>
            </a:pPr>
            <a:r>
              <a:rPr lang="en-US" altLang="zh-CN" sz="1800" dirty="0">
                <a:latin typeface="+mn-ea"/>
              </a:rPr>
              <a:t>- </a:t>
            </a:r>
            <a:r>
              <a:rPr lang="zh-CN" altLang="en-US" sz="1800" dirty="0">
                <a:latin typeface="+mn-ea"/>
              </a:rPr>
              <a:t>做法：用一只手持续轻敲**手腕内侧（备用穴位 </a:t>
            </a:r>
            <a:r>
              <a:rPr lang="en-US" altLang="zh-CN" sz="1800" dirty="0">
                <a:latin typeface="+mn-ea"/>
              </a:rPr>
              <a:t>KC</a:t>
            </a:r>
            <a:r>
              <a:rPr lang="zh-CN" altLang="en-US" sz="1800" dirty="0">
                <a:latin typeface="+mn-ea"/>
              </a:rPr>
              <a:t>）**，同时大声或默念设定语句，格式为：“尽管我 </a:t>
            </a:r>
            <a:r>
              <a:rPr lang="en-US" altLang="zh-CN" sz="1800" dirty="0">
                <a:latin typeface="+mn-ea"/>
              </a:rPr>
              <a:t>[</a:t>
            </a:r>
            <a:r>
              <a:rPr lang="zh-CN" altLang="en-US" sz="1800" dirty="0">
                <a:latin typeface="+mn-ea"/>
              </a:rPr>
              <a:t>具体情绪 </a:t>
            </a:r>
            <a:r>
              <a:rPr lang="en-US" altLang="zh-CN" sz="1800" dirty="0">
                <a:latin typeface="+mn-ea"/>
              </a:rPr>
              <a:t>+ </a:t>
            </a:r>
            <a:r>
              <a:rPr lang="zh-CN" altLang="en-US" sz="1800" dirty="0">
                <a:latin typeface="+mn-ea"/>
              </a:rPr>
              <a:t>场景</a:t>
            </a:r>
            <a:r>
              <a:rPr lang="en-US" altLang="zh-CN" sz="1800" dirty="0">
                <a:latin typeface="+mn-ea"/>
              </a:rPr>
              <a:t>]</a:t>
            </a:r>
            <a:r>
              <a:rPr lang="zh-CN" altLang="en-US" sz="1800" dirty="0">
                <a:latin typeface="+mn-ea"/>
              </a:rPr>
              <a:t>，但我完全接纳自己”。</a:t>
            </a:r>
          </a:p>
          <a:p>
            <a:pPr marL="0" indent="0">
              <a:buFont typeface="Arial" panose="020B0604020202020204" pitchFamily="34" charset="0"/>
              <a:buNone/>
            </a:pPr>
            <a:r>
              <a:rPr lang="en-US" altLang="zh-CN" sz="1800" dirty="0">
                <a:latin typeface="+mn-ea"/>
              </a:rPr>
              <a:t>- </a:t>
            </a:r>
            <a:r>
              <a:rPr lang="zh-CN" altLang="en-US" sz="1800" dirty="0">
                <a:latin typeface="+mn-ea"/>
              </a:rPr>
              <a:t>示例：“尽管我害怕接触水，想到靠近水就心慌，，但我完全接纳自己现在的感受和状态”。</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2539767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AE03B-DAFE-3289-CA2F-337C959F07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B4A11C1-B440-0EA2-2ED8-3A5DC5C0BC72}"/>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2</a:t>
            </a:r>
            <a:r>
              <a:rPr lang="zh-CN" altLang="en-US" sz="900" dirty="0"/>
              <a:t>）</a:t>
            </a:r>
          </a:p>
        </p:txBody>
      </p:sp>
      <p:sp>
        <p:nvSpPr>
          <p:cNvPr id="3" name="内容占位符 2">
            <a:extLst>
              <a:ext uri="{FF2B5EF4-FFF2-40B4-BE49-F238E27FC236}">
                <a16:creationId xmlns:a16="http://schemas.microsoft.com/office/drawing/2014/main" id="{12E8259A-194D-3C1B-6AB3-33A00572ACBC}"/>
              </a:ext>
            </a:extLst>
          </p:cNvPr>
          <p:cNvSpPr>
            <a:spLocks noGrp="1"/>
          </p:cNvSpPr>
          <p:nvPr>
            <p:ph idx="1"/>
          </p:nvPr>
        </p:nvSpPr>
        <p:spPr>
          <a:xfrm>
            <a:off x="515112" y="1576785"/>
            <a:ext cx="4528377" cy="2995215"/>
          </a:xfrm>
        </p:spPr>
        <p:txBody>
          <a:bodyPr/>
          <a:lstStyle/>
          <a:p>
            <a:pPr marL="0" indent="0">
              <a:buNone/>
            </a:pPr>
            <a:r>
              <a:rPr lang="en-US" altLang="zh-CN" dirty="0">
                <a:latin typeface="+mn-ea"/>
              </a:rPr>
              <a:t>2.</a:t>
            </a:r>
            <a:r>
              <a:rPr lang="zh-CN" altLang="en-US" dirty="0">
                <a:latin typeface="+mn-ea"/>
              </a:rPr>
              <a:t>情绪调节敲击操环节</a:t>
            </a:r>
          </a:p>
          <a:p>
            <a:pPr marL="0" indent="0">
              <a:buNone/>
            </a:pPr>
            <a:r>
              <a:rPr lang="zh-CN" altLang="en-US" dirty="0">
                <a:latin typeface="+mn-ea"/>
              </a:rPr>
              <a:t>（</a:t>
            </a:r>
            <a:r>
              <a:rPr lang="en-US" altLang="zh-CN" dirty="0">
                <a:latin typeface="+mn-ea"/>
              </a:rPr>
              <a:t>1</a:t>
            </a:r>
            <a:r>
              <a:rPr lang="zh-CN" altLang="en-US" dirty="0">
                <a:latin typeface="+mn-ea"/>
              </a:rPr>
              <a:t>）身体站直，双脚打开与肩同宽，深呼吸三次，在呼吸中聚焦此刻内心存在的负性情绪，并为此刻的情绪进行评分。</a:t>
            </a:r>
          </a:p>
          <a:p>
            <a:pPr marL="0" indent="0">
              <a:buNone/>
            </a:pPr>
            <a:r>
              <a:rPr lang="zh-CN" altLang="en-US" dirty="0">
                <a:latin typeface="+mn-ea"/>
              </a:rPr>
              <a:t>（</a:t>
            </a:r>
            <a:r>
              <a:rPr lang="en-US" altLang="zh-CN" dirty="0">
                <a:latin typeface="+mn-ea"/>
              </a:rPr>
              <a:t>2</a:t>
            </a:r>
            <a:r>
              <a:rPr lang="zh-CN" altLang="en-US" dirty="0">
                <a:latin typeface="+mn-ea"/>
              </a:rPr>
              <a:t>）敲打手刀点，敲打时说：“我对我自身存在的情绪负责；尽管我现在有焦虑（抑郁、紧张或其他的）情绪，但我完完全全接受和爱自己；虽然我内心现在有很多负能量，生活中也遭遇了许多不好的事情，但我完完全全接受和爱自己，我敞开心扉去面对这些感受，并放松自己；当我释放之后，我内心也会回归平静，焦虑也会不复存在。</a:t>
            </a:r>
          </a:p>
        </p:txBody>
      </p:sp>
      <p:sp>
        <p:nvSpPr>
          <p:cNvPr id="14" name="内容占位符 2">
            <a:extLst>
              <a:ext uri="{FF2B5EF4-FFF2-40B4-BE49-F238E27FC236}">
                <a16:creationId xmlns:a16="http://schemas.microsoft.com/office/drawing/2014/main" id="{D4F17EAE-CD6F-3527-91B7-6253A30D3D3A}"/>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敲击操环节</a:t>
            </a:r>
          </a:p>
        </p:txBody>
      </p:sp>
      <p:sp>
        <p:nvSpPr>
          <p:cNvPr id="4" name="内容占位符 2">
            <a:extLst>
              <a:ext uri="{FF2B5EF4-FFF2-40B4-BE49-F238E27FC236}">
                <a16:creationId xmlns:a16="http://schemas.microsoft.com/office/drawing/2014/main" id="{901D19DD-70B1-65E8-9A5D-7BDC20A54942}"/>
              </a:ext>
            </a:extLst>
          </p:cNvPr>
          <p:cNvSpPr txBox="1">
            <a:spLocks/>
          </p:cNvSpPr>
          <p:nvPr/>
        </p:nvSpPr>
        <p:spPr>
          <a:xfrm>
            <a:off x="5043489" y="1576785"/>
            <a:ext cx="6800849" cy="248518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a:t>
            </a:r>
            <a:r>
              <a:rPr lang="en-US" altLang="zh-CN" sz="1400" dirty="0">
                <a:latin typeface="+mn-ea"/>
              </a:rPr>
              <a:t>3</a:t>
            </a:r>
            <a:r>
              <a:rPr lang="zh-CN" altLang="en-US" sz="1400" dirty="0">
                <a:latin typeface="+mn-ea"/>
              </a:rPr>
              <a:t>）依次敲击或按摩攒竹、瞳子髎、承泣、人中、承浆、俞府、檀中、百会等穴位，同时保持持续聚焦情绪的状态，敲击穴位时重复心理提示语“虽然我现在有一些（当下的情绪状态）问题，但我完完全全接受和爱自己。”</a:t>
            </a:r>
          </a:p>
          <a:p>
            <a:pPr marL="0" indent="0">
              <a:buFont typeface="Arial" panose="020B0604020202020204" pitchFamily="34" charset="0"/>
              <a:buNone/>
            </a:pPr>
            <a:r>
              <a:rPr lang="zh-CN" altLang="en-US" sz="1400" dirty="0">
                <a:latin typeface="+mn-ea"/>
              </a:rPr>
              <a:t>（</a:t>
            </a:r>
            <a:r>
              <a:rPr lang="en-US" altLang="zh-CN" sz="1400" dirty="0">
                <a:latin typeface="+mn-ea"/>
              </a:rPr>
              <a:t>4</a:t>
            </a:r>
            <a:r>
              <a:rPr lang="zh-CN" altLang="en-US" sz="1400" dirty="0">
                <a:latin typeface="+mn-ea"/>
              </a:rPr>
              <a:t>）持续敲击中渚穴时进行以下</a:t>
            </a:r>
            <a:r>
              <a:rPr lang="en-US" altLang="zh-CN" sz="1400" dirty="0">
                <a:latin typeface="+mn-ea"/>
              </a:rPr>
              <a:t>9</a:t>
            </a:r>
            <a:r>
              <a:rPr lang="zh-CN" altLang="en-US" sz="1400" dirty="0">
                <a:latin typeface="+mn-ea"/>
              </a:rPr>
              <a:t>个步骤：眼睛闭上；眼睛张开；眼睛往右下看并保持头部不动；眼睛向左下看并保持头部不动；眼睛顺时钟旋转；眼睛逆时钟旋转；哼快乐的歌</a:t>
            </a:r>
            <a:r>
              <a:rPr lang="en-US" altLang="zh-CN" sz="1400" dirty="0">
                <a:latin typeface="+mn-ea"/>
              </a:rPr>
              <a:t>2</a:t>
            </a:r>
            <a:r>
              <a:rPr lang="zh-CN" altLang="en-US" sz="1400" dirty="0">
                <a:latin typeface="+mn-ea"/>
              </a:rPr>
              <a:t>秒钟；快速地数</a:t>
            </a:r>
            <a:r>
              <a:rPr lang="en-US" altLang="zh-CN" sz="1400" dirty="0">
                <a:latin typeface="+mn-ea"/>
              </a:rPr>
              <a:t>1</a:t>
            </a:r>
            <a:r>
              <a:rPr lang="zh-CN" altLang="en-US" sz="1400" dirty="0">
                <a:latin typeface="+mn-ea"/>
              </a:rPr>
              <a:t>～</a:t>
            </a:r>
            <a:r>
              <a:rPr lang="en-US" altLang="zh-CN" sz="1400" dirty="0">
                <a:latin typeface="+mn-ea"/>
              </a:rPr>
              <a:t>5</a:t>
            </a:r>
            <a:r>
              <a:rPr lang="zh-CN" altLang="en-US" sz="1400" dirty="0">
                <a:latin typeface="+mn-ea"/>
              </a:rPr>
              <a:t>；再哼快乐的歌</a:t>
            </a:r>
            <a:r>
              <a:rPr lang="en-US" altLang="zh-CN" sz="1400" dirty="0">
                <a:latin typeface="+mn-ea"/>
              </a:rPr>
              <a:t>2</a:t>
            </a:r>
            <a:r>
              <a:rPr lang="zh-CN" altLang="en-US" sz="1400" dirty="0">
                <a:latin typeface="+mn-ea"/>
              </a:rPr>
              <a:t>秒钟。</a:t>
            </a:r>
          </a:p>
        </p:txBody>
      </p:sp>
      <p:sp>
        <p:nvSpPr>
          <p:cNvPr id="5" name="内容占位符 2">
            <a:extLst>
              <a:ext uri="{FF2B5EF4-FFF2-40B4-BE49-F238E27FC236}">
                <a16:creationId xmlns:a16="http://schemas.microsoft.com/office/drawing/2014/main" id="{02CFB663-10E9-FFDE-A49C-74F395C07634}"/>
              </a:ext>
            </a:extLst>
          </p:cNvPr>
          <p:cNvSpPr txBox="1">
            <a:spLocks/>
          </p:cNvSpPr>
          <p:nvPr/>
        </p:nvSpPr>
        <p:spPr>
          <a:xfrm>
            <a:off x="5043489" y="3529013"/>
            <a:ext cx="3757611" cy="175220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a:t>
            </a:r>
            <a:r>
              <a:rPr lang="en-US" altLang="zh-CN" sz="1400" dirty="0">
                <a:latin typeface="+mn-ea"/>
              </a:rPr>
              <a:t>5</a:t>
            </a:r>
            <a:r>
              <a:rPr lang="zh-CN" altLang="en-US" sz="1400" dirty="0">
                <a:latin typeface="+mn-ea"/>
              </a:rPr>
              <a:t>）再次敲击或按摩攒竹、瞳子髎、承泣、人中、承浆、俞府、檀中、百会等穴位，每个穴位</a:t>
            </a:r>
            <a:r>
              <a:rPr lang="en-US" altLang="zh-CN" sz="1400" dirty="0">
                <a:latin typeface="+mn-ea"/>
              </a:rPr>
              <a:t>5-10</a:t>
            </a:r>
            <a:r>
              <a:rPr lang="zh-CN" altLang="en-US" sz="1400" dirty="0">
                <a:latin typeface="+mn-ea"/>
              </a:rPr>
              <a:t>次，同时保持持续聚焦情绪的状态，敲击穴位时重复心理提示语“虽然我仍然还有一些（当下的情绪状态）问题，但我完完全全接受和爱自己。”</a:t>
            </a:r>
          </a:p>
          <a:p>
            <a:pPr marL="0" indent="0">
              <a:buFont typeface="Arial" panose="020B0604020202020204" pitchFamily="34" charset="0"/>
              <a:buNone/>
            </a:pPr>
            <a:r>
              <a:rPr lang="zh-CN" altLang="en-US" sz="1400" dirty="0">
                <a:latin typeface="+mn-ea"/>
              </a:rPr>
              <a:t>（</a:t>
            </a:r>
            <a:r>
              <a:rPr lang="en-US" altLang="zh-CN" sz="1400" dirty="0">
                <a:latin typeface="+mn-ea"/>
              </a:rPr>
              <a:t>6</a:t>
            </a:r>
            <a:r>
              <a:rPr lang="zh-CN" altLang="en-US" sz="1400" dirty="0">
                <a:latin typeface="+mn-ea"/>
              </a:rPr>
              <a:t>）再次对情绪状态进行评分，根据评分结果决定是否需要重复习练。</a:t>
            </a:r>
          </a:p>
        </p:txBody>
      </p:sp>
      <p:pic>
        <p:nvPicPr>
          <p:cNvPr id="7" name="图片 6" descr="卡通人物&#10;&#10;AI 生成的内容可能不正确。">
            <a:extLst>
              <a:ext uri="{FF2B5EF4-FFF2-40B4-BE49-F238E27FC236}">
                <a16:creationId xmlns:a16="http://schemas.microsoft.com/office/drawing/2014/main" id="{553A4D25-35AE-4180-C7D1-B1DED10C65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01100" y="4300641"/>
            <a:ext cx="2875788" cy="1917191"/>
          </a:xfrm>
          <a:prstGeom prst="rect">
            <a:avLst/>
          </a:prstGeom>
        </p:spPr>
      </p:pic>
    </p:spTree>
    <p:extLst>
      <p:ext uri="{BB962C8B-B14F-4D97-AF65-F5344CB8AC3E}">
        <p14:creationId xmlns:p14="http://schemas.microsoft.com/office/powerpoint/2010/main" val="5265672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C00F6-B2B8-E455-32D9-202F604307A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2A97A8-EFA0-A281-9D3F-B0611378FA39}"/>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3</a:t>
            </a:r>
            <a:r>
              <a:rPr lang="zh-CN" altLang="en-US" sz="900" dirty="0"/>
              <a:t>）</a:t>
            </a:r>
          </a:p>
        </p:txBody>
      </p:sp>
      <p:sp>
        <p:nvSpPr>
          <p:cNvPr id="3" name="内容占位符 2">
            <a:extLst>
              <a:ext uri="{FF2B5EF4-FFF2-40B4-BE49-F238E27FC236}">
                <a16:creationId xmlns:a16="http://schemas.microsoft.com/office/drawing/2014/main" id="{F36E7055-CFD3-6094-25C4-B97CC908B7BC}"/>
              </a:ext>
            </a:extLst>
          </p:cNvPr>
          <p:cNvSpPr>
            <a:spLocks noGrp="1"/>
          </p:cNvSpPr>
          <p:nvPr>
            <p:ph idx="1"/>
          </p:nvPr>
        </p:nvSpPr>
        <p:spPr>
          <a:xfrm>
            <a:off x="515113" y="1576786"/>
            <a:ext cx="11155680" cy="2923778"/>
          </a:xfrm>
        </p:spPr>
        <p:txBody>
          <a:bodyPr/>
          <a:lstStyle/>
          <a:p>
            <a:pPr marL="0" indent="0">
              <a:buNone/>
            </a:pPr>
            <a:r>
              <a:rPr lang="en-US" altLang="zh-CN" sz="1800" dirty="0">
                <a:latin typeface="+mn-ea"/>
              </a:rPr>
              <a:t>- </a:t>
            </a:r>
            <a:r>
              <a:rPr lang="zh-CN" altLang="en-US" sz="1800" dirty="0">
                <a:latin typeface="+mn-ea"/>
              </a:rPr>
              <a:t>顺序：眉头→眼外侧→眼下→鼻下→下巴→锁骨→腋下→头顶（每个穴位敲击 </a:t>
            </a:r>
            <a:r>
              <a:rPr lang="en-US" altLang="zh-CN" sz="1800" dirty="0">
                <a:latin typeface="+mn-ea"/>
              </a:rPr>
              <a:t>5-7 </a:t>
            </a:r>
            <a:r>
              <a:rPr lang="zh-CN" altLang="en-US" sz="1800" dirty="0">
                <a:latin typeface="+mn-ea"/>
              </a:rPr>
              <a:t>次，节奏均匀，无需停顿）。</a:t>
            </a:r>
          </a:p>
          <a:p>
            <a:pPr marL="0" indent="0">
              <a:buNone/>
            </a:pPr>
            <a:r>
              <a:rPr lang="en-US" altLang="zh-CN" sz="1800" dirty="0">
                <a:latin typeface="+mn-ea"/>
              </a:rPr>
              <a:t>- </a:t>
            </a:r>
            <a:r>
              <a:rPr lang="zh-CN" altLang="en-US" sz="1800" dirty="0">
                <a:latin typeface="+mn-ea"/>
              </a:rPr>
              <a:t>注意事项：</a:t>
            </a:r>
          </a:p>
          <a:p>
            <a:pPr marL="0" indent="0">
              <a:buNone/>
            </a:pPr>
            <a:r>
              <a:rPr lang="zh-CN" altLang="en-US" sz="1800" dirty="0">
                <a:latin typeface="+mn-ea"/>
              </a:rPr>
              <a:t>  </a:t>
            </a:r>
            <a:r>
              <a:rPr lang="en-US" altLang="zh-CN" sz="1800" dirty="0">
                <a:latin typeface="+mn-ea"/>
              </a:rPr>
              <a:t>- </a:t>
            </a:r>
            <a:r>
              <a:rPr lang="zh-CN" altLang="en-US" sz="1800" dirty="0">
                <a:latin typeface="+mn-ea"/>
              </a:rPr>
              <a:t>敲击时可重复简单提示语（如 “这份对水的恐惧”“这份心慌”），强化情绪聚焦。</a:t>
            </a:r>
          </a:p>
          <a:p>
            <a:pPr marL="0" indent="0">
              <a:buNone/>
            </a:pPr>
            <a:r>
              <a:rPr lang="zh-CN" altLang="en-US" sz="1800" dirty="0">
                <a:latin typeface="+mn-ea"/>
              </a:rPr>
              <a:t>  </a:t>
            </a:r>
            <a:r>
              <a:rPr lang="en-US" altLang="zh-CN" sz="1800" dirty="0">
                <a:latin typeface="+mn-ea"/>
              </a:rPr>
              <a:t>- </a:t>
            </a:r>
            <a:r>
              <a:rPr lang="zh-CN" altLang="en-US" sz="1800" dirty="0">
                <a:latin typeface="+mn-ea"/>
              </a:rPr>
              <a:t>眼下穴位（承泣穴区域）避免按压眼球，仅敲击眼眶骨下缘。</a:t>
            </a:r>
          </a:p>
          <a:p>
            <a:pPr marL="0" indent="0">
              <a:buNone/>
            </a:pPr>
            <a:r>
              <a:rPr lang="zh-CN" altLang="en-US" sz="1800" dirty="0">
                <a:latin typeface="+mn-ea"/>
              </a:rPr>
              <a:t>  </a:t>
            </a:r>
            <a:r>
              <a:rPr lang="en-US" altLang="zh-CN" sz="1800" dirty="0">
                <a:latin typeface="+mn-ea"/>
              </a:rPr>
              <a:t>- </a:t>
            </a:r>
            <a:r>
              <a:rPr lang="zh-CN" altLang="en-US" sz="1800" dirty="0">
                <a:latin typeface="+mn-ea"/>
              </a:rPr>
              <a:t>头顶穴位敲击时可稍用力，以有轻微酸胀感为宜。</a:t>
            </a: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59CCCEB8-3295-D86B-06BC-F3F388E86B24}"/>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敲击核心穴位</a:t>
            </a:r>
          </a:p>
        </p:txBody>
      </p:sp>
    </p:spTree>
    <p:extLst>
      <p:ext uri="{BB962C8B-B14F-4D97-AF65-F5344CB8AC3E}">
        <p14:creationId xmlns:p14="http://schemas.microsoft.com/office/powerpoint/2010/main" val="9953584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30CC5-0F51-B2CC-AE93-79ACED0B3B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04EE6AE-918A-AFBE-5E49-9683EC1CA899}"/>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BE2D9C0E-2FE7-DF79-CA80-C32EE5E79965}"/>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敲击力度：以 “轻柔且有触感” 为宜，无需用力按压，每次每个穴位敲击 </a:t>
            </a:r>
            <a:r>
              <a:rPr lang="en-US" altLang="zh-CN" sz="1800" dirty="0">
                <a:latin typeface="+mn-ea"/>
              </a:rPr>
              <a:t>5-7 </a:t>
            </a:r>
            <a:r>
              <a:rPr lang="zh-CN" altLang="en-US" sz="1800" dirty="0">
                <a:latin typeface="+mn-ea"/>
              </a:rPr>
              <a:t>次。</a:t>
            </a:r>
          </a:p>
          <a:p>
            <a:pPr marL="0" indent="0">
              <a:buNone/>
            </a:pPr>
            <a:r>
              <a:rPr lang="en-US" altLang="zh-CN" sz="1800" dirty="0">
                <a:latin typeface="+mn-ea"/>
              </a:rPr>
              <a:t>- </a:t>
            </a:r>
            <a:r>
              <a:rPr lang="zh-CN" altLang="en-US" sz="1800" dirty="0">
                <a:latin typeface="+mn-ea"/>
              </a:rPr>
              <a:t>操作逻辑：先聚焦具体情绪（如 “我害怕水”），按顺序敲击上述穴位，循环 </a:t>
            </a:r>
            <a:r>
              <a:rPr lang="en-US" altLang="zh-CN" sz="1800" dirty="0">
                <a:latin typeface="+mn-ea"/>
              </a:rPr>
              <a:t>1-3 </a:t>
            </a:r>
            <a:r>
              <a:rPr lang="zh-CN" altLang="en-US" sz="1800" dirty="0">
                <a:latin typeface="+mn-ea"/>
              </a:rPr>
              <a:t>轮后，观察情绪强度是否降低。</a:t>
            </a:r>
          </a:p>
          <a:p>
            <a:pPr marL="0" indent="0">
              <a:buNone/>
            </a:pPr>
            <a:r>
              <a:rPr lang="en-US" altLang="zh-CN" sz="1800" dirty="0">
                <a:latin typeface="+mn-ea"/>
              </a:rPr>
              <a:t>- </a:t>
            </a:r>
            <a:r>
              <a:rPr lang="zh-CN" altLang="en-US" sz="1800" dirty="0">
                <a:latin typeface="+mn-ea"/>
              </a:rPr>
              <a:t>注意：</a:t>
            </a:r>
            <a:r>
              <a:rPr lang="en-US" altLang="zh-CN" sz="1800" dirty="0">
                <a:latin typeface="+mn-ea"/>
              </a:rPr>
              <a:t>EFT </a:t>
            </a:r>
            <a:r>
              <a:rPr lang="zh-CN" altLang="en-US" sz="1800" dirty="0">
                <a:latin typeface="+mn-ea"/>
              </a:rPr>
              <a:t>仅作为情绪缓解的辅助方式，若有严重心理问题，仍需结合专业心理治疗。</a:t>
            </a:r>
          </a:p>
        </p:txBody>
      </p:sp>
      <p:sp>
        <p:nvSpPr>
          <p:cNvPr id="14" name="内容占位符 2">
            <a:extLst>
              <a:ext uri="{FF2B5EF4-FFF2-40B4-BE49-F238E27FC236}">
                <a16:creationId xmlns:a16="http://schemas.microsoft.com/office/drawing/2014/main" id="{96155DA5-FBF2-4804-5626-274C474DBDA8}"/>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基础操作原则</a:t>
            </a:r>
          </a:p>
        </p:txBody>
      </p:sp>
    </p:spTree>
    <p:extLst>
      <p:ext uri="{BB962C8B-B14F-4D97-AF65-F5344CB8AC3E}">
        <p14:creationId xmlns:p14="http://schemas.microsoft.com/office/powerpoint/2010/main" val="28763602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D9948-C663-9835-60C5-C3D5C7389C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EA08F29-71FD-DE4F-7BA6-3129F51C96E8}"/>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1</a:t>
            </a:r>
            <a:r>
              <a:rPr lang="zh-CN" altLang="en-US" sz="900" dirty="0"/>
              <a:t>）</a:t>
            </a:r>
          </a:p>
        </p:txBody>
      </p:sp>
      <p:sp>
        <p:nvSpPr>
          <p:cNvPr id="3" name="内容占位符 2">
            <a:extLst>
              <a:ext uri="{FF2B5EF4-FFF2-40B4-BE49-F238E27FC236}">
                <a16:creationId xmlns:a16="http://schemas.microsoft.com/office/drawing/2014/main" id="{FBC70E72-2C0E-EF4E-FF81-0DA7E11A244D}"/>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位置：两侧眉头内侧端点（靠近鼻梁处）。</a:t>
            </a:r>
          </a:p>
          <a:p>
            <a:pPr marL="0" indent="0">
              <a:buNone/>
            </a:pPr>
            <a:r>
              <a:rPr lang="en-US" altLang="zh-CN" sz="1800" dirty="0">
                <a:latin typeface="+mn-ea"/>
              </a:rPr>
              <a:t>- </a:t>
            </a:r>
            <a:r>
              <a:rPr lang="zh-CN" altLang="en-US" sz="1800" dirty="0">
                <a:latin typeface="+mn-ea"/>
              </a:rPr>
              <a:t>定位：用手指轻按眉头，能摸到轻微凹陷处即是。</a:t>
            </a:r>
          </a:p>
          <a:p>
            <a:pPr marL="0" indent="0">
              <a:buNone/>
            </a:pPr>
            <a:r>
              <a:rPr lang="en-US" altLang="zh-CN" sz="1800" dirty="0">
                <a:latin typeface="+mn-ea"/>
              </a:rPr>
              <a:t>- </a:t>
            </a:r>
            <a:r>
              <a:rPr lang="zh-CN" altLang="en-US" sz="1800" dirty="0">
                <a:latin typeface="+mn-ea"/>
              </a:rPr>
              <a:t>作用：对应情绪与压力的核心反应区，缓解焦虑、恐惧等初始情绪。</a:t>
            </a:r>
          </a:p>
        </p:txBody>
      </p:sp>
      <p:sp>
        <p:nvSpPr>
          <p:cNvPr id="14" name="内容占位符 2">
            <a:extLst>
              <a:ext uri="{FF2B5EF4-FFF2-40B4-BE49-F238E27FC236}">
                <a16:creationId xmlns:a16="http://schemas.microsoft.com/office/drawing/2014/main" id="{7694493D-3834-4F4B-EE31-CDBEE1744D96}"/>
              </a:ext>
            </a:extLst>
          </p:cNvPr>
          <p:cNvSpPr txBox="1">
            <a:spLocks/>
          </p:cNvSpPr>
          <p:nvPr/>
        </p:nvSpPr>
        <p:spPr>
          <a:xfrm>
            <a:off x="264035" y="5566122"/>
            <a:ext cx="656539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眉头（</a:t>
            </a:r>
            <a:r>
              <a:rPr lang="en-US" altLang="zh-CN" sz="3200" dirty="0">
                <a:effectLst>
                  <a:outerShdw blurRad="38100" dist="38100" dir="2700000" algn="tl">
                    <a:srgbClr val="000000">
                      <a:alpha val="43137"/>
                    </a:srgbClr>
                  </a:outerShdw>
                </a:effectLst>
                <a:latin typeface="+mn-ea"/>
              </a:rPr>
              <a:t>EB - Eyebrow</a:t>
            </a:r>
            <a:r>
              <a:rPr lang="zh-CN" altLang="en-US" sz="3200" dirty="0">
                <a:effectLst>
                  <a:outerShdw blurRad="38100" dist="38100" dir="2700000" algn="tl">
                    <a:srgbClr val="000000">
                      <a:alpha val="43137"/>
                    </a:srgbClr>
                  </a:outerShdw>
                </a:effectLst>
                <a:latin typeface="+mn-ea"/>
              </a:rPr>
              <a:t>）</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攒竹穴</a:t>
            </a:r>
          </a:p>
        </p:txBody>
      </p:sp>
    </p:spTree>
    <p:extLst>
      <p:ext uri="{BB962C8B-B14F-4D97-AF65-F5344CB8AC3E}">
        <p14:creationId xmlns:p14="http://schemas.microsoft.com/office/powerpoint/2010/main" val="29260038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7713-F600-CE01-F586-94A11356AE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459BFB9-A991-8271-5ECD-02A2D6006E54}"/>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2</a:t>
            </a:r>
            <a:r>
              <a:rPr lang="zh-CN" altLang="en-US" sz="900" dirty="0"/>
              <a:t>）</a:t>
            </a:r>
          </a:p>
        </p:txBody>
      </p:sp>
      <p:sp>
        <p:nvSpPr>
          <p:cNvPr id="3" name="内容占位符 2">
            <a:extLst>
              <a:ext uri="{FF2B5EF4-FFF2-40B4-BE49-F238E27FC236}">
                <a16:creationId xmlns:a16="http://schemas.microsoft.com/office/drawing/2014/main" id="{74773EB9-D7FB-3254-009E-3F6E8C65ADE2}"/>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位置：两侧眼尾外侧约 </a:t>
            </a:r>
            <a:r>
              <a:rPr lang="en-US" altLang="zh-CN" sz="1800" dirty="0">
                <a:latin typeface="+mn-ea"/>
              </a:rPr>
              <a:t>1 </a:t>
            </a:r>
            <a:r>
              <a:rPr lang="zh-CN" altLang="en-US" sz="1800" dirty="0">
                <a:latin typeface="+mn-ea"/>
              </a:rPr>
              <a:t>厘米处（不压眼球，在眼眶骨边缘）。</a:t>
            </a:r>
          </a:p>
          <a:p>
            <a:pPr marL="0" indent="0">
              <a:buNone/>
            </a:pPr>
            <a:r>
              <a:rPr lang="en-US" altLang="zh-CN" sz="1800" dirty="0">
                <a:latin typeface="+mn-ea"/>
              </a:rPr>
              <a:t>- </a:t>
            </a:r>
            <a:r>
              <a:rPr lang="zh-CN" altLang="en-US" sz="1800" dirty="0">
                <a:latin typeface="+mn-ea"/>
              </a:rPr>
              <a:t>定位：眼尾向外平移一小段距离，摸到硬骨边缘即可。</a:t>
            </a:r>
          </a:p>
          <a:p>
            <a:pPr marL="0" indent="0">
              <a:buNone/>
            </a:pPr>
            <a:r>
              <a:rPr lang="en-US" altLang="zh-CN" sz="1800" dirty="0">
                <a:latin typeface="+mn-ea"/>
              </a:rPr>
              <a:t>- </a:t>
            </a:r>
            <a:r>
              <a:rPr lang="zh-CN" altLang="en-US" sz="1800" dirty="0">
                <a:latin typeface="+mn-ea"/>
              </a:rPr>
              <a:t>作用：调节情绪波动，尤其适合缓解因恐惧、担忧引发的身体紧张。</a:t>
            </a:r>
          </a:p>
        </p:txBody>
      </p:sp>
      <p:sp>
        <p:nvSpPr>
          <p:cNvPr id="14" name="内容占位符 2">
            <a:extLst>
              <a:ext uri="{FF2B5EF4-FFF2-40B4-BE49-F238E27FC236}">
                <a16:creationId xmlns:a16="http://schemas.microsoft.com/office/drawing/2014/main" id="{1853DE62-1E98-0DC4-2DEB-B433183DC918}"/>
              </a:ext>
            </a:extLst>
          </p:cNvPr>
          <p:cNvSpPr txBox="1">
            <a:spLocks/>
          </p:cNvSpPr>
          <p:nvPr/>
        </p:nvSpPr>
        <p:spPr>
          <a:xfrm>
            <a:off x="264035" y="5566122"/>
            <a:ext cx="799414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眼外侧（</a:t>
            </a:r>
            <a:r>
              <a:rPr lang="en-US" altLang="zh-CN" sz="3200" dirty="0">
                <a:effectLst>
                  <a:outerShdw blurRad="38100" dist="38100" dir="2700000" algn="tl">
                    <a:srgbClr val="000000">
                      <a:alpha val="43137"/>
                    </a:srgbClr>
                  </a:outerShdw>
                </a:effectLst>
                <a:latin typeface="+mn-ea"/>
              </a:rPr>
              <a:t>SE - Side of Eye</a:t>
            </a:r>
            <a:r>
              <a:rPr lang="zh-CN" altLang="en-US" sz="3200" dirty="0">
                <a:effectLst>
                  <a:outerShdw blurRad="38100" dist="38100" dir="2700000" algn="tl">
                    <a:srgbClr val="000000">
                      <a:alpha val="43137"/>
                    </a:srgbClr>
                  </a:outerShdw>
                </a:effectLst>
                <a:latin typeface="+mn-ea"/>
              </a:rPr>
              <a:t>）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丝竹空穴</a:t>
            </a:r>
          </a:p>
        </p:txBody>
      </p:sp>
    </p:spTree>
    <p:extLst>
      <p:ext uri="{BB962C8B-B14F-4D97-AF65-F5344CB8AC3E}">
        <p14:creationId xmlns:p14="http://schemas.microsoft.com/office/powerpoint/2010/main" val="3412981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57279-F8C4-56B9-C1BB-7F3BFA1501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32107A-F491-87AA-C11E-5B95798698C2}"/>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3</a:t>
            </a:r>
            <a:r>
              <a:rPr lang="zh-CN" altLang="en-US" sz="900" dirty="0"/>
              <a:t>）</a:t>
            </a:r>
          </a:p>
        </p:txBody>
      </p:sp>
      <p:sp>
        <p:nvSpPr>
          <p:cNvPr id="3" name="内容占位符 2">
            <a:extLst>
              <a:ext uri="{FF2B5EF4-FFF2-40B4-BE49-F238E27FC236}">
                <a16:creationId xmlns:a16="http://schemas.microsoft.com/office/drawing/2014/main" id="{E0C7ADAB-D45E-9BBB-4B1E-12DD75D36898}"/>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位置：两侧眼球正下方、眼眶骨下缘（即之前案例中的承泣穴区域）。</a:t>
            </a:r>
          </a:p>
          <a:p>
            <a:pPr marL="0" indent="0">
              <a:buNone/>
            </a:pPr>
            <a:r>
              <a:rPr lang="en-US" altLang="zh-CN" sz="1800" dirty="0">
                <a:latin typeface="+mn-ea"/>
              </a:rPr>
              <a:t>- </a:t>
            </a:r>
            <a:r>
              <a:rPr lang="zh-CN" altLang="en-US" sz="1800" dirty="0">
                <a:latin typeface="+mn-ea"/>
              </a:rPr>
              <a:t>定位：瞳孔正下方，轻轻按压能感受到骨头边缘，避免按压眼球。</a:t>
            </a:r>
          </a:p>
          <a:p>
            <a:pPr marL="0" indent="0">
              <a:buNone/>
            </a:pPr>
            <a:r>
              <a:rPr lang="en-US" altLang="zh-CN" sz="1800" dirty="0">
                <a:latin typeface="+mn-ea"/>
              </a:rPr>
              <a:t>- </a:t>
            </a:r>
            <a:r>
              <a:rPr lang="zh-CN" altLang="en-US" sz="1800" dirty="0">
                <a:latin typeface="+mn-ea"/>
              </a:rPr>
              <a:t>作用：连接身体情绪与消化系统反应，缓解伴随情绪的躯体不适（如恶心、胃部紧张）。</a:t>
            </a:r>
          </a:p>
        </p:txBody>
      </p:sp>
      <p:sp>
        <p:nvSpPr>
          <p:cNvPr id="14" name="内容占位符 2">
            <a:extLst>
              <a:ext uri="{FF2B5EF4-FFF2-40B4-BE49-F238E27FC236}">
                <a16:creationId xmlns:a16="http://schemas.microsoft.com/office/drawing/2014/main" id="{C629EBEC-00F0-E4B9-6E71-3EECC0719252}"/>
              </a:ext>
            </a:extLst>
          </p:cNvPr>
          <p:cNvSpPr txBox="1">
            <a:spLocks/>
          </p:cNvSpPr>
          <p:nvPr/>
        </p:nvSpPr>
        <p:spPr>
          <a:xfrm>
            <a:off x="264034" y="5566122"/>
            <a:ext cx="8551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眼下（</a:t>
            </a:r>
            <a:r>
              <a:rPr lang="en-US" altLang="zh-CN" sz="3200" dirty="0">
                <a:effectLst>
                  <a:outerShdw blurRad="38100" dist="38100" dir="2700000" algn="tl">
                    <a:srgbClr val="000000">
                      <a:alpha val="43137"/>
                    </a:srgbClr>
                  </a:outerShdw>
                </a:effectLst>
                <a:latin typeface="+mn-ea"/>
              </a:rPr>
              <a:t>UE - Under Eye</a:t>
            </a:r>
            <a:r>
              <a:rPr lang="zh-CN" altLang="en-US" sz="3200" dirty="0">
                <a:effectLst>
                  <a:outerShdw blurRad="38100" dist="38100" dir="2700000" algn="tl">
                    <a:srgbClr val="000000">
                      <a:alpha val="43137"/>
                    </a:srgbClr>
                  </a:outerShdw>
                </a:effectLst>
                <a:latin typeface="+mn-ea"/>
              </a:rPr>
              <a:t>）</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承泣穴或四白穴</a:t>
            </a:r>
          </a:p>
        </p:txBody>
      </p:sp>
    </p:spTree>
    <p:extLst>
      <p:ext uri="{BB962C8B-B14F-4D97-AF65-F5344CB8AC3E}">
        <p14:creationId xmlns:p14="http://schemas.microsoft.com/office/powerpoint/2010/main" val="4224418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3FA40-AA90-2BC0-9519-EB91E86970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0FC194-666F-00E8-A577-C476BDB7AA7D}"/>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27B8BB9C-7825-2A8E-A697-D281DCCECF35}"/>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位置：人中沟下半部分（上嘴唇与鼻底之间的凹陷处）。</a:t>
            </a:r>
          </a:p>
          <a:p>
            <a:pPr marL="0" indent="0">
              <a:buNone/>
            </a:pPr>
            <a:r>
              <a:rPr lang="en-US" altLang="zh-CN" sz="1800" dirty="0">
                <a:latin typeface="+mn-ea"/>
              </a:rPr>
              <a:t>- </a:t>
            </a:r>
            <a:r>
              <a:rPr lang="zh-CN" altLang="en-US" sz="1800" dirty="0">
                <a:latin typeface="+mn-ea"/>
              </a:rPr>
              <a:t>定位：鼻底正下方，嘴唇上方的凹陷中间位置。</a:t>
            </a:r>
          </a:p>
          <a:p>
            <a:pPr marL="0" indent="0">
              <a:buNone/>
            </a:pPr>
            <a:r>
              <a:rPr lang="en-US" altLang="zh-CN" sz="1800" dirty="0">
                <a:latin typeface="+mn-ea"/>
              </a:rPr>
              <a:t>- </a:t>
            </a:r>
            <a:r>
              <a:rPr lang="zh-CN" altLang="en-US" sz="1800" dirty="0">
                <a:latin typeface="+mn-ea"/>
              </a:rPr>
              <a:t>作用：平衡情绪与身体的连接，缓解强烈的情绪冲击（如恐慌、崩溃感）。</a:t>
            </a:r>
          </a:p>
        </p:txBody>
      </p:sp>
      <p:sp>
        <p:nvSpPr>
          <p:cNvPr id="14" name="内容占位符 2">
            <a:extLst>
              <a:ext uri="{FF2B5EF4-FFF2-40B4-BE49-F238E27FC236}">
                <a16:creationId xmlns:a16="http://schemas.microsoft.com/office/drawing/2014/main" id="{CC576B01-4E50-7932-9C8A-BB41134FE9D1}"/>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鼻下（</a:t>
            </a:r>
            <a:r>
              <a:rPr lang="en-US" altLang="zh-CN" sz="3200" dirty="0">
                <a:effectLst>
                  <a:outerShdw blurRad="38100" dist="38100" dir="2700000" algn="tl">
                    <a:srgbClr val="000000">
                      <a:alpha val="43137"/>
                    </a:srgbClr>
                  </a:outerShdw>
                </a:effectLst>
                <a:latin typeface="+mn-ea"/>
              </a:rPr>
              <a:t>UN - Under Nose</a:t>
            </a:r>
            <a:r>
              <a:rPr lang="zh-CN" altLang="en-US" sz="3200" dirty="0">
                <a:effectLst>
                  <a:outerShdw blurRad="38100" dist="38100" dir="2700000" algn="tl">
                    <a:srgbClr val="000000">
                      <a:alpha val="43137"/>
                    </a:srgbClr>
                  </a:outerShdw>
                </a:effectLst>
                <a:latin typeface="+mn-ea"/>
              </a:rPr>
              <a:t>）</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人中穴（水沟穴）</a:t>
            </a:r>
          </a:p>
        </p:txBody>
      </p:sp>
    </p:spTree>
    <p:extLst>
      <p:ext uri="{BB962C8B-B14F-4D97-AF65-F5344CB8AC3E}">
        <p14:creationId xmlns:p14="http://schemas.microsoft.com/office/powerpoint/2010/main" val="25781128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FB18F-BF51-76FD-A3E5-67C41F20C3C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139CE7-39A7-C411-048E-0FCE083869BB}"/>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D20AC7AC-375D-A20C-B62B-86BD69A172EB}"/>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位置：下嘴唇下方、下巴骨上方的凹陷处。</a:t>
            </a:r>
          </a:p>
          <a:p>
            <a:pPr marL="0" indent="0">
              <a:buNone/>
            </a:pPr>
            <a:r>
              <a:rPr lang="en-US" altLang="zh-CN" sz="1800" dirty="0">
                <a:latin typeface="+mn-ea"/>
              </a:rPr>
              <a:t>- </a:t>
            </a:r>
            <a:r>
              <a:rPr lang="zh-CN" altLang="en-US" sz="1800" dirty="0">
                <a:latin typeface="+mn-ea"/>
              </a:rPr>
              <a:t>定位：嘴唇正下方，轻轻抬头时能摸到的轻微凹陷。</a:t>
            </a:r>
          </a:p>
          <a:p>
            <a:pPr marL="0" indent="0">
              <a:buNone/>
            </a:pPr>
            <a:r>
              <a:rPr lang="en-US" altLang="zh-CN" sz="1800" dirty="0">
                <a:latin typeface="+mn-ea"/>
              </a:rPr>
              <a:t>- </a:t>
            </a:r>
            <a:r>
              <a:rPr lang="zh-CN" altLang="en-US" sz="1800" dirty="0">
                <a:latin typeface="+mn-ea"/>
              </a:rPr>
              <a:t>作用：稳定情绪状态，尤其适合缓解失控感、无助感。</a:t>
            </a:r>
          </a:p>
        </p:txBody>
      </p:sp>
      <p:sp>
        <p:nvSpPr>
          <p:cNvPr id="14" name="内容占位符 2">
            <a:extLst>
              <a:ext uri="{FF2B5EF4-FFF2-40B4-BE49-F238E27FC236}">
                <a16:creationId xmlns:a16="http://schemas.microsoft.com/office/drawing/2014/main" id="{C6B1D5E9-3196-28EA-FC76-85D497890D3A}"/>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下巴（</a:t>
            </a:r>
            <a:r>
              <a:rPr lang="en-US" altLang="zh-CN" sz="3200" dirty="0">
                <a:effectLst>
                  <a:outerShdw blurRad="38100" dist="38100" dir="2700000" algn="tl">
                    <a:srgbClr val="000000">
                      <a:alpha val="43137"/>
                    </a:srgbClr>
                  </a:outerShdw>
                </a:effectLst>
                <a:latin typeface="+mn-ea"/>
              </a:rPr>
              <a:t>Ch - Chin</a:t>
            </a:r>
            <a:r>
              <a:rPr lang="zh-CN" altLang="en-US" sz="3200" dirty="0">
                <a:effectLst>
                  <a:outerShdw blurRad="38100" dist="38100" dir="2700000" algn="tl">
                    <a:srgbClr val="000000">
                      <a:alpha val="43137"/>
                    </a:srgbClr>
                  </a:outerShdw>
                </a:effectLst>
                <a:latin typeface="+mn-ea"/>
              </a:rPr>
              <a:t>）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承浆穴</a:t>
            </a:r>
          </a:p>
        </p:txBody>
      </p:sp>
    </p:spTree>
    <p:extLst>
      <p:ext uri="{BB962C8B-B14F-4D97-AF65-F5344CB8AC3E}">
        <p14:creationId xmlns:p14="http://schemas.microsoft.com/office/powerpoint/2010/main" val="9059450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6</a:t>
            </a:r>
            <a:r>
              <a:rPr lang="zh-CN" altLang="en-US" sz="900" dirty="0"/>
              <a:t>）</a:t>
            </a:r>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位置：两侧锁骨与胸骨连接处的凹陷处（锁骨内侧端点下方）。</a:t>
            </a:r>
          </a:p>
          <a:p>
            <a:pPr marL="0" indent="0">
              <a:buNone/>
            </a:pPr>
            <a:r>
              <a:rPr lang="en-US" altLang="zh-CN" sz="1800" dirty="0">
                <a:latin typeface="+mn-ea"/>
              </a:rPr>
              <a:t>- </a:t>
            </a:r>
            <a:r>
              <a:rPr lang="zh-CN" altLang="en-US" sz="1800" dirty="0">
                <a:latin typeface="+mn-ea"/>
              </a:rPr>
              <a:t>定位：低头时摸到锁骨，向中间靠近胸骨的位置，能感受到明显凹陷。</a:t>
            </a:r>
          </a:p>
          <a:p>
            <a:pPr marL="0" indent="0">
              <a:buNone/>
            </a:pPr>
            <a:r>
              <a:rPr lang="en-US" altLang="zh-CN" sz="1800" dirty="0">
                <a:latin typeface="+mn-ea"/>
              </a:rPr>
              <a:t>- </a:t>
            </a:r>
            <a:r>
              <a:rPr lang="zh-CN" altLang="en-US" sz="1800" dirty="0">
                <a:latin typeface="+mn-ea"/>
              </a:rPr>
              <a:t>作用：释放深层压力，调节呼吸相关的情绪反应（如紧张导致的呼吸急促）。</a:t>
            </a: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a:t>
            </a:r>
            <a:r>
              <a:rPr lang="en-US" altLang="zh-CN" sz="3200" dirty="0">
                <a:effectLst>
                  <a:outerShdw blurRad="38100" dist="38100" dir="2700000" algn="tl">
                    <a:srgbClr val="000000">
                      <a:alpha val="43137"/>
                    </a:srgbClr>
                  </a:outerShdw>
                </a:effectLst>
                <a:latin typeface="+mn-ea"/>
              </a:rPr>
              <a:t>CB - Collarbone</a:t>
            </a:r>
            <a:r>
              <a:rPr lang="zh-CN" altLang="en-US" sz="3200" dirty="0">
                <a:effectLst>
                  <a:outerShdw blurRad="38100" dist="38100" dir="2700000" algn="tl">
                    <a:srgbClr val="000000">
                      <a:alpha val="43137"/>
                    </a:srgbClr>
                  </a:outerShdw>
                </a:effectLst>
                <a:latin typeface="+mn-ea"/>
              </a:rPr>
              <a:t>）</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云门穴或中府穴</a:t>
            </a:r>
          </a:p>
        </p:txBody>
      </p:sp>
    </p:spTree>
    <p:extLst>
      <p:ext uri="{BB962C8B-B14F-4D97-AF65-F5344CB8AC3E}">
        <p14:creationId xmlns:p14="http://schemas.microsoft.com/office/powerpoint/2010/main" val="2578708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04493-1021-DF39-1A6C-B930DC20A74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270B972-20A8-96B4-90CD-75038D5E754C}"/>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7</a:t>
            </a:r>
            <a:r>
              <a:rPr lang="zh-CN" altLang="en-US" sz="900" dirty="0"/>
              <a:t>）</a:t>
            </a:r>
          </a:p>
        </p:txBody>
      </p:sp>
      <p:sp>
        <p:nvSpPr>
          <p:cNvPr id="3" name="内容占位符 2">
            <a:extLst>
              <a:ext uri="{FF2B5EF4-FFF2-40B4-BE49-F238E27FC236}">
                <a16:creationId xmlns:a16="http://schemas.microsoft.com/office/drawing/2014/main" id="{B3FCA041-9D38-85D0-A6AD-7B76ABD2D495}"/>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位置：两侧腋下约 </a:t>
            </a:r>
            <a:r>
              <a:rPr lang="en-US" altLang="zh-CN" sz="1800" dirty="0">
                <a:latin typeface="+mn-ea"/>
              </a:rPr>
              <a:t>10 </a:t>
            </a:r>
            <a:r>
              <a:rPr lang="zh-CN" altLang="en-US" sz="1800" dirty="0">
                <a:latin typeface="+mn-ea"/>
              </a:rPr>
              <a:t>厘米处（乳房外侧上方，手臂自然下垂时的腋窝下方）。</a:t>
            </a:r>
          </a:p>
          <a:p>
            <a:pPr marL="0" indent="0">
              <a:buNone/>
            </a:pPr>
            <a:r>
              <a:rPr lang="en-US" altLang="zh-CN" sz="1800" dirty="0">
                <a:latin typeface="+mn-ea"/>
              </a:rPr>
              <a:t>- </a:t>
            </a:r>
            <a:r>
              <a:rPr lang="zh-CN" altLang="en-US" sz="1800" dirty="0">
                <a:latin typeface="+mn-ea"/>
              </a:rPr>
              <a:t>定位：手臂自然下垂，腋窝往下约一掌宽的位置，贴近肋骨外侧。</a:t>
            </a:r>
          </a:p>
          <a:p>
            <a:pPr marL="0" indent="0">
              <a:buNone/>
            </a:pPr>
            <a:r>
              <a:rPr lang="en-US" altLang="zh-CN" sz="1800" dirty="0">
                <a:latin typeface="+mn-ea"/>
              </a:rPr>
              <a:t>- </a:t>
            </a:r>
            <a:r>
              <a:rPr lang="zh-CN" altLang="en-US" sz="1800" dirty="0">
                <a:latin typeface="+mn-ea"/>
              </a:rPr>
              <a:t>作用：疏导积压的负面情绪，尤其适合缓解长期压抑的恐惧、焦虑。</a:t>
            </a:r>
          </a:p>
        </p:txBody>
      </p:sp>
      <p:sp>
        <p:nvSpPr>
          <p:cNvPr id="14" name="内容占位符 2">
            <a:extLst>
              <a:ext uri="{FF2B5EF4-FFF2-40B4-BE49-F238E27FC236}">
                <a16:creationId xmlns:a16="http://schemas.microsoft.com/office/drawing/2014/main" id="{4802056F-4F77-CF46-19EA-95B00943EE5C}"/>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腋下（</a:t>
            </a:r>
            <a:r>
              <a:rPr lang="en-US" altLang="zh-CN" sz="3200" dirty="0">
                <a:effectLst>
                  <a:outerShdw blurRad="38100" dist="38100" dir="2700000" algn="tl">
                    <a:srgbClr val="000000">
                      <a:alpha val="43137"/>
                    </a:srgbClr>
                  </a:outerShdw>
                </a:effectLst>
                <a:latin typeface="+mn-ea"/>
              </a:rPr>
              <a:t>UA - Under Arm</a:t>
            </a:r>
            <a:r>
              <a:rPr lang="zh-CN" altLang="en-US" sz="3200" dirty="0">
                <a:effectLst>
                  <a:outerShdw blurRad="38100" dist="38100" dir="2700000" algn="tl">
                    <a:srgbClr val="000000">
                      <a:alpha val="43137"/>
                    </a:srgbClr>
                  </a:outerShdw>
                </a:effectLst>
                <a:latin typeface="+mn-ea"/>
              </a:rPr>
              <a:t>）</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极泉穴</a:t>
            </a:r>
          </a:p>
        </p:txBody>
      </p:sp>
    </p:spTree>
    <p:extLst>
      <p:ext uri="{BB962C8B-B14F-4D97-AF65-F5344CB8AC3E}">
        <p14:creationId xmlns:p14="http://schemas.microsoft.com/office/powerpoint/2010/main" val="1785199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56038-45D1-A310-0620-5DBD05E07F7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1A697C-D391-3CF9-AB7F-FEB5ED9B7786}"/>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8</a:t>
            </a:r>
            <a:r>
              <a:rPr lang="zh-CN" altLang="en-US" sz="900" dirty="0"/>
              <a:t>）</a:t>
            </a:r>
          </a:p>
        </p:txBody>
      </p:sp>
      <p:sp>
        <p:nvSpPr>
          <p:cNvPr id="3" name="内容占位符 2">
            <a:extLst>
              <a:ext uri="{FF2B5EF4-FFF2-40B4-BE49-F238E27FC236}">
                <a16:creationId xmlns:a16="http://schemas.microsoft.com/office/drawing/2014/main" id="{F6281249-CE95-A36A-6F9A-DF4ED71309D1}"/>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位置：头顶正中央（百会穴区域，两耳尖连线与头顶中线的交点）。</a:t>
            </a:r>
          </a:p>
          <a:p>
            <a:pPr marL="0" indent="0">
              <a:buNone/>
            </a:pPr>
            <a:r>
              <a:rPr lang="en-US" altLang="zh-CN" sz="1800" dirty="0">
                <a:latin typeface="+mn-ea"/>
              </a:rPr>
              <a:t>- </a:t>
            </a:r>
            <a:r>
              <a:rPr lang="zh-CN" altLang="en-US" sz="1800" dirty="0">
                <a:latin typeface="+mn-ea"/>
              </a:rPr>
              <a:t>定位：头顶最顶端，用手指按压有轻微酸胀感处。</a:t>
            </a:r>
          </a:p>
          <a:p>
            <a:pPr marL="0" indent="0">
              <a:buNone/>
            </a:pPr>
            <a:r>
              <a:rPr lang="en-US" altLang="zh-CN" sz="1800" dirty="0">
                <a:latin typeface="+mn-ea"/>
              </a:rPr>
              <a:t>- </a:t>
            </a:r>
            <a:r>
              <a:rPr lang="zh-CN" altLang="en-US" sz="1800" dirty="0">
                <a:latin typeface="+mn-ea"/>
              </a:rPr>
              <a:t>作用：平衡全身情绪能量，收尾并稳定敲击后的情绪状态。</a:t>
            </a:r>
          </a:p>
        </p:txBody>
      </p:sp>
      <p:sp>
        <p:nvSpPr>
          <p:cNvPr id="14" name="内容占位符 2">
            <a:extLst>
              <a:ext uri="{FF2B5EF4-FFF2-40B4-BE49-F238E27FC236}">
                <a16:creationId xmlns:a16="http://schemas.microsoft.com/office/drawing/2014/main" id="{3DAC8040-3F64-1AF5-99FA-1E1028E15809}"/>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头顶（</a:t>
            </a:r>
            <a:r>
              <a:rPr lang="en-US" altLang="zh-CN" sz="3200" dirty="0">
                <a:effectLst>
                  <a:outerShdw blurRad="38100" dist="38100" dir="2700000" algn="tl">
                    <a:srgbClr val="000000">
                      <a:alpha val="43137"/>
                    </a:srgbClr>
                  </a:outerShdw>
                </a:effectLst>
                <a:latin typeface="+mn-ea"/>
              </a:rPr>
              <a:t>Top of Head - TH</a:t>
            </a:r>
            <a:r>
              <a:rPr lang="zh-CN" altLang="en-US" sz="3200" dirty="0">
                <a:effectLst>
                  <a:outerShdw blurRad="38100" dist="38100" dir="2700000" algn="tl">
                    <a:srgbClr val="000000">
                      <a:alpha val="43137"/>
                    </a:srgbClr>
                  </a:outerShdw>
                </a:effectLst>
                <a:latin typeface="+mn-ea"/>
              </a:rPr>
              <a:t>）</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百会穴</a:t>
            </a:r>
          </a:p>
        </p:txBody>
      </p:sp>
    </p:spTree>
    <p:extLst>
      <p:ext uri="{BB962C8B-B14F-4D97-AF65-F5344CB8AC3E}">
        <p14:creationId xmlns:p14="http://schemas.microsoft.com/office/powerpoint/2010/main" val="20816149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41B36-72F4-5EEE-BC61-CD7A58C4CB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00F63A2-A3CC-F1F6-C81D-ADAF81763E84}"/>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9</a:t>
            </a:r>
            <a:r>
              <a:rPr lang="zh-CN" altLang="en-US" sz="900" dirty="0"/>
              <a:t>）</a:t>
            </a:r>
          </a:p>
        </p:txBody>
      </p:sp>
      <p:sp>
        <p:nvSpPr>
          <p:cNvPr id="3" name="内容占位符 2">
            <a:extLst>
              <a:ext uri="{FF2B5EF4-FFF2-40B4-BE49-F238E27FC236}">
                <a16:creationId xmlns:a16="http://schemas.microsoft.com/office/drawing/2014/main" id="{43DABA8E-F957-11DB-3B8D-3A15C47B25DB}"/>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位置：手腕内侧横纹上方（腕部内侧，手掌与前臂连接处）。</a:t>
            </a:r>
          </a:p>
          <a:p>
            <a:pPr marL="0" indent="0">
              <a:buNone/>
            </a:pPr>
            <a:r>
              <a:rPr lang="en-US" altLang="zh-CN" sz="1800" dirty="0">
                <a:latin typeface="+mn-ea"/>
              </a:rPr>
              <a:t>- </a:t>
            </a:r>
            <a:r>
              <a:rPr lang="zh-CN" altLang="en-US" sz="1800" dirty="0">
                <a:latin typeface="+mn-ea"/>
              </a:rPr>
              <a:t>定位：手腕弯曲时的内侧横纹上方，肌腱之间的凹陷处。</a:t>
            </a:r>
          </a:p>
          <a:p>
            <a:pPr marL="0" indent="0">
              <a:buNone/>
            </a:pPr>
            <a:r>
              <a:rPr lang="en-US" altLang="zh-CN" sz="1800" dirty="0">
                <a:latin typeface="+mn-ea"/>
              </a:rPr>
              <a:t>- </a:t>
            </a:r>
            <a:r>
              <a:rPr lang="zh-CN" altLang="en-US" sz="1800" dirty="0">
                <a:latin typeface="+mn-ea"/>
              </a:rPr>
              <a:t>作用：替代穴位，适合不方便敲击面部、头部时使用，可快速缓解情绪紧张。</a:t>
            </a:r>
          </a:p>
        </p:txBody>
      </p:sp>
      <p:sp>
        <p:nvSpPr>
          <p:cNvPr id="14" name="内容占位符 2">
            <a:extLst>
              <a:ext uri="{FF2B5EF4-FFF2-40B4-BE49-F238E27FC236}">
                <a16:creationId xmlns:a16="http://schemas.microsoft.com/office/drawing/2014/main" id="{10FDDE2D-376B-FBB1-5140-E19B20A9AECF}"/>
              </a:ext>
            </a:extLst>
          </p:cNvPr>
          <p:cNvSpPr txBox="1">
            <a:spLocks/>
          </p:cNvSpPr>
          <p:nvPr/>
        </p:nvSpPr>
        <p:spPr>
          <a:xfrm>
            <a:off x="264033"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手腕内侧（</a:t>
            </a:r>
            <a:r>
              <a:rPr lang="en-US" altLang="zh-CN" sz="3200" dirty="0">
                <a:effectLst>
                  <a:outerShdw blurRad="38100" dist="38100" dir="2700000" algn="tl">
                    <a:srgbClr val="000000">
                      <a:alpha val="43137"/>
                    </a:srgbClr>
                  </a:outerShdw>
                </a:effectLst>
                <a:latin typeface="+mn-ea"/>
              </a:rPr>
              <a:t>KC - Karate Chop</a:t>
            </a:r>
            <a:r>
              <a:rPr lang="zh-CN" altLang="en-US" sz="3200" dirty="0">
                <a:effectLst>
                  <a:outerShdw blurRad="38100" dist="38100" dir="2700000" algn="tl">
                    <a:srgbClr val="000000">
                      <a:alpha val="43137"/>
                    </a:srgbClr>
                  </a:outerShdw>
                </a:effectLst>
                <a:latin typeface="+mn-ea"/>
              </a:rPr>
              <a:t>，备用穴位）</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内关穴</a:t>
            </a:r>
          </a:p>
        </p:txBody>
      </p:sp>
    </p:spTree>
    <p:extLst>
      <p:ext uri="{BB962C8B-B14F-4D97-AF65-F5344CB8AC3E}">
        <p14:creationId xmlns:p14="http://schemas.microsoft.com/office/powerpoint/2010/main" val="28488490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收尾稳定（</a:t>
            </a:r>
            <a:r>
              <a:rPr lang="en-US" altLang="zh-CN" sz="1800" dirty="0">
                <a:latin typeface="+mn-ea"/>
              </a:rPr>
              <a:t>1 </a:t>
            </a:r>
            <a:r>
              <a:rPr lang="zh-CN" altLang="en-US" sz="1800" dirty="0">
                <a:latin typeface="+mn-ea"/>
              </a:rPr>
              <a:t>分钟）</a:t>
            </a:r>
          </a:p>
          <a:p>
            <a:pPr marL="0" indent="0">
              <a:buNone/>
            </a:pPr>
            <a:endParaRPr lang="zh-CN" altLang="en-US" sz="1800" dirty="0">
              <a:latin typeface="+mn-ea"/>
            </a:endParaRPr>
          </a:p>
          <a:p>
            <a:pPr marL="0" indent="0">
              <a:buNone/>
            </a:pPr>
            <a:r>
              <a:rPr lang="en-US" altLang="zh-CN" sz="1800" dirty="0">
                <a:latin typeface="+mn-ea"/>
              </a:rPr>
              <a:t>- </a:t>
            </a:r>
            <a:r>
              <a:rPr lang="zh-CN" altLang="en-US" sz="1800" dirty="0">
                <a:latin typeface="+mn-ea"/>
              </a:rPr>
              <a:t>持续敲击**头顶穴位**</a:t>
            </a:r>
            <a:r>
              <a:rPr lang="en-US" altLang="zh-CN" sz="1800" dirty="0">
                <a:latin typeface="+mn-ea"/>
              </a:rPr>
              <a:t>10 </a:t>
            </a:r>
            <a:r>
              <a:rPr lang="zh-CN" altLang="en-US" sz="1800" dirty="0">
                <a:latin typeface="+mn-ea"/>
              </a:rPr>
              <a:t>次，同时默念：“我现在感到平静、安全，我的身心都在放松”。</a:t>
            </a:r>
          </a:p>
          <a:p>
            <a:pPr marL="0" indent="0">
              <a:buNone/>
            </a:pPr>
            <a:r>
              <a:rPr lang="en-US" altLang="zh-CN" sz="1800" dirty="0">
                <a:latin typeface="+mn-ea"/>
              </a:rPr>
              <a:t>- </a:t>
            </a:r>
            <a:r>
              <a:rPr lang="zh-CN" altLang="en-US" sz="1800" dirty="0">
                <a:latin typeface="+mn-ea"/>
              </a:rPr>
              <a:t>再深呼吸 </a:t>
            </a:r>
            <a:r>
              <a:rPr lang="en-US" altLang="zh-CN" sz="1800" dirty="0">
                <a:latin typeface="+mn-ea"/>
              </a:rPr>
              <a:t>3 </a:t>
            </a:r>
            <a:r>
              <a:rPr lang="zh-CN" altLang="en-US" sz="1800" dirty="0">
                <a:latin typeface="+mn-ea"/>
              </a:rPr>
              <a:t>次，感受身体变化（如紧张感是否减轻、呼吸是否平稳），结束操作。</a:t>
            </a:r>
          </a:p>
        </p:txBody>
      </p:sp>
      <p:sp>
        <p:nvSpPr>
          <p:cNvPr id="14" name="内容占位符 2">
            <a:extLst>
              <a:ext uri="{FF2B5EF4-FFF2-40B4-BE49-F238E27FC236}">
                <a16:creationId xmlns:a16="http://schemas.microsoft.com/office/drawing/2014/main" id="{F16DB7D6-54F0-0849-5B5E-EFE315F70565}"/>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a:t>
            </a:r>
          </a:p>
        </p:txBody>
      </p:sp>
    </p:spTree>
    <p:extLst>
      <p:ext uri="{BB962C8B-B14F-4D97-AF65-F5344CB8AC3E}">
        <p14:creationId xmlns:p14="http://schemas.microsoft.com/office/powerpoint/2010/main" val="17029035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48CA4-F91A-B9EB-91B8-D4D0FB4F33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F72E8F8-AEAB-163A-DBD5-9AA70615F8F2}"/>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1137E1B7-2574-92F9-917E-CE9380A641C1}"/>
              </a:ext>
            </a:extLst>
          </p:cNvPr>
          <p:cNvSpPr>
            <a:spLocks noGrp="1"/>
          </p:cNvSpPr>
          <p:nvPr>
            <p:ph idx="1"/>
          </p:nvPr>
        </p:nvSpPr>
        <p:spPr>
          <a:xfrm>
            <a:off x="515112" y="1576785"/>
            <a:ext cx="11500677" cy="3989337"/>
          </a:xfrm>
        </p:spPr>
        <p:txBody>
          <a:bodyPr/>
          <a:lstStyle/>
          <a:p>
            <a:pPr marL="0" indent="0">
              <a:buNone/>
            </a:pPr>
            <a:r>
              <a:rPr lang="en-US" altLang="zh-CN" sz="900" dirty="0">
                <a:latin typeface="+mn-ea"/>
              </a:rPr>
              <a:t>### </a:t>
            </a:r>
            <a:r>
              <a:rPr lang="zh-CN" altLang="en-US" sz="900" dirty="0">
                <a:latin typeface="+mn-ea"/>
              </a:rPr>
              <a:t>关键调整技巧</a:t>
            </a:r>
          </a:p>
          <a:p>
            <a:pPr marL="0" indent="0">
              <a:buNone/>
            </a:pPr>
            <a:endParaRPr lang="zh-CN" altLang="en-US" sz="900" dirty="0">
              <a:latin typeface="+mn-ea"/>
            </a:endParaRPr>
          </a:p>
          <a:p>
            <a:pPr marL="0" indent="0">
              <a:buNone/>
            </a:pPr>
            <a:r>
              <a:rPr lang="en-US" altLang="zh-CN" sz="900" dirty="0">
                <a:latin typeface="+mn-ea"/>
              </a:rPr>
              <a:t>1. </a:t>
            </a:r>
            <a:r>
              <a:rPr lang="zh-CN" altLang="en-US" sz="900" dirty="0">
                <a:latin typeface="+mn-ea"/>
              </a:rPr>
              <a:t>情绪强度未下降？</a:t>
            </a:r>
          </a:p>
          <a:p>
            <a:pPr marL="0" indent="0">
              <a:buNone/>
            </a:pPr>
            <a:r>
              <a:rPr lang="zh-CN" altLang="en-US" sz="900" dirty="0">
                <a:latin typeface="+mn-ea"/>
              </a:rPr>
              <a:t>   </a:t>
            </a:r>
            <a:r>
              <a:rPr lang="en-US" altLang="zh-CN" sz="900" dirty="0">
                <a:latin typeface="+mn-ea"/>
              </a:rPr>
              <a:t>- </a:t>
            </a:r>
            <a:r>
              <a:rPr lang="zh-CN" altLang="en-US" sz="900" dirty="0">
                <a:latin typeface="+mn-ea"/>
              </a:rPr>
              <a:t>检查是否情绪描述不够具体（如把 “怕水” 细化为 “怕泳池的深水”），重新设定语句。</a:t>
            </a:r>
          </a:p>
          <a:p>
            <a:pPr marL="0" indent="0">
              <a:buNone/>
            </a:pPr>
            <a:r>
              <a:rPr lang="zh-CN" altLang="en-US" sz="900" dirty="0">
                <a:latin typeface="+mn-ea"/>
              </a:rPr>
              <a:t>   </a:t>
            </a:r>
            <a:r>
              <a:rPr lang="en-US" altLang="zh-CN" sz="900" dirty="0">
                <a:latin typeface="+mn-ea"/>
              </a:rPr>
              <a:t>- </a:t>
            </a:r>
            <a:r>
              <a:rPr lang="zh-CN" altLang="en-US" sz="900" dirty="0">
                <a:latin typeface="+mn-ea"/>
              </a:rPr>
              <a:t>增加 “腋下” 和 “锁骨” 穴位的敲击次数（各 </a:t>
            </a:r>
            <a:r>
              <a:rPr lang="en-US" altLang="zh-CN" sz="900" dirty="0">
                <a:latin typeface="+mn-ea"/>
              </a:rPr>
              <a:t>10 </a:t>
            </a:r>
            <a:r>
              <a:rPr lang="zh-CN" altLang="en-US" sz="900" dirty="0">
                <a:latin typeface="+mn-ea"/>
              </a:rPr>
              <a:t>次），这两个穴位更易疏导深层情绪。</a:t>
            </a:r>
          </a:p>
          <a:p>
            <a:pPr marL="0" indent="0">
              <a:buNone/>
            </a:pPr>
            <a:r>
              <a:rPr lang="en-US" altLang="zh-CN" sz="900" dirty="0">
                <a:latin typeface="+mn-ea"/>
              </a:rPr>
              <a:t>2. </a:t>
            </a:r>
            <a:r>
              <a:rPr lang="zh-CN" altLang="en-US" sz="900" dirty="0">
                <a:latin typeface="+mn-ea"/>
              </a:rPr>
              <a:t>伴随躯体不适（如胃痛、手抖）？</a:t>
            </a:r>
          </a:p>
          <a:p>
            <a:pPr marL="0" indent="0">
              <a:buNone/>
            </a:pPr>
            <a:r>
              <a:rPr lang="zh-CN" altLang="en-US" sz="900" dirty="0">
                <a:latin typeface="+mn-ea"/>
              </a:rPr>
              <a:t>   </a:t>
            </a:r>
            <a:r>
              <a:rPr lang="en-US" altLang="zh-CN" sz="900" dirty="0">
                <a:latin typeface="+mn-ea"/>
              </a:rPr>
              <a:t>- </a:t>
            </a:r>
            <a:r>
              <a:rPr lang="zh-CN" altLang="en-US" sz="900" dirty="0">
                <a:latin typeface="+mn-ea"/>
              </a:rPr>
              <a:t>敲击时重点强化 “眼下”“锁骨” 穴位，提示语可结合躯体感受（如 “这份怕水带来的胃痛”）。</a:t>
            </a:r>
          </a:p>
          <a:p>
            <a:pPr marL="0" indent="0">
              <a:buNone/>
            </a:pPr>
            <a:r>
              <a:rPr lang="en-US" altLang="zh-CN" sz="900" dirty="0">
                <a:latin typeface="+mn-ea"/>
              </a:rPr>
              <a:t>3. </a:t>
            </a:r>
            <a:r>
              <a:rPr lang="zh-CN" altLang="en-US" sz="900" dirty="0">
                <a:latin typeface="+mn-ea"/>
              </a:rPr>
              <a:t>多次循环后仍无改善？</a:t>
            </a:r>
          </a:p>
          <a:p>
            <a:pPr marL="0" indent="0">
              <a:buNone/>
            </a:pPr>
            <a:r>
              <a:rPr lang="zh-CN" altLang="en-US" sz="900" dirty="0">
                <a:latin typeface="+mn-ea"/>
              </a:rPr>
              <a:t>   </a:t>
            </a:r>
            <a:r>
              <a:rPr lang="en-US" altLang="zh-CN" sz="900" dirty="0">
                <a:latin typeface="+mn-ea"/>
              </a:rPr>
              <a:t>- </a:t>
            </a:r>
            <a:r>
              <a:rPr lang="zh-CN" altLang="en-US" sz="900" dirty="0">
                <a:latin typeface="+mn-ea"/>
              </a:rPr>
              <a:t>暂停操作，可能是情绪根源未找到（如怕水背后有具体创伤事件），建议结合专业心理疏导后再尝试。</a:t>
            </a:r>
          </a:p>
          <a:p>
            <a:pPr marL="0" indent="0">
              <a:buNone/>
            </a:pPr>
            <a:endParaRPr lang="zh-CN" altLang="en-US" sz="900" dirty="0">
              <a:latin typeface="+mn-ea"/>
            </a:endParaRPr>
          </a:p>
          <a:p>
            <a:pPr marL="0" indent="0">
              <a:buNone/>
            </a:pPr>
            <a:r>
              <a:rPr lang="en-US" altLang="zh-CN" sz="900" dirty="0">
                <a:latin typeface="+mn-ea"/>
              </a:rPr>
              <a:t>### </a:t>
            </a:r>
            <a:r>
              <a:rPr lang="zh-CN" altLang="en-US" sz="900" dirty="0">
                <a:latin typeface="+mn-ea"/>
              </a:rPr>
              <a:t>五、重要提醒</a:t>
            </a:r>
          </a:p>
          <a:p>
            <a:pPr marL="0" indent="0">
              <a:buNone/>
            </a:pPr>
            <a:endParaRPr lang="zh-CN" altLang="en-US" sz="900" dirty="0">
              <a:latin typeface="+mn-ea"/>
            </a:endParaRPr>
          </a:p>
          <a:p>
            <a:pPr marL="0" indent="0">
              <a:buNone/>
            </a:pPr>
            <a:r>
              <a:rPr lang="en-US" altLang="zh-CN" sz="900" dirty="0">
                <a:latin typeface="+mn-ea"/>
              </a:rPr>
              <a:t>- EFT </a:t>
            </a:r>
            <a:r>
              <a:rPr lang="zh-CN" altLang="en-US" sz="900" dirty="0">
                <a:latin typeface="+mn-ea"/>
              </a:rPr>
              <a:t>是**情绪缓解辅助工具**，不能替代专业心理治疗，若情绪问题严重（如影响正常生活、有极端想法），请及时寻求心理咨询师或医生帮助。</a:t>
            </a:r>
          </a:p>
          <a:p>
            <a:pPr marL="0" indent="0">
              <a:buNone/>
            </a:pPr>
            <a:r>
              <a:rPr lang="en-US" altLang="zh-CN" sz="900" dirty="0">
                <a:latin typeface="+mn-ea"/>
              </a:rPr>
              <a:t>- </a:t>
            </a:r>
            <a:r>
              <a:rPr lang="zh-CN" altLang="en-US" sz="900" dirty="0">
                <a:latin typeface="+mn-ea"/>
              </a:rPr>
              <a:t>操作时若出现情绪崩溃（如哭泣、强烈不适），可先停止敲击，深呼吸平复后再继续，或分多次短时间操作。</a:t>
            </a:r>
          </a:p>
        </p:txBody>
      </p:sp>
      <p:sp>
        <p:nvSpPr>
          <p:cNvPr id="14" name="内容占位符 2">
            <a:extLst>
              <a:ext uri="{FF2B5EF4-FFF2-40B4-BE49-F238E27FC236}">
                <a16:creationId xmlns:a16="http://schemas.microsoft.com/office/drawing/2014/main" id="{FAD0FAE9-2ACA-D917-5BD7-0D08682B3783}"/>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a:t>
            </a:r>
          </a:p>
        </p:txBody>
      </p:sp>
    </p:spTree>
    <p:extLst>
      <p:ext uri="{BB962C8B-B14F-4D97-AF65-F5344CB8AC3E}">
        <p14:creationId xmlns:p14="http://schemas.microsoft.com/office/powerpoint/2010/main" val="40426743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41CD7-9FB1-F657-C907-C25081611D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21492E-272F-CB51-C162-76EBACDA2B4F}"/>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心理自助操的作用分析</a:t>
            </a:r>
          </a:p>
        </p:txBody>
      </p:sp>
      <p:sp>
        <p:nvSpPr>
          <p:cNvPr id="3" name="内容占位符 2">
            <a:extLst>
              <a:ext uri="{FF2B5EF4-FFF2-40B4-BE49-F238E27FC236}">
                <a16:creationId xmlns:a16="http://schemas.microsoft.com/office/drawing/2014/main" id="{13A7921E-A193-DF0A-DDCC-CA2CFD1B8CE5}"/>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EFT</a:t>
            </a:r>
            <a:r>
              <a:rPr lang="zh-CN" altLang="en-US" sz="1800" dirty="0">
                <a:latin typeface="+mn-ea"/>
              </a:rPr>
              <a:t>心理自助操的作用分析</a:t>
            </a:r>
          </a:p>
          <a:p>
            <a:pPr marL="0" indent="0">
              <a:buNone/>
            </a:pPr>
            <a:endParaRPr lang="zh-CN" altLang="en-US" sz="1800" dirty="0">
              <a:latin typeface="+mn-ea"/>
            </a:endParaRPr>
          </a:p>
          <a:p>
            <a:pPr marL="0" indent="0">
              <a:buNone/>
            </a:pPr>
            <a:r>
              <a:rPr lang="en-US" altLang="zh-CN" sz="1800" dirty="0">
                <a:latin typeface="+mn-ea"/>
              </a:rPr>
              <a:t>1.</a:t>
            </a:r>
            <a:r>
              <a:rPr lang="zh-CN" altLang="en-US" sz="1800" dirty="0">
                <a:latin typeface="+mn-ea"/>
              </a:rPr>
              <a:t>热身阶段迅速活跃身心状态为情绪敲击做好准备。当存在负性情绪时或多或少会伴随着相应的躯体症状，如在紧张时肌肉收缩供血受阻，在热身阶段主要开展的是以全身经络操为主的全身放松习练，设计思路借鉴了医疗体操的优势，选择了易于掌握的动作幅度和运动强度的左右协调运动动作及拍打穴位动作，在室内外均可习练，经过热身后锻炼能很快感受到精神和体力的增加，增强身体灵活度和改善气血运行状态，能较快地将身心调整状态好，为之后的敲击操集中精神聚焦并释放情绪做好准备，有益于后续情绪敲击操的习练。</a:t>
            </a:r>
          </a:p>
          <a:p>
            <a:pPr marL="0" indent="0">
              <a:buNone/>
            </a:pPr>
            <a:endParaRPr lang="zh-CN" altLang="en-US" sz="1800" dirty="0">
              <a:latin typeface="+mn-ea"/>
            </a:endParaRPr>
          </a:p>
          <a:p>
            <a:pPr marL="0" indent="0">
              <a:buNone/>
            </a:pPr>
            <a:r>
              <a:rPr lang="en-US" altLang="zh-CN" sz="1800" dirty="0">
                <a:latin typeface="+mn-ea"/>
              </a:rPr>
              <a:t>2.</a:t>
            </a:r>
            <a:r>
              <a:rPr lang="zh-CN" altLang="en-US" sz="1800" dirty="0">
                <a:latin typeface="+mn-ea"/>
              </a:rPr>
              <a:t>情绪聚焦找准问题实现心理反转机制的有效解除。聚焦情绪的阶段是释放情绪前的必备动作，主要目的在于为调整情绪解除心理反转机制。心理反转是一些疾病呈现慢性化并且对传统治疗反应不良的原因，由于戒毒人员大脑功能长期受到物质成瘾的损害，在处理情绪问题时，更容易引起潜意识中自我挫败感与负向思考习惯，通常这个状态是不被觉知的，但常常为其所苦，这也是戒毒人员情绪调节困难的原因所在，当这样的心理反转机制存在往往会影响到戒毒人员接受心理咨询的效果，因此，心理反转必须通过聚焦情绪这一环节进行修正，否则</a:t>
            </a:r>
            <a:r>
              <a:rPr lang="en-US" altLang="zh-CN" sz="1800" dirty="0">
                <a:latin typeface="+mn-ea"/>
              </a:rPr>
              <a:t>EFT</a:t>
            </a:r>
            <a:r>
              <a:rPr lang="zh-CN" altLang="en-US" sz="1800" dirty="0">
                <a:latin typeface="+mn-ea"/>
              </a:rPr>
              <a:t>的基本方法将无法继续运作，心理自助操也难以见效。</a:t>
            </a:r>
          </a:p>
          <a:p>
            <a:pPr marL="0" indent="0">
              <a:buNone/>
            </a:pPr>
            <a:endParaRPr lang="zh-CN" altLang="en-US" sz="1800" dirty="0">
              <a:latin typeface="+mn-ea"/>
            </a:endParaRPr>
          </a:p>
          <a:p>
            <a:pPr marL="0" indent="0">
              <a:buNone/>
            </a:pPr>
            <a:r>
              <a:rPr lang="en-US" altLang="zh-CN" sz="1800" dirty="0">
                <a:latin typeface="+mn-ea"/>
              </a:rPr>
              <a:t>3.</a:t>
            </a:r>
            <a:r>
              <a:rPr lang="zh-CN" altLang="en-US" sz="1800" dirty="0">
                <a:latin typeface="+mn-ea"/>
              </a:rPr>
              <a:t>用中立化的引导语有效帮助修改心理反转机制。因戒毒人员的心理反转机制有可能引起负性思考，所以必须使用中立化的心理支持引导语去修改心理反转机制，一边敲击对应穴位堵点，一边说出心理支持引导语，这一过程能够有效地帮助戒毒人员识别自己的真实感受和实际行为之间的差异，思考负性情绪形成的原因，从接受自己的真实感受、理解自己开始，再到使用合理方式去表达自己的负面感受，即可有效疏通情绪、减少自我隔离和压抑，从而实现改变自己矛盾的行为状态，做到身心的内外一致。</a:t>
            </a:r>
          </a:p>
        </p:txBody>
      </p:sp>
      <p:sp>
        <p:nvSpPr>
          <p:cNvPr id="14" name="内容占位符 2">
            <a:extLst>
              <a:ext uri="{FF2B5EF4-FFF2-40B4-BE49-F238E27FC236}">
                <a16:creationId xmlns:a16="http://schemas.microsoft.com/office/drawing/2014/main" id="{60C08BF9-B244-DDD6-3562-787B531F682A}"/>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a:t>
            </a:r>
          </a:p>
        </p:txBody>
      </p:sp>
    </p:spTree>
    <p:extLst>
      <p:ext uri="{BB962C8B-B14F-4D97-AF65-F5344CB8AC3E}">
        <p14:creationId xmlns:p14="http://schemas.microsoft.com/office/powerpoint/2010/main" val="4187150082"/>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761</TotalTime>
  <Words>3488</Words>
  <Application>Microsoft Office PowerPoint</Application>
  <PresentationFormat>宽屏</PresentationFormat>
  <Paragraphs>139</Paragraphs>
  <Slides>22</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22</vt:i4>
      </vt:variant>
    </vt:vector>
  </HeadingPairs>
  <TitlesOfParts>
    <vt:vector size="27" baseType="lpstr">
      <vt:lpstr>等线</vt:lpstr>
      <vt:lpstr>Microsoft YaHei</vt:lpstr>
      <vt:lpstr>Arial</vt:lpstr>
      <vt:lpstr>Bierstadt</vt:lpstr>
      <vt:lpstr>GestaltVTI</vt:lpstr>
      <vt:lpstr>情绪释放疗法（EFT）心理训练</vt:lpstr>
      <vt:lpstr>情绪释放技术EFT的形成背景</vt:lpstr>
      <vt:lpstr>情绪释放技术EFT的治疗原理</vt:lpstr>
      <vt:lpstr>情绪释放技术EFT的主要特点</vt:lpstr>
      <vt:lpstr>EFT心理自助操的内容设计（1）</vt:lpstr>
      <vt:lpstr>EFT心理自助操的内容设计（2）</vt:lpstr>
      <vt:lpstr>EFT心理自助操的流程设计（1）</vt:lpstr>
      <vt:lpstr>EFT心理自助操的流程设计（2）</vt:lpstr>
      <vt:lpstr>EFT心理自助操的流程设计（3）</vt:lpstr>
      <vt:lpstr>EFT心理自助操的流程设计（4）</vt:lpstr>
      <vt:lpstr>EFT 核心敲击穴位（1）</vt:lpstr>
      <vt:lpstr>EFT 核心敲击穴位（2）</vt:lpstr>
      <vt:lpstr>EFT 核心敲击穴位（3）</vt:lpstr>
      <vt:lpstr>EFT 核心敲击穴位（4）</vt:lpstr>
      <vt:lpstr>EFT 核心敲击穴位（5）</vt:lpstr>
      <vt:lpstr>EFT 核心敲击穴位（6）</vt:lpstr>
      <vt:lpstr>EFT 核心敲击穴位（7）</vt:lpstr>
      <vt:lpstr>EFT 核心敲击穴位（8）</vt:lpstr>
      <vt:lpstr>EFT 核心敲击穴位（9）</vt:lpstr>
      <vt:lpstr>EFT心理自助操的流程设计（4）</vt:lpstr>
      <vt:lpstr>EFT心理自助操的流程设计（5）</vt:lpstr>
      <vt:lpstr>EFT心理自助操的作用分析</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ABC</cp:lastModifiedBy>
  <cp:revision>334</cp:revision>
  <dcterms:created xsi:type="dcterms:W3CDTF">2025-09-26T07:10:55Z</dcterms:created>
  <dcterms:modified xsi:type="dcterms:W3CDTF">2025-12-03T03:20:39Z</dcterms:modified>
</cp:coreProperties>
</file>