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6"/>
  </p:notesMasterIdLst>
  <p:sldIdLst>
    <p:sldId id="256" r:id="rId2"/>
    <p:sldId id="257" r:id="rId3"/>
    <p:sldId id="259" r:id="rId4"/>
    <p:sldId id="258" r:id="rId5"/>
    <p:sldId id="283" r:id="rId6"/>
    <p:sldId id="278" r:id="rId7"/>
    <p:sldId id="288" r:id="rId8"/>
    <p:sldId id="260" r:id="rId9"/>
    <p:sldId id="284" r:id="rId10"/>
    <p:sldId id="261" r:id="rId11"/>
    <p:sldId id="262" r:id="rId12"/>
    <p:sldId id="263" r:id="rId13"/>
    <p:sldId id="265" r:id="rId14"/>
    <p:sldId id="277" r:id="rId15"/>
    <p:sldId id="276" r:id="rId16"/>
    <p:sldId id="281" r:id="rId17"/>
    <p:sldId id="268" r:id="rId18"/>
    <p:sldId id="269" r:id="rId19"/>
    <p:sldId id="270" r:id="rId20"/>
    <p:sldId id="271" r:id="rId21"/>
    <p:sldId id="272" r:id="rId22"/>
    <p:sldId id="273" r:id="rId23"/>
    <p:sldId id="285" r:id="rId24"/>
    <p:sldId id="279" r:id="rId25"/>
    <p:sldId id="274" r:id="rId26"/>
    <p:sldId id="280" r:id="rId27"/>
    <p:sldId id="275" r:id="rId28"/>
    <p:sldId id="266" r:id="rId29"/>
    <p:sldId id="289" r:id="rId30"/>
    <p:sldId id="290" r:id="rId31"/>
    <p:sldId id="286" r:id="rId32"/>
    <p:sldId id="267" r:id="rId33"/>
    <p:sldId id="282" r:id="rId34"/>
    <p:sldId id="264" r:id="rId3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2" autoAdjust="0"/>
    <p:restoredTop sz="94660"/>
  </p:normalViewPr>
  <p:slideViewPr>
    <p:cSldViewPr snapToGrid="0">
      <p:cViewPr varScale="1">
        <p:scale>
          <a:sx n="78" d="100"/>
          <a:sy n="78" d="100"/>
        </p:scale>
        <p:origin x="76"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xmlns=""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12/30/2025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12/30/2025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xmlns=""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smtClean="0"/>
              <a:t>音乐</a:t>
            </a:r>
            <a:r>
              <a:rPr lang="en-US" altLang="zh-CN" sz="5400" dirty="0" smtClean="0"/>
              <a:t>EFT</a:t>
            </a:r>
            <a:r>
              <a:rPr lang="zh-CN" altLang="en-US" sz="5400" dirty="0" smtClean="0"/>
              <a:t>自助操心理训练</a:t>
            </a:r>
            <a:endParaRPr lang="zh-CN" altLang="en-US" sz="5400" dirty="0"/>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smtClean="0"/>
              <a:t>什么是情绪</a:t>
            </a:r>
            <a:r>
              <a:rPr lang="zh-CN" altLang="en-US" sz="4400" dirty="0"/>
              <a:t>释放</a:t>
            </a:r>
            <a:r>
              <a:rPr lang="zh-CN" altLang="en-US" sz="4400" dirty="0" smtClean="0"/>
              <a:t>技术（</a:t>
            </a:r>
            <a:r>
              <a:rPr lang="en-US" altLang="zh-CN" sz="4400" dirty="0" smtClean="0"/>
              <a:t>EFT</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61774" cy="1497806"/>
          </a:xfrm>
        </p:spPr>
        <p:txBody>
          <a:bodyPr/>
          <a:lstStyle/>
          <a:p>
            <a:pPr>
              <a:buFont typeface="Wingdings" panose="05000000000000000000" pitchFamily="2" charset="2"/>
              <a:buChar char="l"/>
            </a:pPr>
            <a:r>
              <a:rPr lang="zh-CN" altLang="en-US" sz="1800" dirty="0" smtClean="0">
                <a:latin typeface="+mn-ea"/>
              </a:rPr>
              <a:t>情绪</a:t>
            </a:r>
            <a:r>
              <a:rPr lang="zh-CN" altLang="en-US" sz="1800" dirty="0">
                <a:latin typeface="+mn-ea"/>
              </a:rPr>
              <a:t>释放技术（</a:t>
            </a:r>
            <a:r>
              <a:rPr lang="en-US" altLang="zh-CN" sz="1800" dirty="0">
                <a:latin typeface="+mn-ea"/>
              </a:rPr>
              <a:t>Emotional Freedom Technique, EFT</a:t>
            </a:r>
            <a:r>
              <a:rPr lang="zh-CN" altLang="en-US" sz="1800" dirty="0">
                <a:latin typeface="+mn-ea"/>
              </a:rPr>
              <a:t>）是借鉴中医经络理论并结合心理学创建的一种心理治疗</a:t>
            </a:r>
            <a:r>
              <a:rPr lang="zh-CN" altLang="en-US" sz="1800" dirty="0" smtClean="0">
                <a:latin typeface="+mn-ea"/>
              </a:rPr>
              <a:t>技术。通过</a:t>
            </a:r>
            <a:r>
              <a:rPr lang="zh-CN" altLang="en-US" sz="1800" dirty="0">
                <a:latin typeface="+mn-ea"/>
              </a:rPr>
              <a:t>敲击特定的身体部位（眉头、眼尾、眼下、鼻下、下巴、锁骨、腋下、</a:t>
            </a:r>
            <a:r>
              <a:rPr lang="zh-CN" altLang="en-US" sz="1800" dirty="0" smtClean="0">
                <a:latin typeface="+mn-ea"/>
              </a:rPr>
              <a:t>头顶等十几个</a:t>
            </a:r>
            <a:r>
              <a:rPr lang="zh-CN" altLang="en-US" sz="1800" dirty="0">
                <a:latin typeface="+mn-ea"/>
              </a:rPr>
              <a:t>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3" y="4239220"/>
            <a:ext cx="7662383" cy="247599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情绪释放技术可以视为能量心理学的一个有效应用，就像是一个“情绪橡皮擦”，可以快速地抚平情绪，如愤怒、委屈、恐惧</a:t>
            </a:r>
            <a:r>
              <a:rPr lang="zh-CN" altLang="en-US" sz="1800" dirty="0" smtClean="0">
                <a:latin typeface="+mn-ea"/>
              </a:rPr>
              <a:t>等。心理学家</a:t>
            </a:r>
            <a:r>
              <a:rPr lang="zh-CN" altLang="en-US" sz="1800" dirty="0">
                <a:latin typeface="+mn-ea"/>
              </a:rPr>
              <a:t>、医师、治疗师等采用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smtClean="0">
                <a:latin typeface="+mn-ea"/>
              </a:rPr>
              <a:t>云南省戒毒管理</a:t>
            </a:r>
            <a:r>
              <a:rPr lang="zh-CN" altLang="en-US" sz="1800" dirty="0">
                <a:latin typeface="+mn-ea"/>
              </a:rPr>
              <a:t>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074591"/>
            <a:ext cx="11161774" cy="127615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en-US" altLang="zh-CN" sz="1800" dirty="0" smtClean="0">
                <a:latin typeface="+mn-ea"/>
              </a:rPr>
              <a:t>EFT</a:t>
            </a:r>
            <a:r>
              <a:rPr lang="zh-CN" altLang="en-US" sz="1800" dirty="0" smtClean="0">
                <a:latin typeface="+mn-ea"/>
              </a:rPr>
              <a:t>源于</a:t>
            </a:r>
            <a:r>
              <a:rPr lang="zh-CN" altLang="en-US" sz="1800" dirty="0">
                <a:latin typeface="+mn-ea"/>
              </a:rPr>
              <a:t>美国，由</a:t>
            </a:r>
            <a:r>
              <a:rPr lang="zh-CN" altLang="en-US" sz="1800" dirty="0" smtClean="0">
                <a:latin typeface="+mn-ea"/>
              </a:rPr>
              <a:t>盖瑞・奎格</a:t>
            </a:r>
            <a:r>
              <a:rPr lang="zh-CN" altLang="en-US" sz="1800" dirty="0">
                <a:latin typeface="+mn-ea"/>
              </a:rPr>
              <a:t>（</a:t>
            </a:r>
            <a:r>
              <a:rPr lang="en-US" altLang="zh-CN" sz="1800" dirty="0">
                <a:latin typeface="+mn-ea"/>
              </a:rPr>
              <a:t>Gary </a:t>
            </a:r>
            <a:r>
              <a:rPr lang="en-US" altLang="zh-CN" sz="1800" dirty="0" smtClean="0">
                <a:latin typeface="+mn-ea"/>
              </a:rPr>
              <a:t>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244498" y="442665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2906437" y="1599391"/>
            <a:ext cx="6385221" cy="1773593"/>
          </a:xfrm>
        </p:spPr>
        <p:txBody>
          <a:bodyPr/>
          <a:lstStyle/>
          <a:p>
            <a:pPr marL="0" indent="0">
              <a:buNone/>
            </a:pPr>
            <a:r>
              <a:rPr lang="zh-CN" altLang="en-US" sz="2400" dirty="0" smtClean="0">
                <a:effectLst>
                  <a:outerShdw blurRad="50800" dist="38100" dir="2700000" algn="tl" rotWithShape="0">
                    <a:prstClr val="black">
                      <a:alpha val="40000"/>
                    </a:prstClr>
                  </a:outerShdw>
                </a:effectLst>
                <a:latin typeface="+mn-ea"/>
              </a:rPr>
              <a:t>特点</a:t>
            </a:r>
            <a:r>
              <a:rPr lang="zh-CN" altLang="en-US" sz="2400" dirty="0">
                <a:effectLst>
                  <a:outerShdw blurRad="50800" dist="38100" dir="2700000" algn="tl" rotWithShape="0">
                    <a:prstClr val="black">
                      <a:alpha val="40000"/>
                    </a:prstClr>
                  </a:outerShdw>
                </a:effectLst>
                <a:latin typeface="+mn-ea"/>
              </a:rPr>
              <a:t>一</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r>
              <a:rPr lang="zh-CN" altLang="en-US" sz="1800" dirty="0" smtClean="0">
                <a:latin typeface="+mn-ea"/>
              </a:rPr>
              <a:t>；</a:t>
            </a:r>
            <a:endParaRPr lang="en-US" altLang="zh-CN" sz="1800" dirty="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94783" y="3702693"/>
            <a:ext cx="3233738" cy="2155825"/>
          </a:xfrm>
          <a:prstGeom prst="rect">
            <a:avLst/>
          </a:prstGeom>
          <a:effectLst>
            <a:softEdge rad="127000"/>
          </a:effectLst>
        </p:spPr>
      </p:pic>
      <p:sp>
        <p:nvSpPr>
          <p:cNvPr id="6" name="内容占位符 2">
            <a:extLst>
              <a:ext uri="{FF2B5EF4-FFF2-40B4-BE49-F238E27FC236}">
                <a16:creationId xmlns:a16="http://schemas.microsoft.com/office/drawing/2014/main" id="{C3C90094-C0B5-790F-FC0B-773883AD0A9A}"/>
              </a:ext>
            </a:extLst>
          </p:cNvPr>
          <p:cNvSpPr txBox="1">
            <a:spLocks/>
          </p:cNvSpPr>
          <p:nvPr/>
        </p:nvSpPr>
        <p:spPr>
          <a:xfrm>
            <a:off x="570665" y="3644862"/>
            <a:ext cx="3324118" cy="227148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特点二</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简单易学、便捷有效，普通人不需要学习太多深奥的心理学知识，操作流程一学就会，立即使用就能有较明显效果；</a:t>
            </a:r>
            <a:endParaRPr lang="en-US" altLang="zh-CN" sz="1800" dirty="0" smtClean="0">
              <a:latin typeface="+mn-ea"/>
            </a:endParaRPr>
          </a:p>
        </p:txBody>
      </p:sp>
      <p:sp>
        <p:nvSpPr>
          <p:cNvPr id="7" name="内容占位符 2">
            <a:extLst>
              <a:ext uri="{FF2B5EF4-FFF2-40B4-BE49-F238E27FC236}">
                <a16:creationId xmlns:a16="http://schemas.microsoft.com/office/drawing/2014/main" id="{C3C90094-C0B5-790F-FC0B-773883AD0A9A}"/>
              </a:ext>
            </a:extLst>
          </p:cNvPr>
          <p:cNvSpPr txBox="1">
            <a:spLocks/>
          </p:cNvSpPr>
          <p:nvPr/>
        </p:nvSpPr>
        <p:spPr>
          <a:xfrm>
            <a:off x="7357589" y="3372984"/>
            <a:ext cx="4319298" cy="184685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特点三</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操作流程规范统一、可推广性强，针对不同的情绪问题可使用同样的治疗流程和方法，学会之后可自行习练改善自身情绪问题，又能教会身边人进行习练，能较容易实现自助和助人。</a:t>
            </a:r>
            <a:endParaRPr lang="en-US" altLang="zh-CN" sz="1800" dirty="0" smtClean="0">
              <a:latin typeface="+mn-ea"/>
            </a:endParaRPr>
          </a:p>
        </p:txBody>
      </p:sp>
    </p:spTree>
    <p:extLst>
      <p:ext uri="{BB962C8B-B14F-4D97-AF65-F5344CB8AC3E}">
        <p14:creationId xmlns:p14="http://schemas.microsoft.com/office/powerpoint/2010/main" val="280838555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b="1" dirty="0">
                <a:latin typeface="+mn-ea"/>
              </a:rPr>
              <a:t>EFT</a:t>
            </a:r>
            <a:r>
              <a:rPr lang="zh-CN" altLang="en-US" sz="1800" b="1" dirty="0">
                <a:latin typeface="+mn-ea"/>
              </a:rPr>
              <a:t>以中医心理学理论为背景，以经络学说为基础，并融合了神经语言程序学技术以及现代心理治疗理论。</a:t>
            </a:r>
            <a:r>
              <a:rPr lang="zh-CN" altLang="en-US" sz="1800" dirty="0">
                <a:latin typeface="+mn-ea"/>
              </a:rPr>
              <a:t>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06036"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smtClean="0">
                <a:latin typeface="+mn-ea"/>
              </a:rPr>
              <a:t>中数个</a:t>
            </a:r>
            <a:r>
              <a:rPr lang="zh-CN" altLang="en-US" sz="1800" b="1" dirty="0">
                <a:latin typeface="+mn-ea"/>
              </a:rPr>
              <a:t>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的科学依据</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smtClean="0">
                <a:latin typeface="+mn-ea"/>
              </a:rPr>
              <a:t>人体</a:t>
            </a:r>
            <a:r>
              <a:rPr lang="zh-CN" altLang="en-US" sz="1800" b="1" dirty="0">
                <a:latin typeface="+mn-ea"/>
              </a:rPr>
              <a:t>的</a:t>
            </a:r>
            <a:r>
              <a:rPr lang="zh-CN" altLang="en-US" sz="1800" b="1" dirty="0" smtClean="0">
                <a:latin typeface="+mn-ea"/>
              </a:rPr>
              <a:t>“战时指挥中心”</a:t>
            </a:r>
            <a:r>
              <a:rPr lang="en-US" altLang="zh-CN" sz="1800" b="1" dirty="0" smtClean="0">
                <a:latin typeface="+mn-ea"/>
              </a:rPr>
              <a:t>——</a:t>
            </a:r>
            <a:r>
              <a:rPr lang="zh-CN" altLang="en-US" sz="1800" b="1" dirty="0">
                <a:latin typeface="+mn-ea"/>
              </a:rPr>
              <a:t>杏仁核</a:t>
            </a:r>
          </a:p>
          <a:p>
            <a:pPr marL="0" indent="0">
              <a:buNone/>
            </a:pPr>
            <a:r>
              <a:rPr lang="zh-CN" altLang="en-US" sz="1800" dirty="0" smtClean="0">
                <a:latin typeface="+mn-ea"/>
              </a:rPr>
              <a:t>大脑杏仁核是</a:t>
            </a:r>
            <a:r>
              <a:rPr lang="zh-CN" altLang="en-US" sz="1800" dirty="0">
                <a:latin typeface="+mn-ea"/>
              </a:rPr>
              <a:t>恐惧记忆建立的神经中枢</a:t>
            </a:r>
            <a:r>
              <a:rPr lang="zh-CN" altLang="en-US" sz="1800" dirty="0" smtClean="0">
                <a:latin typeface="+mn-ea"/>
              </a:rPr>
              <a:t>。杏仁核</a:t>
            </a:r>
            <a:r>
              <a:rPr lang="zh-CN" altLang="en-US" sz="1800" dirty="0">
                <a:latin typeface="+mn-ea"/>
              </a:rPr>
              <a:t>在人的各种情绪反应（如愤怒、焦躁、惊恐等）中充当了指挥所的角色</a:t>
            </a:r>
            <a:r>
              <a:rPr lang="zh-CN" altLang="en-US" sz="1800" dirty="0" smtClean="0">
                <a:latin typeface="+mn-ea"/>
              </a:rPr>
              <a:t>。杏仁核</a:t>
            </a:r>
            <a:r>
              <a:rPr lang="zh-CN" altLang="en-US" sz="1800" dirty="0">
                <a:latin typeface="+mn-ea"/>
              </a:rPr>
              <a:t>相当于我们人体的报警器</a:t>
            </a:r>
            <a:r>
              <a:rPr lang="zh-CN" altLang="en-US" sz="1800" dirty="0" smtClean="0">
                <a:latin typeface="+mn-ea"/>
              </a:rPr>
              <a:t>。人体</a:t>
            </a:r>
            <a:r>
              <a:rPr lang="zh-CN" altLang="en-US" sz="1800" dirty="0">
                <a:latin typeface="+mn-ea"/>
              </a:rPr>
              <a:t>的指挥系统发生改变，杏仁核会变大并向身体发出战斗动员令</a:t>
            </a:r>
            <a:r>
              <a:rPr lang="zh-CN" altLang="en-US" sz="1800" dirty="0" smtClean="0">
                <a:latin typeface="+mn-ea"/>
              </a:rPr>
              <a:t>。人体</a:t>
            </a:r>
            <a:r>
              <a:rPr lang="zh-CN" altLang="en-US" sz="1800" dirty="0">
                <a:latin typeface="+mn-ea"/>
              </a:rPr>
              <a:t>立即会分泌出比平时更多的可的松</a:t>
            </a:r>
            <a:r>
              <a:rPr lang="en-US" altLang="zh-CN" sz="1800" dirty="0">
                <a:latin typeface="+mn-ea"/>
              </a:rPr>
              <a:t>——</a:t>
            </a:r>
            <a:r>
              <a:rPr lang="zh-CN" altLang="en-US" sz="1800" dirty="0">
                <a:latin typeface="+mn-ea"/>
              </a:rPr>
              <a:t>加快人体新陈代谢的紧张素。</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251200"/>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smtClean="0">
                <a:latin typeface="+mn-ea"/>
              </a:rPr>
              <a:t>人体</a:t>
            </a:r>
            <a:r>
              <a:rPr lang="zh-CN" altLang="en-US" sz="1800" b="1" dirty="0">
                <a:latin typeface="+mn-ea"/>
              </a:rPr>
              <a:t>的紧张</a:t>
            </a:r>
            <a:r>
              <a:rPr lang="zh-CN" altLang="en-US" sz="1800" b="1" dirty="0" smtClean="0">
                <a:latin typeface="+mn-ea"/>
              </a:rPr>
              <a:t>素</a:t>
            </a:r>
            <a:r>
              <a:rPr lang="en-US" altLang="zh-CN" sz="1800" b="1" dirty="0" smtClean="0">
                <a:latin typeface="+mn-ea"/>
              </a:rPr>
              <a:t>——</a:t>
            </a:r>
            <a:r>
              <a:rPr lang="zh-CN" altLang="en-US" sz="1800" b="1" dirty="0" smtClean="0">
                <a:latin typeface="+mn-ea"/>
              </a:rPr>
              <a:t>可的松</a:t>
            </a:r>
            <a:endParaRPr lang="zh-CN" altLang="en-US" sz="1800" b="1" dirty="0">
              <a:latin typeface="+mn-ea"/>
            </a:endParaRPr>
          </a:p>
          <a:p>
            <a:pPr marL="0" indent="0">
              <a:buNone/>
            </a:pPr>
            <a:r>
              <a:rPr lang="zh-CN" altLang="en-US" sz="1800" dirty="0" smtClean="0">
                <a:latin typeface="+mn-ea"/>
              </a:rPr>
              <a:t>人体</a:t>
            </a:r>
            <a:r>
              <a:rPr lang="zh-CN" altLang="en-US" sz="1800" dirty="0">
                <a:latin typeface="+mn-ea"/>
              </a:rPr>
              <a:t>的可的松是肾上腺分泌的一种激素</a:t>
            </a:r>
            <a:r>
              <a:rPr lang="zh-CN" altLang="en-US" sz="1800" dirty="0" smtClean="0">
                <a:latin typeface="+mn-ea"/>
              </a:rPr>
              <a:t>。可的松</a:t>
            </a:r>
            <a:r>
              <a:rPr lang="zh-CN" altLang="en-US" sz="1800" dirty="0">
                <a:latin typeface="+mn-ea"/>
              </a:rPr>
              <a:t>是受杏仁核调遣的“部队”，负责把危险的信号传达给全身的各个器官，并负责重新按照战时状态分配人体的资源</a:t>
            </a:r>
            <a:r>
              <a:rPr lang="zh-CN" altLang="en-US" sz="1800" dirty="0" smtClean="0">
                <a:latin typeface="+mn-ea"/>
              </a:rPr>
              <a:t>。可的松</a:t>
            </a:r>
            <a:r>
              <a:rPr lang="zh-CN" altLang="en-US" sz="1800" dirty="0">
                <a:latin typeface="+mn-ea"/>
              </a:rPr>
              <a:t>在人体一天当中的分泌量是不一样的</a:t>
            </a:r>
            <a:r>
              <a:rPr lang="zh-CN" altLang="en-US" sz="1800" dirty="0" smtClean="0">
                <a:latin typeface="+mn-ea"/>
              </a:rPr>
              <a:t>。早上</a:t>
            </a:r>
            <a:r>
              <a:rPr lang="zh-CN" altLang="en-US" sz="1800" dirty="0">
                <a:latin typeface="+mn-ea"/>
              </a:rPr>
              <a:t>醒来以后可的松的水平就高起来，晚上睡觉就下降到很低。</a:t>
            </a:r>
          </a:p>
          <a:p>
            <a:pPr marL="0" indent="0">
              <a:lnSpc>
                <a:spcPts val="1800"/>
              </a:lnSpc>
              <a:buNone/>
            </a:pPr>
            <a:r>
              <a:rPr lang="zh-CN" altLang="en-US" sz="1800" dirty="0" smtClean="0">
                <a:latin typeface="+mn-ea"/>
              </a:rPr>
              <a:t>人</a:t>
            </a:r>
            <a:r>
              <a:rPr lang="zh-CN" altLang="en-US" sz="1800" dirty="0">
                <a:latin typeface="+mn-ea"/>
              </a:rPr>
              <a:t>在放松的时候可的松的分泌量比较低</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而</a:t>
            </a:r>
            <a:r>
              <a:rPr lang="zh-CN" altLang="en-US" sz="1800" dirty="0">
                <a:latin typeface="+mn-ea"/>
              </a:rPr>
              <a:t>感到心理压力大的时候可的松的分泌量就高</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当</a:t>
            </a:r>
            <a:r>
              <a:rPr lang="zh-CN" altLang="en-US" sz="1800" dirty="0">
                <a:latin typeface="+mn-ea"/>
              </a:rPr>
              <a:t>针刺或按压穴位后，核磁共振观察到脑杏仁核即刻就缩小了。</a:t>
            </a:r>
          </a:p>
          <a:p>
            <a:pPr marL="0" indent="0">
              <a:lnSpc>
                <a:spcPts val="1800"/>
              </a:lnSpc>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7" name="图片 6"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578666" y="4209441"/>
            <a:ext cx="3857625" cy="2571750"/>
          </a:xfrm>
          <a:prstGeom prst="rect">
            <a:avLst/>
          </a:prstGeom>
          <a:effectLst>
            <a:softEdge rad="127000"/>
          </a:effec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的应用范围</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21208" y="1606204"/>
            <a:ext cx="5580887" cy="3882300"/>
          </a:xfrm>
        </p:spPr>
        <p:txBody>
          <a:bodyPr/>
          <a:lstStyle/>
          <a:p>
            <a:pPr marL="0" indent="0">
              <a:lnSpc>
                <a:spcPts val="2100"/>
              </a:lnSpc>
              <a:buNone/>
            </a:pPr>
            <a:r>
              <a:rPr lang="en-US" altLang="zh-CN" sz="1800" dirty="0">
                <a:effectLst>
                  <a:outerShdw blurRad="50800" dist="38100" dir="2700000" algn="tl" rotWithShape="0">
                    <a:prstClr val="black">
                      <a:alpha val="40000"/>
                    </a:prstClr>
                  </a:outerShdw>
                </a:effectLst>
                <a:latin typeface="+mn-ea"/>
              </a:rPr>
              <a:t>1. </a:t>
            </a:r>
            <a:r>
              <a:rPr lang="zh-CN" altLang="en-US" sz="1800" dirty="0">
                <a:effectLst>
                  <a:outerShdw blurRad="50800" dist="38100" dir="2700000" algn="tl" rotWithShape="0">
                    <a:prstClr val="black">
                      <a:alpha val="40000"/>
                    </a:prstClr>
                  </a:outerShdw>
                </a:effectLst>
                <a:latin typeface="+mn-ea"/>
              </a:rPr>
              <a:t>心理创伤</a:t>
            </a:r>
          </a:p>
          <a:p>
            <a:pPr marL="0" indent="0">
              <a:lnSpc>
                <a:spcPts val="2100"/>
              </a:lnSpc>
              <a:buNone/>
            </a:pPr>
            <a:r>
              <a:rPr lang="en-US" altLang="zh-CN" sz="1800" i="1" dirty="0" smtClean="0">
                <a:latin typeface="+mn-ea"/>
              </a:rPr>
              <a:t>&gt;&gt;&gt; </a:t>
            </a:r>
            <a:r>
              <a:rPr lang="zh-CN" altLang="en-US" sz="1800" i="1" dirty="0" smtClean="0">
                <a:latin typeface="+mn-ea"/>
              </a:rPr>
              <a:t>创伤</a:t>
            </a:r>
            <a:r>
              <a:rPr lang="zh-CN" altLang="en-US" sz="1800" i="1" dirty="0">
                <a:latin typeface="+mn-ea"/>
              </a:rPr>
              <a:t>后压力心理障碍、童年虐待、性侵</a:t>
            </a:r>
            <a:r>
              <a:rPr lang="zh-CN" altLang="en-US" sz="1800" i="1" dirty="0" smtClean="0">
                <a:latin typeface="+mn-ea"/>
              </a:rPr>
              <a:t>事件</a:t>
            </a:r>
            <a:endParaRPr lang="zh-CN" altLang="en-US" sz="1800" i="1" dirty="0">
              <a:latin typeface="+mn-ea"/>
            </a:endParaRPr>
          </a:p>
          <a:p>
            <a:pPr marL="0" indent="0">
              <a:lnSpc>
                <a:spcPts val="2100"/>
              </a:lnSpc>
              <a:buNone/>
            </a:pPr>
            <a:endParaRPr lang="en-US" altLang="zh-CN" sz="1800" dirty="0" smtClean="0">
              <a:effectLst>
                <a:outerShdw blurRad="50800" dist="38100" dir="2700000" algn="tl" rotWithShape="0">
                  <a:prstClr val="black">
                    <a:alpha val="40000"/>
                  </a:prstClr>
                </a:outerShdw>
              </a:effectLst>
              <a:latin typeface="+mn-ea"/>
            </a:endParaRPr>
          </a:p>
          <a:p>
            <a:pPr marL="0" indent="0">
              <a:lnSpc>
                <a:spcPts val="2100"/>
              </a:lnSpc>
              <a:buNone/>
            </a:pPr>
            <a:r>
              <a:rPr lang="en-US" altLang="zh-CN" sz="1800" dirty="0" smtClean="0">
                <a:effectLst>
                  <a:outerShdw blurRad="50800" dist="38100" dir="2700000" algn="tl" rotWithShape="0">
                    <a:prstClr val="black">
                      <a:alpha val="40000"/>
                    </a:prstClr>
                  </a:outerShdw>
                </a:effectLst>
                <a:latin typeface="+mn-ea"/>
              </a:rPr>
              <a:t>2</a:t>
            </a:r>
            <a:r>
              <a:rPr lang="en-US" altLang="zh-CN" sz="1800" dirty="0">
                <a:effectLst>
                  <a:outerShdw blurRad="50800" dist="38100" dir="2700000" algn="tl" rotWithShape="0">
                    <a:prstClr val="black">
                      <a:alpha val="40000"/>
                    </a:prstClr>
                  </a:outerShdw>
                </a:effectLst>
                <a:latin typeface="+mn-ea"/>
              </a:rPr>
              <a:t>. </a:t>
            </a:r>
            <a:r>
              <a:rPr lang="zh-CN" altLang="en-US" sz="1800" dirty="0">
                <a:effectLst>
                  <a:outerShdw blurRad="50800" dist="38100" dir="2700000" algn="tl" rotWithShape="0">
                    <a:prstClr val="black">
                      <a:alpha val="40000"/>
                    </a:prstClr>
                  </a:outerShdw>
                </a:effectLst>
                <a:latin typeface="+mn-ea"/>
              </a:rPr>
              <a:t>情绪困扰</a:t>
            </a:r>
          </a:p>
          <a:p>
            <a:pPr marL="0" indent="0">
              <a:lnSpc>
                <a:spcPts val="2100"/>
              </a:lnSpc>
              <a:buNone/>
            </a:pPr>
            <a:r>
              <a:rPr lang="en-US" altLang="zh-CN" sz="1800" i="1" dirty="0" smtClean="0">
                <a:latin typeface="+mn-ea"/>
              </a:rPr>
              <a:t>&gt;&gt;&gt; </a:t>
            </a:r>
            <a:r>
              <a:rPr lang="zh-CN" altLang="en-US" sz="1800" i="1" dirty="0" smtClean="0">
                <a:latin typeface="+mn-ea"/>
              </a:rPr>
              <a:t>焦虑</a:t>
            </a:r>
            <a:r>
              <a:rPr lang="zh-CN" altLang="en-US" sz="1800" i="1" dirty="0">
                <a:latin typeface="+mn-ea"/>
              </a:rPr>
              <a:t>、紧张压力、愤怒、自卑、悲伤等负面</a:t>
            </a:r>
            <a:r>
              <a:rPr lang="zh-CN" altLang="en-US" sz="1800" i="1" dirty="0" smtClean="0">
                <a:latin typeface="+mn-ea"/>
              </a:rPr>
              <a:t>情绪</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3. </a:t>
            </a:r>
            <a:r>
              <a:rPr lang="zh-CN" altLang="en-US" sz="1800" dirty="0">
                <a:effectLst>
                  <a:outerShdw blurRad="50800" dist="38100" dir="2700000" algn="tl" rotWithShape="0">
                    <a:prstClr val="black">
                      <a:alpha val="40000"/>
                    </a:prstClr>
                  </a:outerShdw>
                </a:effectLst>
                <a:latin typeface="+mn-ea"/>
              </a:rPr>
              <a:t>各种瘾症</a:t>
            </a:r>
          </a:p>
          <a:p>
            <a:pPr marL="0" indent="0">
              <a:lnSpc>
                <a:spcPts val="2100"/>
              </a:lnSpc>
              <a:buNone/>
            </a:pPr>
            <a:r>
              <a:rPr lang="en-US" altLang="zh-CN" sz="1800" i="1" dirty="0" smtClean="0">
                <a:latin typeface="+mn-ea"/>
              </a:rPr>
              <a:t>&gt;&gt;&gt; </a:t>
            </a:r>
            <a:r>
              <a:rPr lang="zh-CN" altLang="en-US" sz="1800" i="1" dirty="0" smtClean="0">
                <a:latin typeface="+mn-ea"/>
              </a:rPr>
              <a:t>网</a:t>
            </a:r>
            <a:r>
              <a:rPr lang="zh-CN" altLang="en-US" sz="1800" i="1" dirty="0">
                <a:latin typeface="+mn-ea"/>
              </a:rPr>
              <a:t>瘾、酒瘾、</a:t>
            </a:r>
            <a:r>
              <a:rPr lang="zh-CN" altLang="en-US" sz="1800" i="1" dirty="0" smtClean="0">
                <a:latin typeface="+mn-ea"/>
              </a:rPr>
              <a:t>毒瘾</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4. </a:t>
            </a:r>
            <a:r>
              <a:rPr lang="zh-CN" altLang="en-US" sz="1800" dirty="0">
                <a:effectLst>
                  <a:outerShdw blurRad="50800" dist="38100" dir="2700000" algn="tl" rotWithShape="0">
                    <a:prstClr val="black">
                      <a:alpha val="40000"/>
                    </a:prstClr>
                  </a:outerShdw>
                </a:effectLst>
                <a:latin typeface="+mn-ea"/>
              </a:rPr>
              <a:t>恐惧症</a:t>
            </a:r>
          </a:p>
          <a:p>
            <a:pPr marL="0" indent="0">
              <a:lnSpc>
                <a:spcPts val="2100"/>
              </a:lnSpc>
              <a:buNone/>
            </a:pPr>
            <a:r>
              <a:rPr lang="en-US" altLang="zh-CN" sz="1800" i="1" dirty="0" smtClean="0">
                <a:latin typeface="+mn-ea"/>
              </a:rPr>
              <a:t>&gt;&gt;&gt; </a:t>
            </a:r>
            <a:r>
              <a:rPr lang="zh-CN" altLang="en-US" sz="1800" i="1" dirty="0" smtClean="0">
                <a:latin typeface="+mn-ea"/>
              </a:rPr>
              <a:t>恐</a:t>
            </a:r>
            <a:r>
              <a:rPr lang="zh-CN" altLang="en-US" sz="1800" i="1" dirty="0">
                <a:latin typeface="+mn-ea"/>
              </a:rPr>
              <a:t>高症、恐水症、幽闭</a:t>
            </a:r>
            <a:r>
              <a:rPr lang="zh-CN" altLang="en-US" sz="1800" i="1" dirty="0" smtClean="0">
                <a:latin typeface="+mn-ea"/>
              </a:rPr>
              <a:t>恐惧症</a:t>
            </a:r>
            <a:endParaRPr lang="zh-CN" altLang="en-US" sz="1800" i="1" dirty="0">
              <a:latin typeface="+mn-ea"/>
            </a:endParaRP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8191" y="1606204"/>
            <a:ext cx="5568697" cy="44212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5. </a:t>
            </a:r>
            <a:r>
              <a:rPr lang="zh-CN" altLang="en-US" sz="1800" dirty="0">
                <a:effectLst>
                  <a:outerShdw blurRad="50800" dist="38100" dir="2700000" algn="tl" rotWithShape="0">
                    <a:prstClr val="black">
                      <a:alpha val="40000"/>
                    </a:prstClr>
                  </a:outerShdw>
                </a:effectLst>
                <a:latin typeface="+mn-ea"/>
              </a:rPr>
              <a:t>心理问题</a:t>
            </a:r>
          </a:p>
          <a:p>
            <a:pPr marL="0" indent="0">
              <a:lnSpc>
                <a:spcPts val="2100"/>
              </a:lnSpc>
              <a:buNone/>
            </a:pPr>
            <a:r>
              <a:rPr lang="en-US" altLang="zh-CN" sz="1800" i="1" dirty="0" smtClean="0">
                <a:latin typeface="+mn-ea"/>
              </a:rPr>
              <a:t>&gt;&gt;&gt; </a:t>
            </a:r>
            <a:r>
              <a:rPr lang="zh-CN" altLang="en-US" sz="1800" i="1" dirty="0" smtClean="0">
                <a:latin typeface="+mn-ea"/>
              </a:rPr>
              <a:t>抑郁症</a:t>
            </a:r>
            <a:r>
              <a:rPr lang="zh-CN" altLang="en-US" sz="1800" i="1" dirty="0">
                <a:latin typeface="+mn-ea"/>
              </a:rPr>
              <a:t>、躁郁症、强迫</a:t>
            </a:r>
            <a:r>
              <a:rPr lang="zh-CN" altLang="en-US" sz="1800" i="1" dirty="0" smtClean="0">
                <a:latin typeface="+mn-ea"/>
              </a:rPr>
              <a:t>症</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6. </a:t>
            </a:r>
            <a:r>
              <a:rPr lang="zh-CN" altLang="en-US" sz="1800" dirty="0">
                <a:effectLst>
                  <a:outerShdw blurRad="50800" dist="38100" dir="2700000" algn="tl" rotWithShape="0">
                    <a:prstClr val="black">
                      <a:alpha val="40000"/>
                    </a:prstClr>
                  </a:outerShdw>
                </a:effectLst>
                <a:latin typeface="+mn-ea"/>
              </a:rPr>
              <a:t>生理疾病</a:t>
            </a:r>
          </a:p>
          <a:p>
            <a:pPr marL="0" indent="0">
              <a:lnSpc>
                <a:spcPts val="2100"/>
              </a:lnSpc>
              <a:buNone/>
            </a:pPr>
            <a:r>
              <a:rPr lang="en-US" altLang="zh-CN" sz="1800" i="1" dirty="0" smtClean="0">
                <a:latin typeface="+mn-ea"/>
              </a:rPr>
              <a:t>&gt;&gt;&gt; </a:t>
            </a:r>
            <a:r>
              <a:rPr lang="zh-CN" altLang="en-US" sz="1800" i="1" dirty="0" smtClean="0">
                <a:latin typeface="+mn-ea"/>
              </a:rPr>
              <a:t>偏头痛</a:t>
            </a:r>
            <a:r>
              <a:rPr lang="zh-CN" altLang="en-US" sz="1800" i="1" dirty="0">
                <a:latin typeface="+mn-ea"/>
              </a:rPr>
              <a:t>、内分泌失调、性功能障碍、失眠、胸闷、身体</a:t>
            </a:r>
            <a:r>
              <a:rPr lang="zh-CN" altLang="en-US" sz="1800" i="1" dirty="0" smtClean="0">
                <a:latin typeface="+mn-ea"/>
              </a:rPr>
              <a:t>疼痛</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7. </a:t>
            </a:r>
            <a:r>
              <a:rPr lang="zh-CN" altLang="en-US" sz="1800" dirty="0">
                <a:effectLst>
                  <a:outerShdw blurRad="50800" dist="38100" dir="2700000" algn="tl" rotWithShape="0">
                    <a:prstClr val="black">
                      <a:alpha val="40000"/>
                    </a:prstClr>
                  </a:outerShdw>
                </a:effectLst>
                <a:latin typeface="+mn-ea"/>
              </a:rPr>
              <a:t>提升自我能量</a:t>
            </a:r>
          </a:p>
          <a:p>
            <a:pPr marL="0" indent="0">
              <a:lnSpc>
                <a:spcPts val="2100"/>
              </a:lnSpc>
              <a:buNone/>
            </a:pPr>
            <a:r>
              <a:rPr lang="en-US" altLang="zh-CN" sz="1800" i="1" dirty="0" smtClean="0">
                <a:latin typeface="+mn-ea"/>
              </a:rPr>
              <a:t>&gt;&gt;&gt; </a:t>
            </a:r>
            <a:r>
              <a:rPr lang="zh-CN" altLang="en-US" sz="1800" i="1" dirty="0" smtClean="0">
                <a:latin typeface="+mn-ea"/>
              </a:rPr>
              <a:t>提高</a:t>
            </a:r>
            <a:r>
              <a:rPr lang="zh-CN" altLang="en-US" sz="1800" i="1" dirty="0">
                <a:latin typeface="+mn-ea"/>
              </a:rPr>
              <a:t>效率、增强内在力量，提升运动</a:t>
            </a:r>
            <a:r>
              <a:rPr lang="zh-CN" altLang="en-US" sz="1800" i="1" dirty="0" smtClean="0">
                <a:latin typeface="+mn-ea"/>
              </a:rPr>
              <a:t>表现</a:t>
            </a:r>
            <a:endParaRPr lang="zh-CN" altLang="en-US" sz="1800" i="1" dirty="0">
              <a:latin typeface="+mn-ea"/>
            </a:endParaRPr>
          </a:p>
        </p:txBody>
      </p:sp>
    </p:spTree>
    <p:extLst>
      <p:ext uri="{BB962C8B-B14F-4D97-AF65-F5344CB8AC3E}">
        <p14:creationId xmlns:p14="http://schemas.microsoft.com/office/powerpoint/2010/main" val="13409162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的真实案例</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4"/>
            <a:ext cx="4256533" cy="4892595"/>
          </a:xfrm>
        </p:spPr>
        <p:txBody>
          <a:bodyPr lIns="109728" tIns="109728" rIns="109728" bIns="91440"/>
          <a:lstStyle/>
          <a:p>
            <a:pPr marL="0" indent="0">
              <a:buNone/>
            </a:pPr>
            <a:r>
              <a:rPr lang="zh-CN" altLang="en-US" sz="1800" dirty="0">
                <a:effectLst>
                  <a:outerShdw blurRad="50800" dist="38100" dir="2700000" algn="tl" rotWithShape="0">
                    <a:prstClr val="black">
                      <a:alpha val="40000"/>
                    </a:prstClr>
                  </a:outerShdw>
                </a:effectLst>
                <a:latin typeface="+mn-ea"/>
              </a:rPr>
              <a:t>车祸相关创伤后应激障碍治疗案例</a:t>
            </a:r>
          </a:p>
          <a:p>
            <a:pPr marL="0" indent="0">
              <a:buNone/>
            </a:pPr>
            <a:r>
              <a:rPr lang="en-US" altLang="zh-CN" sz="1800" dirty="0" smtClean="0">
                <a:latin typeface="+mn-ea"/>
              </a:rPr>
              <a:t>2010</a:t>
            </a:r>
            <a:r>
              <a:rPr lang="zh-CN" altLang="en-US" sz="1800" dirty="0" smtClean="0">
                <a:latin typeface="+mn-ea"/>
              </a:rPr>
              <a:t>年</a:t>
            </a:r>
            <a:r>
              <a:rPr lang="zh-CN" altLang="en-US" sz="1800" dirty="0">
                <a:latin typeface="+mn-ea"/>
              </a:rPr>
              <a:t>有研究报告</a:t>
            </a:r>
            <a:r>
              <a:rPr lang="zh-CN" altLang="en-US" sz="1800" dirty="0" smtClean="0">
                <a:latin typeface="+mn-ea"/>
              </a:rPr>
              <a:t>了</a:t>
            </a:r>
            <a:r>
              <a:rPr lang="en-US" altLang="zh-CN" sz="1800" dirty="0" smtClean="0">
                <a:latin typeface="+mn-ea"/>
              </a:rPr>
              <a:t>3</a:t>
            </a:r>
            <a:r>
              <a:rPr lang="zh-CN" altLang="en-US" sz="1800" dirty="0" smtClean="0">
                <a:latin typeface="+mn-ea"/>
              </a:rPr>
              <a:t>起</a:t>
            </a:r>
            <a:r>
              <a:rPr lang="zh-CN" altLang="en-US" sz="1800" dirty="0">
                <a:latin typeface="+mn-ea"/>
              </a:rPr>
              <a:t>通过 </a:t>
            </a:r>
            <a:r>
              <a:rPr lang="en-US" altLang="zh-CN" sz="1800" dirty="0">
                <a:latin typeface="+mn-ea"/>
              </a:rPr>
              <a:t>EFT </a:t>
            </a:r>
            <a:r>
              <a:rPr lang="zh-CN" altLang="en-US" sz="1800" dirty="0">
                <a:latin typeface="+mn-ea"/>
              </a:rPr>
              <a:t>治疗车祸引发的创伤后应激障碍及急性应激症状的案例。</a:t>
            </a:r>
            <a:r>
              <a:rPr lang="zh-CN" altLang="en-US" sz="1800" dirty="0" smtClean="0">
                <a:latin typeface="+mn-ea"/>
              </a:rPr>
              <a:t>这</a:t>
            </a:r>
            <a:r>
              <a:rPr lang="en-US" altLang="zh-CN" sz="1800" dirty="0" smtClean="0">
                <a:latin typeface="+mn-ea"/>
              </a:rPr>
              <a:t>3</a:t>
            </a:r>
            <a:r>
              <a:rPr lang="zh-CN" altLang="en-US" sz="1800" dirty="0" smtClean="0">
                <a:latin typeface="+mn-ea"/>
              </a:rPr>
              <a:t>个</a:t>
            </a:r>
            <a:r>
              <a:rPr lang="zh-CN" altLang="en-US" sz="1800" dirty="0">
                <a:latin typeface="+mn-ea"/>
              </a:rPr>
              <a:t>案例的治疗时间节点各不相同，分别在车祸发生后立即治疗、车祸后两周治疗以及车祸</a:t>
            </a:r>
            <a:r>
              <a:rPr lang="zh-CN" altLang="en-US" sz="1800" dirty="0" smtClean="0">
                <a:latin typeface="+mn-ea"/>
              </a:rPr>
              <a:t>后</a:t>
            </a:r>
            <a:r>
              <a:rPr lang="en-US" altLang="zh-CN" sz="1800" dirty="0" smtClean="0">
                <a:latin typeface="+mn-ea"/>
              </a:rPr>
              <a:t>11</a:t>
            </a:r>
            <a:r>
              <a:rPr lang="zh-CN" altLang="en-US" sz="1800" dirty="0" smtClean="0">
                <a:latin typeface="+mn-ea"/>
              </a:rPr>
              <a:t>个</a:t>
            </a:r>
            <a:r>
              <a:rPr lang="zh-CN" altLang="en-US" sz="1800" dirty="0">
                <a:latin typeface="+mn-ea"/>
              </a:rPr>
              <a:t>月治疗。治疗中仅采用单</a:t>
            </a:r>
            <a:r>
              <a:rPr lang="zh-CN" altLang="en-US" sz="1800" dirty="0" smtClean="0">
                <a:latin typeface="+mn-ea"/>
              </a:rPr>
              <a:t>次</a:t>
            </a:r>
            <a:r>
              <a:rPr lang="en-US" altLang="zh-CN" sz="1800" dirty="0" smtClean="0">
                <a:latin typeface="+mn-ea"/>
              </a:rPr>
              <a:t>EFT</a:t>
            </a:r>
            <a:r>
              <a:rPr lang="zh-CN" altLang="en-US" sz="1800" dirty="0" smtClean="0">
                <a:latin typeface="+mn-ea"/>
              </a:rPr>
              <a:t>干预</a:t>
            </a:r>
            <a:r>
              <a:rPr lang="zh-CN" altLang="en-US" sz="1800" dirty="0">
                <a:latin typeface="+mn-ea"/>
              </a:rPr>
              <a:t>，最终均有效缓解了患者的创伤后应激障碍及相关应激症状。该案例也体现出 </a:t>
            </a:r>
            <a:r>
              <a:rPr lang="en-US" altLang="zh-CN" sz="1800" dirty="0">
                <a:latin typeface="+mn-ea"/>
              </a:rPr>
              <a:t>EFT </a:t>
            </a:r>
            <a:r>
              <a:rPr lang="zh-CN" altLang="en-US" sz="1800" dirty="0">
                <a:latin typeface="+mn-ea"/>
              </a:rPr>
              <a:t>作为一种能量心理学疗法，在创伤类心理问题的快速干预上具有潜力，有望成为创伤后心理创伤的加速愈合手段。</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684520" y="4762500"/>
            <a:ext cx="4460652" cy="187945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4777741" y="1506155"/>
            <a:ext cx="6893052"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smtClean="0">
                <a:effectLst>
                  <a:outerShdw blurRad="50800" dist="38100" dir="2700000" algn="tl" rotWithShape="0">
                    <a:prstClr val="black">
                      <a:alpha val="40000"/>
                    </a:prstClr>
                  </a:outerShdw>
                </a:effectLst>
                <a:latin typeface="+mn-ea"/>
              </a:rPr>
              <a:t>英国特殊教育学校</a:t>
            </a:r>
            <a:r>
              <a:rPr lang="en-US" altLang="zh-CN" sz="1800" dirty="0" smtClean="0">
                <a:effectLst>
                  <a:outerShdw blurRad="50800" dist="38100" dir="2700000" algn="tl" rotWithShape="0">
                    <a:prstClr val="black">
                      <a:alpha val="40000"/>
                    </a:prstClr>
                  </a:outerShdw>
                </a:effectLst>
                <a:latin typeface="+mn-ea"/>
              </a:rPr>
              <a:t>15</a:t>
            </a:r>
            <a:r>
              <a:rPr lang="zh-CN" altLang="en-US" sz="1800" dirty="0" smtClean="0">
                <a:effectLst>
                  <a:outerShdw blurRad="50800" dist="38100" dir="2700000" algn="tl" rotWithShape="0">
                    <a:prstClr val="black">
                      <a:alpha val="40000"/>
                    </a:prstClr>
                  </a:outerShdw>
                </a:effectLst>
                <a:latin typeface="+mn-ea"/>
              </a:rPr>
              <a:t>岁</a:t>
            </a:r>
            <a:r>
              <a:rPr lang="zh-CN" altLang="en-US" sz="1800" dirty="0">
                <a:effectLst>
                  <a:outerShdw blurRad="50800" dist="38100" dir="2700000" algn="tl" rotWithShape="0">
                    <a:prstClr val="black">
                      <a:alpha val="40000"/>
                    </a:prstClr>
                  </a:outerShdw>
                </a:effectLst>
                <a:latin typeface="+mn-ea"/>
              </a:rPr>
              <a:t>学生焦虑缓解案例</a:t>
            </a:r>
          </a:p>
          <a:p>
            <a:pPr marL="0" indent="0">
              <a:buNone/>
            </a:pPr>
            <a:r>
              <a:rPr lang="zh-CN" altLang="en-US" sz="1800" dirty="0">
                <a:latin typeface="+mn-ea"/>
              </a:rPr>
              <a:t>英国奥德赛之家特殊教育学校的一</a:t>
            </a:r>
            <a:r>
              <a:rPr lang="zh-CN" altLang="en-US" sz="1800" dirty="0" smtClean="0">
                <a:latin typeface="+mn-ea"/>
              </a:rPr>
              <a:t>名</a:t>
            </a:r>
            <a:r>
              <a:rPr lang="en-US" altLang="zh-CN" sz="1800" dirty="0" smtClean="0">
                <a:latin typeface="+mn-ea"/>
              </a:rPr>
              <a:t>15</a:t>
            </a:r>
            <a:r>
              <a:rPr lang="zh-CN" altLang="en-US" sz="1800" dirty="0" smtClean="0">
                <a:latin typeface="+mn-ea"/>
              </a:rPr>
              <a:t>岁</a:t>
            </a:r>
            <a:r>
              <a:rPr lang="zh-CN" altLang="en-US" sz="1800" dirty="0">
                <a:latin typeface="+mn-ea"/>
              </a:rPr>
              <a:t>学生曾突发严重焦虑。</a:t>
            </a:r>
            <a:r>
              <a:rPr lang="en-US" altLang="zh-CN" sz="1800" dirty="0" smtClean="0">
                <a:latin typeface="+mn-ea"/>
              </a:rPr>
              <a:t>EFT</a:t>
            </a:r>
            <a:r>
              <a:rPr lang="zh-CN" altLang="en-US" sz="1800" dirty="0" smtClean="0">
                <a:latin typeface="+mn-ea"/>
              </a:rPr>
              <a:t>治疗</a:t>
            </a:r>
            <a:r>
              <a:rPr lang="zh-CN" altLang="en-US" sz="1800" dirty="0">
                <a:latin typeface="+mn-ea"/>
              </a:rPr>
              <a:t>师伊芙先采用代理敲击的方式，很快就让该学生的情绪平复下来。几分钟后，学生开始自主进行无声敲击，</a:t>
            </a:r>
            <a:r>
              <a:rPr lang="en-US" altLang="zh-CN" sz="1800" dirty="0" smtClean="0">
                <a:latin typeface="+mn-ea"/>
              </a:rPr>
              <a:t>20</a:t>
            </a:r>
            <a:r>
              <a:rPr lang="zh-CN" altLang="en-US" sz="1800" dirty="0" smtClean="0">
                <a:latin typeface="+mn-ea"/>
              </a:rPr>
              <a:t>分钟</a:t>
            </a:r>
            <a:r>
              <a:rPr lang="zh-CN" altLang="en-US" sz="1800" dirty="0">
                <a:latin typeface="+mn-ea"/>
              </a:rPr>
              <a:t>后便恢复平稳状态并重返课堂。后续治疗中，治疗师还运用乐高敲击等适配特殊学生</a:t>
            </a:r>
            <a:r>
              <a:rPr lang="zh-CN" altLang="en-US" sz="1800" dirty="0" smtClean="0">
                <a:latin typeface="+mn-ea"/>
              </a:rPr>
              <a:t>的</a:t>
            </a:r>
            <a:r>
              <a:rPr lang="en-US" altLang="zh-CN" sz="1800" dirty="0" smtClean="0">
                <a:latin typeface="+mn-ea"/>
              </a:rPr>
              <a:t>EFT</a:t>
            </a:r>
            <a:r>
              <a:rPr lang="zh-CN" altLang="en-US" sz="1800" dirty="0" smtClean="0">
                <a:latin typeface="+mn-ea"/>
              </a:rPr>
              <a:t>技巧</a:t>
            </a:r>
            <a:r>
              <a:rPr lang="zh-CN" altLang="en-US" sz="1800" dirty="0">
                <a:latin typeface="+mn-ea"/>
              </a:rPr>
              <a:t>开展持续辅导。最终该学生的情绪稳定性大幅提升，对学校学习和活动的参与度也显著提高。该校也反馈，</a:t>
            </a:r>
            <a:r>
              <a:rPr lang="en-US" altLang="zh-CN" sz="1800" dirty="0" smtClean="0">
                <a:latin typeface="+mn-ea"/>
              </a:rPr>
              <a:t>EFT</a:t>
            </a:r>
            <a:r>
              <a:rPr lang="zh-CN" altLang="en-US" sz="1800" dirty="0" smtClean="0">
                <a:latin typeface="+mn-ea"/>
              </a:rPr>
              <a:t>这</a:t>
            </a:r>
            <a:r>
              <a:rPr lang="zh-CN" altLang="en-US" sz="1800" dirty="0">
                <a:latin typeface="+mn-ea"/>
              </a:rPr>
              <a:t>类简单易操作的方式，对有情绪和感官障碍的特殊学生十分适用。</a:t>
            </a:r>
          </a:p>
        </p:txBody>
      </p:sp>
    </p:spTree>
    <p:extLst>
      <p:ext uri="{BB962C8B-B14F-4D97-AF65-F5344CB8AC3E}">
        <p14:creationId xmlns:p14="http://schemas.microsoft.com/office/powerpoint/2010/main" val="37720666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5" name="图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91677" y="1858472"/>
            <a:ext cx="4185211" cy="2788920"/>
          </a:xfrm>
          <a:prstGeom prst="rect">
            <a:avLst/>
          </a:prstGeom>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易学易用</a:t>
            </a:r>
            <a:endParaRPr lang="zh-CN" altLang="en-US" sz="4400" dirty="0"/>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21208" y="1599392"/>
            <a:ext cx="11155680" cy="4359448"/>
          </a:xfrm>
        </p:spPr>
        <p:txBody>
          <a:bodyPr/>
          <a:lstStyle/>
          <a:p>
            <a:pPr marL="0" indent="0">
              <a:buNone/>
            </a:pPr>
            <a:r>
              <a:rPr lang="zh-CN" altLang="en-US" sz="1800" dirty="0" smtClean="0">
                <a:latin typeface="+mn-ea"/>
              </a:rPr>
              <a:t>情绪释放技术</a:t>
            </a:r>
            <a:r>
              <a:rPr lang="en-US" altLang="zh-CN" sz="1800" dirty="0" smtClean="0">
                <a:latin typeface="+mn-ea"/>
              </a:rPr>
              <a:t>EFT</a:t>
            </a:r>
            <a:r>
              <a:rPr lang="zh-CN" altLang="en-US" sz="1800" dirty="0" smtClean="0">
                <a:latin typeface="+mn-ea"/>
              </a:rPr>
              <a:t>，是一个固定程式，它包含</a:t>
            </a:r>
            <a:r>
              <a:rPr lang="zh-CN" altLang="en-US" sz="1800" b="1" dirty="0" smtClean="0">
                <a:latin typeface="+mn-ea"/>
              </a:rPr>
              <a:t>“一句提示语”</a:t>
            </a:r>
            <a:r>
              <a:rPr lang="zh-CN" altLang="en-US" sz="1800" dirty="0" smtClean="0">
                <a:latin typeface="+mn-ea"/>
              </a:rPr>
              <a:t>和</a:t>
            </a:r>
            <a:r>
              <a:rPr lang="zh-CN" altLang="en-US" sz="1800" b="1" dirty="0" smtClean="0">
                <a:latin typeface="+mn-ea"/>
              </a:rPr>
              <a:t>“弹十几个穴位”</a:t>
            </a:r>
            <a:r>
              <a:rPr lang="zh-CN" altLang="en-US" sz="1800" dirty="0" smtClean="0">
                <a:latin typeface="+mn-ea"/>
              </a:rPr>
              <a:t>。</a:t>
            </a:r>
            <a:endParaRPr lang="en-US" altLang="zh-CN" sz="1800" dirty="0" smtClean="0">
              <a:latin typeface="+mn-ea"/>
            </a:endParaRPr>
          </a:p>
          <a:p>
            <a:pPr marL="0" indent="0">
              <a:buNone/>
            </a:pPr>
            <a:r>
              <a:rPr lang="zh-CN" altLang="en-US" sz="1800" b="1" dirty="0" smtClean="0">
                <a:latin typeface="+mn-ea"/>
              </a:rPr>
              <a:t>十分钟</a:t>
            </a:r>
            <a:r>
              <a:rPr lang="zh-CN" altLang="en-US" sz="1800" dirty="0" smtClean="0">
                <a:latin typeface="+mn-ea"/>
              </a:rPr>
              <a:t>用它去消除一种痛苦记忆，解开一个心结可能只需要不到一个小时。</a:t>
            </a:r>
            <a:endParaRPr lang="en-US" altLang="zh-CN" sz="1800" dirty="0" smtClean="0">
              <a:latin typeface="+mn-ea"/>
            </a:endParaRPr>
          </a:p>
          <a:p>
            <a:pPr marL="0" indent="0">
              <a:buNone/>
            </a:pPr>
            <a:r>
              <a:rPr lang="zh-CN" altLang="en-US" sz="1800" dirty="0" smtClean="0">
                <a:latin typeface="+mn-ea"/>
              </a:rPr>
              <a:t>无成本，无痛，无药物，无副作用的绿色疗法。</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“接受和爱自己”的自我暗示。</a:t>
            </a:r>
            <a:endParaRPr lang="en-US" altLang="zh-CN" sz="1800" dirty="0" smtClean="0">
              <a:latin typeface="+mn-ea"/>
            </a:endParaRPr>
          </a:p>
          <a:p>
            <a:pPr marL="0" indent="0">
              <a:buNone/>
            </a:pPr>
            <a:r>
              <a:rPr lang="zh-CN" altLang="en-US" sz="1800" dirty="0" smtClean="0">
                <a:latin typeface="+mn-ea"/>
              </a:rPr>
              <a:t>“我无条件地，完完全全接受和认可自己，爱自己。”</a:t>
            </a:r>
            <a:endParaRPr lang="en-US" altLang="zh-CN" sz="1800" dirty="0" smtClean="0">
              <a:latin typeface="+mn-ea"/>
            </a:endParaRPr>
          </a:p>
          <a:p>
            <a:pPr marL="0" indent="0">
              <a:buNone/>
            </a:pPr>
            <a:r>
              <a:rPr lang="zh-CN" altLang="en-US" sz="1800" dirty="0" smtClean="0">
                <a:latin typeface="+mn-ea"/>
              </a:rPr>
              <a:t>注意：“接受和爱自己”不等于“认命”。</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音乐</a:t>
            </a:r>
            <a:r>
              <a:rPr lang="en-US" altLang="zh-CN" sz="1800" dirty="0" smtClean="0">
                <a:latin typeface="+mn-ea"/>
              </a:rPr>
              <a:t>+EFT+</a:t>
            </a:r>
            <a:r>
              <a:rPr lang="zh-CN" altLang="en-US" sz="1800" dirty="0" smtClean="0">
                <a:latin typeface="+mn-ea"/>
              </a:rPr>
              <a:t>心理疗愈</a:t>
            </a:r>
            <a:r>
              <a:rPr lang="en-US" altLang="zh-CN" sz="1800" dirty="0">
                <a:latin typeface="+mn-ea"/>
              </a:rPr>
              <a:t> </a:t>
            </a:r>
            <a:r>
              <a:rPr lang="en-US" altLang="zh-CN" sz="1800" dirty="0" smtClean="0">
                <a:latin typeface="+mn-ea"/>
              </a:rPr>
              <a:t>&gt; </a:t>
            </a:r>
            <a:r>
              <a:rPr lang="zh-CN" altLang="en-US" sz="1800" dirty="0" smtClean="0">
                <a:latin typeface="+mn-ea"/>
              </a:rPr>
              <a:t>一般</a:t>
            </a:r>
            <a:r>
              <a:rPr lang="en-US" altLang="zh-CN" sz="1800" dirty="0" smtClean="0">
                <a:latin typeface="+mn-ea"/>
              </a:rPr>
              <a:t>EFT</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521208" y="5788373"/>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音乐</a:t>
            </a:r>
            <a:r>
              <a:rPr lang="en-US" altLang="zh-CN" sz="3200" dirty="0" smtClean="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pic>
        <p:nvPicPr>
          <p:cNvPr id="4" name="图片 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568439" y="4019973"/>
            <a:ext cx="5108449" cy="2838027"/>
          </a:xfrm>
          <a:prstGeom prst="rect">
            <a:avLst/>
          </a:prstGeom>
          <a:effectLst>
            <a:softEdge rad="127000"/>
          </a:effectLst>
        </p:spPr>
      </p:pic>
    </p:spTree>
    <p:extLst>
      <p:ext uri="{BB962C8B-B14F-4D97-AF65-F5344CB8AC3E}">
        <p14:creationId xmlns:p14="http://schemas.microsoft.com/office/powerpoint/2010/main" val="117308773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7" name="图片 6"/>
          <p:cNvPicPr>
            <a:picLocks noChangeAspect="1"/>
          </p:cNvPicPr>
          <p:nvPr/>
        </p:nvPicPr>
        <p:blipFill>
          <a:blip r:embed="rId2"/>
          <a:stretch>
            <a:fillRect/>
          </a:stretch>
        </p:blipFill>
        <p:spPr>
          <a:xfrm>
            <a:off x="865629" y="5010509"/>
            <a:ext cx="3129004" cy="1738336"/>
          </a:xfrm>
          <a:prstGeom prst="rect">
            <a:avLst/>
          </a:prstGeom>
          <a:effectLst>
            <a:softEdge rad="127000"/>
          </a:effectLst>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61778" cy="1772991"/>
          </a:xfrm>
          <a:effectLst/>
        </p:spPr>
        <p:txBody>
          <a:bodyPr/>
          <a:lstStyle/>
          <a:p>
            <a:pPr marL="0" indent="0">
              <a:buNone/>
            </a:pPr>
            <a:r>
              <a:rPr lang="en-US" altLang="zh-CN" sz="1800" b="1" dirty="0">
                <a:latin typeface="+mn-ea"/>
              </a:rPr>
              <a:t>1.</a:t>
            </a:r>
            <a:r>
              <a:rPr lang="zh-CN" altLang="en-US" sz="1800" b="1" dirty="0">
                <a:latin typeface="+mn-ea"/>
              </a:rPr>
              <a:t>设置自助目标</a:t>
            </a:r>
          </a:p>
          <a:p>
            <a:pPr>
              <a:buFont typeface="Wingdings" panose="05000000000000000000" pitchFamily="2" charset="2"/>
              <a:buChar char="l"/>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a:t>
            </a:r>
            <a:r>
              <a:rPr lang="zh-CN" altLang="en-US" sz="1800" dirty="0" smtClean="0">
                <a:latin typeface="+mn-ea"/>
              </a:rPr>
              <a:t>帮助人员</a:t>
            </a:r>
            <a:r>
              <a:rPr lang="zh-CN" altLang="en-US" sz="1800" dirty="0">
                <a:latin typeface="+mn-ea"/>
              </a:rPr>
              <a:t>聚焦情绪状态，将当前最大的情绪困扰或伤痛回忆起来，例如与亲人分离的场景、人际关系紧张的状态等，保持让自己不愉快的情绪状态。</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055621"/>
            <a:ext cx="5306570" cy="251050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821680" y="2865121"/>
            <a:ext cx="5979795" cy="36928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503920" y="4838193"/>
            <a:ext cx="3166872" cy="2111248"/>
          </a:xfrm>
          <a:prstGeom prst="rect">
            <a:avLst/>
          </a:prstGeom>
          <a:effectLst>
            <a:softEdge rad="127000"/>
          </a:effectLst>
        </p:spPr>
      </p:pic>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21208" y="1599392"/>
            <a:ext cx="11155680" cy="1744630"/>
          </a:xfrm>
        </p:spPr>
        <p:txBody>
          <a:bodyPr/>
          <a:lstStyle/>
          <a:p>
            <a:pPr marL="0" indent="0">
              <a:buNone/>
            </a:pPr>
            <a:r>
              <a:rPr lang="en-US" altLang="zh-CN" sz="1800" b="1" dirty="0">
                <a:latin typeface="+mn-ea"/>
              </a:rPr>
              <a:t>2.</a:t>
            </a:r>
            <a:r>
              <a:rPr lang="zh-CN" altLang="en-US" sz="1800" b="1"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r>
              <a:rPr lang="zh-CN" altLang="en-US" sz="1800" dirty="0" smtClean="0">
                <a:latin typeface="+mn-ea"/>
              </a:rPr>
              <a:t>”</a:t>
            </a:r>
            <a:r>
              <a:rPr lang="zh-CN" altLang="en-US" sz="1800" dirty="0">
                <a:latin typeface="+mn-ea"/>
              </a:rPr>
              <a:t>。</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3344022"/>
            <a:ext cx="3425952" cy="281293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3.NLP</a:t>
            </a:r>
            <a:r>
              <a:rPr lang="zh-CN" altLang="en-US" sz="1800" b="1" dirty="0">
                <a:latin typeface="+mn-ea"/>
              </a:rPr>
              <a:t>情绪脱敏</a:t>
            </a:r>
          </a:p>
          <a:p>
            <a:pPr marL="0" indent="0">
              <a:buFont typeface="Arial" panose="020B0604020202020204" pitchFamily="34" charset="0"/>
              <a:buNone/>
            </a:pPr>
            <a:r>
              <a:rPr lang="zh-CN" altLang="en-US" sz="1800" dirty="0">
                <a:latin typeface="+mn-ea"/>
              </a:rPr>
              <a:t>敲击</a:t>
            </a:r>
            <a:r>
              <a:rPr lang="zh-CN" altLang="en-US" sz="1800" dirty="0" smtClean="0">
                <a:latin typeface="+mn-ea"/>
              </a:rPr>
              <a:t>中各穴</a:t>
            </a:r>
            <a:r>
              <a:rPr lang="zh-CN" altLang="en-US" sz="1800" dirty="0">
                <a:latin typeface="+mn-ea"/>
              </a:rPr>
              <a:t>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959352" y="3246163"/>
            <a:ext cx="7723632" cy="150432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4.</a:t>
            </a:r>
            <a:r>
              <a:rPr lang="zh-CN" altLang="en-US" sz="1800" b="1"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spTree>
    <p:extLst>
      <p:ext uri="{BB962C8B-B14F-4D97-AF65-F5344CB8AC3E}">
        <p14:creationId xmlns:p14="http://schemas.microsoft.com/office/powerpoint/2010/main" val="7359287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pic>
        <p:nvPicPr>
          <p:cNvPr id="6" name="图片 5"/>
          <p:cNvPicPr>
            <a:picLocks noChangeAspect="1"/>
          </p:cNvPicPr>
          <p:nvPr/>
        </p:nvPicPr>
        <p:blipFill>
          <a:blip r:embed="rId2"/>
          <a:stretch>
            <a:fillRect/>
          </a:stretch>
        </p:blipFill>
        <p:spPr>
          <a:xfrm>
            <a:off x="7002218" y="4373877"/>
            <a:ext cx="3392954" cy="2261970"/>
          </a:xfrm>
          <a:prstGeom prst="rect">
            <a:avLst/>
          </a:prstGeom>
          <a:effectLst>
            <a:softEdge rad="127000"/>
          </a:effectLst>
        </p:spPr>
      </p:pic>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24257" y="1576785"/>
            <a:ext cx="5574791" cy="3989337"/>
          </a:xfrm>
        </p:spPr>
        <p:txBody>
          <a:bodyPr/>
          <a:lstStyle/>
          <a:p>
            <a:pPr marL="0" indent="0">
              <a:buNone/>
            </a:pPr>
            <a:r>
              <a:rPr lang="zh-CN" altLang="en-US" sz="1800" b="1" dirty="0" smtClean="0">
                <a:latin typeface="+mn-ea"/>
              </a:rPr>
              <a:t>热身</a:t>
            </a:r>
            <a:r>
              <a:rPr lang="zh-CN" altLang="en-US" sz="1800" b="1" dirty="0">
                <a:latin typeface="+mn-ea"/>
              </a:rPr>
              <a:t>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092953"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a:t>
            </a:r>
            <a:r>
              <a:rPr lang="zh-CN" altLang="en-US" sz="1800" dirty="0" smtClean="0">
                <a:latin typeface="+mn-ea"/>
              </a:rPr>
              <a:t>敲手腕</a:t>
            </a:r>
            <a:r>
              <a:rPr lang="zh-CN" altLang="en-US" sz="1800" dirty="0">
                <a:latin typeface="+mn-ea"/>
              </a:rPr>
              <a:t>内侧（备用穴位 </a:t>
            </a:r>
            <a:r>
              <a:rPr lang="en-US" altLang="zh-CN" sz="1800" dirty="0">
                <a:latin typeface="+mn-ea"/>
              </a:rPr>
              <a:t>KC</a:t>
            </a:r>
            <a:r>
              <a:rPr lang="zh-CN" altLang="en-US" sz="1800" dirty="0" smtClean="0">
                <a:latin typeface="+mn-ea"/>
              </a:rPr>
              <a:t>），</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a:t>
            </a:r>
            <a:r>
              <a:rPr lang="zh-CN" altLang="en-US" sz="1800" dirty="0" smtClean="0">
                <a:latin typeface="+mn-ea"/>
              </a:rPr>
              <a:t>，但</a:t>
            </a:r>
            <a:r>
              <a:rPr lang="zh-CN" altLang="en-US" sz="1800" dirty="0">
                <a:latin typeface="+mn-ea"/>
              </a:rPr>
              <a:t>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3" y="1576785"/>
            <a:ext cx="3584346" cy="2995215"/>
          </a:xfrm>
        </p:spPr>
        <p:txBody>
          <a:bodyPr/>
          <a:lstStyle/>
          <a:p>
            <a:pPr marL="0" indent="0">
              <a:buNone/>
            </a:pPr>
            <a:r>
              <a:rPr lang="zh-CN" altLang="en-US" b="1" dirty="0" smtClean="0">
                <a:latin typeface="+mn-ea"/>
              </a:rPr>
              <a:t>情绪</a:t>
            </a:r>
            <a:r>
              <a:rPr lang="zh-CN" altLang="en-US" b="1" dirty="0">
                <a:latin typeface="+mn-ea"/>
              </a:rPr>
              <a:t>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4099459" y="1576785"/>
            <a:ext cx="774487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3</a:t>
            </a:r>
            <a:r>
              <a:rPr lang="zh-CN" altLang="en-US"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4</a:t>
            </a:r>
            <a:r>
              <a:rPr lang="zh-CN" altLang="en-US" dirty="0">
                <a:latin typeface="+mn-ea"/>
              </a:rPr>
              <a:t>）持续敲击中渚穴时进行以下</a:t>
            </a:r>
            <a:r>
              <a:rPr lang="en-US" altLang="zh-CN" dirty="0">
                <a:latin typeface="+mn-ea"/>
              </a:rPr>
              <a:t>9</a:t>
            </a:r>
            <a:r>
              <a:rPr lang="zh-CN" altLang="en-US" dirty="0">
                <a:latin typeface="+mn-ea"/>
              </a:rPr>
              <a:t>个步骤：眼睛闭上；眼睛张开；眼睛往右下看并保持头部不动；眼睛向左下看并保持头部不动；眼睛顺时钟旋转；眼睛逆时钟旋转；哼快乐的歌</a:t>
            </a:r>
            <a:r>
              <a:rPr lang="en-US" altLang="zh-CN" dirty="0">
                <a:latin typeface="+mn-ea"/>
              </a:rPr>
              <a:t>2</a:t>
            </a:r>
            <a:r>
              <a:rPr lang="zh-CN" altLang="en-US" dirty="0">
                <a:latin typeface="+mn-ea"/>
              </a:rPr>
              <a:t>秒钟；快速地数</a:t>
            </a:r>
            <a:r>
              <a:rPr lang="en-US" altLang="zh-CN" dirty="0">
                <a:latin typeface="+mn-ea"/>
              </a:rPr>
              <a:t>1</a:t>
            </a:r>
            <a:r>
              <a:rPr lang="zh-CN" altLang="en-US" dirty="0">
                <a:latin typeface="+mn-ea"/>
              </a:rPr>
              <a:t>～</a:t>
            </a:r>
            <a:r>
              <a:rPr lang="en-US" altLang="zh-CN" dirty="0">
                <a:latin typeface="+mn-ea"/>
              </a:rPr>
              <a:t>5</a:t>
            </a:r>
            <a:r>
              <a:rPr lang="zh-CN" altLang="en-US" dirty="0">
                <a:latin typeface="+mn-ea"/>
              </a:rPr>
              <a:t>；再哼快乐的歌</a:t>
            </a:r>
            <a:r>
              <a:rPr lang="en-US" altLang="zh-CN" dirty="0">
                <a:latin typeface="+mn-ea"/>
              </a:rPr>
              <a:t>2</a:t>
            </a:r>
            <a:r>
              <a:rPr lang="zh-CN" altLang="en-US"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4099459" y="3695899"/>
            <a:ext cx="4701641" cy="283377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5</a:t>
            </a:r>
            <a:r>
              <a:rPr lang="zh-CN" altLang="en-US" dirty="0">
                <a:latin typeface="+mn-ea"/>
              </a:rPr>
              <a:t>）再次敲击或按摩攒竹、瞳子髎、承泣、人中、承浆、俞府、檀中、百会等穴位，每个穴位</a:t>
            </a:r>
            <a:r>
              <a:rPr lang="en-US" altLang="zh-CN" dirty="0">
                <a:latin typeface="+mn-ea"/>
              </a:rPr>
              <a:t>5-10</a:t>
            </a:r>
            <a:r>
              <a:rPr lang="zh-CN" altLang="en-US"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6</a:t>
            </a:r>
            <a:r>
              <a:rPr lang="zh-CN" altLang="en-US"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711049" y="4228333"/>
            <a:ext cx="2965839" cy="1977225"/>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3</a:t>
            </a:r>
            <a:r>
              <a:rPr lang="zh-CN" altLang="en-US" sz="44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a:effectLst/>
        </p:spPr>
        <p:txBody>
          <a:bodyPr/>
          <a:lstStyle/>
          <a:p>
            <a:pPr marL="0" indent="0">
              <a:buNone/>
            </a:pPr>
            <a:r>
              <a:rPr lang="zh-CN" altLang="en-US" sz="1800" b="1" dirty="0">
                <a:latin typeface="+mn-ea"/>
              </a:rPr>
              <a:t>敲击核心穴位</a:t>
            </a:r>
          </a:p>
          <a:p>
            <a:pPr marL="0" indent="0">
              <a:buNone/>
            </a:pPr>
            <a:r>
              <a:rPr lang="en-US" altLang="zh-CN" sz="1800" dirty="0" smtClean="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88932" y="4381247"/>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95069" y="4383963"/>
            <a:ext cx="3971925" cy="2066725"/>
          </a:xfrm>
          <a:prstGeom prst="rect">
            <a:avLst/>
          </a:prstGeom>
        </p:spPr>
      </p:pic>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4</a:t>
            </a:r>
            <a:r>
              <a:rPr lang="zh-CN" altLang="en-US" sz="44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21208" y="1599392"/>
            <a:ext cx="11500677" cy="3989337"/>
          </a:xfrm>
        </p:spPr>
        <p:txBody>
          <a:bodyPr/>
          <a:lstStyle/>
          <a:p>
            <a:pPr marL="0" indent="0">
              <a:buNone/>
            </a:pPr>
            <a:r>
              <a:rPr lang="zh-CN" altLang="en-US" sz="1800" b="1" dirty="0">
                <a:latin typeface="+mn-ea"/>
              </a:rPr>
              <a:t>基础操作原则</a:t>
            </a:r>
          </a:p>
          <a:p>
            <a:pPr marL="0" indent="0">
              <a:buNone/>
            </a:pPr>
            <a:r>
              <a:rPr lang="en-US" altLang="zh-CN" sz="1800" dirty="0" smtClean="0">
                <a:latin typeface="+mn-ea"/>
              </a:rPr>
              <a:t>- </a:t>
            </a:r>
            <a:r>
              <a:rPr lang="zh-CN" altLang="en-US" sz="1800" dirty="0" smtClean="0">
                <a:latin typeface="+mn-ea"/>
              </a:rPr>
              <a:t>敲击方法</a:t>
            </a:r>
            <a:r>
              <a:rPr lang="zh-CN" altLang="en-US" sz="1800" dirty="0">
                <a:latin typeface="+mn-ea"/>
              </a:rPr>
              <a:t>：用两根手指（随便哪只手都行）敲击或按摩。</a:t>
            </a:r>
            <a:endParaRPr lang="en-US" altLang="zh-CN" sz="1800" dirty="0" smtClean="0">
              <a:latin typeface="+mn-ea"/>
            </a:endParaRPr>
          </a:p>
          <a:p>
            <a:pPr marL="0" indent="0">
              <a:buNone/>
            </a:pPr>
            <a:r>
              <a:rPr lang="en-US" altLang="zh-CN" sz="1800" dirty="0" smtClean="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a:buFontTx/>
              <a:buChar char="-"/>
            </a:pPr>
            <a:r>
              <a:rPr lang="zh-CN" altLang="en-US" sz="1800" dirty="0" smtClean="0">
                <a:latin typeface="+mn-ea"/>
              </a:rPr>
              <a:t>注意</a:t>
            </a:r>
            <a:r>
              <a:rPr lang="zh-CN" altLang="en-US" sz="1800" dirty="0">
                <a:latin typeface="+mn-ea"/>
              </a:rPr>
              <a:t>：</a:t>
            </a:r>
            <a:r>
              <a:rPr lang="en-US" altLang="zh-CN" sz="1800" dirty="0" smtClean="0">
                <a:latin typeface="+mn-ea"/>
              </a:rPr>
              <a:t>EFT</a:t>
            </a:r>
            <a:r>
              <a:rPr lang="zh-CN" altLang="en-US" sz="1800" dirty="0" smtClean="0">
                <a:latin typeface="+mn-ea"/>
              </a:rPr>
              <a:t>仅</a:t>
            </a:r>
            <a:r>
              <a:rPr lang="zh-CN" altLang="en-US" sz="1800" dirty="0">
                <a:latin typeface="+mn-ea"/>
              </a:rPr>
              <a:t>作为情绪缓解的辅助方式，若有严重心理问题，仍需结合专业心理治疗</a:t>
            </a:r>
            <a:r>
              <a:rPr lang="zh-CN" altLang="en-US" sz="1800" dirty="0" smtClean="0">
                <a:latin typeface="+mn-ea"/>
              </a:rPr>
              <a:t>。</a:t>
            </a:r>
            <a:endParaRPr lang="en-US" altLang="zh-CN" sz="1800" dirty="0" smtClean="0">
              <a:latin typeface="+mn-ea"/>
            </a:endParaRPr>
          </a:p>
        </p:txBody>
      </p:sp>
    </p:spTree>
    <p:extLst>
      <p:ext uri="{BB962C8B-B14F-4D97-AF65-F5344CB8AC3E}">
        <p14:creationId xmlns:p14="http://schemas.microsoft.com/office/powerpoint/2010/main" val="2876360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35266" y="4430852"/>
            <a:ext cx="3644712" cy="2049316"/>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521208" y="1562169"/>
            <a:ext cx="11155680" cy="1528939"/>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21208" y="2949944"/>
            <a:ext cx="11155680" cy="224892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膀胱</a:t>
            </a:r>
            <a:r>
              <a:rPr lang="zh-CN" altLang="en-US" sz="1800" dirty="0">
                <a:latin typeface="+mn-ea"/>
              </a:rPr>
              <a:t>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4</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a:t>
            </a:r>
            <a:r>
              <a:rPr lang="zh-CN" altLang="en-US" sz="1800" dirty="0" smtClean="0">
                <a:latin typeface="+mn-ea"/>
              </a:rPr>
              <a:t>髎，</a:t>
            </a:r>
            <a:r>
              <a:rPr lang="zh-CN" altLang="en-US" sz="1800" dirty="0">
                <a:latin typeface="+mn-ea"/>
              </a:rPr>
              <a:t>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33757" y="5930044"/>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248011" y="4084108"/>
            <a:ext cx="1995419" cy="1995419"/>
          </a:xfrm>
          <a:prstGeom prst="rect">
            <a:avLst/>
          </a:prstGeom>
          <a:effectLst>
            <a:softEdge rad="127000"/>
          </a:effectLst>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5</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82201" y="595368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a:t>
            </a:r>
            <a:r>
              <a:rPr lang="zh-CN" altLang="en-US" sz="3200" dirty="0" smtClean="0">
                <a:effectLst>
                  <a:outerShdw blurRad="38100" dist="38100" dir="2700000" algn="tl">
                    <a:srgbClr val="000000">
                      <a:alpha val="43137"/>
                    </a:srgbClr>
                  </a:outerShdw>
                </a:effectLst>
                <a:latin typeface="+mn-ea"/>
              </a:rPr>
              <a:t>穴</a:t>
            </a:r>
            <a:r>
              <a:rPr lang="zh-CN" altLang="en-US" sz="3200" dirty="0">
                <a:effectLst>
                  <a:outerShdw blurRad="38100" dist="38100" dir="2700000" algn="tl">
                    <a:srgbClr val="000000">
                      <a:alpha val="43137"/>
                    </a:srgbClr>
                  </a:outerShdw>
                </a:effectLst>
                <a:latin typeface="+mn-ea"/>
              </a:rPr>
              <a:t>（足阳明胃经）</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72171" y="4513149"/>
            <a:ext cx="2075728" cy="2075728"/>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32974"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548086" y="2973633"/>
            <a:ext cx="5122704"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6</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319267" y="5627491"/>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人中穴（水沟穴）（督</a:t>
            </a:r>
            <a:r>
              <a:rPr lang="zh-CN" altLang="en-US" sz="3200" dirty="0" smtClean="0">
                <a:effectLst>
                  <a:outerShdw blurRad="38100" dist="38100" dir="2700000" algn="tl">
                    <a:srgbClr val="000000">
                      <a:alpha val="43137"/>
                    </a:srgbClr>
                  </a:outerShdw>
                </a:effectLst>
                <a:latin typeface="+mn-ea"/>
              </a:rPr>
              <a:t>脉）</a:t>
            </a:r>
            <a:endParaRPr lang="zh-CN" altLang="en-US" sz="3200" dirty="0">
              <a:effectLst>
                <a:outerShdw blurRad="38100" dist="38100" dir="2700000" algn="tl">
                  <a:srgbClr val="000000">
                    <a:alpha val="43137"/>
                  </a:srgbClr>
                </a:outerShdw>
              </a:effectLst>
              <a:latin typeface="+mn-ea"/>
            </a:endParaRP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38653" y="4431885"/>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11161776"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7</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8" y="1595372"/>
            <a:ext cx="5431475" cy="1068153"/>
          </a:xfrm>
        </p:spPr>
        <p:txBody>
          <a:bodyPr/>
          <a:lstStyle/>
          <a:p>
            <a:pPr>
              <a:buFont typeface="Wingdings" panose="05000000000000000000" pitchFamily="2" charset="2"/>
              <a:buChar char="n"/>
            </a:pPr>
            <a:r>
              <a:rPr lang="zh-CN" altLang="en-US" sz="1400" dirty="0">
                <a:latin typeface="+mn-ea"/>
              </a:rPr>
              <a:t>对应情绪</a:t>
            </a:r>
            <a:r>
              <a:rPr lang="zh-CN" altLang="en-US" sz="1400" dirty="0" smtClean="0">
                <a:latin typeface="+mn-ea"/>
              </a:rPr>
              <a:t>：</a:t>
            </a:r>
            <a:r>
              <a:rPr lang="zh-CN" altLang="en-US" sz="1400" dirty="0">
                <a:latin typeface="+mn-ea"/>
              </a:rPr>
              <a:t>被压抑的</a:t>
            </a:r>
            <a:r>
              <a:rPr lang="zh-CN" altLang="en-US" sz="1400" dirty="0" smtClean="0">
                <a:latin typeface="+mn-ea"/>
              </a:rPr>
              <a:t>情绪</a:t>
            </a:r>
            <a:endParaRPr lang="en-US" altLang="zh-CN" sz="1400" dirty="0" smtClean="0">
              <a:latin typeface="+mn-ea"/>
            </a:endParaRPr>
          </a:p>
          <a:p>
            <a:pPr>
              <a:buFont typeface="Wingdings" panose="05000000000000000000" pitchFamily="2" charset="2"/>
              <a:buChar char="n"/>
            </a:pPr>
            <a:r>
              <a:rPr lang="zh-CN" altLang="en-US" sz="1400" dirty="0" smtClean="0">
                <a:latin typeface="+mn-ea"/>
              </a:rPr>
              <a:t>穴位</a:t>
            </a:r>
            <a:r>
              <a:rPr lang="zh-CN" altLang="en-US" sz="1400" dirty="0">
                <a:latin typeface="+mn-ea"/>
              </a:rPr>
              <a:t>位置</a:t>
            </a:r>
            <a:r>
              <a:rPr lang="zh-CN" altLang="en-US" sz="1400" dirty="0" smtClean="0">
                <a:latin typeface="+mn-ea"/>
              </a:rPr>
              <a:t>：</a:t>
            </a:r>
            <a:r>
              <a:rPr lang="zh-CN" altLang="en-US" sz="1400" dirty="0">
                <a:latin typeface="+mn-ea"/>
              </a:rPr>
              <a:t>下嘴唇下方、下巴骨上方的凹陷</a:t>
            </a:r>
            <a:r>
              <a:rPr lang="zh-CN" altLang="en-US" sz="1400" dirty="0" smtClean="0">
                <a:latin typeface="+mn-ea"/>
              </a:rPr>
              <a:t>处</a:t>
            </a:r>
            <a:endParaRPr lang="en-US" altLang="zh-CN" sz="1400" dirty="0" smtClean="0">
              <a:latin typeface="+mn-ea"/>
            </a:endParaRPr>
          </a:p>
          <a:p>
            <a:pPr>
              <a:buFont typeface="Wingdings" panose="05000000000000000000" pitchFamily="2" charset="2"/>
              <a:buChar char="n"/>
            </a:pPr>
            <a:r>
              <a:rPr lang="zh-CN" altLang="en-US" sz="1400" dirty="0" smtClean="0">
                <a:latin typeface="+mn-ea"/>
              </a:rPr>
              <a:t>功效</a:t>
            </a:r>
            <a:r>
              <a:rPr lang="zh-CN" altLang="en-US" sz="1400" dirty="0">
                <a:latin typeface="+mn-ea"/>
              </a:rPr>
              <a:t>作用</a:t>
            </a:r>
            <a:r>
              <a:rPr lang="zh-CN" altLang="en-US" sz="1400" dirty="0" smtClean="0">
                <a:latin typeface="+mn-ea"/>
              </a:rPr>
              <a:t>：稳定</a:t>
            </a:r>
            <a:r>
              <a:rPr lang="zh-CN" altLang="en-US" sz="1400" dirty="0">
                <a:latin typeface="+mn-ea"/>
              </a:rPr>
              <a:t>情绪状态，尤其适合缓解失控感、无助</a:t>
            </a:r>
            <a:r>
              <a:rPr lang="zh-CN" altLang="en-US" sz="1400" dirty="0" smtClean="0">
                <a:latin typeface="+mn-ea"/>
              </a:rPr>
              <a:t>感</a:t>
            </a:r>
            <a:endParaRPr lang="zh-CN" altLang="en-US" sz="14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48800" y="5971849"/>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承浆穴（任脉与足阳明胃经的交会穴）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389477" y="4267445"/>
            <a:ext cx="2287411" cy="228741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841800"/>
            <a:ext cx="8622792"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smtClean="0">
                <a:latin typeface="+mn-ea"/>
              </a:rPr>
              <a:t>任</a:t>
            </a:r>
            <a:r>
              <a:rPr lang="zh-CN" altLang="en-US" sz="1400" dirty="0">
                <a:latin typeface="+mn-ea"/>
              </a:rPr>
              <a:t>脉和督脉一样，与内在器官连结。</a:t>
            </a:r>
          </a:p>
          <a:p>
            <a:pPr marL="0" indent="0">
              <a:lnSpc>
                <a:spcPts val="1600"/>
              </a:lnSpc>
              <a:buFont typeface="Arial" panose="020B0604020202020204" pitchFamily="34" charset="0"/>
              <a:buNone/>
            </a:pPr>
            <a:r>
              <a:rPr lang="zh-CN" altLang="en-US" sz="1400" dirty="0">
                <a:latin typeface="+mn-ea"/>
              </a:rPr>
              <a:t>与生殖荷尔蒙及生殖器官，也就是摄护腺和子宫，有着紧密的连结</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这</a:t>
            </a:r>
            <a:r>
              <a:rPr lang="zh-CN" altLang="en-US" sz="1400" dirty="0">
                <a:latin typeface="+mn-ea"/>
              </a:rPr>
              <a:t>是一条强而有力的经络，对急性的压力和环境的反应有重大影响。</a:t>
            </a:r>
          </a:p>
          <a:p>
            <a:pPr marL="0" indent="0">
              <a:lnSpc>
                <a:spcPts val="1600"/>
              </a:lnSpc>
              <a:buFont typeface="Arial" panose="020B0604020202020204" pitchFamily="34" charset="0"/>
              <a:buNone/>
            </a:pPr>
            <a:r>
              <a:rPr lang="zh-CN" altLang="en-US" sz="1400" dirty="0">
                <a:latin typeface="+mn-ea"/>
              </a:rPr>
              <a:t>我们常常为了好面子，而假装自己没有受到压力</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我们</a:t>
            </a:r>
            <a:r>
              <a:rPr lang="zh-CN" altLang="en-US" sz="1400" dirty="0">
                <a:latin typeface="+mn-ea"/>
              </a:rPr>
              <a:t>学会了压抑自己的情绪和感觉，而且非常擅于此道。</a:t>
            </a:r>
          </a:p>
          <a:p>
            <a:pPr marL="0" indent="0">
              <a:lnSpc>
                <a:spcPts val="1600"/>
              </a:lnSpc>
              <a:buFont typeface="Arial" panose="020B0604020202020204" pitchFamily="34" charset="0"/>
              <a:buNone/>
            </a:pPr>
            <a:r>
              <a:rPr lang="zh-CN" altLang="en-US" sz="1400" dirty="0">
                <a:latin typeface="+mn-ea"/>
              </a:rPr>
              <a:t>擅长到甚至相信自己没有任何压力。这会导致情绪爆发，变得不可理喻，大题小作，爆发的反应甚至大到会吓坏自己。</a:t>
            </a:r>
          </a:p>
          <a:p>
            <a:pPr marL="0" indent="0">
              <a:lnSpc>
                <a:spcPts val="1600"/>
              </a:lnSpc>
              <a:buFont typeface="Arial" panose="020B0604020202020204" pitchFamily="34" charset="0"/>
              <a:buNone/>
            </a:pPr>
            <a:r>
              <a:rPr lang="zh-CN" altLang="en-US" sz="1400" dirty="0">
                <a:latin typeface="+mn-ea"/>
              </a:rPr>
              <a:t>压抑情绪发生的比例，比我们想象的要高。</a:t>
            </a:r>
          </a:p>
          <a:p>
            <a:pPr marL="0" indent="0">
              <a:lnSpc>
                <a:spcPts val="1600"/>
              </a:lnSpc>
              <a:buFont typeface="Arial" panose="020B0604020202020204" pitchFamily="34" charset="0"/>
              <a:buNone/>
            </a:pPr>
            <a:r>
              <a:rPr lang="zh-CN" altLang="en-US" sz="1400" dirty="0">
                <a:latin typeface="+mn-ea"/>
              </a:rPr>
              <a:t>长时间压抑情绪造成的生理反应，可能影响子宫，摄护腺等器官，造成子宫肌瘤，摄护腺肥大等。</a:t>
            </a:r>
          </a:p>
          <a:p>
            <a:pPr marL="0" indent="0">
              <a:lnSpc>
                <a:spcPts val="1600"/>
              </a:lnSpc>
              <a:buFont typeface="Arial" panose="020B0604020202020204" pitchFamily="34" charset="0"/>
              <a:buNone/>
            </a:pPr>
            <a:r>
              <a:rPr lang="zh-CN" altLang="en-US" sz="14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6462169" y="1595372"/>
            <a:ext cx="5214719"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400" dirty="0">
                <a:latin typeface="+mn-ea"/>
              </a:rPr>
              <a:t>将那些情境带回到现在</a:t>
            </a:r>
            <a:r>
              <a:rPr lang="zh-CN" altLang="en-US" sz="1400" dirty="0" smtClean="0">
                <a:latin typeface="+mn-ea"/>
              </a:rPr>
              <a:t>。那时</a:t>
            </a:r>
            <a:r>
              <a:rPr lang="zh-CN" altLang="en-US" sz="14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400" dirty="0">
                <a:latin typeface="+mn-ea"/>
              </a:rPr>
              <a:t>是的，只要是人，就会有情绪，请允许自己接受这点。</a:t>
            </a:r>
          </a:p>
          <a:p>
            <a:pPr marL="0" indent="0">
              <a:buFont typeface="Arial" panose="020B0604020202020204" pitchFamily="34" charset="0"/>
              <a:buNone/>
            </a:pPr>
            <a:r>
              <a:rPr lang="zh-CN" altLang="en-US" sz="1400" dirty="0">
                <a:latin typeface="+mn-ea"/>
              </a:rPr>
              <a:t>接着，轻敲或按摩任脉的穴道「承浆</a:t>
            </a:r>
            <a:r>
              <a:rPr lang="zh-CN" altLang="en-US" sz="1400" dirty="0" smtClean="0">
                <a:latin typeface="+mn-ea"/>
              </a:rPr>
              <a:t>」。</a:t>
            </a:r>
            <a:endParaRPr lang="zh-CN" altLang="en-US" sz="14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8</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a:t>
            </a:r>
            <a:r>
              <a:rPr lang="zh-CN" altLang="en-US" sz="1800" dirty="0">
                <a:latin typeface="+mn-ea"/>
              </a:rPr>
              <a:t>平复烦躁</a:t>
            </a:r>
            <a:r>
              <a:rPr lang="zh-CN" altLang="en-US" sz="1800" dirty="0" smtClean="0">
                <a:latin typeface="+mn-ea"/>
              </a:rPr>
              <a:t>焦虑，</a:t>
            </a:r>
            <a:r>
              <a:rPr lang="zh-CN" altLang="en-US" sz="1800" dirty="0">
                <a:latin typeface="+mn-ea"/>
              </a:rPr>
              <a:t>改善失眠多梦引发的情绪</a:t>
            </a:r>
            <a:r>
              <a:rPr lang="zh-CN" altLang="en-US" sz="1800" dirty="0" smtClean="0">
                <a:latin typeface="+mn-ea"/>
              </a:rPr>
              <a:t>低落，</a:t>
            </a:r>
            <a:r>
              <a:rPr lang="zh-CN" altLang="en-US" sz="1800" dirty="0">
                <a:latin typeface="+mn-ea"/>
              </a:rPr>
              <a:t>缓解情志郁结导致的胸闷</a:t>
            </a:r>
            <a:endParaRPr lang="en-US" altLang="zh-CN" sz="1800" dirty="0" smtClean="0">
              <a:latin typeface="+mn-ea"/>
            </a:endParaRPr>
          </a:p>
          <a:p>
            <a:pPr>
              <a:buFont typeface="Wingdings" panose="05000000000000000000" pitchFamily="2" charset="2"/>
              <a:buChar char="n"/>
            </a:pPr>
            <a:r>
              <a:rPr lang="zh-CN" altLang="en-US" sz="1800" dirty="0">
                <a:latin typeface="+mn-ea"/>
              </a:rPr>
              <a:t>穴位</a:t>
            </a:r>
            <a:r>
              <a:rPr lang="zh-CN" altLang="en-US" sz="1800" dirty="0" smtClean="0">
                <a:latin typeface="+mn-ea"/>
              </a:rPr>
              <a:t>位置：胸部第二肋间隙，前正中线旁开两寸</a:t>
            </a:r>
            <a:r>
              <a:rPr lang="zh-CN" altLang="en-US" sz="1800" dirty="0">
                <a:latin typeface="+mn-ea"/>
              </a:rPr>
              <a:t>。低头时摸到锁骨，向中间靠近胸骨的位置，能感受到明显凹陷。</a:t>
            </a:r>
          </a:p>
          <a:p>
            <a:pPr>
              <a:buFont typeface="Wingdings" panose="05000000000000000000" pitchFamily="2" charset="2"/>
              <a:buChar char="n"/>
            </a:pPr>
            <a:r>
              <a:rPr lang="zh-CN" altLang="en-US" sz="1800" dirty="0" smtClean="0">
                <a:latin typeface="+mn-ea"/>
              </a:rPr>
              <a:t>功效作用：疏通肾经，改善心脏供血以安神（不痛快，胸口堵得慌，挺胸就是在拍神藏穴）。</a:t>
            </a:r>
            <a:endParaRPr lang="en-US" altLang="zh-CN" sz="1800" dirty="0" smtClean="0">
              <a:latin typeface="+mn-ea"/>
            </a:endParaRPr>
          </a:p>
          <a:p>
            <a:pPr marL="0" indent="0">
              <a:buNone/>
            </a:pPr>
            <a:r>
              <a:rPr lang="zh-CN" altLang="en-US" sz="1800" dirty="0" smtClean="0">
                <a:latin typeface="+mn-ea"/>
              </a:rPr>
              <a:t>神</a:t>
            </a:r>
            <a:r>
              <a:rPr lang="zh-CN" altLang="en-US" sz="1800" dirty="0">
                <a:latin typeface="+mn-ea"/>
              </a:rPr>
              <a:t>藏穴名中的 “神” 指心神、神志，“藏” 有收纳、安定之意，穴性与 “心神安定” 直接相关。</a:t>
            </a:r>
          </a:p>
          <a:p>
            <a:pPr marL="0" indent="0">
              <a:buNone/>
            </a:pPr>
            <a:r>
              <a:rPr lang="zh-CN" altLang="en-US" sz="1800" dirty="0" smtClean="0">
                <a:latin typeface="+mn-ea"/>
              </a:rPr>
              <a:t>足</a:t>
            </a:r>
            <a:r>
              <a:rPr lang="zh-CN" altLang="en-US" sz="1800" dirty="0">
                <a:latin typeface="+mn-ea"/>
              </a:rPr>
              <a:t>少阴肾经与心、肝等脏腑关联密切：肾主藏精，精能生血，血能养神；同时肾水可滋养肝木，避免肝失疏泄导致的情绪郁结。神藏穴作为肾经胸部穴位，能疏通本经气血，间接调和心、肝的情志功能。</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6511118"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前胸 </a:t>
            </a:r>
            <a:r>
              <a:rPr lang="en-US" altLang="zh-CN" sz="3200" dirty="0" smtClean="0">
                <a:effectLst>
                  <a:outerShdw blurRad="38100" dist="38100" dir="2700000" algn="tl">
                    <a:srgbClr val="000000">
                      <a:alpha val="43137"/>
                    </a:srgbClr>
                  </a:outerShdw>
                </a:effectLst>
                <a:latin typeface="+mn-ea"/>
              </a:rPr>
              <a:t>- </a:t>
            </a:r>
            <a:r>
              <a:rPr lang="zh-CN" altLang="en-US" sz="3200" dirty="0" smtClean="0">
                <a:effectLst>
                  <a:outerShdw blurRad="38100" dist="38100" dir="2700000" algn="tl">
                    <a:srgbClr val="000000">
                      <a:alpha val="43137"/>
                    </a:srgbClr>
                  </a:outerShdw>
                </a:effectLst>
                <a:latin typeface="+mn-ea"/>
              </a:rPr>
              <a:t>神</a:t>
            </a:r>
            <a:r>
              <a:rPr lang="zh-CN" altLang="en-US" sz="3200" dirty="0">
                <a:effectLst>
                  <a:outerShdw blurRad="38100" dist="38100" dir="2700000" algn="tl">
                    <a:srgbClr val="000000">
                      <a:alpha val="43137"/>
                    </a:srgbClr>
                  </a:outerShdw>
                </a:effectLst>
                <a:latin typeface="+mn-ea"/>
              </a:rPr>
              <a:t>藏</a:t>
            </a:r>
            <a:r>
              <a:rPr lang="zh-CN" altLang="en-US" sz="3200" dirty="0" smtClean="0">
                <a:effectLst>
                  <a:outerShdw blurRad="38100" dist="38100" dir="2700000" algn="tl">
                    <a:srgbClr val="000000">
                      <a:alpha val="43137"/>
                    </a:srgbClr>
                  </a:outerShdw>
                </a:effectLst>
                <a:latin typeface="+mn-ea"/>
              </a:rPr>
              <a:t>穴（足少阴肾经）</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02535" y="4565616"/>
            <a:ext cx="2287412" cy="215661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9</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对应情绪：疏解胸闷烦躁，改善焦虑引发的呼吸不畅，平复情绪激动引发的气</a:t>
            </a:r>
            <a:r>
              <a:rPr lang="zh-CN" altLang="en-US" sz="1800" dirty="0" smtClean="0">
                <a:latin typeface="+mn-ea"/>
              </a:rPr>
              <a:t>逆。</a:t>
            </a:r>
            <a:endParaRPr lang="en-US" altLang="zh-CN" sz="1800" dirty="0">
              <a:latin typeface="+mn-ea"/>
            </a:endParaRPr>
          </a:p>
          <a:p>
            <a:pPr>
              <a:buFont typeface="Wingdings" panose="05000000000000000000" pitchFamily="2" charset="2"/>
              <a:buChar char="n"/>
            </a:pPr>
            <a:r>
              <a:rPr lang="zh-CN" altLang="en-US" sz="1800" dirty="0" smtClean="0">
                <a:latin typeface="+mn-ea"/>
              </a:rPr>
              <a:t>穴位位置：</a:t>
            </a:r>
            <a:r>
              <a:rPr lang="zh-CN" altLang="en-US" sz="1800" dirty="0">
                <a:latin typeface="+mn-ea"/>
              </a:rPr>
              <a:t>两侧锁骨与胸骨连接处的凹陷处（锁骨内侧端点下方）</a:t>
            </a:r>
            <a:r>
              <a:rPr lang="zh-CN" altLang="en-US" sz="1800" dirty="0" smtClean="0">
                <a:latin typeface="+mn-ea"/>
              </a:rPr>
              <a:t>。</a:t>
            </a: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a:t>
            </a:r>
            <a:r>
              <a:rPr lang="zh-CN" altLang="en-US" sz="1800" dirty="0">
                <a:latin typeface="+mn-ea"/>
              </a:rPr>
              <a:t>释放深层压力，调节呼吸相关的情绪反应（如紧张导致的呼吸急促）</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endParaRPr lang="en-US" altLang="zh-CN" sz="1800" dirty="0" smtClean="0">
              <a:latin typeface="+mn-ea"/>
            </a:endParaRPr>
          </a:p>
          <a:p>
            <a:pPr marL="0" indent="0">
              <a:buNone/>
            </a:pPr>
            <a:r>
              <a:rPr lang="zh-CN" altLang="en-US" sz="1800" dirty="0">
                <a:latin typeface="+mn-ea"/>
              </a:rPr>
              <a:t>云门穴是肺经的起始穴，中府穴是肺经的募穴，二者协同作用，能疏通肺经气血、调节胸中气机，从根源上改善因肺气不畅引发的情绪失调。</a:t>
            </a:r>
            <a:endParaRPr lang="en-US" altLang="zh-CN" sz="1800" dirty="0">
              <a:latin typeface="+mn-ea"/>
            </a:endParaRPr>
          </a:p>
          <a:p>
            <a:pPr marL="0" indent="0">
              <a:buNone/>
            </a:pPr>
            <a:r>
              <a:rPr lang="zh-CN" altLang="en-US" sz="1800" dirty="0">
                <a:latin typeface="+mn-ea"/>
              </a:rPr>
              <a:t>两穴位于胸部，邻近胸腔脏器，禁止用力按压、捶打，尤其体质虚弱者、孕妇需轻柔</a:t>
            </a:r>
            <a:r>
              <a:rPr lang="zh-CN" altLang="en-US" sz="1800" dirty="0" smtClean="0">
                <a:latin typeface="+mn-ea"/>
              </a:rPr>
              <a:t>操作。</a:t>
            </a:r>
            <a:endParaRPr lang="en-US" altLang="zh-CN" sz="1800" dirty="0" smtClean="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云门穴和中府穴（手太阴肺经）</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878876" y="5066249"/>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10</a:t>
            </a:r>
            <a:r>
              <a:rPr lang="zh-CN" altLang="en-US" sz="4400" dirty="0" smtClean="0"/>
              <a:t>）</a:t>
            </a:r>
            <a:endParaRPr lang="zh-CN" altLang="en-US" sz="44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282445" y="5816655"/>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俞府穴（足少阴肾经）</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7033291"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ts val="1800"/>
              </a:lnSpc>
              <a:buFont typeface="Wingdings" panose="05000000000000000000" pitchFamily="2" charset="2"/>
              <a:buChar char="n"/>
            </a:pPr>
            <a:r>
              <a:rPr lang="zh-CN" altLang="en-US" sz="1400" dirty="0">
                <a:latin typeface="+mn-ea"/>
              </a:rPr>
              <a:t>对应情绪：缓解心肾不交引发的烦躁失眠，疏解胸中气机郁滞导致的压抑胸闷，辅助改善脾胃失调引发的</a:t>
            </a:r>
            <a:r>
              <a:rPr lang="zh-CN" altLang="en-US" sz="1400" dirty="0" smtClean="0">
                <a:latin typeface="+mn-ea"/>
              </a:rPr>
              <a:t>情绪不稳。</a:t>
            </a:r>
            <a:endParaRPr lang="en-US" altLang="zh-CN" sz="1400" dirty="0" smtClean="0">
              <a:latin typeface="+mn-ea"/>
            </a:endParaRPr>
          </a:p>
          <a:p>
            <a:pPr>
              <a:lnSpc>
                <a:spcPts val="1800"/>
              </a:lnSpc>
              <a:buFont typeface="Wingdings" panose="05000000000000000000" pitchFamily="2" charset="2"/>
              <a:buChar char="n"/>
            </a:pPr>
            <a:r>
              <a:rPr lang="zh-CN" altLang="en-US" sz="1400" dirty="0" smtClean="0">
                <a:latin typeface="+mn-ea"/>
              </a:rPr>
              <a:t>穴位</a:t>
            </a:r>
            <a:r>
              <a:rPr lang="zh-CN" altLang="en-US" sz="1400" dirty="0">
                <a:latin typeface="+mn-ea"/>
              </a:rPr>
              <a:t>位置：在胸部，锁骨下缘，前正中线旁开 </a:t>
            </a:r>
            <a:r>
              <a:rPr lang="en-US" altLang="zh-CN" sz="1400" dirty="0">
                <a:latin typeface="+mn-ea"/>
              </a:rPr>
              <a:t>2 </a:t>
            </a:r>
            <a:r>
              <a:rPr lang="zh-CN" altLang="en-US" sz="1400" dirty="0">
                <a:latin typeface="+mn-ea"/>
              </a:rPr>
              <a:t>寸。可先找到前正中线与乳头之间距离的中点（即旁开 </a:t>
            </a:r>
            <a:r>
              <a:rPr lang="en-US" altLang="zh-CN" sz="1400" dirty="0">
                <a:latin typeface="+mn-ea"/>
              </a:rPr>
              <a:t>2 </a:t>
            </a:r>
            <a:r>
              <a:rPr lang="zh-CN" altLang="en-US" sz="1400" dirty="0">
                <a:latin typeface="+mn-ea"/>
              </a:rPr>
              <a:t>寸处），再在锁骨下缘处取穴</a:t>
            </a:r>
            <a:r>
              <a:rPr lang="zh-CN" altLang="en-US" sz="1400" dirty="0" smtClean="0">
                <a:latin typeface="+mn-ea"/>
              </a:rPr>
              <a:t>。</a:t>
            </a:r>
            <a:endParaRPr lang="zh-CN" altLang="en-US" sz="1400" dirty="0">
              <a:latin typeface="+mn-ea"/>
            </a:endParaRPr>
          </a:p>
          <a:p>
            <a:pPr>
              <a:lnSpc>
                <a:spcPts val="1800"/>
              </a:lnSpc>
              <a:buFont typeface="Wingdings" panose="05000000000000000000" pitchFamily="2" charset="2"/>
              <a:buChar char="n"/>
            </a:pPr>
            <a:r>
              <a:rPr lang="zh-CN" altLang="en-US" sz="1400" dirty="0">
                <a:latin typeface="+mn-ea"/>
              </a:rPr>
              <a:t>功效作用：通过疏通胸部气机、滋养肾精心神，实现情绪的平稳</a:t>
            </a:r>
            <a:r>
              <a:rPr lang="zh-CN" altLang="en-US" sz="1400" dirty="0" smtClean="0">
                <a:latin typeface="+mn-ea"/>
              </a:rPr>
              <a:t>疏导。</a:t>
            </a:r>
            <a:endParaRPr lang="en-US" altLang="zh-CN" sz="1400" dirty="0" smtClean="0">
              <a:latin typeface="+mn-ea"/>
            </a:endParaRPr>
          </a:p>
          <a:p>
            <a:pPr marL="0" indent="0">
              <a:lnSpc>
                <a:spcPts val="1800"/>
              </a:lnSpc>
              <a:buNone/>
            </a:pPr>
            <a:r>
              <a:rPr lang="zh-CN" altLang="en-US" sz="1400" dirty="0" smtClean="0">
                <a:latin typeface="+mn-ea"/>
              </a:rPr>
              <a:t>与</a:t>
            </a:r>
            <a:r>
              <a:rPr lang="zh-CN" altLang="en-US" sz="1400" dirty="0">
                <a:latin typeface="+mn-ea"/>
              </a:rPr>
              <a:t>肾经相关的能量与情绪有，不信任，怀疑，觉得自己被利用，心神不宁，害怕，觉得不安全。</a:t>
            </a:r>
          </a:p>
          <a:p>
            <a:pPr marL="0" indent="0">
              <a:lnSpc>
                <a:spcPts val="1800"/>
              </a:lnSpc>
              <a:buFont typeface="Arial" panose="020B0604020202020204" pitchFamily="34" charset="0"/>
              <a:buNone/>
            </a:pPr>
            <a:r>
              <a:rPr lang="zh-CN" altLang="en-US" sz="1400" dirty="0" smtClean="0">
                <a:latin typeface="+mn-ea"/>
              </a:rPr>
              <a:t>恐惧</a:t>
            </a:r>
            <a:r>
              <a:rPr lang="zh-CN" altLang="en-US" sz="1400" dirty="0">
                <a:latin typeface="+mn-ea"/>
              </a:rPr>
              <a:t>是通往生命进化的一扇门，勇敢的面对恐惧，往前大步迈进。如果不敢面对恐惧，我们就无法真正的活着，而且某些门永远不会为我们而开。</a:t>
            </a:r>
          </a:p>
          <a:p>
            <a:pPr marL="0" indent="0">
              <a:lnSpc>
                <a:spcPts val="1800"/>
              </a:lnSpc>
              <a:buFont typeface="Arial" panose="020B0604020202020204" pitchFamily="34" charset="0"/>
              <a:buNone/>
            </a:pPr>
            <a:r>
              <a:rPr lang="zh-CN" altLang="en-US" sz="1400" dirty="0" smtClean="0">
                <a:latin typeface="+mn-ea"/>
              </a:rPr>
              <a:t>怀着</a:t>
            </a:r>
            <a:r>
              <a:rPr lang="zh-CN" altLang="en-US" sz="1400" dirty="0">
                <a:latin typeface="+mn-ea"/>
              </a:rPr>
              <a:t>这样的心情，我们要勇敢的面对，被拒绝，对立，被指责，被批判，等等等等的恐惧。我们要接受，每个人都可能这样子对待我，这是人生的一部分。</a:t>
            </a:r>
          </a:p>
          <a:p>
            <a:pPr marL="0" indent="0">
              <a:lnSpc>
                <a:spcPts val="1800"/>
              </a:lnSpc>
              <a:buFont typeface="Arial" panose="020B0604020202020204" pitchFamily="34" charset="0"/>
              <a:buNone/>
            </a:pPr>
            <a:r>
              <a:rPr lang="zh-CN" altLang="en-US" sz="1400" dirty="0" smtClean="0">
                <a:latin typeface="+mn-ea"/>
              </a:rPr>
              <a:t>我们</a:t>
            </a:r>
            <a:r>
              <a:rPr lang="zh-CN" altLang="en-US" sz="1400" dirty="0">
                <a:latin typeface="+mn-ea"/>
              </a:rPr>
              <a:t>每个人都有权力对别人说不，不让别人越雷池一步。</a:t>
            </a:r>
          </a:p>
          <a:p>
            <a:pPr marL="0" indent="0">
              <a:lnSpc>
                <a:spcPts val="1800"/>
              </a:lnSpc>
              <a:buFont typeface="Arial" panose="020B0604020202020204" pitchFamily="34" charset="0"/>
              <a:buNone/>
            </a:pPr>
            <a:r>
              <a:rPr lang="zh-CN" altLang="en-US" sz="1400" dirty="0" smtClean="0">
                <a:latin typeface="+mn-ea"/>
              </a:rPr>
              <a:t>对</a:t>
            </a:r>
            <a:r>
              <a:rPr lang="zh-CN" altLang="en-US" sz="1400" dirty="0">
                <a:latin typeface="+mn-ea"/>
              </a:rPr>
              <a:t>死亡的恐惧，是恐惧放下我们所知的一切，恐惧未知</a:t>
            </a:r>
            <a:r>
              <a:rPr lang="zh-CN" altLang="en-US" sz="1400" dirty="0" smtClean="0">
                <a:latin typeface="+mn-ea"/>
              </a:rPr>
              <a:t>，</a:t>
            </a:r>
            <a:endParaRPr lang="en-US" altLang="zh-CN" sz="1400" dirty="0" smtClean="0">
              <a:latin typeface="+mn-ea"/>
            </a:endParaRPr>
          </a:p>
          <a:p>
            <a:pPr marL="0" indent="0">
              <a:lnSpc>
                <a:spcPts val="1800"/>
              </a:lnSpc>
              <a:buFont typeface="Arial" panose="020B0604020202020204" pitchFamily="34" charset="0"/>
              <a:buNone/>
            </a:pPr>
            <a:r>
              <a:rPr lang="zh-CN" altLang="en-US" sz="1400" dirty="0" smtClean="0">
                <a:latin typeface="+mn-ea"/>
              </a:rPr>
              <a:t>克服</a:t>
            </a:r>
            <a:r>
              <a:rPr lang="zh-CN" altLang="en-US" sz="1400" dirty="0">
                <a:latin typeface="+mn-ea"/>
              </a:rPr>
              <a:t>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7548403" y="1320251"/>
            <a:ext cx="4122390"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sz="1400" dirty="0"/>
              <a:t>首先，闭上眼睛，回想过去让你觉得恐惧的情境。尢其是那些对立，拒绝，死亡，等等。</a:t>
            </a:r>
          </a:p>
          <a:p>
            <a:r>
              <a:rPr lang="zh-CN" altLang="en-US" sz="1400" dirty="0" smtClean="0"/>
              <a:t>观</a:t>
            </a:r>
            <a:r>
              <a:rPr lang="zh-CN" altLang="en-US" sz="1400" dirty="0"/>
              <a:t>想那时的感觉，当时的事件，参与的人，当时的场景。将那些情境带回到现在。</a:t>
            </a:r>
          </a:p>
          <a:p>
            <a:r>
              <a:rPr lang="zh-CN" altLang="en-US" sz="1400" dirty="0" smtClean="0"/>
              <a:t>允许</a:t>
            </a:r>
            <a:r>
              <a:rPr lang="zh-CN" altLang="en-US" sz="1400" dirty="0"/>
              <a:t>自己去感受那些情绪，体验自己的情绪，不要和它对抗，去感受它的存在。</a:t>
            </a:r>
          </a:p>
          <a:p>
            <a:r>
              <a:rPr lang="zh-CN" altLang="en-US" sz="1400" dirty="0" smtClean="0"/>
              <a:t>接着</a:t>
            </a:r>
            <a:r>
              <a:rPr lang="zh-CN" altLang="en-US" sz="1400" dirty="0"/>
              <a:t>，轻敲或按摩肾经的穴道「俞府」，位于锁骨下方与肋骨中间的位置。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60966" y="4430851"/>
            <a:ext cx="4119840" cy="2317976"/>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835090" y="662740"/>
            <a:ext cx="2677830" cy="2677830"/>
          </a:xfrm>
          <a:prstGeom prst="rect">
            <a:avLst/>
          </a:prstGeom>
          <a:effectLst>
            <a:softEdge rad="127000"/>
          </a:effectLst>
        </p:spPr>
      </p:pic>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161776" cy="3989337"/>
          </a:xfrm>
        </p:spPr>
        <p:txBody>
          <a:bodyPr/>
          <a:lstStyle/>
          <a:p>
            <a:pPr marL="0" indent="0">
              <a:buNone/>
            </a:pPr>
            <a:r>
              <a:rPr lang="zh-CN" altLang="en-US" dirty="0">
                <a:latin typeface="+mn-ea"/>
              </a:rPr>
              <a:t>对应情绪</a:t>
            </a:r>
            <a:r>
              <a:rPr lang="zh-CN" altLang="en-US" dirty="0" smtClean="0">
                <a:latin typeface="+mn-ea"/>
              </a:rPr>
              <a:t>：</a:t>
            </a:r>
            <a:r>
              <a:rPr lang="zh-CN" altLang="en-US" dirty="0">
                <a:latin typeface="+mn-ea"/>
              </a:rPr>
              <a:t>低自尊，情绪低落、思虑过重。</a:t>
            </a:r>
          </a:p>
          <a:p>
            <a:pPr marL="0" indent="0">
              <a:buNone/>
            </a:pPr>
            <a:r>
              <a:rPr lang="zh-CN" altLang="en-US" dirty="0">
                <a:latin typeface="+mn-ea"/>
              </a:rPr>
              <a:t>穴位位置：侧胸部</a:t>
            </a:r>
            <a:r>
              <a:rPr lang="zh-CN" altLang="en-US" dirty="0" smtClean="0">
                <a:latin typeface="+mn-ea"/>
              </a:rPr>
              <a:t>，</a:t>
            </a:r>
            <a:r>
              <a:rPr lang="zh-CN" altLang="en-US" dirty="0">
                <a:latin typeface="+mn-ea"/>
              </a:rPr>
              <a:t>腋窝下的腋中线与第 </a:t>
            </a:r>
            <a:r>
              <a:rPr lang="en-US" altLang="zh-CN" dirty="0">
                <a:latin typeface="+mn-ea"/>
              </a:rPr>
              <a:t>6 </a:t>
            </a:r>
            <a:r>
              <a:rPr lang="zh-CN" altLang="en-US" dirty="0">
                <a:latin typeface="+mn-ea"/>
              </a:rPr>
              <a:t>肋间隙的交点</a:t>
            </a:r>
            <a:r>
              <a:rPr lang="zh-CN" altLang="en-US" dirty="0" smtClean="0">
                <a:latin typeface="+mn-ea"/>
              </a:rPr>
              <a:t>。</a:t>
            </a:r>
            <a:endParaRPr lang="zh-CN" altLang="en-US" dirty="0">
              <a:latin typeface="+mn-ea"/>
            </a:endParaRPr>
          </a:p>
          <a:p>
            <a:pPr marL="0" indent="0">
              <a:buNone/>
            </a:pPr>
            <a:r>
              <a:rPr lang="zh-CN" altLang="en-US" dirty="0">
                <a:latin typeface="+mn-ea"/>
              </a:rPr>
              <a:t>功效作用：疏通全身经络气机，尤其擅长缓解因气血瘀滞或不足引发的情志失调。</a:t>
            </a:r>
            <a:endParaRPr lang="en-US" altLang="zh-CN" dirty="0" smtClean="0">
              <a:latin typeface="+mn-ea"/>
            </a:endParaRPr>
          </a:p>
          <a:p>
            <a:pPr marL="0" indent="0">
              <a:buNone/>
            </a:pPr>
            <a:r>
              <a:rPr lang="zh-CN" altLang="en-US" dirty="0" smtClean="0">
                <a:latin typeface="+mn-ea"/>
              </a:rPr>
              <a:t>脾</a:t>
            </a:r>
            <a:r>
              <a:rPr lang="zh-CN" altLang="en-US" dirty="0">
                <a:latin typeface="+mn-ea"/>
              </a:rPr>
              <a:t>经，对免疫系统非常重要，与内分泌系统息息相关。</a:t>
            </a:r>
          </a:p>
          <a:p>
            <a:pPr marL="0" indent="0">
              <a:buNone/>
            </a:pPr>
            <a:r>
              <a:rPr lang="zh-CN" altLang="en-US" dirty="0" smtClean="0">
                <a:latin typeface="+mn-ea"/>
              </a:rPr>
              <a:t>和</a:t>
            </a:r>
            <a:r>
              <a:rPr lang="zh-CN" altLang="en-US" dirty="0">
                <a:latin typeface="+mn-ea"/>
              </a:rPr>
              <a:t>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r>
              <a:rPr lang="zh-CN" altLang="en-US" dirty="0" smtClean="0">
                <a:latin typeface="+mn-ea"/>
              </a:rPr>
              <a:t>去</a:t>
            </a:r>
            <a:r>
              <a:rPr lang="zh-CN" altLang="en-US" dirty="0">
                <a:latin typeface="+mn-ea"/>
              </a:rPr>
              <a:t>观想，你是否有这些情绪。</a:t>
            </a:r>
          </a:p>
          <a:p>
            <a:pPr marL="0" indent="0">
              <a:buNone/>
            </a:pPr>
            <a:r>
              <a:rPr lang="zh-CN" altLang="en-US"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845698"/>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大包穴（足太阴脾经）</a:t>
            </a:r>
          </a:p>
        </p:txBody>
      </p:sp>
    </p:spTree>
    <p:extLst>
      <p:ext uri="{BB962C8B-B14F-4D97-AF65-F5344CB8AC3E}">
        <p14:creationId xmlns:p14="http://schemas.microsoft.com/office/powerpoint/2010/main" val="178519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zh-CN" altLang="en-US" dirty="0">
                <a:latin typeface="+mn-ea"/>
              </a:rPr>
              <a:t>对应情绪</a:t>
            </a:r>
            <a:r>
              <a:rPr lang="zh-CN" altLang="en-US" dirty="0" smtClean="0">
                <a:latin typeface="+mn-ea"/>
              </a:rPr>
              <a:t>：焦虑</a:t>
            </a:r>
            <a:r>
              <a:rPr lang="zh-CN" altLang="en-US" dirty="0">
                <a:latin typeface="+mn-ea"/>
              </a:rPr>
              <a:t>、烦躁</a:t>
            </a:r>
            <a:r>
              <a:rPr lang="zh-CN" altLang="en-US" dirty="0" smtClean="0">
                <a:latin typeface="+mn-ea"/>
              </a:rPr>
              <a:t>，抑郁</a:t>
            </a:r>
            <a:r>
              <a:rPr lang="zh-CN" altLang="en-US" dirty="0">
                <a:latin typeface="+mn-ea"/>
              </a:rPr>
              <a:t>、情绪低落，躯体紧张。</a:t>
            </a:r>
          </a:p>
          <a:p>
            <a:pPr marL="0" indent="0">
              <a:buNone/>
            </a:pPr>
            <a:r>
              <a:rPr lang="zh-CN" altLang="en-US" dirty="0">
                <a:latin typeface="+mn-ea"/>
              </a:rPr>
              <a:t>穴位位置：两侧腋下</a:t>
            </a:r>
            <a:r>
              <a:rPr lang="zh-CN" altLang="en-US" dirty="0" smtClean="0">
                <a:latin typeface="+mn-ea"/>
              </a:rPr>
              <a:t>约</a:t>
            </a:r>
            <a:r>
              <a:rPr lang="en-US" altLang="zh-CN" dirty="0" smtClean="0">
                <a:latin typeface="+mn-ea"/>
              </a:rPr>
              <a:t>10</a:t>
            </a:r>
            <a:r>
              <a:rPr lang="zh-CN" altLang="en-US" dirty="0" smtClean="0">
                <a:latin typeface="+mn-ea"/>
              </a:rPr>
              <a:t>厘米</a:t>
            </a:r>
            <a:r>
              <a:rPr lang="zh-CN" altLang="en-US" dirty="0">
                <a:latin typeface="+mn-ea"/>
              </a:rPr>
              <a:t>处。</a:t>
            </a:r>
          </a:p>
          <a:p>
            <a:pPr marL="0" indent="0">
              <a:buNone/>
            </a:pPr>
            <a:r>
              <a:rPr lang="zh-CN" altLang="en-US" dirty="0">
                <a:latin typeface="+mn-ea"/>
              </a:rPr>
              <a:t>功效作用</a:t>
            </a:r>
            <a:r>
              <a:rPr lang="zh-CN" altLang="en-US" dirty="0" smtClean="0">
                <a:latin typeface="+mn-ea"/>
              </a:rPr>
              <a:t>：</a:t>
            </a:r>
            <a:r>
              <a:rPr lang="zh-CN" altLang="en-US" dirty="0">
                <a:latin typeface="+mn-ea"/>
              </a:rPr>
              <a:t>疏通心经气血、平复心神、缓解情志郁结</a:t>
            </a:r>
            <a:endParaRPr lang="en-US" altLang="zh-CN" dirty="0" smtClean="0">
              <a:latin typeface="+mn-ea"/>
            </a:endParaRPr>
          </a:p>
          <a:p>
            <a:pPr marL="0" indent="0">
              <a:buNone/>
            </a:pPr>
            <a:r>
              <a:rPr lang="zh-CN" altLang="en-US" dirty="0" smtClean="0">
                <a:latin typeface="+mn-ea"/>
              </a:rPr>
              <a:t>极</a:t>
            </a:r>
            <a:r>
              <a:rPr lang="zh-CN" altLang="en-US" dirty="0">
                <a:latin typeface="+mn-ea"/>
              </a:rPr>
              <a:t>泉穴归属于手少阴心经，心主神明，是人体情志活动的中枢。当心经气血瘀滞时，容易出现心烦、焦虑、易怒、抑郁等情绪问题；刺激极泉穴可直接疏通心经气血，改善心脏的气血供应，进而安定心神，调节情绪波动。</a:t>
            </a:r>
          </a:p>
          <a:p>
            <a:pPr marL="0" indent="0">
              <a:buNone/>
            </a:pPr>
            <a:r>
              <a:rPr lang="zh-CN" altLang="en-US" dirty="0" smtClean="0">
                <a:latin typeface="+mn-ea"/>
              </a:rPr>
              <a:t>情绪</a:t>
            </a:r>
            <a:r>
              <a:rPr lang="zh-CN" altLang="en-US" dirty="0">
                <a:latin typeface="+mn-ea"/>
              </a:rPr>
              <a:t>郁结时，人体容易出现胸闷、心悸、腋下胀痛</a:t>
            </a:r>
            <a:r>
              <a:rPr lang="zh-CN" altLang="en-US" dirty="0" smtClean="0">
                <a:latin typeface="+mn-ea"/>
              </a:rPr>
              <a:t>、上肢</a:t>
            </a:r>
            <a:r>
              <a:rPr lang="zh-CN" altLang="en-US" dirty="0">
                <a:latin typeface="+mn-ea"/>
              </a:rPr>
              <a:t>麻木等躯体表现（这是心经循行路线上的典型反应）</a:t>
            </a:r>
            <a:r>
              <a:rPr lang="zh-CN" altLang="en-US" dirty="0" smtClean="0">
                <a:latin typeface="+mn-ea"/>
              </a:rPr>
              <a:t>。</a:t>
            </a:r>
            <a:endParaRPr lang="en-US" altLang="zh-CN" dirty="0" smtClean="0">
              <a:latin typeface="+mn-ea"/>
            </a:endParaRPr>
          </a:p>
          <a:p>
            <a:pPr marL="0" indent="0">
              <a:buNone/>
            </a:pPr>
            <a:r>
              <a:rPr lang="zh-CN" altLang="en-US" dirty="0" smtClean="0">
                <a:latin typeface="+mn-ea"/>
              </a:rPr>
              <a:t>按</a:t>
            </a:r>
            <a:r>
              <a:rPr lang="zh-CN" altLang="en-US" dirty="0">
                <a:latin typeface="+mn-ea"/>
              </a:rPr>
              <a:t>揉极泉穴能快速缓解这些躯体不适，而躯体症状的减轻</a:t>
            </a:r>
            <a:r>
              <a:rPr lang="zh-CN" altLang="en-US" dirty="0" smtClean="0">
                <a:latin typeface="+mn-ea"/>
              </a:rPr>
              <a:t>会</a:t>
            </a:r>
            <a:endParaRPr lang="en-US" altLang="zh-CN" dirty="0" smtClean="0">
              <a:latin typeface="+mn-ea"/>
            </a:endParaRPr>
          </a:p>
          <a:p>
            <a:pPr marL="0" indent="0">
              <a:buNone/>
            </a:pPr>
            <a:r>
              <a:rPr lang="zh-CN" altLang="en-US" dirty="0" smtClean="0">
                <a:latin typeface="+mn-ea"/>
              </a:rPr>
              <a:t>反过来</a:t>
            </a:r>
            <a:r>
              <a:rPr lang="zh-CN" altLang="en-US" dirty="0">
                <a:latin typeface="+mn-ea"/>
              </a:rPr>
              <a:t>降低情绪的紧张度，形成 “身心放松” 的正向循环。</a:t>
            </a:r>
            <a:endParaRPr lang="zh-CN" altLang="en-US" dirty="0">
              <a:latin typeface="+mn-ea"/>
            </a:endParaRP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腋下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极泉穴（手少阴心</a:t>
            </a:r>
            <a:r>
              <a:rPr lang="zh-CN" altLang="en-US" sz="3200" dirty="0" smtClean="0">
                <a:effectLst>
                  <a:outerShdw blurRad="38100" dist="38100" dir="2700000" algn="tl">
                    <a:srgbClr val="000000">
                      <a:alpha val="43137"/>
                    </a:srgbClr>
                  </a:outerShdw>
                </a:effectLst>
                <a:latin typeface="+mn-ea"/>
              </a:rPr>
              <a:t>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227997" y="4265171"/>
            <a:ext cx="3322494" cy="2214996"/>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对应情绪</a:t>
            </a:r>
            <a:r>
              <a:rPr lang="zh-CN" altLang="en-US" sz="1800" dirty="0" smtClean="0">
                <a:latin typeface="+mn-ea"/>
              </a:rPr>
              <a:t>：抑郁</a:t>
            </a:r>
            <a:r>
              <a:rPr lang="zh-CN" altLang="en-US" sz="1800" dirty="0">
                <a:latin typeface="+mn-ea"/>
              </a:rPr>
              <a:t>、情绪低落</a:t>
            </a:r>
            <a:r>
              <a:rPr lang="zh-CN" altLang="en-US" sz="1800" dirty="0" smtClean="0">
                <a:latin typeface="+mn-ea"/>
              </a:rPr>
              <a:t>，焦虑、烦躁、失眠</a:t>
            </a:r>
            <a:r>
              <a:rPr lang="zh-CN" altLang="en-US" sz="1800" dirty="0">
                <a:latin typeface="+mn-ea"/>
              </a:rPr>
              <a:t>，头部紧张。</a:t>
            </a:r>
          </a:p>
          <a:p>
            <a:pPr marL="0" indent="0">
              <a:buNone/>
            </a:pPr>
            <a:r>
              <a:rPr lang="zh-CN" altLang="en-US" sz="1800" dirty="0">
                <a:latin typeface="+mn-ea"/>
              </a:rPr>
              <a:t>穴位位置</a:t>
            </a:r>
            <a:r>
              <a:rPr lang="zh-CN" altLang="en-US" sz="1800" dirty="0" smtClean="0">
                <a:latin typeface="+mn-ea"/>
              </a:rPr>
              <a:t>：</a:t>
            </a:r>
            <a:r>
              <a:rPr lang="zh-CN" altLang="en-US" sz="1800" dirty="0">
                <a:latin typeface="+mn-ea"/>
              </a:rPr>
              <a:t>头顶正</a:t>
            </a:r>
            <a:r>
              <a:rPr lang="zh-CN" altLang="en-US" sz="1800" dirty="0" smtClean="0">
                <a:latin typeface="+mn-ea"/>
              </a:rPr>
              <a:t>中央，</a:t>
            </a:r>
            <a:r>
              <a:rPr lang="zh-CN" altLang="en-US" sz="1800" dirty="0">
                <a:latin typeface="+mn-ea"/>
              </a:rPr>
              <a:t>两耳尖连线与头顶中线的交点</a:t>
            </a:r>
            <a:r>
              <a:rPr lang="zh-CN" altLang="en-US" sz="1800" dirty="0" smtClean="0">
                <a:latin typeface="+mn-ea"/>
              </a:rPr>
              <a:t>。</a:t>
            </a:r>
            <a:endParaRPr lang="zh-CN" altLang="en-US" sz="1800" dirty="0">
              <a:latin typeface="+mn-ea"/>
            </a:endParaRPr>
          </a:p>
          <a:p>
            <a:pPr marL="0" indent="0">
              <a:buNone/>
            </a:pPr>
            <a:r>
              <a:rPr lang="zh-CN" altLang="en-US" sz="1800" dirty="0">
                <a:latin typeface="+mn-ea"/>
              </a:rPr>
              <a:t>功效作用：升阳益气、安神定志、醒脑解郁</a:t>
            </a:r>
            <a:endParaRPr lang="en-US" altLang="zh-CN" sz="1800" dirty="0" smtClean="0">
              <a:latin typeface="+mn-ea"/>
            </a:endParaRPr>
          </a:p>
          <a:p>
            <a:pPr marL="0" indent="0">
              <a:buNone/>
            </a:pPr>
            <a:endParaRPr lang="en-US" altLang="zh-CN" sz="1800" dirty="0" smtClean="0">
              <a:latin typeface="+mn-ea"/>
            </a:endParaRPr>
          </a:p>
          <a:p>
            <a:pPr marL="0" indent="0">
              <a:buNone/>
            </a:pPr>
            <a:r>
              <a:rPr lang="zh-CN" altLang="en-US" sz="1800" dirty="0" smtClean="0">
                <a:latin typeface="+mn-ea"/>
              </a:rPr>
              <a:t>百</a:t>
            </a:r>
            <a:r>
              <a:rPr lang="zh-CN" altLang="en-US" sz="1800" dirty="0">
                <a:latin typeface="+mn-ea"/>
              </a:rPr>
              <a:t>会穴能升举阳气，改善 “清阳不升” 导致的心神失养，帮助提振精神、缓解低落情绪</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百</a:t>
            </a:r>
            <a:r>
              <a:rPr lang="zh-CN" altLang="en-US" sz="1800" dirty="0">
                <a:latin typeface="+mn-ea"/>
              </a:rPr>
              <a:t>会穴可平复亢盛的阳气，安定心神，缓解</a:t>
            </a:r>
            <a:r>
              <a:rPr lang="zh-CN" altLang="en-US" sz="1800" dirty="0" smtClean="0">
                <a:latin typeface="+mn-ea"/>
              </a:rPr>
              <a:t>脑部</a:t>
            </a:r>
            <a:r>
              <a:rPr lang="zh-CN" altLang="en-US" sz="1800" dirty="0">
                <a:latin typeface="+mn-ea"/>
              </a:rPr>
              <a:t>过度兴奋的状态</a:t>
            </a:r>
            <a:r>
              <a:rPr lang="zh-CN" altLang="en-US" sz="1800" dirty="0" smtClean="0">
                <a:latin typeface="+mn-ea"/>
              </a:rPr>
              <a:t>。</a:t>
            </a:r>
            <a:endParaRPr lang="en-US" altLang="zh-CN" sz="1800" dirty="0" smtClean="0">
              <a:latin typeface="+mn-ea"/>
            </a:endParaRPr>
          </a:p>
          <a:p>
            <a:pPr marL="0" indent="0">
              <a:buNone/>
            </a:pPr>
            <a:r>
              <a:rPr lang="zh-CN" altLang="en-US" sz="1800" dirty="0">
                <a:latin typeface="+mn-ea"/>
              </a:rPr>
              <a:t>敲击时可配合深呼吸，利用其 “升阳安神” 的特性</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强化</a:t>
            </a:r>
            <a:r>
              <a:rPr lang="zh-CN" altLang="en-US" sz="1800" dirty="0">
                <a:latin typeface="+mn-ea"/>
              </a:rPr>
              <a:t>情绪释放的深度。</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5361050"/>
            <a:ext cx="9337166" cy="11008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头顶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a:t>
            </a:r>
            <a:r>
              <a:rPr lang="zh-CN" altLang="en-US" sz="3200" dirty="0" smtClean="0">
                <a:effectLst>
                  <a:outerShdw blurRad="38100" dist="38100" dir="2700000" algn="tl">
                    <a:srgbClr val="000000">
                      <a:alpha val="43137"/>
                    </a:srgbClr>
                  </a:outerShdw>
                </a:effectLst>
                <a:latin typeface="+mn-ea"/>
              </a:rPr>
              <a:t>穴（</a:t>
            </a:r>
            <a:r>
              <a:rPr lang="zh-CN" altLang="en-US" sz="3200" dirty="0">
                <a:effectLst>
                  <a:outerShdw blurRad="38100" dist="38100" dir="2700000" algn="tl">
                    <a:srgbClr val="000000">
                      <a:alpha val="43137"/>
                    </a:srgbClr>
                  </a:outerShdw>
                </a:effectLst>
                <a:latin typeface="+mn-ea"/>
              </a:rPr>
              <a:t>督脉与足太阳膀胱经</a:t>
            </a:r>
            <a:r>
              <a:rPr lang="zh-CN" altLang="en-US" sz="3200" dirty="0" smtClean="0">
                <a:effectLst>
                  <a:outerShdw blurRad="38100" dist="38100" dir="2700000" algn="tl">
                    <a:srgbClr val="000000">
                      <a:alpha val="43137"/>
                    </a:srgbClr>
                  </a:outerShdw>
                </a:effectLst>
                <a:latin typeface="+mn-ea"/>
              </a:rPr>
              <a:t>、</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足</a:t>
            </a:r>
            <a:r>
              <a:rPr lang="zh-CN" altLang="en-US" sz="3200" dirty="0">
                <a:effectLst>
                  <a:outerShdw blurRad="38100" dist="38100" dir="2700000" algn="tl">
                    <a:srgbClr val="000000">
                      <a:alpha val="43137"/>
                    </a:srgbClr>
                  </a:outerShdw>
                </a:effectLst>
                <a:latin typeface="+mn-ea"/>
              </a:rPr>
              <a:t>少阳胆经等多条经脉的交会穴）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63779" y="3982857"/>
            <a:ext cx="3874841" cy="2583227"/>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1026" name="Picture 2" descr="http://i0.hdslb.com/bfs/new_dyn/23b1ea047614f93c0a387a327c3118be423820981.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894273" y="3307796"/>
            <a:ext cx="4133980" cy="3356792"/>
          </a:xfrm>
          <a:prstGeom prst="rect">
            <a:avLst/>
          </a:prstGeom>
          <a:noFill/>
          <a:effectLst>
            <a:softEdge rad="127000"/>
          </a:effectLst>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zh-CN" altLang="en-US" sz="4400" dirty="0" smtClean="0"/>
              <a:t>（</a:t>
            </a:r>
            <a:r>
              <a:rPr lang="en-US" altLang="zh-CN" sz="4400" dirty="0" smtClean="0"/>
              <a:t>5</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21207" y="1599391"/>
            <a:ext cx="2811137" cy="3989337"/>
          </a:xfrm>
        </p:spPr>
        <p:txBody>
          <a:bodyPr/>
          <a:lstStyle/>
          <a:p>
            <a:pPr marL="0" indent="0">
              <a:buNone/>
            </a:pPr>
            <a:r>
              <a:rPr lang="zh-CN" altLang="en-US" sz="1800" b="1" dirty="0" smtClean="0">
                <a:latin typeface="+mn-ea"/>
              </a:rPr>
              <a:t>收尾</a:t>
            </a:r>
            <a:r>
              <a:rPr lang="zh-CN" altLang="en-US" sz="1800" b="1" dirty="0">
                <a:latin typeface="+mn-ea"/>
              </a:rPr>
              <a:t>稳定（</a:t>
            </a:r>
            <a:r>
              <a:rPr lang="en-US" altLang="zh-CN" sz="1800" b="1" dirty="0" smtClean="0">
                <a:latin typeface="+mn-ea"/>
              </a:rPr>
              <a:t>1</a:t>
            </a:r>
            <a:r>
              <a:rPr lang="zh-CN" altLang="en-US" sz="1800" b="1" dirty="0" smtClean="0">
                <a:latin typeface="+mn-ea"/>
              </a:rPr>
              <a:t>分钟</a:t>
            </a:r>
            <a:r>
              <a:rPr lang="zh-CN" altLang="en-US" sz="1800" b="1" dirty="0">
                <a:latin typeface="+mn-ea"/>
              </a:rPr>
              <a:t>）</a:t>
            </a:r>
          </a:p>
          <a:p>
            <a:pPr marL="0" indent="0">
              <a:buNone/>
            </a:pPr>
            <a:endParaRPr lang="zh-CN" altLang="en-US" sz="1800" dirty="0">
              <a:latin typeface="+mn-ea"/>
            </a:endParaRPr>
          </a:p>
          <a:p>
            <a:pPr>
              <a:buFont typeface="Wingdings" panose="05000000000000000000" pitchFamily="2" charset="2"/>
              <a:buChar char="l"/>
            </a:pPr>
            <a:r>
              <a:rPr lang="zh-CN" altLang="en-US" sz="1800" dirty="0" smtClean="0">
                <a:latin typeface="+mn-ea"/>
              </a:rPr>
              <a:t>持续敲击头顶穴位</a:t>
            </a:r>
            <a:r>
              <a:rPr lang="en-US" altLang="zh-CN" sz="1800" dirty="0" smtClean="0">
                <a:latin typeface="+mn-ea"/>
              </a:rPr>
              <a:t>10 </a:t>
            </a:r>
            <a:r>
              <a:rPr lang="zh-CN" altLang="en-US" sz="1800" dirty="0">
                <a:latin typeface="+mn-ea"/>
              </a:rPr>
              <a:t>次，同时默念：“我现在感到平静、安全，我的身心都在放松”。</a:t>
            </a:r>
          </a:p>
          <a:p>
            <a:pPr>
              <a:buFont typeface="Wingdings" panose="05000000000000000000" pitchFamily="2" charset="2"/>
              <a:buChar char="l"/>
            </a:pPr>
            <a:r>
              <a:rPr lang="zh-CN" altLang="en-US" sz="1800" dirty="0" smtClean="0">
                <a:latin typeface="+mn-ea"/>
              </a:rPr>
              <a:t>再</a:t>
            </a:r>
            <a:r>
              <a:rPr lang="zh-CN" altLang="en-US" sz="1800" dirty="0">
                <a:latin typeface="+mn-ea"/>
              </a:rPr>
              <a:t>深呼吸 </a:t>
            </a:r>
            <a:r>
              <a:rPr lang="en-US" altLang="zh-CN" sz="1800" dirty="0">
                <a:latin typeface="+mn-ea"/>
              </a:rPr>
              <a:t>3 </a:t>
            </a:r>
            <a:r>
              <a:rPr lang="zh-CN" altLang="en-US" sz="1800" dirty="0">
                <a:latin typeface="+mn-ea"/>
              </a:rPr>
              <a:t>次，感受身体变化（如紧张感是否减轻、呼吸是否平稳），结束操作</a:t>
            </a:r>
            <a:r>
              <a:rPr lang="zh-CN" altLang="en-US" sz="1800" dirty="0" smtClean="0">
                <a:latin typeface="+mn-ea"/>
              </a:rPr>
              <a:t>。</a:t>
            </a:r>
            <a:endParaRPr lang="en-US" altLang="zh-CN" sz="1800" dirty="0" smtClean="0">
              <a:latin typeface="+mn-ea"/>
            </a:endParaRP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3516451" y="1599388"/>
            <a:ext cx="3817562"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叩击顺序总结：</a:t>
            </a:r>
            <a:endParaRPr lang="en-US" altLang="zh-CN" sz="1800" dirty="0" smtClean="0">
              <a:latin typeface="+mn-ea"/>
            </a:endParaRPr>
          </a:p>
          <a:p>
            <a:pPr marL="0" indent="0">
              <a:buFont typeface="Arial" panose="020B0604020202020204" pitchFamily="34" charset="0"/>
              <a:buNone/>
            </a:pPr>
            <a:r>
              <a:rPr lang="en-US" altLang="zh-CN" sz="1800" dirty="0" smtClean="0">
                <a:latin typeface="+mn-ea"/>
              </a:rPr>
              <a:t>1</a:t>
            </a:r>
            <a:r>
              <a:rPr lang="zh-CN" altLang="en-US" sz="1800" dirty="0" smtClean="0">
                <a:latin typeface="+mn-ea"/>
              </a:rPr>
              <a:t>、手掌</a:t>
            </a:r>
            <a:r>
              <a:rPr lang="zh-CN" altLang="en-US" sz="1800" dirty="0" smtClean="0">
                <a:latin typeface="+mn-ea"/>
              </a:rPr>
              <a:t>外侧 </a:t>
            </a:r>
            <a:r>
              <a:rPr lang="en-US" altLang="zh-CN" sz="1800" dirty="0" smtClean="0">
                <a:latin typeface="+mn-ea"/>
              </a:rPr>
              <a:t>- </a:t>
            </a:r>
            <a:r>
              <a:rPr lang="zh-CN" altLang="en-US" sz="1800" dirty="0" smtClean="0">
                <a:latin typeface="+mn-ea"/>
              </a:rPr>
              <a:t>后溪穴</a:t>
            </a:r>
          </a:p>
          <a:p>
            <a:pPr marL="0" indent="0">
              <a:buFont typeface="Arial" panose="020B0604020202020204" pitchFamily="34" charset="0"/>
              <a:buNone/>
            </a:pPr>
            <a:r>
              <a:rPr lang="en-US" altLang="zh-CN" sz="1800" dirty="0" smtClean="0">
                <a:latin typeface="+mn-ea"/>
              </a:rPr>
              <a:t>2</a:t>
            </a:r>
            <a:r>
              <a:rPr lang="zh-CN" altLang="en-US" sz="1800" dirty="0" smtClean="0">
                <a:latin typeface="+mn-ea"/>
              </a:rPr>
              <a:t>、手腕</a:t>
            </a:r>
            <a:r>
              <a:rPr lang="zh-CN" altLang="en-US" sz="1800" dirty="0" smtClean="0">
                <a:latin typeface="+mn-ea"/>
              </a:rPr>
              <a:t>内侧 </a:t>
            </a:r>
            <a:r>
              <a:rPr lang="en-US" altLang="zh-CN" sz="1800" dirty="0" smtClean="0">
                <a:latin typeface="+mn-ea"/>
              </a:rPr>
              <a:t>- </a:t>
            </a:r>
            <a:r>
              <a:rPr lang="zh-CN" altLang="en-US" sz="1800" dirty="0" smtClean="0">
                <a:latin typeface="+mn-ea"/>
              </a:rPr>
              <a:t>内关穴</a:t>
            </a:r>
          </a:p>
          <a:p>
            <a:pPr marL="0" indent="0">
              <a:buFont typeface="Arial" panose="020B0604020202020204" pitchFamily="34" charset="0"/>
              <a:buNone/>
            </a:pPr>
            <a:r>
              <a:rPr lang="en-US" altLang="zh-CN" sz="1800" dirty="0" smtClean="0">
                <a:latin typeface="+mn-ea"/>
              </a:rPr>
              <a:t>3</a:t>
            </a:r>
            <a:r>
              <a:rPr lang="zh-CN" altLang="en-US" sz="1800" dirty="0" smtClean="0">
                <a:latin typeface="+mn-ea"/>
              </a:rPr>
              <a:t>、眉头 </a:t>
            </a:r>
            <a:r>
              <a:rPr lang="en-US" altLang="zh-CN" sz="1800" dirty="0" smtClean="0">
                <a:latin typeface="+mn-ea"/>
              </a:rPr>
              <a:t>- </a:t>
            </a:r>
            <a:r>
              <a:rPr lang="zh-CN" altLang="en-US" sz="1800" dirty="0" smtClean="0">
                <a:latin typeface="+mn-ea"/>
              </a:rPr>
              <a:t>攒竹穴</a:t>
            </a:r>
          </a:p>
          <a:p>
            <a:pPr marL="0" indent="0">
              <a:buFont typeface="Arial" panose="020B0604020202020204" pitchFamily="34" charset="0"/>
              <a:buNone/>
            </a:pPr>
            <a:r>
              <a:rPr lang="en-US" altLang="zh-CN" sz="1800" dirty="0" smtClean="0">
                <a:latin typeface="+mn-ea"/>
              </a:rPr>
              <a:t>4</a:t>
            </a:r>
            <a:r>
              <a:rPr lang="zh-CN" altLang="en-US" sz="1800" dirty="0" smtClean="0">
                <a:latin typeface="+mn-ea"/>
              </a:rPr>
              <a:t>、眼</a:t>
            </a:r>
            <a:r>
              <a:rPr lang="zh-CN" altLang="en-US" sz="1800" dirty="0" smtClean="0">
                <a:latin typeface="+mn-ea"/>
              </a:rPr>
              <a:t>外侧 </a:t>
            </a:r>
            <a:r>
              <a:rPr lang="en-US" altLang="zh-CN" sz="1800" dirty="0" smtClean="0">
                <a:latin typeface="+mn-ea"/>
              </a:rPr>
              <a:t>- </a:t>
            </a:r>
            <a:r>
              <a:rPr lang="zh-CN" altLang="en-US" sz="1800" dirty="0" smtClean="0">
                <a:latin typeface="+mn-ea"/>
              </a:rPr>
              <a:t>丝竹</a:t>
            </a:r>
            <a:r>
              <a:rPr lang="zh-CN" altLang="en-US" sz="1800" dirty="0" smtClean="0">
                <a:latin typeface="+mn-ea"/>
              </a:rPr>
              <a:t>空穴</a:t>
            </a:r>
            <a:r>
              <a:rPr lang="en-US" altLang="zh-CN" sz="1800" dirty="0" smtClean="0">
                <a:latin typeface="+mn-ea"/>
              </a:rPr>
              <a:t>  </a:t>
            </a:r>
            <a:r>
              <a:rPr lang="zh-CN" altLang="en-US" sz="1800" dirty="0" smtClean="0">
                <a:latin typeface="+mn-ea"/>
              </a:rPr>
              <a:t>瞳</a:t>
            </a:r>
            <a:r>
              <a:rPr lang="zh-CN" altLang="en-US" sz="1800" dirty="0" smtClean="0">
                <a:latin typeface="+mn-ea"/>
              </a:rPr>
              <a:t>子髎</a:t>
            </a:r>
          </a:p>
          <a:p>
            <a:pPr marL="0" indent="0">
              <a:buFont typeface="Arial" panose="020B0604020202020204" pitchFamily="34" charset="0"/>
              <a:buNone/>
            </a:pPr>
            <a:r>
              <a:rPr lang="en-US" altLang="zh-CN" sz="1800" dirty="0" smtClean="0">
                <a:latin typeface="+mn-ea"/>
              </a:rPr>
              <a:t>5</a:t>
            </a:r>
            <a:r>
              <a:rPr lang="zh-CN" altLang="en-US" sz="1800" dirty="0" smtClean="0">
                <a:latin typeface="+mn-ea"/>
              </a:rPr>
              <a:t>、眼下 </a:t>
            </a:r>
            <a:r>
              <a:rPr lang="en-US" altLang="zh-CN" sz="1800" dirty="0" smtClean="0">
                <a:latin typeface="+mn-ea"/>
              </a:rPr>
              <a:t>- </a:t>
            </a:r>
            <a:r>
              <a:rPr lang="zh-CN" altLang="en-US" sz="1800" dirty="0" smtClean="0">
                <a:latin typeface="+mn-ea"/>
              </a:rPr>
              <a:t>承泣穴和四白穴</a:t>
            </a:r>
          </a:p>
          <a:p>
            <a:pPr marL="0" indent="0">
              <a:buFont typeface="Arial" panose="020B0604020202020204" pitchFamily="34" charset="0"/>
              <a:buNone/>
            </a:pPr>
            <a:r>
              <a:rPr lang="en-US" altLang="zh-CN" sz="1800" dirty="0" smtClean="0">
                <a:latin typeface="+mn-ea"/>
              </a:rPr>
              <a:t>6</a:t>
            </a:r>
            <a:r>
              <a:rPr lang="zh-CN" altLang="en-US" sz="1800" dirty="0" smtClean="0">
                <a:latin typeface="+mn-ea"/>
              </a:rPr>
              <a:t>、鼻</a:t>
            </a:r>
            <a:r>
              <a:rPr lang="zh-CN" altLang="en-US" sz="1800" dirty="0" smtClean="0">
                <a:latin typeface="+mn-ea"/>
              </a:rPr>
              <a:t>下 </a:t>
            </a:r>
            <a:r>
              <a:rPr lang="en-US" altLang="zh-CN" sz="1800" dirty="0" smtClean="0">
                <a:latin typeface="+mn-ea"/>
              </a:rPr>
              <a:t>- </a:t>
            </a:r>
            <a:r>
              <a:rPr lang="zh-CN" altLang="en-US" sz="1800" dirty="0" smtClean="0">
                <a:latin typeface="+mn-ea"/>
              </a:rPr>
              <a:t>人中穴</a:t>
            </a:r>
          </a:p>
          <a:p>
            <a:pPr marL="0" indent="0">
              <a:buFont typeface="Arial" panose="020B0604020202020204" pitchFamily="34" charset="0"/>
              <a:buNone/>
            </a:pPr>
            <a:r>
              <a:rPr lang="en-US" altLang="zh-CN" sz="1800" dirty="0" smtClean="0">
                <a:latin typeface="+mn-ea"/>
              </a:rPr>
              <a:t>7</a:t>
            </a:r>
            <a:r>
              <a:rPr lang="zh-CN" altLang="en-US" sz="1800" dirty="0" smtClean="0">
                <a:latin typeface="+mn-ea"/>
              </a:rPr>
              <a:t>、下巴 </a:t>
            </a:r>
            <a:r>
              <a:rPr lang="en-US" altLang="zh-CN" sz="1800" dirty="0" smtClean="0">
                <a:latin typeface="+mn-ea"/>
              </a:rPr>
              <a:t>- </a:t>
            </a:r>
            <a:r>
              <a:rPr lang="zh-CN" altLang="en-US" sz="1800" dirty="0" smtClean="0">
                <a:latin typeface="+mn-ea"/>
              </a:rPr>
              <a:t>承浆穴</a:t>
            </a:r>
          </a:p>
          <a:p>
            <a:pPr marL="0" indent="0">
              <a:buFont typeface="Arial" panose="020B0604020202020204" pitchFamily="34" charset="0"/>
              <a:buNone/>
            </a:pPr>
            <a:r>
              <a:rPr lang="en-US" altLang="zh-CN" sz="1800" dirty="0" smtClean="0">
                <a:latin typeface="+mn-ea"/>
              </a:rPr>
              <a:t>8</a:t>
            </a:r>
            <a:r>
              <a:rPr lang="zh-CN" altLang="en-US" sz="1800" dirty="0" smtClean="0">
                <a:latin typeface="+mn-ea"/>
              </a:rPr>
              <a:t>、前胸 </a:t>
            </a:r>
            <a:r>
              <a:rPr lang="en-US" altLang="zh-CN" sz="1800" dirty="0" smtClean="0">
                <a:latin typeface="+mn-ea"/>
              </a:rPr>
              <a:t>- </a:t>
            </a:r>
            <a:r>
              <a:rPr lang="zh-CN" altLang="en-US" sz="1800" dirty="0" smtClean="0">
                <a:latin typeface="+mn-ea"/>
              </a:rPr>
              <a:t>神藏穴</a:t>
            </a:r>
          </a:p>
          <a:p>
            <a:pPr marL="0" indent="0">
              <a:buFont typeface="Arial" panose="020B0604020202020204" pitchFamily="34" charset="0"/>
              <a:buNone/>
            </a:pPr>
            <a:r>
              <a:rPr lang="en-US" altLang="zh-CN" sz="1800" dirty="0" smtClean="0">
                <a:latin typeface="+mn-ea"/>
              </a:rPr>
              <a:t>9</a:t>
            </a:r>
            <a:r>
              <a:rPr lang="zh-CN" altLang="en-US" sz="1800" dirty="0" smtClean="0">
                <a:latin typeface="+mn-ea"/>
              </a:rPr>
              <a:t>、锁骨 </a:t>
            </a:r>
            <a:r>
              <a:rPr lang="en-US" altLang="zh-CN" sz="1800" dirty="0" smtClean="0">
                <a:latin typeface="+mn-ea"/>
              </a:rPr>
              <a:t>- </a:t>
            </a:r>
            <a:r>
              <a:rPr lang="zh-CN" altLang="en-US" sz="1800" dirty="0" smtClean="0">
                <a:latin typeface="+mn-ea"/>
              </a:rPr>
              <a:t>云门穴和中府</a:t>
            </a:r>
            <a:r>
              <a:rPr lang="zh-CN" altLang="en-US" sz="1800" dirty="0" smtClean="0">
                <a:latin typeface="+mn-ea"/>
              </a:rPr>
              <a:t>穴</a:t>
            </a:r>
            <a:endParaRPr lang="zh-CN" altLang="en-US" sz="1800" dirty="0" smtClean="0">
              <a:latin typeface="+mn-ea"/>
            </a:endParaRPr>
          </a:p>
        </p:txBody>
      </p:sp>
      <p:sp>
        <p:nvSpPr>
          <p:cNvPr id="7" name="内容占位符 2">
            <a:extLst>
              <a:ext uri="{FF2B5EF4-FFF2-40B4-BE49-F238E27FC236}">
                <a16:creationId xmlns:a16="http://schemas.microsoft.com/office/drawing/2014/main" id="{9BB5BFA0-421E-7149-5025-230269CDD21A}"/>
              </a:ext>
            </a:extLst>
          </p:cNvPr>
          <p:cNvSpPr txBox="1">
            <a:spLocks/>
          </p:cNvSpPr>
          <p:nvPr/>
        </p:nvSpPr>
        <p:spPr>
          <a:xfrm>
            <a:off x="7287475" y="1599388"/>
            <a:ext cx="334757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smtClean="0">
                <a:latin typeface="+mn-ea"/>
              </a:rPr>
              <a:t>10</a:t>
            </a:r>
            <a:r>
              <a:rPr lang="zh-CN" altLang="en-US" sz="1800" dirty="0" smtClean="0">
                <a:latin typeface="+mn-ea"/>
              </a:rPr>
              <a:t>、锁骨 </a:t>
            </a:r>
            <a:r>
              <a:rPr lang="en-US" altLang="zh-CN" sz="1800" dirty="0" smtClean="0">
                <a:latin typeface="+mn-ea"/>
              </a:rPr>
              <a:t>- </a:t>
            </a:r>
            <a:r>
              <a:rPr lang="zh-CN" altLang="en-US" sz="1800" dirty="0" smtClean="0">
                <a:latin typeface="+mn-ea"/>
              </a:rPr>
              <a:t>俞府穴</a:t>
            </a:r>
          </a:p>
          <a:p>
            <a:pPr marL="0" indent="0">
              <a:buFont typeface="Arial" panose="020B0604020202020204" pitchFamily="34" charset="0"/>
              <a:buNone/>
            </a:pPr>
            <a:r>
              <a:rPr lang="en-US" altLang="zh-CN" sz="1800" dirty="0" smtClean="0">
                <a:latin typeface="+mn-ea"/>
              </a:rPr>
              <a:t>11</a:t>
            </a:r>
            <a:r>
              <a:rPr lang="zh-CN" altLang="en-US" sz="1800" dirty="0" smtClean="0">
                <a:latin typeface="+mn-ea"/>
              </a:rPr>
              <a:t>、腋下 </a:t>
            </a:r>
            <a:r>
              <a:rPr lang="en-US" altLang="zh-CN" sz="1800" dirty="0" smtClean="0">
                <a:latin typeface="+mn-ea"/>
              </a:rPr>
              <a:t>- </a:t>
            </a:r>
            <a:r>
              <a:rPr lang="zh-CN" altLang="en-US" sz="1800" dirty="0" smtClean="0">
                <a:latin typeface="+mn-ea"/>
              </a:rPr>
              <a:t>大包穴</a:t>
            </a:r>
          </a:p>
          <a:p>
            <a:pPr marL="0" indent="0">
              <a:buFont typeface="Arial" panose="020B0604020202020204" pitchFamily="34" charset="0"/>
              <a:buNone/>
            </a:pPr>
            <a:r>
              <a:rPr lang="en-US" altLang="zh-CN" sz="1800" dirty="0" smtClean="0">
                <a:latin typeface="+mn-ea"/>
              </a:rPr>
              <a:t>12</a:t>
            </a:r>
            <a:r>
              <a:rPr lang="zh-CN" altLang="en-US" sz="1800" dirty="0" smtClean="0">
                <a:latin typeface="+mn-ea"/>
              </a:rPr>
              <a:t>、腋下 </a:t>
            </a:r>
            <a:r>
              <a:rPr lang="en-US" altLang="zh-CN" sz="1800" dirty="0" smtClean="0">
                <a:latin typeface="+mn-ea"/>
              </a:rPr>
              <a:t>- </a:t>
            </a:r>
            <a:r>
              <a:rPr lang="zh-CN" altLang="en-US" sz="1800" dirty="0" smtClean="0">
                <a:latin typeface="+mn-ea"/>
              </a:rPr>
              <a:t>极泉穴</a:t>
            </a:r>
          </a:p>
          <a:p>
            <a:pPr marL="0" indent="0">
              <a:buFont typeface="Arial" panose="020B0604020202020204" pitchFamily="34" charset="0"/>
              <a:buNone/>
            </a:pPr>
            <a:r>
              <a:rPr lang="en-US" altLang="zh-CN" sz="1800" dirty="0" smtClean="0">
                <a:latin typeface="+mn-ea"/>
              </a:rPr>
              <a:t>13</a:t>
            </a:r>
            <a:r>
              <a:rPr lang="zh-CN" altLang="en-US" sz="1800" dirty="0" smtClean="0">
                <a:latin typeface="+mn-ea"/>
              </a:rPr>
              <a:t>、头顶 </a:t>
            </a:r>
            <a:r>
              <a:rPr lang="en-US" altLang="zh-CN" sz="1800" dirty="0" smtClean="0">
                <a:latin typeface="+mn-ea"/>
              </a:rPr>
              <a:t>- </a:t>
            </a:r>
            <a:r>
              <a:rPr lang="zh-CN" altLang="en-US" sz="1800" dirty="0" smtClean="0">
                <a:latin typeface="+mn-ea"/>
              </a:rPr>
              <a:t>百</a:t>
            </a:r>
            <a:r>
              <a:rPr lang="zh-CN" altLang="en-US" sz="1800" dirty="0" smtClean="0">
                <a:latin typeface="+mn-ea"/>
              </a:rPr>
              <a:t>会穴</a:t>
            </a:r>
            <a:endParaRPr lang="zh-CN" altLang="en-US" sz="1800" dirty="0">
              <a:latin typeface="+mn-ea"/>
            </a:endParaRPr>
          </a:p>
        </p:txBody>
      </p:sp>
    </p:spTree>
    <p:extLst>
      <p:ext uri="{BB962C8B-B14F-4D97-AF65-F5344CB8AC3E}">
        <p14:creationId xmlns:p14="http://schemas.microsoft.com/office/powerpoint/2010/main" val="170290356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操音乐选择（</a:t>
            </a:r>
            <a:r>
              <a:rPr lang="en-US" altLang="zh-CN" sz="4400" dirty="0" smtClean="0"/>
              <a:t>6</a:t>
            </a:r>
            <a:r>
              <a:rPr lang="zh-CN" altLang="en-US" sz="4400" dirty="0" smtClean="0"/>
              <a:t>）</a:t>
            </a:r>
            <a:endParaRPr lang="zh-CN" altLang="en-US" sz="4400" dirty="0"/>
          </a:p>
        </p:txBody>
      </p:sp>
      <p:graphicFrame>
        <p:nvGraphicFramePr>
          <p:cNvPr id="6" name="表格 5"/>
          <p:cNvGraphicFramePr>
            <a:graphicFrameLocks noGrp="1"/>
          </p:cNvGraphicFramePr>
          <p:nvPr>
            <p:extLst>
              <p:ext uri="{D42A27DB-BD31-4B8C-83A1-F6EECF244321}">
                <p14:modId xmlns:p14="http://schemas.microsoft.com/office/powerpoint/2010/main" val="2913299919"/>
              </p:ext>
            </p:extLst>
          </p:nvPr>
        </p:nvGraphicFramePr>
        <p:xfrm>
          <a:off x="521208" y="1599390"/>
          <a:ext cx="11155680" cy="5059388"/>
        </p:xfrm>
        <a:graphic>
          <a:graphicData uri="http://schemas.openxmlformats.org/drawingml/2006/table">
            <a:tbl>
              <a:tblPr>
                <a:tableStyleId>{5C22544A-7EE6-4342-B048-85BDC9FD1C3A}</a:tableStyleId>
              </a:tblPr>
              <a:tblGrid>
                <a:gridCol w="1479042">
                  <a:extLst>
                    <a:ext uri="{9D8B030D-6E8A-4147-A177-3AD203B41FA5}">
                      <a16:colId xmlns:a16="http://schemas.microsoft.com/office/drawing/2014/main" val="2373839766"/>
                    </a:ext>
                  </a:extLst>
                </a:gridCol>
                <a:gridCol w="2530929">
                  <a:extLst>
                    <a:ext uri="{9D8B030D-6E8A-4147-A177-3AD203B41FA5}">
                      <a16:colId xmlns:a16="http://schemas.microsoft.com/office/drawing/2014/main" val="1913909198"/>
                    </a:ext>
                  </a:extLst>
                </a:gridCol>
                <a:gridCol w="2090057">
                  <a:extLst>
                    <a:ext uri="{9D8B030D-6E8A-4147-A177-3AD203B41FA5}">
                      <a16:colId xmlns:a16="http://schemas.microsoft.com/office/drawing/2014/main" val="3756399988"/>
                    </a:ext>
                  </a:extLst>
                </a:gridCol>
                <a:gridCol w="5055652">
                  <a:extLst>
                    <a:ext uri="{9D8B030D-6E8A-4147-A177-3AD203B41FA5}">
                      <a16:colId xmlns:a16="http://schemas.microsoft.com/office/drawing/2014/main" val="2942602759"/>
                    </a:ext>
                  </a:extLst>
                </a:gridCol>
              </a:tblGrid>
              <a:tr h="392696">
                <a:tc>
                  <a:txBody>
                    <a:bodyPr/>
                    <a:lstStyle/>
                    <a:p>
                      <a:pPr algn="ctr" fontAlgn="ctr"/>
                      <a:r>
                        <a:rPr lang="zh-CN" altLang="en-US" sz="1200" u="none" strike="noStrike" dirty="0">
                          <a:effectLst/>
                          <a:latin typeface="+mn-lt"/>
                        </a:rPr>
                        <a:t>对应情绪 </a:t>
                      </a:r>
                      <a:r>
                        <a:rPr lang="en-US" altLang="zh-CN" sz="1200" u="none" strike="noStrike" dirty="0">
                          <a:effectLst/>
                          <a:latin typeface="+mn-lt"/>
                        </a:rPr>
                        <a:t>/ </a:t>
                      </a:r>
                      <a:r>
                        <a:rPr lang="zh-CN" altLang="en-US" sz="1200" u="none" strike="noStrike" dirty="0">
                          <a:effectLst/>
                          <a:latin typeface="+mn-lt"/>
                        </a:rPr>
                        <a:t>情况</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u="none" strike="noStrike">
                          <a:effectLst/>
                          <a:latin typeface="+mn-lt"/>
                        </a:rPr>
                        <a:t>音乐</a:t>
                      </a:r>
                      <a:endParaRPr lang="zh-CN" altLang="en-US" sz="1200" b="1"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u="none" strike="noStrike">
                          <a:effectLst/>
                          <a:latin typeface="+mn-lt"/>
                        </a:rPr>
                        <a:t>具体作用</a:t>
                      </a:r>
                      <a:endParaRPr lang="zh-CN" altLang="en-US" sz="1200" b="1"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u="none" strike="noStrike">
                          <a:effectLst/>
                          <a:latin typeface="+mn-lt"/>
                        </a:rPr>
                        <a:t>配套引导语</a:t>
                      </a:r>
                      <a:endParaRPr lang="zh-CN" altLang="en-US" sz="1200" b="1"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4471837"/>
                  </a:ext>
                </a:extLst>
              </a:tr>
              <a:tr h="690355">
                <a:tc>
                  <a:txBody>
                    <a:bodyPr/>
                    <a:lstStyle/>
                    <a:p>
                      <a:pPr algn="l" fontAlgn="ctr"/>
                      <a:r>
                        <a:rPr lang="zh-CN" altLang="en-US" sz="1200" u="none" strike="noStrike" dirty="0">
                          <a:effectLst/>
                          <a:latin typeface="+mn-lt"/>
                        </a:rPr>
                        <a:t>恐惧、焦虑、惊恐发作</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sz="1200" u="none" strike="noStrike">
                          <a:effectLst/>
                          <a:latin typeface="+mn-lt"/>
                        </a:rPr>
                        <a:t>going home（</a:t>
                      </a:r>
                      <a:r>
                        <a:rPr lang="zh-CN" altLang="en-US" sz="1200" u="none" strike="noStrike">
                          <a:effectLst/>
                          <a:latin typeface="+mn-lt"/>
                        </a:rPr>
                        <a:t>编号 </a:t>
                      </a:r>
                      <a:r>
                        <a:rPr lang="en-US" altLang="zh-CN" sz="1200" u="none" strike="noStrike">
                          <a:effectLst/>
                          <a:latin typeface="+mn-lt"/>
                        </a:rPr>
                        <a:t>61</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提供安全感与稳定感，平复激烈情绪波动</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“现在，让音乐包裹你的身体，感受每一个音符都在为你搭建安全的屏障。随着旋律流动，恐惧和焦虑正在慢慢消散，你很安全，很平静。”</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12070006"/>
                  </a:ext>
                </a:extLst>
              </a:tr>
              <a:tr h="817756">
                <a:tc>
                  <a:txBody>
                    <a:bodyPr/>
                    <a:lstStyle/>
                    <a:p>
                      <a:pPr algn="l" fontAlgn="ctr"/>
                      <a:r>
                        <a:rPr lang="zh-CN" altLang="en-US" sz="1200" u="none" strike="noStrike">
                          <a:effectLst/>
                          <a:latin typeface="+mn-lt"/>
                        </a:rPr>
                        <a:t>自闭症儿童情绪失控、新入学儿童情绪失控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smtClean="0">
                          <a:effectLst/>
                          <a:latin typeface="+mn-lt"/>
                        </a:rPr>
                        <a:t>小</a:t>
                      </a:r>
                      <a:r>
                        <a:rPr lang="zh-CN" altLang="en-US" sz="1200" u="none" strike="noStrike" dirty="0">
                          <a:effectLst/>
                          <a:latin typeface="+mn-lt"/>
                        </a:rPr>
                        <a:t>星星（编号 </a:t>
                      </a:r>
                      <a:r>
                        <a:rPr lang="en-US" altLang="zh-CN" sz="1200" u="none" strike="noStrike" dirty="0">
                          <a:effectLst/>
                          <a:latin typeface="+mn-lt"/>
                        </a:rPr>
                        <a:t>24</a:t>
                      </a:r>
                      <a:r>
                        <a:rPr lang="zh-CN" altLang="en-US" sz="1200" u="none" strike="noStrike" dirty="0">
                          <a:effectLst/>
                          <a:latin typeface="+mn-lt"/>
                        </a:rPr>
                        <a:t>）</a:t>
                      </a:r>
                      <a:r>
                        <a:rPr lang="zh-CN" altLang="en-US" sz="1200" u="none" strike="noStrike" dirty="0" smtClean="0">
                          <a:effectLst/>
                          <a:latin typeface="+mn-lt"/>
                        </a:rPr>
                        <a:t>、竖琴梦幻节奏版（编号 </a:t>
                      </a:r>
                      <a:r>
                        <a:rPr lang="en-US" altLang="zh-CN" sz="1200" u="none" strike="noStrike" dirty="0" smtClean="0">
                          <a:effectLst/>
                          <a:latin typeface="+mn-lt"/>
                        </a:rPr>
                        <a:t>03</a:t>
                      </a:r>
                      <a:r>
                        <a:rPr lang="zh-CN" altLang="en-US" sz="1200" u="none" strike="noStrike" dirty="0" smtClean="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搭配紧抱疗法，带来安全感，缓解情绪失控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“宝贝，听这熟悉的旋律，像妈妈的怀抱一样温暖。跟着音乐轻轻呼吸，不好的情绪会跟着音符飞走哦，你是安全的，我们陪着你。”</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71228088"/>
                  </a:ext>
                </a:extLst>
              </a:tr>
              <a:tr h="776868">
                <a:tc>
                  <a:txBody>
                    <a:bodyPr/>
                    <a:lstStyle/>
                    <a:p>
                      <a:pPr algn="l" fontAlgn="ctr"/>
                      <a:r>
                        <a:rPr lang="zh-CN" altLang="en-US" sz="1200" u="none" strike="noStrike" dirty="0">
                          <a:effectLst/>
                          <a:latin typeface="+mn-lt"/>
                        </a:rPr>
                        <a:t>躯体疼痛、疼痛症状缓解</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altLang="zh-CN" sz="1200" u="none" strike="noStrike">
                          <a:effectLst/>
                          <a:latin typeface="+mn-lt"/>
                        </a:rPr>
                        <a:t>Om </a:t>
                      </a:r>
                      <a:r>
                        <a:rPr lang="zh-CN" altLang="en-US" sz="1200" u="none" strike="noStrike">
                          <a:effectLst/>
                          <a:latin typeface="+mn-lt"/>
                        </a:rPr>
                        <a:t>的冥想（编号 </a:t>
                      </a:r>
                      <a:r>
                        <a:rPr lang="en-US" altLang="zh-CN" sz="1200" u="none" strike="noStrike">
                          <a:effectLst/>
                          <a:latin typeface="+mn-lt"/>
                        </a:rPr>
                        <a:t>6</a:t>
                      </a:r>
                      <a:r>
                        <a:rPr lang="zh-CN" altLang="en-US" sz="1200" u="none" strike="noStrike">
                          <a:effectLst/>
                          <a:latin typeface="+mn-lt"/>
                        </a:rPr>
                        <a:t>）、云和山的彼端（光球未来）、墨西哥（编号 </a:t>
                      </a:r>
                      <a:r>
                        <a:rPr lang="en-US" altLang="zh-CN" sz="1200" u="none" strike="noStrike">
                          <a:effectLst/>
                          <a:latin typeface="+mn-lt"/>
                        </a:rPr>
                        <a:t>76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借助想象作用于疼痛部位，减轻躯体疼痛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“将注意力放在疼痛的地方，想象音乐的声波正缓缓流向这里，包裹着疼痛，一点点将它融化、带走。每一次呼吸，都让疼痛减轻一分。”</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535888584"/>
                  </a:ext>
                </a:extLst>
              </a:tr>
              <a:tr h="787090">
                <a:tc>
                  <a:txBody>
                    <a:bodyPr/>
                    <a:lstStyle/>
                    <a:p>
                      <a:pPr algn="l" fontAlgn="ctr"/>
                      <a:r>
                        <a:rPr lang="zh-CN" altLang="en-US" sz="1200" u="none" strike="noStrike">
                          <a:effectLst/>
                          <a:latin typeface="+mn-lt"/>
                        </a:rPr>
                        <a:t>情绪积聚、焦虑缓解</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情感积聚 太多（编号 </a:t>
                      </a:r>
                      <a:r>
                        <a:rPr lang="en-US" altLang="zh-CN" sz="1200" u="none" strike="noStrike" dirty="0">
                          <a:effectLst/>
                          <a:latin typeface="+mn-lt"/>
                        </a:rPr>
                        <a:t>501</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症状音乐化，释放积聚情绪，缓解焦虑</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“跟着音乐的节奏敲击穴位，感受身体里积压的情绪，正随着敲击和旋律一点点释放出来。允许情绪流动，你不需要压抑自己。”</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750850613"/>
                  </a:ext>
                </a:extLst>
              </a:tr>
              <a:tr h="787090">
                <a:tc>
                  <a:txBody>
                    <a:bodyPr/>
                    <a:lstStyle/>
                    <a:p>
                      <a:pPr algn="l" fontAlgn="ctr"/>
                      <a:r>
                        <a:rPr lang="zh-CN" altLang="en-US" sz="1200" u="none" strike="noStrike">
                          <a:effectLst/>
                          <a:latin typeface="+mn-lt"/>
                        </a:rPr>
                        <a:t>提升自尊水平、补充能量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自信 希望口哨（编号 </a:t>
                      </a:r>
                      <a:r>
                        <a:rPr lang="en-US" altLang="zh-CN" sz="1200" u="none" strike="noStrike" dirty="0">
                          <a:effectLst/>
                          <a:latin typeface="+mn-lt"/>
                        </a:rPr>
                        <a:t>256</a:t>
                      </a:r>
                      <a:r>
                        <a:rPr lang="zh-CN" altLang="en-US" sz="1200" u="none" strike="noStrike" dirty="0">
                          <a:effectLst/>
                          <a:latin typeface="+mn-lt"/>
                        </a:rPr>
                        <a:t>）、</a:t>
                      </a:r>
                      <a:r>
                        <a:rPr lang="en-US" altLang="zh-CN" sz="1200" u="none" strike="noStrike" dirty="0">
                          <a:effectLst/>
                          <a:latin typeface="+mn-lt"/>
                        </a:rPr>
                        <a:t>Only </a:t>
                      </a:r>
                      <a:r>
                        <a:rPr lang="en-US" altLang="zh-CN" sz="1200" u="none" strike="noStrike" dirty="0" err="1">
                          <a:effectLst/>
                          <a:latin typeface="+mn-lt"/>
                        </a:rPr>
                        <a:t>tyme</a:t>
                      </a:r>
                      <a:r>
                        <a:rPr lang="zh-CN" altLang="en-US" sz="1200" u="none" strike="noStrike" dirty="0">
                          <a:effectLst/>
                          <a:latin typeface="+mn-lt"/>
                        </a:rPr>
                        <a:t>（编号 </a:t>
                      </a:r>
                      <a:r>
                        <a:rPr lang="en-US" altLang="zh-CN" sz="1200" u="none" strike="noStrike" dirty="0">
                          <a:effectLst/>
                          <a:latin typeface="+mn-lt"/>
                        </a:rPr>
                        <a:t>19</a:t>
                      </a:r>
                      <a:r>
                        <a:rPr lang="zh-CN" altLang="en-US" sz="1200" u="none" strike="noStrike" dirty="0">
                          <a:effectLst/>
                          <a:latin typeface="+mn-lt"/>
                        </a:rPr>
                        <a:t>）、</a:t>
                      </a:r>
                      <a:r>
                        <a:rPr lang="en-US" altLang="zh-CN" sz="1200" u="none" strike="noStrike" dirty="0">
                          <a:effectLst/>
                          <a:latin typeface="+mn-lt"/>
                        </a:rPr>
                        <a:t>Stop</a:t>
                      </a:r>
                      <a:r>
                        <a:rPr lang="zh-CN" altLang="en-US" sz="1200" u="none" strike="noStrike" dirty="0">
                          <a:effectLst/>
                          <a:latin typeface="+mn-lt"/>
                        </a:rPr>
                        <a:t>（编号 </a:t>
                      </a:r>
                      <a:r>
                        <a:rPr lang="en-US" altLang="zh-CN" sz="1200" u="none" strike="noStrike" dirty="0">
                          <a:effectLst/>
                          <a:latin typeface="+mn-lt"/>
                        </a:rPr>
                        <a:t>180</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借助积极旋律，提升自尊，补充心理能量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“听着这轻快的旋律，想象自己正变得越来越有力量。你值得被肯定，你有能力面对一切，你的内心充满阳光和希望。”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52576222"/>
                  </a:ext>
                </a:extLst>
              </a:tr>
              <a:tr h="807533">
                <a:tc>
                  <a:txBody>
                    <a:bodyPr/>
                    <a:lstStyle/>
                    <a:p>
                      <a:pPr algn="l" fontAlgn="ctr"/>
                      <a:r>
                        <a:rPr lang="zh-CN" altLang="en-US" sz="1200" u="none" strike="noStrike">
                          <a:effectLst/>
                          <a:latin typeface="+mn-lt"/>
                        </a:rPr>
                        <a:t>团队性格投射、自我内部关系探索</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彝族舞曲（编号 </a:t>
                      </a:r>
                      <a:r>
                        <a:rPr lang="en-US" altLang="zh-CN" sz="1200" u="none" strike="noStrike">
                          <a:effectLst/>
                          <a:latin typeface="+mn-lt"/>
                        </a:rPr>
                        <a:t>31</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投射性格类型、行为倾向及核心情结，用于团队测试</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“认真聆听音乐里的每一种乐器声，感受哪一段旋律最能触动你。这就是你内心的声音，它在告诉你关于自己的特质和潜藏的力量。”</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1255115310"/>
                  </a:ext>
                </a:extLst>
              </a:tr>
            </a:tbl>
          </a:graphicData>
        </a:graphic>
      </p:graphicFrame>
    </p:spTree>
    <p:extLst>
      <p:ext uri="{BB962C8B-B14F-4D97-AF65-F5344CB8AC3E}">
        <p14:creationId xmlns:p14="http://schemas.microsoft.com/office/powerpoint/2010/main" val="38709985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操音乐选择（</a:t>
            </a:r>
            <a:r>
              <a:rPr lang="en-US" altLang="zh-CN" sz="4400" dirty="0" smtClean="0"/>
              <a:t>7</a:t>
            </a:r>
            <a:r>
              <a:rPr lang="zh-CN" altLang="en-US" sz="4400" dirty="0" smtClean="0"/>
              <a:t>）</a:t>
            </a:r>
            <a:endParaRPr lang="zh-CN" altLang="en-US" sz="4400" dirty="0"/>
          </a:p>
        </p:txBody>
      </p:sp>
      <p:graphicFrame>
        <p:nvGraphicFramePr>
          <p:cNvPr id="3" name="表格 2"/>
          <p:cNvGraphicFramePr>
            <a:graphicFrameLocks noGrp="1"/>
          </p:cNvGraphicFramePr>
          <p:nvPr>
            <p:extLst>
              <p:ext uri="{D42A27DB-BD31-4B8C-83A1-F6EECF244321}">
                <p14:modId xmlns:p14="http://schemas.microsoft.com/office/powerpoint/2010/main" val="2625207432"/>
              </p:ext>
            </p:extLst>
          </p:nvPr>
        </p:nvGraphicFramePr>
        <p:xfrm>
          <a:off x="521207" y="1599391"/>
          <a:ext cx="11155680" cy="5132038"/>
        </p:xfrm>
        <a:graphic>
          <a:graphicData uri="http://schemas.openxmlformats.org/drawingml/2006/table">
            <a:tbl>
              <a:tblPr>
                <a:tableStyleId>{5C22544A-7EE6-4342-B048-85BDC9FD1C3A}</a:tableStyleId>
              </a:tblPr>
              <a:tblGrid>
                <a:gridCol w="1462714">
                  <a:extLst>
                    <a:ext uri="{9D8B030D-6E8A-4147-A177-3AD203B41FA5}">
                      <a16:colId xmlns:a16="http://schemas.microsoft.com/office/drawing/2014/main" val="2583086695"/>
                    </a:ext>
                  </a:extLst>
                </a:gridCol>
                <a:gridCol w="2530929">
                  <a:extLst>
                    <a:ext uri="{9D8B030D-6E8A-4147-A177-3AD203B41FA5}">
                      <a16:colId xmlns:a16="http://schemas.microsoft.com/office/drawing/2014/main" val="2327420003"/>
                    </a:ext>
                  </a:extLst>
                </a:gridCol>
                <a:gridCol w="2147207">
                  <a:extLst>
                    <a:ext uri="{9D8B030D-6E8A-4147-A177-3AD203B41FA5}">
                      <a16:colId xmlns:a16="http://schemas.microsoft.com/office/drawing/2014/main" val="1014711164"/>
                    </a:ext>
                  </a:extLst>
                </a:gridCol>
                <a:gridCol w="5014830">
                  <a:extLst>
                    <a:ext uri="{9D8B030D-6E8A-4147-A177-3AD203B41FA5}">
                      <a16:colId xmlns:a16="http://schemas.microsoft.com/office/drawing/2014/main" val="1751456263"/>
                    </a:ext>
                  </a:extLst>
                </a:gridCol>
              </a:tblGrid>
              <a:tr h="523323">
                <a:tc>
                  <a:txBody>
                    <a:bodyPr/>
                    <a:lstStyle/>
                    <a:p>
                      <a:pPr algn="ctr" fontAlgn="ctr"/>
                      <a:r>
                        <a:rPr lang="zh-CN" altLang="en-US" sz="1200" u="none" strike="noStrike">
                          <a:effectLst/>
                          <a:latin typeface="+mn-lt"/>
                        </a:rPr>
                        <a:t>对应情绪 </a:t>
                      </a:r>
                      <a:r>
                        <a:rPr lang="en-US" altLang="zh-CN" sz="1200" u="none" strike="noStrike">
                          <a:effectLst/>
                          <a:latin typeface="+mn-lt"/>
                        </a:rPr>
                        <a:t>/ </a:t>
                      </a:r>
                      <a:r>
                        <a:rPr lang="zh-CN" altLang="en-US" sz="1200" u="none" strike="noStrike">
                          <a:effectLst/>
                          <a:latin typeface="+mn-lt"/>
                        </a:rPr>
                        <a:t>情况</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u="none" strike="noStrike">
                          <a:effectLst/>
                          <a:latin typeface="+mn-lt"/>
                        </a:rPr>
                        <a:t>音乐</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u="none" strike="noStrike">
                          <a:effectLst/>
                          <a:latin typeface="+mn-lt"/>
                        </a:rPr>
                        <a:t>具体作用</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u="none" strike="noStrike">
                          <a:effectLst/>
                          <a:latin typeface="+mn-lt"/>
                        </a:rPr>
                        <a:t>配套引导语</a:t>
                      </a:r>
                      <a:endParaRPr lang="zh-CN" altLang="en-US" sz="1200" b="1"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046197468"/>
                  </a:ext>
                </a:extLst>
              </a:tr>
              <a:tr h="677978">
                <a:tc>
                  <a:txBody>
                    <a:bodyPr/>
                    <a:lstStyle/>
                    <a:p>
                      <a:pPr algn="l" fontAlgn="ctr"/>
                      <a:r>
                        <a:rPr lang="zh-CN" altLang="en-US" sz="1200" u="none" strike="noStrike">
                          <a:effectLst/>
                          <a:latin typeface="+mn-lt"/>
                        </a:rPr>
                        <a:t>释梦、潜意识探索、婚恋相关心理探索</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顺水而下（编号 </a:t>
                      </a:r>
                      <a:r>
                        <a:rPr lang="en-US" altLang="zh-CN" sz="1200" u="none" strike="noStrike">
                          <a:effectLst/>
                          <a:latin typeface="+mn-lt"/>
                        </a:rPr>
                        <a:t>171</a:t>
                      </a:r>
                      <a:r>
                        <a:rPr lang="zh-CN" altLang="en-US" sz="1200" u="none" strike="noStrike">
                          <a:effectLst/>
                          <a:latin typeface="+mn-lt"/>
                        </a:rPr>
                        <a:t>）、大峡谷（编号 </a:t>
                      </a:r>
                      <a:r>
                        <a:rPr lang="en-US" altLang="zh-CN" sz="1200" u="none" strike="noStrike">
                          <a:effectLst/>
                          <a:latin typeface="+mn-lt"/>
                        </a:rPr>
                        <a:t>47</a:t>
                      </a:r>
                      <a:r>
                        <a:rPr lang="zh-CN" altLang="en-US" sz="1200" u="none" strike="noStrike">
                          <a:effectLst/>
                          <a:latin typeface="+mn-lt"/>
                        </a:rPr>
                        <a:t>）、</a:t>
                      </a:r>
                      <a:r>
                        <a:rPr lang="en-US" altLang="zh-CN" sz="1200" u="none" strike="noStrike">
                          <a:effectLst/>
                          <a:latin typeface="+mn-lt"/>
                        </a:rPr>
                        <a:t>Mercy</a:t>
                      </a:r>
                      <a:r>
                        <a:rPr lang="zh-CN" altLang="en-US" sz="1200" u="none" strike="noStrike">
                          <a:effectLst/>
                          <a:latin typeface="+mn-lt"/>
                        </a:rPr>
                        <a:t>（编号 </a:t>
                      </a:r>
                      <a:r>
                        <a:rPr lang="en-US" altLang="zh-CN" sz="1200" u="none" strike="noStrike">
                          <a:effectLst/>
                          <a:latin typeface="+mn-lt"/>
                        </a:rPr>
                        <a:t>36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助力重造梦境、探索潜意识，探索婚恋关系走向</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“让音乐带你回到那个梦境（那段关系）里，跟随旋律自由地想象。不需要评判，只需要感受，潜意识正在通过音乐向你传递答案。”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4093069813"/>
                  </a:ext>
                </a:extLst>
              </a:tr>
              <a:tr h="677978">
                <a:tc>
                  <a:txBody>
                    <a:bodyPr/>
                    <a:lstStyle/>
                    <a:p>
                      <a:pPr algn="l" fontAlgn="ctr"/>
                      <a:r>
                        <a:rPr lang="zh-CN" altLang="en-US" sz="1200" u="none" strike="noStrike" dirty="0">
                          <a:effectLst/>
                          <a:latin typeface="+mn-lt"/>
                        </a:rPr>
                        <a:t>抑郁情绪调节</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sz="1200" u="none" strike="noStrike">
                          <a:effectLst/>
                          <a:latin typeface="+mn-lt"/>
                        </a:rPr>
                        <a:t>Kiss（</a:t>
                      </a:r>
                      <a:r>
                        <a:rPr lang="zh-CN" altLang="en-US" sz="1200" u="none" strike="noStrike">
                          <a:effectLst/>
                          <a:latin typeface="+mn-lt"/>
                        </a:rPr>
                        <a:t>编号 </a:t>
                      </a:r>
                      <a:r>
                        <a:rPr lang="en-US" altLang="zh-CN" sz="1200" u="none" strike="noStrike">
                          <a:effectLst/>
                          <a:latin typeface="+mn-lt"/>
                        </a:rPr>
                        <a:t>512</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搭配旋律线技术，调节抑郁情绪</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“现在，跟着音乐的旋律，用手在纸上画出它的线条。感受旋律的起伏，就像你的情绪在流动。每一笔，都在带走低落，留下轻盈。”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664482023"/>
                  </a:ext>
                </a:extLst>
              </a:tr>
              <a:tr h="766759">
                <a:tc>
                  <a:txBody>
                    <a:bodyPr/>
                    <a:lstStyle/>
                    <a:p>
                      <a:pPr algn="l" fontAlgn="ctr"/>
                      <a:r>
                        <a:rPr lang="zh-CN" altLang="en-US" sz="1200" u="none" strike="noStrike">
                          <a:effectLst/>
                          <a:latin typeface="+mn-lt"/>
                        </a:rPr>
                        <a:t>焦虑情绪调节</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singing</a:t>
                      </a:r>
                      <a:r>
                        <a:rPr lang="zh-CN" altLang="en-US" sz="1200" u="none" strike="noStrike" dirty="0">
                          <a:effectLst/>
                          <a:latin typeface="+mn-lt"/>
                        </a:rPr>
                        <a:t>（编号 </a:t>
                      </a:r>
                      <a:r>
                        <a:rPr lang="en-US" altLang="zh-CN" sz="1200" u="none" strike="noStrike" dirty="0">
                          <a:effectLst/>
                          <a:latin typeface="+mn-lt"/>
                        </a:rPr>
                        <a:t>60</a:t>
                      </a:r>
                      <a:r>
                        <a:rPr lang="zh-CN" altLang="en-US" sz="1200" u="none" strike="noStrike" dirty="0">
                          <a:effectLst/>
                          <a:latin typeface="+mn-lt"/>
                        </a:rPr>
                        <a:t>）、沉浸（编号 </a:t>
                      </a:r>
                      <a:r>
                        <a:rPr lang="en-US" altLang="zh-CN" sz="1200" u="none" strike="noStrike" dirty="0">
                          <a:effectLst/>
                          <a:latin typeface="+mn-lt"/>
                        </a:rPr>
                        <a:t>358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搭配旋律线技术，转移注意力，缓解焦虑</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“专注于音乐的旋律，跟着它的节奏画出线条。把所有的焦虑都放在这线条里，随着音乐的推进，焦虑正在慢慢消散，你越来越平静。”</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649795346"/>
                  </a:ext>
                </a:extLst>
              </a:tr>
              <a:tr h="766416">
                <a:tc>
                  <a:txBody>
                    <a:bodyPr/>
                    <a:lstStyle/>
                    <a:p>
                      <a:pPr algn="l" fontAlgn="ctr"/>
                      <a:r>
                        <a:rPr lang="zh-CN" altLang="en-US" sz="1200" u="none" strike="noStrike">
                          <a:effectLst/>
                          <a:latin typeface="+mn-lt"/>
                        </a:rPr>
                        <a:t>注意力训练、情绪调节、知识提取训练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An Canon</a:t>
                      </a:r>
                      <a:r>
                        <a:rPr lang="zh-CN" altLang="en-US" sz="1200" u="none" strike="noStrike" dirty="0">
                          <a:effectLst/>
                          <a:latin typeface="+mn-lt"/>
                        </a:rPr>
                        <a:t>（编号 </a:t>
                      </a:r>
                      <a:r>
                        <a:rPr lang="en-US" altLang="zh-CN" sz="1200" u="none" strike="noStrike" dirty="0">
                          <a:effectLst/>
                          <a:latin typeface="+mn-lt"/>
                        </a:rPr>
                        <a:t>12</a:t>
                      </a:r>
                      <a:r>
                        <a:rPr lang="zh-CN" altLang="en-US" sz="1200" u="none" strike="noStrike" dirty="0">
                          <a:effectLst/>
                          <a:latin typeface="+mn-lt"/>
                        </a:rPr>
                        <a:t>）、小步舞曲（编号 </a:t>
                      </a:r>
                      <a:r>
                        <a:rPr lang="en-US" altLang="zh-CN" sz="1200" u="none" strike="noStrike" dirty="0">
                          <a:effectLst/>
                          <a:latin typeface="+mn-lt"/>
                        </a:rPr>
                        <a:t>2</a:t>
                      </a:r>
                      <a:r>
                        <a:rPr lang="zh-CN" altLang="en-US" sz="1200" u="none" strike="noStrike" dirty="0">
                          <a:effectLst/>
                          <a:latin typeface="+mn-lt"/>
                        </a:rPr>
                        <a:t>）、手动跟随守候（编号 </a:t>
                      </a:r>
                      <a:r>
                        <a:rPr lang="en-US" altLang="zh-CN" sz="1200" u="none" strike="noStrike" dirty="0">
                          <a:effectLst/>
                          <a:latin typeface="+mn-lt"/>
                        </a:rPr>
                        <a:t>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提升注意力，调节情绪，辅助知识提取</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“跟着音乐的节拍，轻轻敲击穴位，同时专注于一个你想记住的知识点。让音乐帮你强化记忆，让注意力像聚光灯一样，牢牢锁定目标。”</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767100159"/>
                  </a:ext>
                </a:extLst>
              </a:tr>
              <a:tr h="847717">
                <a:tc>
                  <a:txBody>
                    <a:bodyPr/>
                    <a:lstStyle/>
                    <a:p>
                      <a:pPr algn="l" fontAlgn="ctr"/>
                      <a:r>
                        <a:rPr lang="zh-CN" altLang="en-US" sz="1200" u="none" strike="noStrike" dirty="0">
                          <a:effectLst/>
                          <a:latin typeface="+mn-lt"/>
                        </a:rPr>
                        <a:t>孤独情绪缓解</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孤独 玛奇朵（编号 </a:t>
                      </a:r>
                      <a:r>
                        <a:rPr lang="en-US" altLang="zh-CN" sz="1200" u="none" strike="noStrike">
                          <a:effectLst/>
                          <a:latin typeface="+mn-lt"/>
                        </a:rPr>
                        <a:t>587</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针对性缓解孤独感，提供情绪慰藉</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“让这温柔的旋律陪伴着你，它懂你的孤独。感受音符像朋友一样，轻轻拥抱你。孤独正在被温暖填满，你并不孤单。”</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553534064"/>
                  </a:ext>
                </a:extLst>
              </a:tr>
              <a:tr h="871867">
                <a:tc>
                  <a:txBody>
                    <a:bodyPr/>
                    <a:lstStyle/>
                    <a:p>
                      <a:pPr algn="l" fontAlgn="ctr"/>
                      <a:r>
                        <a:rPr lang="zh-CN" altLang="en-US" sz="1200" u="none" strike="noStrike">
                          <a:effectLst/>
                          <a:latin typeface="+mn-lt"/>
                        </a:rPr>
                        <a:t>情绪调节、放松身心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t>
                      </a:r>
                      <a:r>
                        <a:rPr lang="zh-CN" altLang="en-US" sz="1200" u="none" strike="noStrike" dirty="0">
                          <a:effectLst/>
                          <a:latin typeface="+mn-lt"/>
                        </a:rPr>
                        <a:t>弹钢琴（</a:t>
                      </a:r>
                      <a:r>
                        <a:rPr lang="en-US" altLang="zh-CN" sz="1200" u="none" strike="noStrike" dirty="0">
                          <a:effectLst/>
                          <a:latin typeface="+mn-lt"/>
                        </a:rPr>
                        <a:t>30 </a:t>
                      </a:r>
                      <a:r>
                        <a:rPr lang="zh-CN" altLang="en-US" sz="1200" u="none" strike="noStrike" dirty="0">
                          <a:effectLst/>
                          <a:latin typeface="+mn-lt"/>
                        </a:rPr>
                        <a:t>小夜曲）、柴科夫斯基（编号 </a:t>
                      </a:r>
                      <a:r>
                        <a:rPr lang="en-US" altLang="zh-CN" sz="1200" u="none" strike="noStrike" dirty="0">
                          <a:effectLst/>
                          <a:latin typeface="+mn-lt"/>
                        </a:rPr>
                        <a:t>29</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舒缓旋律，放松身心，调节日常情绪波动</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“放下所有的疲惫和烦恼，让音乐流淌过你的身体。每一个细胞都在旋律中放松，呼吸变得缓慢而深沉，身心回归平和与宁静。”</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301853594"/>
                  </a:ext>
                </a:extLst>
              </a:tr>
            </a:tbl>
          </a:graphicData>
        </a:graphic>
      </p:graphicFrame>
    </p:spTree>
    <p:extLst>
      <p:ext uri="{BB962C8B-B14F-4D97-AF65-F5344CB8AC3E}">
        <p14:creationId xmlns:p14="http://schemas.microsoft.com/office/powerpoint/2010/main" val="285374218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3820552" y="4060680"/>
            <a:ext cx="2278496" cy="2155828"/>
          </a:xfrm>
          <a:prstGeom prst="rect">
            <a:avLst/>
          </a:prstGeom>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a:t>
            </a:r>
            <a:r>
              <a:rPr lang="zh-CN" altLang="en-US" sz="4400" dirty="0" smtClean="0"/>
              <a:t>关键技巧</a:t>
            </a:r>
            <a:r>
              <a:rPr lang="zh-CN" altLang="en-US" sz="4400" dirty="0" smtClean="0"/>
              <a:t>（</a:t>
            </a:r>
            <a:r>
              <a:rPr lang="en-US" altLang="zh-CN" sz="4400" dirty="0" smtClean="0"/>
              <a:t>8</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8161" y="1599392"/>
            <a:ext cx="4691743" cy="4345735"/>
          </a:xfrm>
        </p:spPr>
        <p:txBody>
          <a:bodyPr/>
          <a:lstStyle/>
          <a:p>
            <a:pPr marL="0" indent="0">
              <a:buNone/>
            </a:pPr>
            <a:r>
              <a:rPr lang="zh-CN" altLang="en-US" sz="1200" dirty="0" smtClean="0">
                <a:latin typeface="+mn-ea"/>
              </a:rPr>
              <a:t>第一步，心理调节目标的确定</a:t>
            </a:r>
            <a:endParaRPr lang="en-US" altLang="zh-CN" sz="1200" dirty="0" smtClean="0">
              <a:latin typeface="+mn-ea"/>
            </a:endParaRPr>
          </a:p>
          <a:p>
            <a:pPr marL="0" indent="0">
              <a:buNone/>
            </a:pPr>
            <a:r>
              <a:rPr lang="zh-CN" altLang="en-US" sz="1200" dirty="0" smtClean="0">
                <a:latin typeface="+mn-ea"/>
              </a:rPr>
              <a:t>首先要确定我们要调节什么样的负面心理，是一个痛苦的回忆，一个心结，还是抑郁症、焦虑、强迫等等。</a:t>
            </a:r>
            <a:endParaRPr lang="en-US" altLang="zh-CN" sz="1200" dirty="0" smtClean="0">
              <a:latin typeface="+mn-ea"/>
            </a:endParaRPr>
          </a:p>
          <a:p>
            <a:pPr marL="0" indent="0">
              <a:buNone/>
            </a:pPr>
            <a:r>
              <a:rPr lang="zh-CN" altLang="en-US" sz="1200" dirty="0" smtClean="0">
                <a:latin typeface="+mn-ea"/>
              </a:rPr>
              <a:t>第二步，负面心理指数的确定</a:t>
            </a:r>
            <a:endParaRPr lang="en-US" altLang="zh-CN" sz="1200" dirty="0" smtClean="0">
              <a:latin typeface="+mn-ea"/>
            </a:endParaRPr>
          </a:p>
          <a:p>
            <a:pPr marL="0" indent="0">
              <a:buNone/>
            </a:pPr>
            <a:r>
              <a:rPr lang="zh-CN" altLang="en-US" sz="1200" dirty="0" smtClean="0">
                <a:latin typeface="+mn-ea"/>
              </a:rPr>
              <a:t>这样可以在调节完成后对心理状态进行比较，看看效果如何。</a:t>
            </a:r>
            <a:endParaRPr lang="en-US" altLang="zh-CN" sz="1200" dirty="0" smtClean="0">
              <a:latin typeface="+mn-ea"/>
            </a:endParaRPr>
          </a:p>
          <a:p>
            <a:pPr marL="0" indent="0">
              <a:buNone/>
            </a:pPr>
            <a:r>
              <a:rPr lang="zh-CN" altLang="en-US" sz="1200" dirty="0" smtClean="0">
                <a:latin typeface="+mn-ea"/>
              </a:rPr>
              <a:t>第三步，组织提示语</a:t>
            </a:r>
            <a:endParaRPr lang="en-US" altLang="zh-CN" sz="1200" dirty="0" smtClean="0">
              <a:latin typeface="+mn-ea"/>
            </a:endParaRPr>
          </a:p>
          <a:p>
            <a:pPr marL="0" indent="0">
              <a:buNone/>
            </a:pPr>
            <a:r>
              <a:rPr lang="zh-CN" altLang="en-US" sz="1200" dirty="0" smtClean="0">
                <a:latin typeface="+mn-ea"/>
              </a:rPr>
              <a:t>第四步，一边弹一边大声说出提示语</a:t>
            </a:r>
            <a:endParaRPr lang="en-US" altLang="zh-CN" sz="1200" dirty="0" smtClean="0">
              <a:latin typeface="+mn-ea"/>
            </a:endParaRPr>
          </a:p>
          <a:p>
            <a:pPr marL="0" indent="0">
              <a:buNone/>
            </a:pPr>
            <a:r>
              <a:rPr lang="zh-CN" altLang="en-US" sz="1200" dirty="0" smtClean="0">
                <a:latin typeface="+mn-ea"/>
              </a:rPr>
              <a:t>第五步，深呼吸两次，吐出浊气</a:t>
            </a:r>
            <a:endParaRPr lang="en-US" altLang="zh-CN" sz="1200" dirty="0" smtClean="0">
              <a:latin typeface="+mn-ea"/>
            </a:endParaRPr>
          </a:p>
          <a:p>
            <a:pPr marL="0" indent="0">
              <a:buNone/>
            </a:pPr>
            <a:r>
              <a:rPr lang="zh-CN" altLang="en-US" sz="1200" dirty="0" smtClean="0">
                <a:latin typeface="+mn-ea"/>
              </a:rPr>
              <a:t>第六步，评估第一次心理调节的效果</a:t>
            </a:r>
            <a:endParaRPr lang="en-US" altLang="zh-CN" sz="1200" dirty="0" smtClean="0">
              <a:latin typeface="+mn-ea"/>
            </a:endParaRPr>
          </a:p>
          <a:p>
            <a:pPr marL="0" indent="0">
              <a:buNone/>
            </a:pPr>
            <a:r>
              <a:rPr lang="zh-CN" altLang="en-US" sz="1200" dirty="0" smtClean="0">
                <a:latin typeface="+mn-ea"/>
              </a:rPr>
              <a:t>第七步，调整提示语，进行第二次心理疏导</a:t>
            </a:r>
            <a:endParaRPr lang="en-US" altLang="zh-CN" sz="1200" dirty="0" smtClean="0">
              <a:latin typeface="+mn-ea"/>
            </a:endParaRPr>
          </a:p>
          <a:p>
            <a:pPr marL="0" indent="0">
              <a:buNone/>
            </a:pPr>
            <a:r>
              <a:rPr lang="zh-CN" altLang="en-US" sz="1200" dirty="0" smtClean="0">
                <a:latin typeface="+mn-ea"/>
              </a:rPr>
              <a:t>第八步，评估第二次心理疏导的效果</a:t>
            </a:r>
            <a:endParaRPr lang="en-US" altLang="zh-CN" sz="1200" dirty="0" smtClean="0">
              <a:latin typeface="+mn-ea"/>
            </a:endParaRPr>
          </a:p>
          <a:p>
            <a:pPr marL="0" indent="0">
              <a:buNone/>
            </a:pPr>
            <a:r>
              <a:rPr lang="zh-CN" altLang="en-US" sz="1200" dirty="0" smtClean="0">
                <a:latin typeface="+mn-ea"/>
              </a:rPr>
              <a:t>第九步</a:t>
            </a:r>
            <a:r>
              <a:rPr lang="zh-CN" altLang="en-US" sz="1200" dirty="0">
                <a:latin typeface="+mn-ea"/>
              </a:rPr>
              <a:t>，调整提示语，进行</a:t>
            </a:r>
            <a:r>
              <a:rPr lang="zh-CN" altLang="en-US" sz="1200" dirty="0" smtClean="0">
                <a:latin typeface="+mn-ea"/>
              </a:rPr>
              <a:t>第三次</a:t>
            </a:r>
            <a:r>
              <a:rPr lang="zh-CN" altLang="en-US" sz="1200" dirty="0">
                <a:latin typeface="+mn-ea"/>
              </a:rPr>
              <a:t>心理疏导</a:t>
            </a:r>
            <a:endParaRPr lang="en-US" altLang="zh-CN" sz="1200" dirty="0">
              <a:latin typeface="+mn-ea"/>
            </a:endParaRPr>
          </a:p>
          <a:p>
            <a:pPr marL="0" indent="0">
              <a:buNone/>
            </a:pPr>
            <a:endParaRPr lang="zh-CN" altLang="en-US" sz="12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5974080" y="1599392"/>
            <a:ext cx="5702808" cy="51029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b="1" dirty="0" smtClean="0">
                <a:latin typeface="+mn-ea"/>
              </a:rPr>
              <a:t>负责心理指数测量方法：我们用</a:t>
            </a:r>
            <a:r>
              <a:rPr lang="en-US" altLang="zh-CN" sz="1200" b="1" dirty="0" smtClean="0">
                <a:latin typeface="+mn-ea"/>
              </a:rPr>
              <a:t>0~10</a:t>
            </a:r>
            <a:r>
              <a:rPr lang="zh-CN" altLang="en-US" sz="1200" b="1" dirty="0" smtClean="0">
                <a:latin typeface="+mn-ea"/>
              </a:rPr>
              <a:t>来表示负面心理指数。</a:t>
            </a:r>
            <a:endParaRPr lang="en-US" altLang="zh-CN" sz="1200" b="1" dirty="0" smtClean="0">
              <a:latin typeface="+mn-ea"/>
            </a:endParaRPr>
          </a:p>
          <a:p>
            <a:pPr marL="0" indent="0">
              <a:buFont typeface="Arial" panose="020B0604020202020204" pitchFamily="34" charset="0"/>
              <a:buNone/>
            </a:pPr>
            <a:r>
              <a:rPr lang="en-US" altLang="zh-CN" sz="1200" dirty="0" smtClean="0">
                <a:latin typeface="+mn-ea"/>
              </a:rPr>
              <a:t>10 - </a:t>
            </a:r>
            <a:r>
              <a:rPr lang="zh-CN" altLang="en-US" sz="1200" dirty="0" smtClean="0">
                <a:latin typeface="+mn-ea"/>
              </a:rPr>
              <a:t>代表</a:t>
            </a:r>
            <a:r>
              <a:rPr lang="zh-CN" altLang="en-US" sz="1200" dirty="0" smtClean="0">
                <a:latin typeface="+mn-ea"/>
              </a:rPr>
              <a:t>对事件的负面心理已经到了不可忍受的地步。</a:t>
            </a:r>
            <a:endParaRPr lang="en-US" altLang="zh-CN" sz="1200" dirty="0" smtClean="0">
              <a:latin typeface="+mn-ea"/>
            </a:endParaRPr>
          </a:p>
          <a:p>
            <a:pPr marL="0" indent="0">
              <a:buNone/>
            </a:pPr>
            <a:r>
              <a:rPr lang="en-US" altLang="zh-CN" sz="1200" dirty="0">
                <a:latin typeface="+mn-ea"/>
              </a:rPr>
              <a:t>9 </a:t>
            </a:r>
            <a:r>
              <a:rPr lang="en-US" altLang="zh-CN" sz="1200" dirty="0" smtClean="0">
                <a:latin typeface="+mn-ea"/>
              </a:rPr>
              <a:t>- </a:t>
            </a:r>
            <a:r>
              <a:rPr lang="zh-CN" altLang="en-US" sz="1200" dirty="0" smtClean="0">
                <a:latin typeface="+mn-ea"/>
              </a:rPr>
              <a:t>负面</a:t>
            </a:r>
            <a:r>
              <a:rPr lang="zh-CN" altLang="en-US" sz="1200" dirty="0" smtClean="0">
                <a:latin typeface="+mn-ea"/>
              </a:rPr>
              <a:t>情绪很高，感觉非常糟糕，情绪马上要失控。</a:t>
            </a:r>
            <a:endParaRPr lang="en-US" altLang="zh-CN" sz="1200" dirty="0" smtClean="0">
              <a:latin typeface="+mn-ea"/>
            </a:endParaRPr>
          </a:p>
          <a:p>
            <a:pPr marL="0" indent="0">
              <a:buNone/>
            </a:pPr>
            <a:r>
              <a:rPr lang="en-US" altLang="zh-CN" sz="1200" dirty="0">
                <a:latin typeface="+mn-ea"/>
              </a:rPr>
              <a:t>8 </a:t>
            </a:r>
            <a:r>
              <a:rPr lang="en-US" altLang="zh-CN" sz="1200" dirty="0" smtClean="0">
                <a:latin typeface="+mn-ea"/>
              </a:rPr>
              <a:t>- </a:t>
            </a:r>
            <a:r>
              <a:rPr lang="zh-CN" altLang="en-US" sz="1200" dirty="0" smtClean="0">
                <a:latin typeface="+mn-ea"/>
              </a:rPr>
              <a:t>感到</a:t>
            </a:r>
            <a:r>
              <a:rPr lang="zh-CN" altLang="en-US" sz="1200" dirty="0" smtClean="0">
                <a:latin typeface="+mn-ea"/>
              </a:rPr>
              <a:t>糟糕，虽然还可以控制一下情绪，但一不小心会失控。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7 - </a:t>
            </a:r>
            <a:r>
              <a:rPr lang="zh-CN" altLang="en-US" sz="1200" dirty="0" smtClean="0">
                <a:latin typeface="+mn-ea"/>
              </a:rPr>
              <a:t>情绪</a:t>
            </a:r>
            <a:r>
              <a:rPr lang="zh-CN" altLang="en-US" sz="1200" dirty="0" smtClean="0">
                <a:latin typeface="+mn-ea"/>
              </a:rPr>
              <a:t>开始要崩溃，在很糟糕的情绪边缘，但还可以努力控制。</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6 - </a:t>
            </a:r>
            <a:r>
              <a:rPr lang="zh-CN" altLang="en-US" sz="1200" dirty="0" smtClean="0">
                <a:latin typeface="+mn-ea"/>
              </a:rPr>
              <a:t>感到</a:t>
            </a:r>
            <a:r>
              <a:rPr lang="zh-CN" altLang="en-US" sz="1200" dirty="0" smtClean="0">
                <a:latin typeface="+mn-ea"/>
              </a:rPr>
              <a:t>挺糟糕，意识到应该想办法去调节不良情绪。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5 - </a:t>
            </a:r>
            <a:r>
              <a:rPr lang="zh-CN" altLang="en-US" sz="1200" dirty="0" smtClean="0">
                <a:latin typeface="+mn-ea"/>
              </a:rPr>
              <a:t>有一些</a:t>
            </a:r>
            <a:r>
              <a:rPr lang="zh-CN" altLang="en-US" sz="1200" dirty="0" smtClean="0">
                <a:latin typeface="+mn-ea"/>
              </a:rPr>
              <a:t>心理不舒服，但努力一下是可以控制的</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4 - </a:t>
            </a:r>
            <a:r>
              <a:rPr lang="zh-CN" altLang="en-US" sz="1200" dirty="0" smtClean="0">
                <a:latin typeface="+mn-ea"/>
              </a:rPr>
              <a:t>有一些</a:t>
            </a:r>
            <a:r>
              <a:rPr lang="zh-CN" altLang="en-US" sz="1200" dirty="0" smtClean="0">
                <a:latin typeface="+mn-ea"/>
              </a:rPr>
              <a:t>不痛快，无法回避感受，但能控制情绪。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3 - </a:t>
            </a:r>
            <a:r>
              <a:rPr lang="zh-CN" altLang="en-US" sz="1200" dirty="0" smtClean="0">
                <a:latin typeface="+mn-ea"/>
              </a:rPr>
              <a:t>有点</a:t>
            </a:r>
            <a:r>
              <a:rPr lang="zh-CN" altLang="en-US" sz="1200" dirty="0" smtClean="0">
                <a:latin typeface="+mn-ea"/>
              </a:rPr>
              <a:t>不舒服，并注意到了这样的感受。</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2 - </a:t>
            </a:r>
            <a:r>
              <a:rPr lang="zh-CN" altLang="en-US" sz="1200" dirty="0" smtClean="0">
                <a:latin typeface="+mn-ea"/>
              </a:rPr>
              <a:t>有点</a:t>
            </a:r>
            <a:r>
              <a:rPr lang="zh-CN" altLang="en-US" sz="1200" dirty="0" smtClean="0">
                <a:latin typeface="+mn-ea"/>
              </a:rPr>
              <a:t>不舒服，平时不注意它不会打扰你，有时想到会有点困扰。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1 - </a:t>
            </a:r>
            <a:r>
              <a:rPr lang="zh-CN" altLang="en-US" sz="1200" dirty="0" smtClean="0">
                <a:latin typeface="+mn-ea"/>
              </a:rPr>
              <a:t>基本上</a:t>
            </a:r>
            <a:r>
              <a:rPr lang="zh-CN" altLang="en-US" sz="1200" dirty="0" smtClean="0">
                <a:latin typeface="+mn-ea"/>
              </a:rPr>
              <a:t>还好，如果很仔细想会有一丝不痛快。</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0 - </a:t>
            </a:r>
            <a:r>
              <a:rPr lang="zh-CN" altLang="en-US" sz="1200" dirty="0" smtClean="0">
                <a:latin typeface="+mn-ea"/>
              </a:rPr>
              <a:t>内心</a:t>
            </a:r>
            <a:r>
              <a:rPr lang="zh-CN" altLang="en-US" sz="1200" dirty="0" smtClean="0">
                <a:latin typeface="+mn-ea"/>
              </a:rPr>
              <a:t>平静，完全解脱，没有不愉快的感觉。</a:t>
            </a:r>
            <a:endParaRPr lang="en-US" altLang="zh-CN" sz="1200" dirty="0" smtClean="0">
              <a:latin typeface="+mn-ea"/>
            </a:endParaRPr>
          </a:p>
          <a:p>
            <a:pPr marL="0" indent="0">
              <a:buFont typeface="Arial" panose="020B0604020202020204" pitchFamily="34" charset="0"/>
              <a:buNone/>
            </a:pPr>
            <a:r>
              <a:rPr lang="en-US" altLang="zh-CN" sz="1200" i="1" u="sng" dirty="0" smtClean="0">
                <a:latin typeface="+mn-ea"/>
              </a:rPr>
              <a:t>5~8</a:t>
            </a:r>
            <a:r>
              <a:rPr lang="zh-CN" altLang="en-US" sz="1200" i="1" u="sng" dirty="0" smtClean="0">
                <a:latin typeface="+mn-ea"/>
              </a:rPr>
              <a:t>可以进行疏导，如果</a:t>
            </a:r>
            <a:r>
              <a:rPr lang="en-US" altLang="zh-CN" sz="1200" i="1" u="sng" dirty="0" smtClean="0">
                <a:latin typeface="+mn-ea"/>
              </a:rPr>
              <a:t>5</a:t>
            </a:r>
            <a:r>
              <a:rPr lang="zh-CN" altLang="en-US" sz="1200" i="1" u="sng" dirty="0" smtClean="0">
                <a:latin typeface="+mn-ea"/>
              </a:rPr>
              <a:t>以下甚至是</a:t>
            </a:r>
            <a:r>
              <a:rPr lang="en-US" altLang="zh-CN" sz="1200" i="1" u="sng" dirty="0" smtClean="0">
                <a:latin typeface="+mn-ea"/>
              </a:rPr>
              <a:t>2~3</a:t>
            </a:r>
            <a:r>
              <a:rPr lang="zh-CN" altLang="en-US" sz="1200" i="1" u="sng" dirty="0" smtClean="0">
                <a:latin typeface="+mn-ea"/>
              </a:rPr>
              <a:t>更低就没有必要疏导了。</a:t>
            </a:r>
            <a:endParaRPr lang="en-US" altLang="zh-CN" sz="1200" i="1" u="sng" dirty="0" smtClean="0">
              <a:latin typeface="+mn-ea"/>
            </a:endParaRPr>
          </a:p>
          <a:p>
            <a:pPr marL="0" indent="0">
              <a:buFont typeface="Arial" panose="020B0604020202020204" pitchFamily="34" charset="0"/>
              <a:buNone/>
            </a:pPr>
            <a:r>
              <a:rPr lang="zh-CN" altLang="en-US" sz="1200" i="1" u="sng" dirty="0" smtClean="0">
                <a:latin typeface="+mn-ea"/>
              </a:rPr>
              <a:t>通过操作可以将指数降低到</a:t>
            </a:r>
            <a:r>
              <a:rPr lang="en-US" altLang="zh-CN" sz="1200" i="1" u="sng" dirty="0" smtClean="0">
                <a:latin typeface="+mn-ea"/>
              </a:rPr>
              <a:t>0</a:t>
            </a:r>
            <a:r>
              <a:rPr lang="zh-CN" altLang="en-US" sz="1200" i="1" u="sng" dirty="0" smtClean="0">
                <a:latin typeface="+mn-ea"/>
              </a:rPr>
              <a:t>。</a:t>
            </a:r>
            <a:endParaRPr lang="zh-CN" altLang="en-US" sz="1200" i="1" u="sng" dirty="0">
              <a:latin typeface="+mn-ea"/>
            </a:endParaRPr>
          </a:p>
        </p:txBody>
      </p:sp>
      <p:sp>
        <p:nvSpPr>
          <p:cNvPr id="6" name="内容占位符 2">
            <a:extLst>
              <a:ext uri="{FF2B5EF4-FFF2-40B4-BE49-F238E27FC236}">
                <a16:creationId xmlns:a16="http://schemas.microsoft.com/office/drawing/2014/main" id="{FAD0FAE9-2ACA-D917-5BD7-0D08682B3783}"/>
              </a:ext>
            </a:extLst>
          </p:cNvPr>
          <p:cNvSpPr txBox="1">
            <a:spLocks/>
          </p:cNvSpPr>
          <p:nvPr/>
        </p:nvSpPr>
        <p:spPr>
          <a:xfrm>
            <a:off x="518161" y="5945127"/>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Tree>
    <p:extLst>
      <p:ext uri="{BB962C8B-B14F-4D97-AF65-F5344CB8AC3E}">
        <p14:creationId xmlns:p14="http://schemas.microsoft.com/office/powerpoint/2010/main" val="396989759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569979" y="5193013"/>
            <a:ext cx="3411708" cy="1503426"/>
          </a:xfrm>
          <a:prstGeom prst="rect">
            <a:avLst/>
          </a:prstGeom>
          <a:effectLst>
            <a:softEdge rad="127000"/>
          </a:effectLst>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a:t>操关键技巧</a:t>
            </a:r>
            <a:r>
              <a:rPr lang="zh-CN" altLang="en-US" sz="4400" dirty="0" smtClean="0"/>
              <a:t>（</a:t>
            </a:r>
            <a:r>
              <a:rPr lang="en-US" altLang="zh-CN" sz="4400" dirty="0"/>
              <a:t>9</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4" y="1576786"/>
            <a:ext cx="3698743" cy="4367940"/>
          </a:xfrm>
          <a:noFill/>
          <a:ln>
            <a:noFill/>
          </a:ln>
        </p:spPr>
        <p:txBody>
          <a:bodyPr/>
          <a:lstStyle/>
          <a:p>
            <a:pPr marL="0" indent="0">
              <a:buNone/>
            </a:pPr>
            <a:r>
              <a:rPr lang="zh-CN" altLang="en-US" sz="1400" dirty="0">
                <a:latin typeface="+mn-ea"/>
              </a:rPr>
              <a:t>    </a:t>
            </a:r>
            <a:r>
              <a:rPr lang="zh-CN" altLang="en-US" sz="1400" b="1" dirty="0">
                <a:latin typeface="+mn-ea"/>
              </a:rPr>
              <a:t>允许 </a:t>
            </a:r>
            <a:r>
              <a:rPr lang="en-US" altLang="zh-CN" sz="1400" b="1" dirty="0">
                <a:latin typeface="+mn-ea"/>
              </a:rPr>
              <a:t>1-2 </a:t>
            </a:r>
            <a:r>
              <a:rPr lang="zh-CN" altLang="en-US" sz="1400" b="1" dirty="0">
                <a:latin typeface="+mn-ea"/>
              </a:rPr>
              <a:t>厘米的偏差：</a:t>
            </a:r>
            <a:r>
              <a:rPr lang="zh-CN" altLang="en-US" sz="1400" dirty="0">
                <a:latin typeface="+mn-ea"/>
              </a:rPr>
              <a:t>比如 “眼侧穴”（瞳子髎附近），只要敲击在眼外侧眶骨</a:t>
            </a:r>
            <a:r>
              <a:rPr lang="zh-CN" altLang="en-US" sz="1400" dirty="0" smtClean="0">
                <a:latin typeface="+mn-ea"/>
              </a:rPr>
              <a:t>周围</a:t>
            </a:r>
            <a:r>
              <a:rPr lang="en-US" altLang="zh-CN" sz="1400" dirty="0" smtClean="0">
                <a:latin typeface="+mn-ea"/>
              </a:rPr>
              <a:t>1</a:t>
            </a:r>
            <a:r>
              <a:rPr lang="zh-CN" altLang="en-US" sz="1400" dirty="0" smtClean="0">
                <a:latin typeface="+mn-ea"/>
              </a:rPr>
              <a:t>厘米</a:t>
            </a:r>
            <a:r>
              <a:rPr lang="zh-CN" altLang="en-US" sz="1400" dirty="0">
                <a:latin typeface="+mn-ea"/>
              </a:rPr>
              <a:t>范围内，就能触发对应的情绪能量疏导，无需严格卡在 “外</a:t>
            </a:r>
            <a:r>
              <a:rPr lang="zh-CN" altLang="en-US" sz="1400" dirty="0" smtClean="0">
                <a:latin typeface="+mn-ea"/>
              </a:rPr>
              <a:t>眼角</a:t>
            </a:r>
            <a:r>
              <a:rPr lang="en-US" altLang="zh-CN" sz="1400" dirty="0" smtClean="0">
                <a:latin typeface="+mn-ea"/>
              </a:rPr>
              <a:t>0.5</a:t>
            </a:r>
            <a:r>
              <a:rPr lang="zh-CN" altLang="en-US" sz="1400" dirty="0" smtClean="0">
                <a:latin typeface="+mn-ea"/>
              </a:rPr>
              <a:t>厘米</a:t>
            </a:r>
            <a:r>
              <a:rPr lang="zh-CN" altLang="en-US" sz="1400" dirty="0">
                <a:latin typeface="+mn-ea"/>
              </a:rPr>
              <a:t>凹陷处”；再如 “锁骨下方穴”，只要敲击在锁骨与第一肋的交汇处附近（前后偏差不</a:t>
            </a:r>
            <a:r>
              <a:rPr lang="zh-CN" altLang="en-US" sz="1400" dirty="0" smtClean="0">
                <a:latin typeface="+mn-ea"/>
              </a:rPr>
              <a:t>超过</a:t>
            </a:r>
            <a:r>
              <a:rPr lang="en-US" altLang="zh-CN" sz="1400" dirty="0" smtClean="0">
                <a:latin typeface="+mn-ea"/>
              </a:rPr>
              <a:t>2</a:t>
            </a:r>
            <a:r>
              <a:rPr lang="zh-CN" altLang="en-US" sz="1400" dirty="0" smtClean="0">
                <a:latin typeface="+mn-ea"/>
              </a:rPr>
              <a:t>厘米</a:t>
            </a:r>
            <a:r>
              <a:rPr lang="zh-CN" altLang="en-US" sz="1400" dirty="0">
                <a:latin typeface="+mn-ea"/>
              </a:rPr>
              <a:t>），无论是否精准命中俞府穴，都能起到缓解胸闷的作用。</a:t>
            </a:r>
          </a:p>
          <a:p>
            <a:pPr marL="0" indent="0">
              <a:buNone/>
            </a:pPr>
            <a:r>
              <a:rPr lang="zh-CN" altLang="en-US" sz="1400" dirty="0">
                <a:latin typeface="+mn-ea"/>
              </a:rPr>
              <a:t>    </a:t>
            </a:r>
            <a:r>
              <a:rPr lang="zh-CN" altLang="en-US" sz="1400" b="1" dirty="0">
                <a:latin typeface="+mn-ea"/>
              </a:rPr>
              <a:t>以 “感觉</a:t>
            </a:r>
            <a:r>
              <a:rPr lang="zh-CN" altLang="en-US" sz="1400" b="1" dirty="0" smtClean="0">
                <a:latin typeface="+mn-ea"/>
              </a:rPr>
              <a:t>舒适</a:t>
            </a:r>
            <a:r>
              <a:rPr lang="en-US" altLang="zh-CN" sz="1400" b="1" dirty="0" smtClean="0">
                <a:latin typeface="+mn-ea"/>
              </a:rPr>
              <a:t>+</a:t>
            </a:r>
            <a:r>
              <a:rPr lang="zh-CN" altLang="en-US" sz="1400" b="1" dirty="0" smtClean="0">
                <a:latin typeface="+mn-ea"/>
              </a:rPr>
              <a:t>有</a:t>
            </a:r>
            <a:r>
              <a:rPr lang="zh-CN" altLang="en-US" sz="1400" b="1" dirty="0">
                <a:latin typeface="+mn-ea"/>
              </a:rPr>
              <a:t>酸胀感” 为辅助判断：</a:t>
            </a:r>
            <a:r>
              <a:rPr lang="zh-CN" altLang="en-US" sz="1400" dirty="0">
                <a:latin typeface="+mn-ea"/>
              </a:rPr>
              <a:t>敲击时若能感受到轻微的酸胀、发麻，或单纯觉得 “这个位置敲击起来情绪更易流动”，即使位置略有偏差，也</a:t>
            </a:r>
            <a:r>
              <a:rPr lang="zh-CN" altLang="en-US" sz="1400" dirty="0" smtClean="0">
                <a:latin typeface="+mn-ea"/>
              </a:rPr>
              <a:t>符合</a:t>
            </a:r>
            <a:r>
              <a:rPr lang="en-US" altLang="zh-CN" sz="1400" dirty="0" smtClean="0">
                <a:latin typeface="+mn-ea"/>
              </a:rPr>
              <a:t>EFT</a:t>
            </a:r>
            <a:r>
              <a:rPr lang="zh-CN" altLang="en-US" sz="1400" dirty="0" smtClean="0">
                <a:latin typeface="+mn-ea"/>
              </a:rPr>
              <a:t>的</a:t>
            </a:r>
            <a:r>
              <a:rPr lang="zh-CN" altLang="en-US" sz="1400" dirty="0">
                <a:latin typeface="+mn-ea"/>
              </a:rPr>
              <a:t>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515114" y="6004560"/>
            <a:ext cx="4779454" cy="62586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4213859" y="1576786"/>
            <a:ext cx="7463027" cy="2423713"/>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穴位区域不能错：</a:t>
            </a:r>
            <a:r>
              <a:rPr lang="zh-CN" altLang="en-US" sz="1400" dirty="0">
                <a:latin typeface="+mn-ea"/>
              </a:rPr>
              <a:t>比如 “眉头穴” 必须在眉头内侧区域（不能敲到额头中间），“腋下穴” 必须在腋窝</a:t>
            </a:r>
            <a:r>
              <a:rPr lang="zh-CN" altLang="en-US" sz="1400" dirty="0" smtClean="0">
                <a:latin typeface="+mn-ea"/>
              </a:rPr>
              <a:t>下方</a:t>
            </a:r>
            <a:r>
              <a:rPr lang="en-US" altLang="zh-CN" sz="1400" dirty="0" smtClean="0">
                <a:latin typeface="+mn-ea"/>
              </a:rPr>
              <a:t>10</a:t>
            </a:r>
            <a:r>
              <a:rPr lang="zh-CN" altLang="en-US" sz="1400" dirty="0" smtClean="0">
                <a:latin typeface="+mn-ea"/>
              </a:rPr>
              <a:t>厘米</a:t>
            </a:r>
            <a:r>
              <a:rPr lang="zh-CN" altLang="en-US" sz="1400" dirty="0">
                <a:latin typeface="+mn-ea"/>
              </a:rPr>
              <a:t>左右（不能敲到上臂或胸口正中间）</a:t>
            </a:r>
            <a:r>
              <a:rPr lang="en-US" altLang="zh-CN" sz="1400" dirty="0">
                <a:latin typeface="+mn-ea"/>
              </a:rPr>
              <a:t>—— </a:t>
            </a:r>
            <a:r>
              <a:rPr lang="zh-CN" altLang="en-US" sz="1400" dirty="0">
                <a:latin typeface="+mn-ea"/>
              </a:rPr>
              <a:t>核心区域不能偏离，否则无法联动对应的情绪疏导通道。</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敏感部位需</a:t>
            </a:r>
            <a:r>
              <a:rPr lang="zh-CN" altLang="en-US" sz="1400" b="1" dirty="0" smtClean="0">
                <a:latin typeface="+mn-ea"/>
              </a:rPr>
              <a:t>轻柔</a:t>
            </a:r>
            <a:r>
              <a:rPr lang="en-US" altLang="zh-CN" sz="1400" b="1" dirty="0" smtClean="0">
                <a:latin typeface="+mn-ea"/>
              </a:rPr>
              <a:t>+</a:t>
            </a:r>
            <a:r>
              <a:rPr lang="zh-CN" altLang="en-US" sz="1400" b="1" dirty="0" smtClean="0">
                <a:latin typeface="+mn-ea"/>
              </a:rPr>
              <a:t>避开</a:t>
            </a:r>
            <a:r>
              <a:rPr lang="zh-CN" altLang="en-US" sz="1400" b="1" dirty="0">
                <a:latin typeface="+mn-ea"/>
              </a:rPr>
              <a:t>创伤：</a:t>
            </a:r>
            <a:r>
              <a:rPr lang="zh-CN" altLang="en-US" sz="1400" dirty="0">
                <a:latin typeface="+mn-ea"/>
              </a:rPr>
              <a:t>眼部周围（眼侧、眼下）、人中、头顶等部位，必须用指尖轻柔敲击（避免用力按压），且不能敲眼球、鼻孔、耳道等脆弱组织；若有面部伤口、眼部炎症、锁骨骨折等情况，需避开对应区域，不可强行敲击。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核心穴位不可随意替换：</a:t>
            </a:r>
            <a:r>
              <a:rPr lang="zh-CN" altLang="en-US" sz="1400" dirty="0">
                <a:latin typeface="+mn-ea"/>
              </a:rPr>
              <a:t>基础 </a:t>
            </a:r>
            <a:r>
              <a:rPr lang="en-US" altLang="zh-CN" sz="1400" dirty="0" smtClean="0">
                <a:latin typeface="+mn-ea"/>
              </a:rPr>
              <a:t>9-13 </a:t>
            </a:r>
            <a:r>
              <a:rPr lang="zh-CN" altLang="en-US" sz="14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4213857" y="4000499"/>
            <a:ext cx="7371591" cy="2251322"/>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新手阶段：参考 “标准区域” 找感觉：</a:t>
            </a:r>
            <a:r>
              <a:rPr lang="zh-CN" altLang="en-US" sz="1400" dirty="0">
                <a:latin typeface="+mn-ea"/>
              </a:rPr>
              <a:t>初期可按 </a:t>
            </a:r>
            <a:r>
              <a:rPr lang="en-US" altLang="zh-CN" sz="1400" dirty="0">
                <a:latin typeface="+mn-ea"/>
              </a:rPr>
              <a:t>EFT </a:t>
            </a:r>
            <a:r>
              <a:rPr lang="zh-CN" altLang="en-US" sz="1400" dirty="0">
                <a:latin typeface="+mn-ea"/>
              </a:rPr>
              <a:t>的标准描述（如 “眉头内侧凹陷处”“锁骨与第一肋交汇处”）定位，先建立 “区域认知”，敲击时感受情绪是否有流动（如胸闷缓解、烦躁感减轻）。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熟练后：按 “个人感受” 微调：</a:t>
            </a:r>
            <a:r>
              <a:rPr lang="zh-CN" altLang="en-US" sz="1400" dirty="0">
                <a:latin typeface="+mn-ea"/>
              </a:rPr>
              <a:t>若发现 “稍微偏离标准点” 敲击时情绪释放更明显（比如有人敲 “眼侧” 时，偏上 </a:t>
            </a:r>
            <a:r>
              <a:rPr lang="en-US" altLang="zh-CN" sz="1400" dirty="0">
                <a:latin typeface="+mn-ea"/>
              </a:rPr>
              <a:t>1 </a:t>
            </a:r>
            <a:r>
              <a:rPr lang="zh-CN" altLang="en-US" sz="1400" dirty="0">
                <a:latin typeface="+mn-ea"/>
              </a:rPr>
              <a:t>厘米的位置更易平复紧张），可固定自己的 “舒适位置”，无需强行纠正为 “标准点”。</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避免两个极端：</a:t>
            </a:r>
            <a:r>
              <a:rPr lang="zh-CN" altLang="en-US" sz="1400" dirty="0">
                <a:latin typeface="+mn-ea"/>
              </a:rPr>
              <a:t>① 不必纠结 “是否绝对精准”</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过度</a:t>
            </a:r>
            <a:r>
              <a:rPr lang="zh-CN" altLang="en-US" sz="1400" dirty="0">
                <a:latin typeface="+mn-ea"/>
              </a:rPr>
              <a:t>追求解剖学定位会忽视情绪感受，反而降低效果</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② </a:t>
            </a:r>
            <a:r>
              <a:rPr lang="zh-CN" altLang="en-US" sz="1400" dirty="0">
                <a:latin typeface="+mn-ea"/>
              </a:rPr>
              <a:t>不可完全随意敲击（如把 “腋下穴” 敲到大腿上</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核心</a:t>
            </a:r>
            <a:r>
              <a:rPr lang="zh-CN" altLang="en-US" sz="1400" dirty="0">
                <a:latin typeface="+mn-ea"/>
              </a:rPr>
              <a:t>区域偏离会导致情绪能量无法有效疏导，相当于 “无效敲击”。</a:t>
            </a:r>
          </a:p>
          <a:p>
            <a:pPr marL="0" indent="0">
              <a:buFont typeface="Arial" panose="020B0604020202020204" pitchFamily="34" charset="0"/>
              <a:buNone/>
            </a:pPr>
            <a:endParaRPr lang="zh-CN" altLang="en-US" sz="1400" dirty="0">
              <a:latin typeface="+mn-ea"/>
            </a:endParaRPr>
          </a:p>
        </p:txBody>
      </p:sp>
    </p:spTree>
    <p:extLst>
      <p:ext uri="{BB962C8B-B14F-4D97-AF65-F5344CB8AC3E}">
        <p14:creationId xmlns:p14="http://schemas.microsoft.com/office/powerpoint/2010/main" val="404267438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6000" y="3966268"/>
            <a:ext cx="5704764" cy="2513899"/>
          </a:xfrm>
          <a:prstGeom prst="rect">
            <a:avLst/>
          </a:prstGeom>
          <a:effectLst>
            <a:softEdge rad="127000"/>
          </a:effectLst>
        </p:spPr>
      </p:pic>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a:t>操关键技巧</a:t>
            </a:r>
            <a:r>
              <a:rPr lang="zh-CN" altLang="en-US" sz="4400" dirty="0" smtClean="0"/>
              <a:t>（</a:t>
            </a:r>
            <a:r>
              <a:rPr lang="en-US" altLang="zh-CN" sz="4400" dirty="0" smtClean="0"/>
              <a:t>10</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b="1" dirty="0" smtClean="0">
                <a:latin typeface="+mn-ea"/>
              </a:rPr>
              <a:t>1</a:t>
            </a:r>
            <a:r>
              <a:rPr lang="zh-CN" altLang="en-US" b="1" dirty="0" smtClean="0">
                <a:latin typeface="+mn-ea"/>
              </a:rPr>
              <a:t>、情绪</a:t>
            </a:r>
            <a:r>
              <a:rPr lang="zh-CN" altLang="en-US" b="1" dirty="0">
                <a:latin typeface="+mn-ea"/>
              </a:rPr>
              <a:t>强度未下降？</a:t>
            </a:r>
          </a:p>
          <a:p>
            <a:pPr marL="0" indent="0">
              <a:buNone/>
            </a:pPr>
            <a:r>
              <a:rPr lang="zh-CN" altLang="en-US" dirty="0">
                <a:latin typeface="+mn-ea"/>
              </a:rPr>
              <a:t>   </a:t>
            </a:r>
            <a:r>
              <a:rPr lang="en-US" altLang="zh-CN" dirty="0">
                <a:latin typeface="+mn-ea"/>
              </a:rPr>
              <a:t>- </a:t>
            </a:r>
            <a:r>
              <a:rPr lang="zh-CN" altLang="en-US" dirty="0">
                <a:latin typeface="+mn-ea"/>
              </a:rPr>
              <a:t>检查是否情绪描述不够具体（如把 “怕水” 细化为 “怕泳池的深水”），重新设定语句。</a:t>
            </a:r>
          </a:p>
          <a:p>
            <a:pPr marL="0" indent="0">
              <a:buNone/>
            </a:pPr>
            <a:r>
              <a:rPr lang="zh-CN" altLang="en-US" dirty="0">
                <a:latin typeface="+mn-ea"/>
              </a:rPr>
              <a:t>   </a:t>
            </a:r>
            <a:r>
              <a:rPr lang="en-US" altLang="zh-CN" dirty="0">
                <a:latin typeface="+mn-ea"/>
              </a:rPr>
              <a:t>- </a:t>
            </a:r>
            <a:r>
              <a:rPr lang="zh-CN" altLang="en-US" dirty="0">
                <a:latin typeface="+mn-ea"/>
              </a:rPr>
              <a:t>增加 “腋下” 和 “锁骨” 穴位的敲击次数（</a:t>
            </a:r>
            <a:r>
              <a:rPr lang="zh-CN" altLang="en-US" dirty="0" smtClean="0">
                <a:latin typeface="+mn-ea"/>
              </a:rPr>
              <a:t>各</a:t>
            </a:r>
            <a:r>
              <a:rPr lang="en-US" altLang="zh-CN" dirty="0" smtClean="0">
                <a:latin typeface="+mn-ea"/>
              </a:rPr>
              <a:t>10</a:t>
            </a:r>
            <a:r>
              <a:rPr lang="zh-CN" altLang="en-US" dirty="0" smtClean="0">
                <a:latin typeface="+mn-ea"/>
              </a:rPr>
              <a:t>次</a:t>
            </a:r>
            <a:r>
              <a:rPr lang="zh-CN" altLang="en-US" dirty="0">
                <a:latin typeface="+mn-ea"/>
              </a:rPr>
              <a:t>），这两个穴位更易疏导深层情绪。</a:t>
            </a:r>
          </a:p>
          <a:p>
            <a:pPr marL="0" indent="0">
              <a:buNone/>
            </a:pPr>
            <a:r>
              <a:rPr lang="en-US" altLang="zh-CN" b="1" dirty="0" smtClean="0">
                <a:latin typeface="+mn-ea"/>
              </a:rPr>
              <a:t>2</a:t>
            </a:r>
            <a:r>
              <a:rPr lang="zh-CN" altLang="en-US" b="1" dirty="0" smtClean="0">
                <a:latin typeface="+mn-ea"/>
              </a:rPr>
              <a:t>、伴随</a:t>
            </a:r>
            <a:r>
              <a:rPr lang="zh-CN" altLang="en-US" b="1" dirty="0">
                <a:latin typeface="+mn-ea"/>
              </a:rPr>
              <a:t>躯体不适（如胃痛、手抖）？</a:t>
            </a:r>
          </a:p>
          <a:p>
            <a:pPr marL="0" indent="0">
              <a:buNone/>
            </a:pPr>
            <a:r>
              <a:rPr lang="zh-CN" altLang="en-US" dirty="0">
                <a:latin typeface="+mn-ea"/>
              </a:rPr>
              <a:t>   </a:t>
            </a:r>
            <a:r>
              <a:rPr lang="en-US" altLang="zh-CN" dirty="0">
                <a:latin typeface="+mn-ea"/>
              </a:rPr>
              <a:t>- </a:t>
            </a:r>
            <a:r>
              <a:rPr lang="zh-CN" altLang="en-US" dirty="0">
                <a:latin typeface="+mn-ea"/>
              </a:rPr>
              <a:t>敲击时重点强化 “眼下”“锁骨” 穴位，提示语可结合躯体感受（如 “这份怕水带来的胃痛”）。</a:t>
            </a:r>
          </a:p>
          <a:p>
            <a:pPr marL="0" indent="0">
              <a:buNone/>
            </a:pPr>
            <a:r>
              <a:rPr lang="en-US" altLang="zh-CN" b="1" dirty="0" smtClean="0">
                <a:latin typeface="+mn-ea"/>
              </a:rPr>
              <a:t>3</a:t>
            </a:r>
            <a:r>
              <a:rPr lang="zh-CN" altLang="en-US" b="1" dirty="0" smtClean="0">
                <a:latin typeface="+mn-ea"/>
              </a:rPr>
              <a:t>、多次</a:t>
            </a:r>
            <a:r>
              <a:rPr lang="zh-CN" altLang="en-US" b="1" dirty="0">
                <a:latin typeface="+mn-ea"/>
              </a:rPr>
              <a:t>循环后仍无改善？</a:t>
            </a:r>
          </a:p>
          <a:p>
            <a:pPr marL="0" indent="0">
              <a:buNone/>
            </a:pPr>
            <a:r>
              <a:rPr lang="zh-CN" altLang="en-US" dirty="0">
                <a:latin typeface="+mn-ea"/>
              </a:rPr>
              <a:t>   </a:t>
            </a:r>
            <a:r>
              <a:rPr lang="en-US" altLang="zh-CN" dirty="0">
                <a:latin typeface="+mn-ea"/>
              </a:rPr>
              <a:t>- </a:t>
            </a:r>
            <a:r>
              <a:rPr lang="zh-CN" altLang="en-US"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515113" y="5722960"/>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i="1" dirty="0">
                <a:latin typeface="+mn-ea"/>
              </a:rPr>
              <a:t>重要提醒</a:t>
            </a:r>
          </a:p>
          <a:p>
            <a:pPr marL="0" indent="0">
              <a:buFont typeface="Arial" panose="020B0604020202020204" pitchFamily="34" charset="0"/>
              <a:buNone/>
            </a:pPr>
            <a:r>
              <a:rPr lang="en-US" altLang="zh-CN" i="1" dirty="0">
                <a:latin typeface="+mn-ea"/>
              </a:rPr>
              <a:t>- EFT </a:t>
            </a:r>
            <a:r>
              <a:rPr lang="zh-CN" altLang="en-US" i="1" dirty="0" smtClean="0">
                <a:latin typeface="+mn-ea"/>
              </a:rPr>
              <a:t>是</a:t>
            </a:r>
            <a:r>
              <a:rPr lang="zh-CN" altLang="en-US" b="1" i="1" dirty="0" smtClean="0">
                <a:latin typeface="+mn-ea"/>
              </a:rPr>
              <a:t>情绪</a:t>
            </a:r>
            <a:r>
              <a:rPr lang="zh-CN" altLang="en-US" b="1" i="1" dirty="0">
                <a:latin typeface="+mn-ea"/>
              </a:rPr>
              <a:t>缓解辅助</a:t>
            </a:r>
            <a:r>
              <a:rPr lang="zh-CN" altLang="en-US" b="1" i="1" dirty="0" smtClean="0">
                <a:latin typeface="+mn-ea"/>
              </a:rPr>
              <a:t>工具</a:t>
            </a:r>
            <a:r>
              <a:rPr lang="zh-CN" altLang="en-US" i="1" dirty="0" smtClean="0">
                <a:latin typeface="+mn-ea"/>
              </a:rPr>
              <a:t>，</a:t>
            </a:r>
            <a:r>
              <a:rPr lang="zh-CN" altLang="en-US" i="1" dirty="0">
                <a:latin typeface="+mn-ea"/>
              </a:rPr>
              <a:t>不能替代专业心理治疗，若情绪问题严重（如影响正常生活、有极端想法），请及时寻求心理咨询师或医生帮助。</a:t>
            </a:r>
          </a:p>
          <a:p>
            <a:pPr marL="0" indent="0">
              <a:buFont typeface="Arial" panose="020B0604020202020204" pitchFamily="34" charset="0"/>
              <a:buNone/>
            </a:pPr>
            <a:r>
              <a:rPr lang="en-US" altLang="zh-CN" i="1" dirty="0">
                <a:latin typeface="+mn-ea"/>
              </a:rPr>
              <a:t>- </a:t>
            </a:r>
            <a:r>
              <a:rPr lang="zh-CN" altLang="en-US" i="1" dirty="0">
                <a:latin typeface="+mn-ea"/>
              </a:rPr>
              <a:t>操作时若出现情绪崩溃（如哭泣、强烈不适），可先停止敲击，深呼吸平复后再继续，或分多次短时间操作。</a:t>
            </a:r>
          </a:p>
        </p:txBody>
      </p:sp>
    </p:spTree>
    <p:extLst>
      <p:ext uri="{BB962C8B-B14F-4D97-AF65-F5344CB8AC3E}">
        <p14:creationId xmlns:p14="http://schemas.microsoft.com/office/powerpoint/2010/main" val="333418012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dirty="0">
                <a:latin typeface="+mn-ea"/>
              </a:rPr>
              <a:t>1.</a:t>
            </a:r>
            <a:r>
              <a:rPr lang="zh-CN" altLang="en-US" sz="1400" dirty="0">
                <a:latin typeface="+mn-ea"/>
              </a:rPr>
              <a:t>热身阶段迅速活跃身心状态为情绪敲击做好准备。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21208" y="2969347"/>
            <a:ext cx="5703678"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2.</a:t>
            </a:r>
            <a:r>
              <a:rPr lang="zh-CN" altLang="en-US" sz="1400" dirty="0">
                <a:latin typeface="+mn-ea"/>
              </a:rPr>
              <a:t>情绪聚焦找准问题实现心理反转机制的有效解除。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6230982" y="2899819"/>
            <a:ext cx="5316583" cy="22612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3.</a:t>
            </a:r>
            <a:r>
              <a:rPr lang="zh-CN" altLang="en-US" sz="1400" dirty="0">
                <a:latin typeface="+mn-ea"/>
              </a:rPr>
              <a:t>用中立化的引导语有效帮助修改心理反转机制。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timing>
    <p:tnLst>
      <p:par>
        <p:cTn id="1" dur="indefinite" restart="never" nodeType="tmRoot"/>
      </p:par>
    </p:tnLst>
  </p:timing>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1809</TotalTime>
  <Words>8011</Words>
  <Application>Microsoft Office PowerPoint</Application>
  <PresentationFormat>宽屏</PresentationFormat>
  <Paragraphs>364</Paragraphs>
  <Slides>34</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34</vt:i4>
      </vt:variant>
    </vt:vector>
  </HeadingPairs>
  <TitlesOfParts>
    <vt:vector size="40" baseType="lpstr">
      <vt:lpstr>Bierstadt</vt:lpstr>
      <vt:lpstr>等线</vt:lpstr>
      <vt:lpstr>微软雅黑</vt:lpstr>
      <vt:lpstr>Arial</vt:lpstr>
      <vt:lpstr>Wingdings</vt:lpstr>
      <vt:lpstr>GestaltVTI</vt:lpstr>
      <vt:lpstr>音乐EFT自助操心理训练</vt:lpstr>
      <vt:lpstr>什么是情绪释放技术（EFT）</vt:lpstr>
      <vt:lpstr>情绪释放技术EFT的主要特点</vt:lpstr>
      <vt:lpstr>情绪释放技术EFT的治疗原理</vt:lpstr>
      <vt:lpstr>情绪释放技术EFT的科学依据</vt:lpstr>
      <vt:lpstr>情绪释放技术EFT的应用范围</vt:lpstr>
      <vt:lpstr>情绪释放技术EFT的真实案例</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核心敲击穴位（1）</vt:lpstr>
      <vt:lpstr>EFT 核心敲击穴位（2）</vt:lpstr>
      <vt:lpstr>EFT 核心敲击穴位（3）</vt:lpstr>
      <vt:lpstr>EFT 核心敲击穴位（4）</vt:lpstr>
      <vt:lpstr>EFT 核心敲击穴位（5）</vt:lpstr>
      <vt:lpstr>EFT 核心敲击穴位（6）</vt:lpstr>
      <vt:lpstr>EFT 核心敲击穴位（7）</vt:lpstr>
      <vt:lpstr>EFT 核心敲击穴位（8）</vt:lpstr>
      <vt:lpstr>EFT 核心敲击穴位（9）</vt:lpstr>
      <vt:lpstr>EFT 核心敲击穴位（10）</vt:lpstr>
      <vt:lpstr>EFT 核心敲击穴位（11）</vt:lpstr>
      <vt:lpstr>EFT 核心敲击穴位（12）</vt:lpstr>
      <vt:lpstr>EFT 核心敲击穴位（13）</vt:lpstr>
      <vt:lpstr>EFT心理自助操的流程设计（5）</vt:lpstr>
      <vt:lpstr>EFT心理自助操音乐选择（6）</vt:lpstr>
      <vt:lpstr>EFT心理自助操音乐选择（7）</vt:lpstr>
      <vt:lpstr>EFT心理自助操关键技巧（8）</vt:lpstr>
      <vt:lpstr>EFT心理自助操关键技巧（9）</vt:lpstr>
      <vt:lpstr>EFT心理自助操关键技巧（10）</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619</cp:revision>
  <dcterms:created xsi:type="dcterms:W3CDTF">2025-09-26T07:10:55Z</dcterms:created>
  <dcterms:modified xsi:type="dcterms:W3CDTF">2025-12-30T13:03:42Z</dcterms:modified>
</cp:coreProperties>
</file>