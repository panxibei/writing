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3"/>
  </p:notesMasterIdLst>
  <p:sldIdLst>
    <p:sldId id="256" r:id="rId2"/>
    <p:sldId id="257" r:id="rId3"/>
    <p:sldId id="258" r:id="rId4"/>
    <p:sldId id="259" r:id="rId5"/>
    <p:sldId id="278" r:id="rId6"/>
    <p:sldId id="283" r:id="rId7"/>
    <p:sldId id="260" r:id="rId8"/>
    <p:sldId id="284" r:id="rId9"/>
    <p:sldId id="261" r:id="rId10"/>
    <p:sldId id="262" r:id="rId11"/>
    <p:sldId id="263" r:id="rId12"/>
    <p:sldId id="265" r:id="rId13"/>
    <p:sldId id="277" r:id="rId14"/>
    <p:sldId id="276" r:id="rId15"/>
    <p:sldId id="281" r:id="rId16"/>
    <p:sldId id="268" r:id="rId17"/>
    <p:sldId id="269" r:id="rId18"/>
    <p:sldId id="270" r:id="rId19"/>
    <p:sldId id="271" r:id="rId20"/>
    <p:sldId id="272" r:id="rId21"/>
    <p:sldId id="273" r:id="rId22"/>
    <p:sldId id="285" r:id="rId23"/>
    <p:sldId id="279" r:id="rId24"/>
    <p:sldId id="274" r:id="rId25"/>
    <p:sldId id="280" r:id="rId26"/>
    <p:sldId id="275" r:id="rId27"/>
    <p:sldId id="266" r:id="rId28"/>
    <p:sldId id="286" r:id="rId29"/>
    <p:sldId id="267" r:id="rId30"/>
    <p:sldId id="282" r:id="rId31"/>
    <p:sldId id="264" r:id="rId3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96"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xmlns=""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12/26/2025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12/26/2025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xmlns=""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10252710" cy="960120"/>
          </a:xfrm>
          <a:ln>
            <a:noFill/>
          </a:ln>
        </p:spPr>
        <p:txBody>
          <a:bodyPr anchor="ctr">
            <a:noAutofit/>
          </a:bodyPr>
          <a:lstStyle/>
          <a:p>
            <a:r>
              <a:rPr lang="zh-CN" altLang="en-US" sz="5400" dirty="0"/>
              <a:t>音乐情绪释放（</a:t>
            </a:r>
            <a:r>
              <a:rPr lang="en-US" altLang="zh-CN" sz="5400" dirty="0"/>
              <a:t>EFT</a:t>
            </a:r>
            <a:r>
              <a:rPr lang="zh-CN" altLang="en-US" sz="5400" dirty="0"/>
              <a:t>）心理训练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a:t>
            </a:r>
            <a:endParaRPr lang="en-US" altLang="zh-CN" sz="1900" dirty="0"/>
          </a:p>
          <a:p>
            <a:pPr algn="r"/>
            <a:r>
              <a:rPr lang="zh-CN" altLang="en-US" sz="1900" dirty="0"/>
              <a:t> </a:t>
            </a: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的形成背景</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55678" cy="1609328"/>
          </a:xfrm>
        </p:spPr>
        <p:txBody>
          <a:bodyPr/>
          <a:lstStyle/>
          <a:p>
            <a:pPr marL="0" indent="0">
              <a:buNone/>
            </a:pPr>
            <a:r>
              <a:rPr lang="zh-CN" altLang="en-US" sz="1800" dirty="0">
                <a:latin typeface="+mn-ea"/>
              </a:rPr>
              <a:t>情绪释放技术（</a:t>
            </a:r>
            <a:r>
              <a:rPr lang="en-US" altLang="zh-CN" sz="1800" dirty="0">
                <a:latin typeface="+mn-ea"/>
              </a:rPr>
              <a:t>Emotional Freedom Technique, EFT</a:t>
            </a:r>
            <a:r>
              <a:rPr lang="zh-CN" altLang="en-US" sz="1800" dirty="0">
                <a:latin typeface="+mn-ea"/>
              </a:rPr>
              <a:t>）是借鉴中医经络理论并结合心理学创建的一种心理治疗技术，通过敲击特定的身体部位（眉头、眼尾、眼下、鼻下、下巴、锁骨、腋下、头顶</a:t>
            </a:r>
            <a:r>
              <a:rPr lang="en-US" altLang="zh-CN" sz="1800" dirty="0">
                <a:latin typeface="+mn-ea"/>
              </a:rPr>
              <a:t>8</a:t>
            </a:r>
            <a:r>
              <a:rPr lang="zh-CN" altLang="en-US" sz="1800" dirty="0">
                <a:latin typeface="+mn-ea"/>
              </a:rPr>
              <a:t>个穴位），同时倾吐出内心积压的情绪事件，再通过积极赋义，转变信念和惯性模式，以达到清理潜意识和缓解身心不适的目的。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4" y="4462264"/>
            <a:ext cx="7328724" cy="232886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情绪释放技术可以视为能量心理学的一个有效应用，就像是一个“情绪橡皮擦”，可以快速地抚平情绪，如愤怒、委屈、恐惧等，心理学家、医师、治疗师等采用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a:latin typeface="+mn-ea"/>
              </a:rPr>
              <a:t>云南省解毒管理以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186113"/>
            <a:ext cx="11155678" cy="255230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EFT </a:t>
            </a:r>
            <a:r>
              <a:rPr lang="zh-CN" altLang="en-US" sz="1800" dirty="0">
                <a:latin typeface="+mn-ea"/>
              </a:rPr>
              <a:t>情绪释放技术源于美国，由盖瑞・奎格（</a:t>
            </a:r>
            <a:r>
              <a:rPr lang="en-US" altLang="zh-CN" sz="1800" dirty="0">
                <a:latin typeface="+mn-ea"/>
              </a:rPr>
              <a:t>Gary  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cstate="hqprint">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a:ext>
            </a:extLst>
          </a:blip>
          <a:stretch>
            <a:fillRect/>
          </a:stretch>
        </p:blipFill>
        <p:spPr>
          <a:xfrm>
            <a:off x="8177497" y="4239220"/>
            <a:ext cx="3432390" cy="2288569"/>
          </a:xfrm>
          <a:prstGeom prst="rect">
            <a:avLst/>
          </a:prstGeom>
          <a:effectLst>
            <a:softEdge rad="127000"/>
          </a:effectLst>
        </p:spPr>
      </p:pic>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dirty="0">
                <a:latin typeface="+mn-ea"/>
              </a:rPr>
              <a:t>EFT</a:t>
            </a:r>
            <a:r>
              <a:rPr lang="zh-CN" altLang="en-US" sz="1800" dirty="0">
                <a:latin typeface="+mn-ea"/>
              </a:rPr>
              <a:t>以中医心理学理论为背景，以经络学说为基础，并融合了神经语言程序学技术以及现代心理治疗理论。人类身体是个带电体，身体中的能量系统存在电流（能量）的明显证据是脑电图（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EFT</a:t>
            </a:r>
            <a:r>
              <a:rPr lang="zh-CN" altLang="en-US" sz="1800"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825360" y="4128189"/>
            <a:ext cx="3857625" cy="2571750"/>
          </a:xfrm>
          <a:prstGeom prst="rect">
            <a:avLst/>
          </a:prstGeom>
          <a:effectLst>
            <a:softEdge rad="127000"/>
          </a:effectLst>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smtClean="0">
                <a:latin typeface="+mn-ea"/>
              </a:rPr>
              <a:t>中数个</a:t>
            </a:r>
            <a:r>
              <a:rPr lang="zh-CN" altLang="en-US" sz="1800" b="1" dirty="0">
                <a:latin typeface="+mn-ea"/>
              </a:rPr>
              <a:t>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515112" y="1576785"/>
            <a:ext cx="11500677" cy="3109515"/>
          </a:xfrm>
        </p:spPr>
        <p:txBody>
          <a:bodyPr/>
          <a:lstStyle/>
          <a:p>
            <a:pPr marL="0" indent="0">
              <a:buNone/>
            </a:pPr>
            <a:r>
              <a:rPr lang="zh-CN" altLang="en-US" sz="1800" dirty="0">
                <a:latin typeface="+mn-ea"/>
              </a:rPr>
              <a:t>情绪释放技术</a:t>
            </a:r>
            <a:r>
              <a:rPr lang="en-US" altLang="zh-CN" sz="1800" dirty="0">
                <a:latin typeface="+mn-ea"/>
              </a:rPr>
              <a:t>EFT</a:t>
            </a:r>
            <a:r>
              <a:rPr lang="zh-CN" altLang="en-US" sz="1800" dirty="0">
                <a:latin typeface="+mn-ea"/>
              </a:rPr>
              <a:t>的主要特点如下：</a:t>
            </a:r>
            <a:endParaRPr lang="en-US" altLang="zh-CN" sz="1800" dirty="0">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endParaRPr lang="en-US" altLang="zh-CN" sz="1800" dirty="0">
              <a:latin typeface="+mn-ea"/>
            </a:endParaRPr>
          </a:p>
          <a:p>
            <a:pPr marL="0" indent="0">
              <a:buNone/>
            </a:pPr>
            <a:r>
              <a:rPr lang="zh-CN" altLang="en-US" sz="1800" dirty="0">
                <a:latin typeface="+mn-ea"/>
              </a:rPr>
              <a:t>二是简单易学、便捷有效，普通人不需要学习太多深奥的心理学知识，操作流程一学就会，立即使用就能有较明显效果；</a:t>
            </a:r>
            <a:endParaRPr lang="en-US" altLang="zh-CN" sz="1800" dirty="0">
              <a:latin typeface="+mn-ea"/>
            </a:endParaRPr>
          </a:p>
          <a:p>
            <a:pPr marL="0" indent="0">
              <a:buNone/>
            </a:pPr>
            <a:r>
              <a:rPr lang="zh-CN" altLang="en-US" sz="1800" dirty="0">
                <a:latin typeface="+mn-ea"/>
              </a:rPr>
              <a:t>三是操作流程规范统一、可推广性强，针对不同的情绪问题可使用同样的治疗流程和方法，学会之后可自行习练改善自身情绪问题，又能教会身边人进行习练，能较容易实现自助和助人</a:t>
            </a:r>
            <a:r>
              <a:rPr lang="zh-CN" altLang="en-US" sz="1800" dirty="0" smtClean="0">
                <a:latin typeface="+mn-ea"/>
              </a:rPr>
              <a:t>。</a:t>
            </a:r>
            <a:endParaRPr lang="en-US" altLang="zh-CN" sz="1800" dirty="0" smtClean="0">
              <a:latin typeface="+mn-ea"/>
            </a:endParaRP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110037" y="4522432"/>
            <a:ext cx="3233738" cy="2155825"/>
          </a:xfrm>
          <a:prstGeom prst="rect">
            <a:avLst/>
          </a:prstGeom>
          <a:effectLst>
            <a:softEdge rad="127000"/>
          </a:effectLst>
        </p:spPr>
      </p:pic>
    </p:spTree>
    <p:extLst>
      <p:ext uri="{BB962C8B-B14F-4D97-AF65-F5344CB8AC3E}">
        <p14:creationId xmlns:p14="http://schemas.microsoft.com/office/powerpoint/2010/main" val="2808385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a:t>技术主要应用范围举例</a:t>
            </a:r>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5580887" cy="3882300"/>
          </a:xfrm>
        </p:spPr>
        <p:txBody>
          <a:bodyPr/>
          <a:lstStyle/>
          <a:p>
            <a:pPr marL="0" indent="0">
              <a:buNone/>
            </a:pPr>
            <a:r>
              <a:rPr lang="en-US" altLang="zh-CN" sz="1800" dirty="0">
                <a:latin typeface="+mn-ea"/>
              </a:rPr>
              <a:t>1. </a:t>
            </a:r>
            <a:r>
              <a:rPr lang="zh-CN" altLang="en-US" sz="1800" dirty="0">
                <a:latin typeface="+mn-ea"/>
              </a:rPr>
              <a:t>心理创伤</a:t>
            </a:r>
          </a:p>
          <a:p>
            <a:pPr marL="0" indent="0">
              <a:buNone/>
            </a:pPr>
            <a:r>
              <a:rPr lang="en-US" altLang="zh-CN" sz="1800" dirty="0">
                <a:latin typeface="+mn-ea"/>
              </a:rPr>
              <a:t>(</a:t>
            </a:r>
            <a:r>
              <a:rPr lang="zh-CN" altLang="en-US" sz="1800" dirty="0">
                <a:latin typeface="+mn-ea"/>
              </a:rPr>
              <a:t>创伤后压力心理障碍、童年虐待、性侵事件</a:t>
            </a:r>
            <a:r>
              <a:rPr lang="en-US" altLang="zh-CN" sz="1800" dirty="0">
                <a:latin typeface="+mn-ea"/>
              </a:rPr>
              <a:t>)</a:t>
            </a:r>
            <a:r>
              <a:rPr lang="zh-CN" altLang="en-US" sz="1800" dirty="0">
                <a:latin typeface="+mn-ea"/>
              </a:rPr>
              <a:t>；</a:t>
            </a:r>
          </a:p>
          <a:p>
            <a:pPr marL="0" indent="0">
              <a:buNone/>
            </a:pPr>
            <a:r>
              <a:rPr lang="en-US" altLang="zh-CN" sz="1800" dirty="0">
                <a:latin typeface="+mn-ea"/>
              </a:rPr>
              <a:t>2. </a:t>
            </a:r>
            <a:r>
              <a:rPr lang="zh-CN" altLang="en-US" sz="1800" dirty="0">
                <a:latin typeface="+mn-ea"/>
              </a:rPr>
              <a:t>情绪困扰</a:t>
            </a:r>
          </a:p>
          <a:p>
            <a:pPr marL="0" indent="0">
              <a:buNone/>
            </a:pPr>
            <a:r>
              <a:rPr lang="en-US" altLang="zh-CN" sz="1800" dirty="0">
                <a:latin typeface="+mn-ea"/>
              </a:rPr>
              <a:t>(</a:t>
            </a:r>
            <a:r>
              <a:rPr lang="zh-CN" altLang="en-US" sz="1800" dirty="0">
                <a:latin typeface="+mn-ea"/>
              </a:rPr>
              <a:t>焦虑、紧张压力、愤怒、自卑、悲伤等负面情绪</a:t>
            </a:r>
            <a:r>
              <a:rPr lang="en-US" altLang="zh-CN" sz="1800" dirty="0">
                <a:latin typeface="+mn-ea"/>
              </a:rPr>
              <a:t>)</a:t>
            </a:r>
            <a:r>
              <a:rPr lang="zh-CN" altLang="en-US" sz="1800" dirty="0">
                <a:latin typeface="+mn-ea"/>
              </a:rPr>
              <a:t>；</a:t>
            </a:r>
          </a:p>
          <a:p>
            <a:pPr marL="0" indent="0">
              <a:buNone/>
            </a:pPr>
            <a:r>
              <a:rPr lang="en-US" altLang="zh-CN" sz="1800" dirty="0">
                <a:latin typeface="+mn-ea"/>
              </a:rPr>
              <a:t>3. </a:t>
            </a:r>
            <a:r>
              <a:rPr lang="zh-CN" altLang="en-US" sz="1800" dirty="0">
                <a:latin typeface="+mn-ea"/>
              </a:rPr>
              <a:t>各种瘾症</a:t>
            </a:r>
          </a:p>
          <a:p>
            <a:pPr marL="0" indent="0">
              <a:buNone/>
            </a:pPr>
            <a:r>
              <a:rPr lang="en-US" altLang="zh-CN" sz="1800" dirty="0">
                <a:latin typeface="+mn-ea"/>
              </a:rPr>
              <a:t>(</a:t>
            </a:r>
            <a:r>
              <a:rPr lang="zh-CN" altLang="en-US" sz="1800" dirty="0">
                <a:latin typeface="+mn-ea"/>
              </a:rPr>
              <a:t>网瘾、酒瘾、毒瘾</a:t>
            </a:r>
            <a:r>
              <a:rPr lang="en-US" altLang="zh-CN" sz="1800" dirty="0">
                <a:latin typeface="+mn-ea"/>
              </a:rPr>
              <a:t>)</a:t>
            </a:r>
            <a:r>
              <a:rPr lang="zh-CN" altLang="en-US" sz="1800" dirty="0">
                <a:latin typeface="+mn-ea"/>
              </a:rPr>
              <a:t>；</a:t>
            </a:r>
          </a:p>
          <a:p>
            <a:pPr marL="0" indent="0">
              <a:buNone/>
            </a:pPr>
            <a:r>
              <a:rPr lang="en-US" altLang="zh-CN" sz="1800" dirty="0">
                <a:latin typeface="+mn-ea"/>
              </a:rPr>
              <a:t>4. </a:t>
            </a:r>
            <a:r>
              <a:rPr lang="zh-CN" altLang="en-US" sz="1800" dirty="0">
                <a:latin typeface="+mn-ea"/>
              </a:rPr>
              <a:t>恐惧症</a:t>
            </a:r>
          </a:p>
          <a:p>
            <a:pPr marL="0" indent="0">
              <a:buNone/>
            </a:pPr>
            <a:r>
              <a:rPr lang="en-US" altLang="zh-CN" sz="1800" dirty="0">
                <a:latin typeface="+mn-ea"/>
              </a:rPr>
              <a:t>(</a:t>
            </a:r>
            <a:r>
              <a:rPr lang="zh-CN" altLang="en-US" sz="1800" dirty="0">
                <a:latin typeface="+mn-ea"/>
              </a:rPr>
              <a:t>恐高症、恐水症、幽闭恐惧症</a:t>
            </a:r>
            <a:r>
              <a:rPr lang="en-US" altLang="zh-CN" sz="1800" dirty="0">
                <a:latin typeface="+mn-ea"/>
              </a:rPr>
              <a:t>)</a:t>
            </a:r>
            <a:r>
              <a:rPr lang="zh-CN" altLang="en-US" sz="1800" dirty="0">
                <a:latin typeface="+mn-ea"/>
              </a:rPr>
              <a:t>；</a:t>
            </a:r>
          </a:p>
        </p:txBody>
      </p:sp>
      <p:pic>
        <p:nvPicPr>
          <p:cNvPr id="5" name="图片 4" descr="卡通人物&#10;&#10;AI 生成的内容可能不正确。">
            <a:extLst>
              <a:ext uri="{FF2B5EF4-FFF2-40B4-BE49-F238E27FC236}">
                <a16:creationId xmlns:a16="http://schemas.microsoft.com/office/drawing/2014/main" id="{8879933C-FC29-8353-A749-C49F36A2FE1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621874" y="4615670"/>
            <a:ext cx="3233738" cy="2155825"/>
          </a:xfrm>
          <a:prstGeom prst="rect">
            <a:avLst/>
          </a:prstGeom>
          <a:effectLst>
            <a:softEdge rad="127000"/>
          </a:effectLst>
        </p:spPr>
      </p:pic>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6102095" y="1506155"/>
            <a:ext cx="5568697" cy="310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5. </a:t>
            </a:r>
            <a:r>
              <a:rPr lang="zh-CN" altLang="en-US" sz="1800" dirty="0">
                <a:latin typeface="+mn-ea"/>
              </a:rPr>
              <a:t>心理问题</a:t>
            </a:r>
          </a:p>
          <a:p>
            <a:pPr marL="0" indent="0">
              <a:buFont typeface="Arial" panose="020B0604020202020204" pitchFamily="34" charset="0"/>
              <a:buNone/>
            </a:pPr>
            <a:r>
              <a:rPr lang="en-US" altLang="zh-CN" sz="1800" dirty="0">
                <a:latin typeface="+mn-ea"/>
              </a:rPr>
              <a:t>(</a:t>
            </a:r>
            <a:r>
              <a:rPr lang="zh-CN" altLang="en-US" sz="1800" dirty="0">
                <a:latin typeface="+mn-ea"/>
              </a:rPr>
              <a:t>抑郁症、躁郁症、强迫症</a:t>
            </a:r>
            <a:r>
              <a:rPr lang="en-US" altLang="zh-CN" sz="1800" dirty="0">
                <a:latin typeface="+mn-ea"/>
              </a:rPr>
              <a:t>)</a:t>
            </a:r>
            <a:r>
              <a:rPr lang="zh-CN" altLang="en-US" sz="1800" dirty="0">
                <a:latin typeface="+mn-ea"/>
              </a:rPr>
              <a:t>；</a:t>
            </a:r>
          </a:p>
          <a:p>
            <a:pPr marL="0" indent="0">
              <a:buFont typeface="Arial" panose="020B0604020202020204" pitchFamily="34" charset="0"/>
              <a:buNone/>
            </a:pPr>
            <a:r>
              <a:rPr lang="en-US" altLang="zh-CN" sz="1800" dirty="0">
                <a:latin typeface="+mn-ea"/>
              </a:rPr>
              <a:t>6. </a:t>
            </a:r>
            <a:r>
              <a:rPr lang="zh-CN" altLang="en-US" sz="1800" dirty="0">
                <a:latin typeface="+mn-ea"/>
              </a:rPr>
              <a:t>生理疾病</a:t>
            </a:r>
          </a:p>
          <a:p>
            <a:pPr marL="0" indent="0">
              <a:buFont typeface="Arial" panose="020B0604020202020204" pitchFamily="34" charset="0"/>
              <a:buNone/>
            </a:pPr>
            <a:r>
              <a:rPr lang="en-US" altLang="zh-CN" sz="1800" dirty="0">
                <a:latin typeface="+mn-ea"/>
              </a:rPr>
              <a:t>(</a:t>
            </a:r>
            <a:r>
              <a:rPr lang="zh-CN" altLang="en-US" sz="1800" dirty="0">
                <a:latin typeface="+mn-ea"/>
              </a:rPr>
              <a:t>偏头痛、内分泌失调、性功能障碍、失眠、胸闷、身体疼痛</a:t>
            </a:r>
            <a:r>
              <a:rPr lang="en-US" altLang="zh-CN" sz="1800" dirty="0">
                <a:latin typeface="+mn-ea"/>
              </a:rPr>
              <a:t>)</a:t>
            </a:r>
            <a:r>
              <a:rPr lang="zh-CN" altLang="en-US" sz="1800" dirty="0">
                <a:latin typeface="+mn-ea"/>
              </a:rPr>
              <a:t>；</a:t>
            </a:r>
          </a:p>
          <a:p>
            <a:pPr marL="0" indent="0">
              <a:buFont typeface="Arial" panose="020B0604020202020204" pitchFamily="34" charset="0"/>
              <a:buNone/>
            </a:pPr>
            <a:r>
              <a:rPr lang="en-US" altLang="zh-CN" sz="1800" dirty="0">
                <a:latin typeface="+mn-ea"/>
              </a:rPr>
              <a:t>7. </a:t>
            </a:r>
            <a:r>
              <a:rPr lang="zh-CN" altLang="en-US" sz="1800" dirty="0">
                <a:latin typeface="+mn-ea"/>
              </a:rPr>
              <a:t>提升自我能量</a:t>
            </a:r>
          </a:p>
          <a:p>
            <a:pPr marL="0" indent="0">
              <a:buFont typeface="Arial" panose="020B0604020202020204" pitchFamily="34" charset="0"/>
              <a:buNone/>
            </a:pPr>
            <a:r>
              <a:rPr lang="en-US" altLang="zh-CN" sz="1800" dirty="0">
                <a:latin typeface="+mn-ea"/>
              </a:rPr>
              <a:t>(</a:t>
            </a:r>
            <a:r>
              <a:rPr lang="zh-CN" altLang="en-US" sz="1800" dirty="0">
                <a:latin typeface="+mn-ea"/>
              </a:rPr>
              <a:t>提高效率、增强内在力量，提升运动表现</a:t>
            </a:r>
            <a:r>
              <a:rPr lang="en-US" altLang="zh-CN" sz="1800" dirty="0">
                <a:latin typeface="+mn-ea"/>
              </a:rPr>
              <a:t>)</a:t>
            </a:r>
            <a:r>
              <a:rPr lang="zh-CN" altLang="en-US" sz="1800" dirty="0">
                <a:latin typeface="+mn-ea"/>
              </a:rPr>
              <a:t>等。</a:t>
            </a:r>
          </a:p>
        </p:txBody>
      </p:sp>
    </p:spTree>
    <p:extLst>
      <p:ext uri="{BB962C8B-B14F-4D97-AF65-F5344CB8AC3E}">
        <p14:creationId xmlns:p14="http://schemas.microsoft.com/office/powerpoint/2010/main" val="1340916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1026" name="Picture 2" descr="https://qcloud.dpfile.com/pc/Gysn5Gup69mFcIN_YaKezXb1KV-87OwAfvHQCRMzL970BcvM2QuJz-KrMhB5wT1V.jpg"/>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8349937" y="4682067"/>
            <a:ext cx="3326951" cy="200267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的科学依据</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11161776" cy="1674415"/>
          </a:xfrm>
        </p:spPr>
        <p:txBody>
          <a:bodyPr/>
          <a:lstStyle/>
          <a:p>
            <a:pPr marL="0" indent="0">
              <a:buNone/>
            </a:pPr>
            <a:r>
              <a:rPr lang="zh-CN" altLang="en-US" sz="1800" b="1" dirty="0" smtClean="0">
                <a:latin typeface="+mn-ea"/>
              </a:rPr>
              <a:t>人体</a:t>
            </a:r>
            <a:r>
              <a:rPr lang="zh-CN" altLang="en-US" sz="1800" b="1" dirty="0">
                <a:latin typeface="+mn-ea"/>
              </a:rPr>
              <a:t>的</a:t>
            </a:r>
            <a:r>
              <a:rPr lang="zh-CN" altLang="en-US" sz="1800" b="1" dirty="0" smtClean="0">
                <a:latin typeface="+mn-ea"/>
              </a:rPr>
              <a:t>“战时指挥中心”</a:t>
            </a:r>
            <a:r>
              <a:rPr lang="en-US" altLang="zh-CN" sz="1800" b="1" dirty="0" smtClean="0">
                <a:latin typeface="+mn-ea"/>
              </a:rPr>
              <a:t>——</a:t>
            </a:r>
            <a:r>
              <a:rPr lang="zh-CN" altLang="en-US" sz="1800" b="1" dirty="0" smtClean="0">
                <a:latin typeface="+mn-ea"/>
              </a:rPr>
              <a:t>杏仁体</a:t>
            </a:r>
            <a:endParaRPr lang="zh-CN" altLang="en-US" sz="1800" b="1" dirty="0">
              <a:latin typeface="+mn-ea"/>
            </a:endParaRPr>
          </a:p>
          <a:p>
            <a:pPr marL="0" indent="0">
              <a:buNone/>
            </a:pPr>
            <a:r>
              <a:rPr lang="zh-CN" altLang="en-US" sz="1800" dirty="0" smtClean="0">
                <a:latin typeface="+mn-ea"/>
              </a:rPr>
              <a:t>大脑</a:t>
            </a:r>
            <a:r>
              <a:rPr lang="zh-CN" altLang="en-US" sz="1800" dirty="0">
                <a:latin typeface="+mn-ea"/>
              </a:rPr>
              <a:t>杏仁体是恐惧记忆建立的神经中枢</a:t>
            </a:r>
            <a:r>
              <a:rPr lang="zh-CN" altLang="en-US" sz="1800" dirty="0" smtClean="0">
                <a:latin typeface="+mn-ea"/>
              </a:rPr>
              <a:t>。杏仁核</a:t>
            </a:r>
            <a:r>
              <a:rPr lang="zh-CN" altLang="en-US" sz="1800" dirty="0">
                <a:latin typeface="+mn-ea"/>
              </a:rPr>
              <a:t>在人的各种情绪反应（如愤怒、焦躁、惊恐等）中充当了指挥所的角色</a:t>
            </a:r>
            <a:r>
              <a:rPr lang="zh-CN" altLang="en-US" sz="1800" dirty="0" smtClean="0">
                <a:latin typeface="+mn-ea"/>
              </a:rPr>
              <a:t>。杏仁核</a:t>
            </a:r>
            <a:r>
              <a:rPr lang="zh-CN" altLang="en-US" sz="1800" dirty="0">
                <a:latin typeface="+mn-ea"/>
              </a:rPr>
              <a:t>相当于我们人体的报警器</a:t>
            </a:r>
            <a:r>
              <a:rPr lang="zh-CN" altLang="en-US" sz="1800" dirty="0" smtClean="0">
                <a:latin typeface="+mn-ea"/>
              </a:rPr>
              <a:t>。人体</a:t>
            </a:r>
            <a:r>
              <a:rPr lang="zh-CN" altLang="en-US" sz="1800" dirty="0">
                <a:latin typeface="+mn-ea"/>
              </a:rPr>
              <a:t>的指挥系统发生改变，杏仁核会变大并向身体发出战斗动员令</a:t>
            </a:r>
            <a:r>
              <a:rPr lang="zh-CN" altLang="en-US" sz="1800" dirty="0" smtClean="0">
                <a:latin typeface="+mn-ea"/>
              </a:rPr>
              <a:t>。人体</a:t>
            </a:r>
            <a:r>
              <a:rPr lang="zh-CN" altLang="en-US" sz="1800" dirty="0">
                <a:latin typeface="+mn-ea"/>
              </a:rPr>
              <a:t>立即会分泌出比平时更多的可的松</a:t>
            </a:r>
            <a:r>
              <a:rPr lang="en-US" altLang="zh-CN" sz="1800" dirty="0">
                <a:latin typeface="+mn-ea"/>
              </a:rPr>
              <a:t>——</a:t>
            </a:r>
            <a:r>
              <a:rPr lang="zh-CN" altLang="en-US" sz="1800" dirty="0">
                <a:latin typeface="+mn-ea"/>
              </a:rPr>
              <a:t>加快人体新陈代谢的紧张素。</a:t>
            </a:r>
            <a:endParaRPr lang="zh-CN" altLang="en-US" sz="1800" dirty="0">
              <a:latin typeface="+mn-ea"/>
            </a:endParaRP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527304" y="3330007"/>
            <a:ext cx="11149584" cy="335473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b="1" dirty="0" smtClean="0">
                <a:latin typeface="+mn-ea"/>
              </a:rPr>
              <a:t>人体</a:t>
            </a:r>
            <a:r>
              <a:rPr lang="zh-CN" altLang="en-US" sz="1800" b="1" dirty="0">
                <a:latin typeface="+mn-ea"/>
              </a:rPr>
              <a:t>的紧张</a:t>
            </a:r>
            <a:r>
              <a:rPr lang="zh-CN" altLang="en-US" sz="1800" b="1" dirty="0" smtClean="0">
                <a:latin typeface="+mn-ea"/>
              </a:rPr>
              <a:t>素</a:t>
            </a:r>
            <a:r>
              <a:rPr lang="en-US" altLang="zh-CN" sz="1800" b="1" dirty="0" smtClean="0">
                <a:latin typeface="+mn-ea"/>
              </a:rPr>
              <a:t>——</a:t>
            </a:r>
            <a:r>
              <a:rPr lang="zh-CN" altLang="en-US" sz="1800" b="1" dirty="0" smtClean="0">
                <a:latin typeface="+mn-ea"/>
              </a:rPr>
              <a:t>可的松</a:t>
            </a:r>
            <a:endParaRPr lang="zh-CN" altLang="en-US" sz="1800" b="1" dirty="0">
              <a:latin typeface="+mn-ea"/>
            </a:endParaRPr>
          </a:p>
          <a:p>
            <a:pPr marL="0" indent="0">
              <a:buNone/>
            </a:pPr>
            <a:r>
              <a:rPr lang="zh-CN" altLang="en-US" sz="1800" dirty="0" smtClean="0">
                <a:latin typeface="+mn-ea"/>
              </a:rPr>
              <a:t>人体</a:t>
            </a:r>
            <a:r>
              <a:rPr lang="zh-CN" altLang="en-US" sz="1800" dirty="0">
                <a:latin typeface="+mn-ea"/>
              </a:rPr>
              <a:t>的可的松是肾上腺分泌的一种激素</a:t>
            </a:r>
            <a:r>
              <a:rPr lang="zh-CN" altLang="en-US" sz="1800" dirty="0" smtClean="0">
                <a:latin typeface="+mn-ea"/>
              </a:rPr>
              <a:t>。可的松</a:t>
            </a:r>
            <a:r>
              <a:rPr lang="zh-CN" altLang="en-US" sz="1800" dirty="0">
                <a:latin typeface="+mn-ea"/>
              </a:rPr>
              <a:t>是受杏仁核调遣的“部队”，负责把危险的信号传达给全身的各个器官，并负责重新按照战时状态分配人体的资源</a:t>
            </a:r>
            <a:r>
              <a:rPr lang="zh-CN" altLang="en-US" sz="1800" dirty="0" smtClean="0">
                <a:latin typeface="+mn-ea"/>
              </a:rPr>
              <a:t>。可的松</a:t>
            </a:r>
            <a:r>
              <a:rPr lang="zh-CN" altLang="en-US" sz="1800" dirty="0">
                <a:latin typeface="+mn-ea"/>
              </a:rPr>
              <a:t>在人体一天当中的分泌量是不一样的</a:t>
            </a:r>
            <a:r>
              <a:rPr lang="zh-CN" altLang="en-US" sz="1800" dirty="0" smtClean="0">
                <a:latin typeface="+mn-ea"/>
              </a:rPr>
              <a:t>。早上</a:t>
            </a:r>
            <a:r>
              <a:rPr lang="zh-CN" altLang="en-US" sz="1800" dirty="0">
                <a:latin typeface="+mn-ea"/>
              </a:rPr>
              <a:t>醒来以后可的松的水平就高起来，晚上睡觉就下降到很低。</a:t>
            </a:r>
          </a:p>
          <a:p>
            <a:pPr marL="0" indent="0">
              <a:buNone/>
            </a:pPr>
            <a:r>
              <a:rPr lang="zh-CN" altLang="en-US" sz="1800" dirty="0" smtClean="0">
                <a:latin typeface="+mn-ea"/>
              </a:rPr>
              <a:t>人</a:t>
            </a:r>
            <a:r>
              <a:rPr lang="zh-CN" altLang="en-US" sz="1800" dirty="0">
                <a:latin typeface="+mn-ea"/>
              </a:rPr>
              <a:t>在放松的时候可的松的分泌量比较低</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而</a:t>
            </a:r>
            <a:r>
              <a:rPr lang="zh-CN" altLang="en-US" sz="1800" dirty="0">
                <a:latin typeface="+mn-ea"/>
              </a:rPr>
              <a:t>感到心理压力大的时候可的松的分泌量就高</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当</a:t>
            </a:r>
            <a:r>
              <a:rPr lang="zh-CN" altLang="en-US" sz="1800" dirty="0">
                <a:latin typeface="+mn-ea"/>
              </a:rPr>
              <a:t>针刺或按压穴位后，核磁共振观察到脑杏仁核即刻就缩小了。</a:t>
            </a:r>
          </a:p>
          <a:p>
            <a:pPr marL="0" indent="0">
              <a:buNone/>
            </a:pPr>
            <a:r>
              <a:rPr lang="zh-CN" altLang="en-US" sz="1800" dirty="0">
                <a:latin typeface="+mn-ea"/>
              </a:rPr>
              <a:t>弹穴位让人体的可的松水平下降了</a:t>
            </a:r>
            <a:r>
              <a:rPr lang="en-US" altLang="zh-CN" sz="1800" dirty="0">
                <a:latin typeface="+mn-ea"/>
              </a:rPr>
              <a:t>24%~50%</a:t>
            </a:r>
            <a:r>
              <a:rPr lang="zh-CN" altLang="en-US" sz="1800" dirty="0">
                <a:latin typeface="+mn-ea"/>
              </a:rPr>
              <a:t>。</a:t>
            </a:r>
          </a:p>
          <a:p>
            <a:pPr marL="0" indent="0">
              <a:buNone/>
            </a:pPr>
            <a:endParaRPr lang="zh-CN" altLang="en-US" sz="1800" dirty="0">
              <a:latin typeface="+mn-ea"/>
            </a:endParaRPr>
          </a:p>
        </p:txBody>
      </p:sp>
    </p:spTree>
    <p:extLst>
      <p:ext uri="{BB962C8B-B14F-4D97-AF65-F5344CB8AC3E}">
        <p14:creationId xmlns:p14="http://schemas.microsoft.com/office/powerpoint/2010/main" val="38315179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易学易用</a:t>
            </a:r>
            <a:endParaRPr lang="zh-CN" altLang="en-US" sz="4400" dirty="0"/>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55679" cy="1772991"/>
          </a:xfrm>
        </p:spPr>
        <p:txBody>
          <a:bodyPr/>
          <a:lstStyle/>
          <a:p>
            <a:pPr marL="0" indent="0">
              <a:buNone/>
            </a:pPr>
            <a:r>
              <a:rPr lang="zh-CN" altLang="en-US" sz="1800" dirty="0" smtClean="0">
                <a:latin typeface="+mn-ea"/>
              </a:rPr>
              <a:t>情绪释放技术</a:t>
            </a:r>
            <a:r>
              <a:rPr lang="en-US" altLang="zh-CN" sz="1800" dirty="0" smtClean="0">
                <a:latin typeface="+mn-ea"/>
              </a:rPr>
              <a:t>EFT</a:t>
            </a:r>
            <a:r>
              <a:rPr lang="zh-CN" altLang="en-US" sz="1800" dirty="0" smtClean="0">
                <a:latin typeface="+mn-ea"/>
              </a:rPr>
              <a:t>，是一个固定程式，它包含“一句提示语”和“弹十几个穴位”。</a:t>
            </a:r>
            <a:endParaRPr lang="en-US" altLang="zh-CN" sz="1800" dirty="0" smtClean="0">
              <a:latin typeface="+mn-ea"/>
            </a:endParaRPr>
          </a:p>
          <a:p>
            <a:pPr marL="0" indent="0">
              <a:buNone/>
            </a:pPr>
            <a:endParaRPr lang="en-US" altLang="zh-CN" sz="1800" dirty="0" smtClean="0">
              <a:latin typeface="+mn-ea"/>
            </a:endParaRPr>
          </a:p>
          <a:p>
            <a:pPr marL="0" indent="0">
              <a:buNone/>
            </a:pPr>
            <a:r>
              <a:rPr lang="zh-CN" altLang="en-US" sz="1800" dirty="0" smtClean="0">
                <a:latin typeface="+mn-ea"/>
              </a:rPr>
              <a:t>十分钟用它去消除一种痛苦记忆，解开一个心结可能只需要不到一个小时。</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无成本，无痛，无药物，无副作用的绿色疗法。</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 “接受和爱自己”的自我暗示。</a:t>
            </a:r>
            <a:endParaRPr lang="en-US" altLang="zh-CN" sz="1800" dirty="0" smtClean="0">
              <a:latin typeface="+mn-ea"/>
            </a:endParaRPr>
          </a:p>
          <a:p>
            <a:pPr marL="0" indent="0">
              <a:buNone/>
            </a:pPr>
            <a:r>
              <a:rPr lang="zh-CN" altLang="en-US" sz="1800" dirty="0" smtClean="0">
                <a:latin typeface="+mn-ea"/>
              </a:rPr>
              <a:t>“我无条件地，完完全全接受和认可自己，爱自己。”</a:t>
            </a:r>
            <a:endParaRPr lang="en-US" altLang="zh-CN" sz="1800" dirty="0" smtClean="0">
              <a:latin typeface="+mn-ea"/>
            </a:endParaRPr>
          </a:p>
          <a:p>
            <a:pPr marL="0" indent="0">
              <a:buNone/>
            </a:pPr>
            <a:r>
              <a:rPr lang="zh-CN" altLang="en-US" sz="1800" dirty="0" smtClean="0">
                <a:latin typeface="+mn-ea"/>
              </a:rPr>
              <a:t>“接受和爱自己”不等于“认命”。</a:t>
            </a:r>
            <a:endParaRPr lang="zh-CN" altLang="en-US" sz="1800" dirty="0">
              <a:latin typeface="+mn-ea"/>
            </a:endParaRP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Tree>
    <p:extLst>
      <p:ext uri="{BB962C8B-B14F-4D97-AF65-F5344CB8AC3E}">
        <p14:creationId xmlns:p14="http://schemas.microsoft.com/office/powerpoint/2010/main" val="1173087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55679" cy="1772991"/>
          </a:xfrm>
        </p:spPr>
        <p:txBody>
          <a:bodyPr/>
          <a:lstStyle/>
          <a:p>
            <a:pPr marL="0" indent="0">
              <a:buNone/>
            </a:pPr>
            <a:r>
              <a:rPr lang="en-US" altLang="zh-CN" sz="1800" dirty="0">
                <a:latin typeface="+mn-ea"/>
              </a:rPr>
              <a:t>1.</a:t>
            </a:r>
            <a:r>
              <a:rPr lang="zh-CN" altLang="en-US" sz="1800" dirty="0">
                <a:latin typeface="+mn-ea"/>
              </a:rPr>
              <a:t>设置自助目标</a:t>
            </a:r>
          </a:p>
          <a:p>
            <a:pPr marL="0" indent="0">
              <a:buNone/>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心理自助操前，需要帮助戒毒人员聚焦情绪状态，将当前最大的情绪困扰或伤痛回忆起来，例如与亲人分离的场景、人际关系紧张的状态等，保持让自己不愉快的情绪状态。</a:t>
            </a: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228975"/>
            <a:ext cx="4779455" cy="23371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294565" y="3228975"/>
            <a:ext cx="6506910" cy="33289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495290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15112" y="1033407"/>
            <a:ext cx="11155680" cy="1744630"/>
          </a:xfrm>
        </p:spPr>
        <p:txBody>
          <a:bodyPr/>
          <a:lstStyle/>
          <a:p>
            <a:pPr marL="0" indent="0">
              <a:buNone/>
            </a:pPr>
            <a:r>
              <a:rPr lang="en-US" altLang="zh-CN" sz="1800" dirty="0">
                <a:latin typeface="+mn-ea"/>
              </a:rPr>
              <a:t>2.</a:t>
            </a:r>
            <a:r>
              <a:rPr lang="zh-CN" altLang="en-US" sz="1800"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p>
        </p:txBody>
      </p:sp>
      <p:sp>
        <p:nvSpPr>
          <p:cNvPr id="14" name="内容占位符 2">
            <a:extLst>
              <a:ext uri="{FF2B5EF4-FFF2-40B4-BE49-F238E27FC236}">
                <a16:creationId xmlns:a16="http://schemas.microsoft.com/office/drawing/2014/main" id="{1F80AA0B-1AEC-8D96-94B2-7D26FE0727C6}"/>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2789708"/>
            <a:ext cx="2756726" cy="138237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3.NLP</a:t>
            </a:r>
            <a:r>
              <a:rPr lang="zh-CN" altLang="en-US" sz="1800" dirty="0">
                <a:latin typeface="+mn-ea"/>
              </a:rPr>
              <a:t>情绪脱敏</a:t>
            </a:r>
          </a:p>
          <a:p>
            <a:pPr marL="0" indent="0">
              <a:buFont typeface="Arial" panose="020B0604020202020204" pitchFamily="34" charset="0"/>
              <a:buNone/>
            </a:pPr>
            <a:r>
              <a:rPr lang="zh-CN" altLang="en-US" sz="1800" dirty="0">
                <a:latin typeface="+mn-ea"/>
              </a:rPr>
              <a:t>敲击中渚穴时，运用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500437" y="2789708"/>
            <a:ext cx="8170355" cy="19226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4.</a:t>
            </a:r>
            <a:r>
              <a:rPr lang="zh-CN" altLang="en-US" sz="1800"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08566" y="4753718"/>
            <a:ext cx="2562226" cy="1708151"/>
          </a:xfrm>
          <a:prstGeom prst="rect">
            <a:avLst/>
          </a:prstGeom>
          <a:effectLst>
            <a:softEdge rad="127000"/>
          </a:effectLst>
        </p:spPr>
      </p:pic>
    </p:spTree>
    <p:extLst>
      <p:ext uri="{BB962C8B-B14F-4D97-AF65-F5344CB8AC3E}">
        <p14:creationId xmlns:p14="http://schemas.microsoft.com/office/powerpoint/2010/main" val="7359287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15113" y="1576785"/>
            <a:ext cx="5574791" cy="3989337"/>
          </a:xfrm>
        </p:spPr>
        <p:txBody>
          <a:bodyPr/>
          <a:lstStyle/>
          <a:p>
            <a:pPr marL="0" indent="0">
              <a:buNone/>
            </a:pPr>
            <a:r>
              <a:rPr lang="zh-CN" altLang="en-US" sz="1800" dirty="0">
                <a:latin typeface="+mn-ea"/>
              </a:rPr>
              <a:t>热身环节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14" name="内容占位符 2">
            <a:extLst>
              <a:ext uri="{FF2B5EF4-FFF2-40B4-BE49-F238E27FC236}">
                <a16:creationId xmlns:a16="http://schemas.microsoft.com/office/drawing/2014/main" id="{5D4BAE04-8616-9958-3637-F6DE8BD5E07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热身环节</a:t>
            </a: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102096"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做法：用一只手持续轻敲**手腕内侧（备用穴位 </a:t>
            </a:r>
            <a:r>
              <a:rPr lang="en-US" altLang="zh-CN" sz="1800" dirty="0">
                <a:latin typeface="+mn-ea"/>
              </a:rPr>
              <a:t>KC</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具体情绪 </a:t>
            </a:r>
            <a:r>
              <a:rPr lang="en-US" altLang="zh-CN" sz="1800" dirty="0">
                <a:latin typeface="+mn-ea"/>
              </a:rPr>
              <a:t>+ </a:t>
            </a:r>
            <a:r>
              <a:rPr lang="zh-CN" altLang="en-US" sz="1800" dirty="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示例：“尽管我害怕接触水，想到靠近水就心慌，，但我完全接纳自己现在的感受和状态”。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2" y="1576785"/>
            <a:ext cx="4528377" cy="2995215"/>
          </a:xfrm>
        </p:spPr>
        <p:txBody>
          <a:bodyPr/>
          <a:lstStyle/>
          <a:p>
            <a:pPr marL="0" indent="0">
              <a:buNone/>
            </a:pPr>
            <a:r>
              <a:rPr lang="en-US" altLang="zh-CN" dirty="0">
                <a:latin typeface="+mn-ea"/>
              </a:rPr>
              <a:t>2.</a:t>
            </a:r>
            <a:r>
              <a:rPr lang="zh-CN" altLang="en-US" dirty="0">
                <a:latin typeface="+mn-ea"/>
              </a:rPr>
              <a:t>情绪调节敲击操环节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14" name="内容占位符 2">
            <a:extLst>
              <a:ext uri="{FF2B5EF4-FFF2-40B4-BE49-F238E27FC236}">
                <a16:creationId xmlns:a16="http://schemas.microsoft.com/office/drawing/2014/main" id="{D4F17EAE-CD6F-3527-91B7-6253A30D3D3A}"/>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敲击操环节</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5043489" y="1576785"/>
            <a:ext cx="680084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3</a:t>
            </a:r>
            <a:r>
              <a:rPr lang="zh-CN" altLang="en-US" sz="1400"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4</a:t>
            </a:r>
            <a:r>
              <a:rPr lang="zh-CN" altLang="en-US" sz="1400" dirty="0">
                <a:latin typeface="+mn-ea"/>
              </a:rPr>
              <a:t>）持续敲击中渚穴时进行以下</a:t>
            </a:r>
            <a:r>
              <a:rPr lang="en-US" altLang="zh-CN" sz="1400" dirty="0">
                <a:latin typeface="+mn-ea"/>
              </a:rPr>
              <a:t>9</a:t>
            </a:r>
            <a:r>
              <a:rPr lang="zh-CN" altLang="en-US" sz="1400" dirty="0">
                <a:latin typeface="+mn-ea"/>
              </a:rPr>
              <a:t>个步骤：眼睛闭上；眼睛张开；眼睛往右下看并保持头部不动；眼睛向左下看并保持头部不动；眼睛顺时钟旋转；眼睛逆时钟旋转；哼快乐的歌</a:t>
            </a:r>
            <a:r>
              <a:rPr lang="en-US" altLang="zh-CN" sz="1400" dirty="0">
                <a:latin typeface="+mn-ea"/>
              </a:rPr>
              <a:t>2</a:t>
            </a:r>
            <a:r>
              <a:rPr lang="zh-CN" altLang="en-US" sz="1400" dirty="0">
                <a:latin typeface="+mn-ea"/>
              </a:rPr>
              <a:t>秒钟；快速地数</a:t>
            </a:r>
            <a:r>
              <a:rPr lang="en-US" altLang="zh-CN" sz="1400" dirty="0">
                <a:latin typeface="+mn-ea"/>
              </a:rPr>
              <a:t>1</a:t>
            </a:r>
            <a:r>
              <a:rPr lang="zh-CN" altLang="en-US" sz="1400" dirty="0">
                <a:latin typeface="+mn-ea"/>
              </a:rPr>
              <a:t>～</a:t>
            </a:r>
            <a:r>
              <a:rPr lang="en-US" altLang="zh-CN" sz="1400" dirty="0">
                <a:latin typeface="+mn-ea"/>
              </a:rPr>
              <a:t>5</a:t>
            </a:r>
            <a:r>
              <a:rPr lang="zh-CN" altLang="en-US" sz="1400" dirty="0">
                <a:latin typeface="+mn-ea"/>
              </a:rPr>
              <a:t>；再哼快乐的歌</a:t>
            </a:r>
            <a:r>
              <a:rPr lang="en-US" altLang="zh-CN" sz="1400" dirty="0">
                <a:latin typeface="+mn-ea"/>
              </a:rPr>
              <a:t>2</a:t>
            </a:r>
            <a:r>
              <a:rPr lang="zh-CN" altLang="en-US" sz="1400"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5043489" y="3529013"/>
            <a:ext cx="3757611" cy="175220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5</a:t>
            </a:r>
            <a:r>
              <a:rPr lang="zh-CN" altLang="en-US" sz="1400" dirty="0">
                <a:latin typeface="+mn-ea"/>
              </a:rPr>
              <a:t>）再次敲击或按摩攒竹、瞳子髎、承泣、人中、承浆、俞府、檀中、百会等穴位，每个穴位</a:t>
            </a:r>
            <a:r>
              <a:rPr lang="en-US" altLang="zh-CN" sz="1400" dirty="0">
                <a:latin typeface="+mn-ea"/>
              </a:rPr>
              <a:t>5-10</a:t>
            </a:r>
            <a:r>
              <a:rPr lang="zh-CN" altLang="en-US" sz="1400"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6</a:t>
            </a:r>
            <a:r>
              <a:rPr lang="zh-CN" altLang="en-US" sz="1400"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801100" y="4300641"/>
            <a:ext cx="2875788" cy="1917191"/>
          </a:xfrm>
          <a:prstGeom prst="rect">
            <a:avLst/>
          </a:prstGeom>
          <a:effectLst>
            <a:softEdge rad="127000"/>
          </a:effectLst>
        </p:spPr>
      </p:pic>
    </p:spTree>
    <p:extLst>
      <p:ext uri="{BB962C8B-B14F-4D97-AF65-F5344CB8AC3E}">
        <p14:creationId xmlns:p14="http://schemas.microsoft.com/office/powerpoint/2010/main" val="5265672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p:spPr>
        <p:txBody>
          <a:bodyPr/>
          <a:lstStyle/>
          <a:p>
            <a:pPr marL="0" indent="0">
              <a:buNone/>
            </a:pPr>
            <a:r>
              <a:rPr lang="en-US" altLang="zh-CN" sz="1800" dirty="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59CCCEB8-3295-D86B-06BC-F3F388E86B2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敲击核心穴位</a:t>
            </a:r>
          </a:p>
        </p:txBody>
      </p:sp>
      <p:pic>
        <p:nvPicPr>
          <p:cNvPr id="5" name="图片 4" descr="图片包含 背景图案&#10;&#10;AI 生成的内容可能不正确。">
            <a:extLst>
              <a:ext uri="{FF2B5EF4-FFF2-40B4-BE49-F238E27FC236}">
                <a16:creationId xmlns:a16="http://schemas.microsoft.com/office/drawing/2014/main" id="{EFC1CEB8-1EFE-D2E5-80A0-98D6879C1A8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701915" y="4500564"/>
            <a:ext cx="3971925" cy="2066725"/>
          </a:xfrm>
          <a:prstGeom prst="rect">
            <a:avLst/>
          </a:prstGeom>
          <a:effectLst>
            <a:softEdge rad="127000"/>
          </a:effectLst>
        </p:spPr>
      </p:pic>
    </p:spTree>
    <p:extLst>
      <p:ext uri="{BB962C8B-B14F-4D97-AF65-F5344CB8AC3E}">
        <p14:creationId xmlns:p14="http://schemas.microsoft.com/office/powerpoint/2010/main" val="995358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marL="0" indent="0">
              <a:buNone/>
            </a:pPr>
            <a:r>
              <a:rPr lang="en-US" altLang="zh-CN" sz="1800" dirty="0">
                <a:latin typeface="+mn-ea"/>
              </a:rPr>
              <a:t>- </a:t>
            </a:r>
            <a:r>
              <a:rPr lang="zh-CN" altLang="en-US" sz="1800" dirty="0">
                <a:latin typeface="+mn-ea"/>
              </a:rPr>
              <a:t>注意：</a:t>
            </a:r>
            <a:r>
              <a:rPr lang="en-US" altLang="zh-CN" sz="1800" dirty="0">
                <a:latin typeface="+mn-ea"/>
              </a:rPr>
              <a:t>EFT </a:t>
            </a:r>
            <a:r>
              <a:rPr lang="zh-CN" altLang="en-US" sz="1800" dirty="0">
                <a:latin typeface="+mn-ea"/>
              </a:rPr>
              <a:t>仅作为情绪缓解的辅助方式，若有严重心理问题，仍需结合专业心理治疗。</a:t>
            </a:r>
          </a:p>
        </p:txBody>
      </p:sp>
      <p:sp>
        <p:nvSpPr>
          <p:cNvPr id="14" name="内容占位符 2">
            <a:extLst>
              <a:ext uri="{FF2B5EF4-FFF2-40B4-BE49-F238E27FC236}">
                <a16:creationId xmlns:a16="http://schemas.microsoft.com/office/drawing/2014/main" id="{96155DA5-FBF2-4804-5626-274C474DBDA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基础操作原则</a:t>
            </a:r>
          </a:p>
        </p:txBody>
      </p:sp>
      <p:pic>
        <p:nvPicPr>
          <p:cNvPr id="4" name="图片 3" descr="图片包含 背景图案&#10;&#10;AI 生成的内容可能不正确。">
            <a:extLst>
              <a:ext uri="{FF2B5EF4-FFF2-40B4-BE49-F238E27FC236}">
                <a16:creationId xmlns:a16="http://schemas.microsoft.com/office/drawing/2014/main" id="{5B732ADF-2B6D-6CD9-E007-2F2BECEDD746}"/>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701915" y="4500564"/>
            <a:ext cx="3971925" cy="2066725"/>
          </a:xfrm>
          <a:prstGeom prst="rect">
            <a:avLst/>
          </a:prstGeom>
        </p:spPr>
      </p:pic>
    </p:spTree>
    <p:extLst>
      <p:ext uri="{BB962C8B-B14F-4D97-AF65-F5344CB8AC3E}">
        <p14:creationId xmlns:p14="http://schemas.microsoft.com/office/powerpoint/2010/main" val="28763602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对应情绪：脆弱、敏感</a:t>
            </a:r>
            <a:endParaRPr lang="en-US" altLang="zh-CN" sz="1800" dirty="0">
              <a:latin typeface="+mn-ea"/>
            </a:endParaRPr>
          </a:p>
          <a:p>
            <a:pPr>
              <a:buFont typeface="Wingdings" panose="05000000000000000000" pitchFamily="2" charset="2"/>
              <a:buChar char="n"/>
            </a:pPr>
            <a:r>
              <a:rPr lang="zh-CN" altLang="en-US" sz="1800" dirty="0">
                <a:latin typeface="+mn-ea"/>
              </a:rPr>
              <a:t>穴位位置：握拳，靠近小指那一侧的皮肉皱折</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功效作用：小肠对能量非常敏感，对各种食物和养分会立即做出反应，所有的食物进到体内，是小肠决定什么可以消化，什么不能</a:t>
            </a:r>
            <a:r>
              <a:rPr lang="zh-CN" altLang="en-US" sz="1800" dirty="0" smtClean="0">
                <a:latin typeface="+mn-ea"/>
              </a:rPr>
              <a:t>消化</a:t>
            </a:r>
            <a:endParaRPr lang="en-US" altLang="zh-CN" sz="1800" dirty="0">
              <a:latin typeface="+mn-ea"/>
            </a:endParaRPr>
          </a:p>
          <a:p>
            <a:pPr marL="0" indent="0">
              <a:buNone/>
            </a:pPr>
            <a:r>
              <a:rPr lang="zh-CN" altLang="en-US" sz="1800" dirty="0">
                <a:latin typeface="+mn-ea"/>
              </a:rPr>
              <a:t>情绪上也是如此，我们对环境的变化，必须决定什么事要反应，什么事不</a:t>
            </a:r>
            <a:r>
              <a:rPr lang="zh-CN" altLang="en-US" sz="1800" dirty="0" smtClean="0">
                <a:latin typeface="+mn-ea"/>
              </a:rPr>
              <a:t>反应</a:t>
            </a:r>
            <a:endParaRPr lang="zh-CN" altLang="en-US" sz="1800" dirty="0">
              <a:latin typeface="+mn-ea"/>
            </a:endParaRPr>
          </a:p>
          <a:p>
            <a:pPr marL="0" indent="0">
              <a:buNone/>
            </a:pPr>
            <a:r>
              <a:rPr lang="zh-CN" altLang="en-US" sz="1800" dirty="0">
                <a:latin typeface="+mn-ea"/>
              </a:rPr>
              <a:t>与小肠有关的情绪有：脆弱，敏感，觉得失落，缺乏安全感，过度敏感，觉得没人在意我，觉得没有人关心我，觉得付出得不到</a:t>
            </a:r>
            <a:r>
              <a:rPr lang="zh-CN" altLang="en-US" sz="1800" dirty="0" smtClean="0">
                <a:latin typeface="+mn-ea"/>
              </a:rPr>
              <a:t>回报</a:t>
            </a:r>
            <a:endParaRPr lang="zh-CN" altLang="en-US" sz="1800" dirty="0">
              <a:latin typeface="+mn-ea"/>
            </a:endParaRPr>
          </a:p>
          <a:p>
            <a:pPr marL="0" indent="0">
              <a:buNone/>
            </a:pPr>
            <a:endParaRPr lang="zh-CN" altLang="en-US" sz="1800" dirty="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手掌外侧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后溪穴（</a:t>
            </a:r>
            <a:r>
              <a:rPr lang="zh-CN" altLang="en-US" sz="3200" dirty="0">
                <a:effectLst>
                  <a:outerShdw blurRad="38100" dist="38100" dir="2700000" algn="tl">
                    <a:srgbClr val="000000">
                      <a:alpha val="43137"/>
                    </a:srgbClr>
                  </a:outerShdw>
                </a:effectLst>
              </a:rPr>
              <a:t>手太阳小肠经）</a:t>
            </a:r>
            <a:endParaRPr lang="zh-CN" altLang="en-US" sz="3200" dirty="0">
              <a:effectLst>
                <a:outerShdw blurRad="38100" dist="38100" dir="2700000" algn="tl">
                  <a:srgbClr val="000000">
                    <a:alpha val="43137"/>
                  </a:srgbClr>
                </a:outerShdw>
              </a:effectLst>
              <a:latin typeface="+mn-ea"/>
            </a:endParaRPr>
          </a:p>
        </p:txBody>
      </p:sp>
      <p:pic>
        <p:nvPicPr>
          <p:cNvPr id="9" name="图片 8" descr="卡通人物&#10;&#10;AI 生成的内容可能不正确。">
            <a:extLst>
              <a:ext uri="{FF2B5EF4-FFF2-40B4-BE49-F238E27FC236}">
                <a16:creationId xmlns:a16="http://schemas.microsoft.com/office/drawing/2014/main" id="{4E1BF239-0EC8-DA39-1A04-0070CBA311C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471154" y="4305300"/>
            <a:ext cx="2324100" cy="2324100"/>
          </a:xfrm>
          <a:prstGeom prst="rect">
            <a:avLst/>
          </a:prstGeom>
          <a:effectLst>
            <a:softEdge rad="127000"/>
          </a:effectLst>
        </p:spPr>
      </p:pic>
    </p:spTree>
    <p:extLst>
      <p:ext uri="{BB962C8B-B14F-4D97-AF65-F5344CB8AC3E}">
        <p14:creationId xmlns:p14="http://schemas.microsoft.com/office/powerpoint/2010/main" val="2848849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3FE16-2FA4-BF13-ECDE-7E33ECD83C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45AC63-11E0-8FA1-79F8-BFC1AFC4F42E}"/>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2143090F-3208-5F2E-8154-EC1DB70C7319}"/>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对应情绪：焦虑、紧张</a:t>
            </a:r>
          </a:p>
          <a:p>
            <a:pPr>
              <a:buFont typeface="Wingdings" panose="05000000000000000000" pitchFamily="2" charset="2"/>
              <a:buChar char="n"/>
            </a:pPr>
            <a:r>
              <a:rPr lang="zh-CN" altLang="en-US" sz="1800" dirty="0">
                <a:latin typeface="+mn-ea"/>
              </a:rPr>
              <a:t>穴位位置：手腕内侧横纹上方，肌腱之间的凹陷</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功效作用：适合不方便敲击面部、头部时使用，可快速缓解情绪</a:t>
            </a:r>
            <a:r>
              <a:rPr lang="zh-CN" altLang="en-US" sz="1800" dirty="0" smtClean="0">
                <a:latin typeface="+mn-ea"/>
              </a:rPr>
              <a:t>紧张</a:t>
            </a:r>
            <a:endParaRPr lang="en-US" altLang="zh-CN" sz="1800" dirty="0">
              <a:latin typeface="+mn-ea"/>
            </a:endParaRPr>
          </a:p>
          <a:p>
            <a:pPr>
              <a:buFont typeface="Wingdings" panose="05000000000000000000" pitchFamily="2" charset="2"/>
              <a:buChar char="n"/>
            </a:pPr>
            <a:r>
              <a:rPr lang="zh-CN" altLang="en-US" sz="1800" dirty="0">
                <a:latin typeface="+mn-ea"/>
              </a:rPr>
              <a:t>引导用语：用指尖轻拍内关穴，同时默念 “即使我现在很焦虑，我依然能从容应对工作”，重复几次后往往能感受到情绪和身体的双重</a:t>
            </a:r>
            <a:r>
              <a:rPr lang="zh-CN" altLang="en-US" sz="1800" dirty="0" smtClean="0">
                <a:latin typeface="+mn-ea"/>
              </a:rPr>
              <a:t>放松</a:t>
            </a:r>
            <a:endParaRPr lang="en-US" altLang="zh-CN" sz="1800" dirty="0">
              <a:latin typeface="+mn-ea"/>
            </a:endParaRPr>
          </a:p>
        </p:txBody>
      </p:sp>
      <p:sp>
        <p:nvSpPr>
          <p:cNvPr id="14" name="内容占位符 2">
            <a:extLst>
              <a:ext uri="{FF2B5EF4-FFF2-40B4-BE49-F238E27FC236}">
                <a16:creationId xmlns:a16="http://schemas.microsoft.com/office/drawing/2014/main" id="{62FC91FB-7736-73DB-BC2A-557A062D79D1}"/>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内关穴（手厥阴心包经）</a:t>
            </a:r>
          </a:p>
        </p:txBody>
      </p:sp>
      <p:pic>
        <p:nvPicPr>
          <p:cNvPr id="5" name="图片 4" descr="卡通人物&#10;&#10;AI 生成的内容可能不正确。">
            <a:extLst>
              <a:ext uri="{FF2B5EF4-FFF2-40B4-BE49-F238E27FC236}">
                <a16:creationId xmlns:a16="http://schemas.microsoft.com/office/drawing/2014/main" id="{DF7AF0A2-80FE-F7D5-27F2-428F9B391C2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641126" y="4546600"/>
            <a:ext cx="3438852" cy="1933567"/>
          </a:xfrm>
          <a:prstGeom prst="rect">
            <a:avLst/>
          </a:prstGeom>
          <a:effectLst>
            <a:softEdge rad="127000"/>
          </a:effectLst>
        </p:spPr>
      </p:pic>
    </p:spTree>
    <p:extLst>
      <p:ext uri="{BB962C8B-B14F-4D97-AF65-F5344CB8AC3E}">
        <p14:creationId xmlns:p14="http://schemas.microsoft.com/office/powerpoint/2010/main" val="2649966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8096470" y="1604609"/>
            <a:ext cx="3704190" cy="3989337"/>
          </a:xfrm>
        </p:spPr>
        <p:txBody>
          <a:bodyPr/>
          <a:lstStyle/>
          <a:p>
            <a:pPr>
              <a:buFont typeface="Wingdings" panose="05000000000000000000" pitchFamily="2" charset="2"/>
              <a:buChar char="n"/>
            </a:pPr>
            <a:r>
              <a:rPr lang="zh-CN" altLang="en-US" sz="1800" dirty="0">
                <a:latin typeface="+mn-ea"/>
              </a:rPr>
              <a:t>对应情绪：不安全感</a:t>
            </a:r>
          </a:p>
          <a:p>
            <a:pPr>
              <a:buFont typeface="Wingdings" panose="05000000000000000000" pitchFamily="2" charset="2"/>
              <a:buChar char="n"/>
            </a:pPr>
            <a:r>
              <a:rPr lang="zh-CN" altLang="en-US" sz="1800" dirty="0">
                <a:latin typeface="+mn-ea"/>
              </a:rPr>
              <a:t>穴位位置：两侧眉头内侧端点（靠近鼻梁处</a:t>
            </a:r>
            <a:r>
              <a:rPr lang="zh-CN" altLang="en-US" sz="1800" dirty="0" smtClean="0">
                <a:latin typeface="+mn-ea"/>
              </a:rPr>
              <a:t>）</a:t>
            </a:r>
            <a:endParaRPr lang="en-US" altLang="zh-CN" sz="1800" dirty="0">
              <a:latin typeface="+mn-ea"/>
            </a:endParaRPr>
          </a:p>
          <a:p>
            <a:pPr>
              <a:buFont typeface="Wingdings" panose="05000000000000000000" pitchFamily="2" charset="2"/>
              <a:buChar char="n"/>
            </a:pPr>
            <a:r>
              <a:rPr lang="zh-CN" altLang="en-US" sz="1800" dirty="0">
                <a:latin typeface="+mn-ea"/>
              </a:rPr>
              <a:t>功效作用：对应情绪与压力的核心反应区，缓解焦虑、恐惧等初始</a:t>
            </a:r>
            <a:r>
              <a:rPr lang="zh-CN" altLang="en-US" sz="1800" dirty="0" smtClean="0">
                <a:latin typeface="+mn-ea"/>
              </a:rPr>
              <a:t>情绪</a:t>
            </a:r>
            <a:endParaRPr lang="zh-CN" altLang="en-US" sz="1800" dirty="0">
              <a:latin typeface="+mn-ea"/>
            </a:endParaRP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264035" y="5566122"/>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攒竹穴（足太阳膀胱经）</a:t>
            </a:r>
          </a:p>
        </p:txBody>
      </p:sp>
      <p:pic>
        <p:nvPicPr>
          <p:cNvPr id="5" name="图片 4" descr="形状, 圆圈&#10;&#10;AI 生成的内容可能不正确。">
            <a:extLst>
              <a:ext uri="{FF2B5EF4-FFF2-40B4-BE49-F238E27FC236}">
                <a16:creationId xmlns:a16="http://schemas.microsoft.com/office/drawing/2014/main" id="{B87D4D8C-ABD3-3073-3991-AA717EEA9A62}"/>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671964" y="4171070"/>
            <a:ext cx="2361063" cy="2361063"/>
          </a:xfrm>
          <a:prstGeom prst="rect">
            <a:avLst/>
          </a:prstGeom>
          <a:effectLst>
            <a:softEdge rad="127000"/>
          </a:effectLst>
        </p:spPr>
      </p:pic>
      <p:sp>
        <p:nvSpPr>
          <p:cNvPr id="6" name="内容占位符 2">
            <a:extLst>
              <a:ext uri="{FF2B5EF4-FFF2-40B4-BE49-F238E27FC236}">
                <a16:creationId xmlns:a16="http://schemas.microsoft.com/office/drawing/2014/main" id="{4DFBC01C-7EBC-BB8A-BB88-94FFF1D493DD}"/>
              </a:ext>
            </a:extLst>
          </p:cNvPr>
          <p:cNvSpPr txBox="1">
            <a:spLocks/>
          </p:cNvSpPr>
          <p:nvPr/>
        </p:nvSpPr>
        <p:spPr>
          <a:xfrm>
            <a:off x="515112" y="1562100"/>
            <a:ext cx="744539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方法：用两根手指（随便哪只手都行）敲击或按摩。敲击时要坚定而柔和，动作不要过重，以免损伤身体。但是要连续敲击，这样才能刺激体内能量的流动。同时一边敲击，一边说肯定句。</a:t>
            </a:r>
          </a:p>
          <a:p>
            <a:pPr marL="0" indent="0">
              <a:buFont typeface="Arial" panose="020B0604020202020204" pitchFamily="34" charset="0"/>
              <a:buNone/>
            </a:pPr>
            <a:r>
              <a:rPr lang="zh-CN" altLang="en-US" sz="1800" dirty="0">
                <a:latin typeface="+mn-ea"/>
              </a:rPr>
              <a:t>膀胱经这条经络的情绪包括，优柔寡断，无能为力，没有意志力，无法或很难下决定，缺乏安全感，绝望，没耐性，害怕冒犯他人。</a:t>
            </a:r>
          </a:p>
          <a:p>
            <a:pPr marL="0" indent="0">
              <a:buFont typeface="Arial" panose="020B0604020202020204" pitchFamily="34" charset="0"/>
              <a:buNone/>
            </a:pPr>
            <a:r>
              <a:rPr lang="zh-CN" altLang="en-US" sz="1800" dirty="0">
                <a:latin typeface="+mn-ea"/>
              </a:rPr>
              <a:t>首先，闭上眼睛，回想过去引发你这些情绪的情境，想起那时的感觉，当时的事件，参与的人，当时的场景。</a:t>
            </a:r>
          </a:p>
          <a:p>
            <a:pPr marL="0" indent="0">
              <a:buFont typeface="Arial" panose="020B0604020202020204" pitchFamily="34" charset="0"/>
              <a:buNone/>
            </a:pPr>
            <a:r>
              <a:rPr lang="zh-CN" altLang="en-US" sz="1800" dirty="0">
                <a:latin typeface="+mn-ea"/>
              </a:rPr>
              <a:t>接着，轻敲或按摩攒竹穴。</a:t>
            </a:r>
          </a:p>
        </p:txBody>
      </p:sp>
    </p:spTree>
    <p:extLst>
      <p:ext uri="{BB962C8B-B14F-4D97-AF65-F5344CB8AC3E}">
        <p14:creationId xmlns:p14="http://schemas.microsoft.com/office/powerpoint/2010/main" val="29260038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3" y="1576786"/>
            <a:ext cx="11155678" cy="1784088"/>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：挫折感</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两侧眼尾外侧</a:t>
            </a:r>
            <a:r>
              <a:rPr lang="zh-CN" altLang="en-US" sz="1800" dirty="0" smtClean="0">
                <a:latin typeface="+mn-ea"/>
              </a:rPr>
              <a:t>约</a:t>
            </a:r>
            <a:r>
              <a:rPr lang="en-US" altLang="zh-CN" sz="1800" dirty="0" smtClean="0">
                <a:latin typeface="+mn-ea"/>
              </a:rPr>
              <a:t>1</a:t>
            </a:r>
            <a:r>
              <a:rPr lang="zh-CN" altLang="en-US" sz="1800" dirty="0" smtClean="0">
                <a:latin typeface="+mn-ea"/>
              </a:rPr>
              <a:t>厘米</a:t>
            </a:r>
            <a:r>
              <a:rPr lang="zh-CN" altLang="en-US" sz="1800" dirty="0">
                <a:latin typeface="+mn-ea"/>
              </a:rPr>
              <a:t>处（不压眼球，在眼眶骨边缘</a:t>
            </a:r>
            <a:r>
              <a:rPr lang="zh-CN" altLang="en-US" sz="1800" dirty="0" smtClean="0">
                <a:latin typeface="+mn-ea"/>
              </a:rPr>
              <a:t>），瞳</a:t>
            </a:r>
            <a:r>
              <a:rPr lang="zh-CN" altLang="en-US" sz="1800" dirty="0">
                <a:latin typeface="+mn-ea"/>
              </a:rPr>
              <a:t>子髎」，位于两眼尾外角约两指宽的</a:t>
            </a:r>
            <a:r>
              <a:rPr lang="zh-CN" altLang="en-US" sz="1800" dirty="0" smtClean="0">
                <a:latin typeface="+mn-ea"/>
              </a:rPr>
              <a:t>位置</a:t>
            </a:r>
            <a:endParaRPr lang="en-US" altLang="zh-CN" sz="1800" dirty="0">
              <a:latin typeface="+mn-ea"/>
            </a:endParaRPr>
          </a:p>
          <a:p>
            <a:pPr>
              <a:buFont typeface="Wingdings" panose="05000000000000000000" pitchFamily="2" charset="2"/>
              <a:buChar char="n"/>
            </a:pPr>
            <a:r>
              <a:rPr lang="zh-CN" altLang="en-US" sz="1800" dirty="0">
                <a:latin typeface="+mn-ea"/>
              </a:rPr>
              <a:t>功效作用</a:t>
            </a:r>
            <a:r>
              <a:rPr lang="zh-CN" altLang="en-US" sz="1800" dirty="0" smtClean="0">
                <a:latin typeface="+mn-ea"/>
              </a:rPr>
              <a:t>：</a:t>
            </a:r>
            <a:r>
              <a:rPr lang="zh-CN" altLang="en-US" sz="1800" dirty="0">
                <a:latin typeface="+mn-ea"/>
              </a:rPr>
              <a:t>调节情绪波动，尤其适合缓解因恐惧、担忧引发的身体</a:t>
            </a:r>
            <a:r>
              <a:rPr lang="zh-CN" altLang="en-US" sz="1800" dirty="0" smtClean="0">
                <a:latin typeface="+mn-ea"/>
              </a:rPr>
              <a:t>紧张</a:t>
            </a:r>
            <a:endParaRPr lang="en-US" altLang="zh-CN" sz="1800" dirty="0">
              <a:latin typeface="+mn-ea"/>
            </a:endParaRP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233757" y="5930044"/>
            <a:ext cx="1115688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丝竹空穴（手少阳三焦经</a:t>
            </a:r>
            <a:r>
              <a:rPr lang="zh-CN" altLang="en-US" sz="3200" dirty="0" smtClean="0">
                <a:effectLst>
                  <a:outerShdw blurRad="38100" dist="38100" dir="2700000" algn="tl">
                    <a:srgbClr val="000000">
                      <a:alpha val="43137"/>
                    </a:srgbClr>
                  </a:outerShdw>
                </a:effectLst>
                <a:latin typeface="+mn-ea"/>
              </a:rPr>
              <a:t>）瞳</a:t>
            </a:r>
            <a:r>
              <a:rPr lang="zh-CN" altLang="en-US" sz="3200" dirty="0">
                <a:effectLst>
                  <a:outerShdw blurRad="38100" dist="38100" dir="2700000" algn="tl">
                    <a:srgbClr val="000000">
                      <a:alpha val="43137"/>
                    </a:srgbClr>
                  </a:outerShdw>
                </a:effectLst>
                <a:latin typeface="+mn-ea"/>
              </a:rPr>
              <a:t>子髎（足少阳胆经）</a:t>
            </a:r>
          </a:p>
        </p:txBody>
      </p:sp>
      <p:pic>
        <p:nvPicPr>
          <p:cNvPr id="5" name="图片 4">
            <a:extLst>
              <a:ext uri="{FF2B5EF4-FFF2-40B4-BE49-F238E27FC236}">
                <a16:creationId xmlns:a16="http://schemas.microsoft.com/office/drawing/2014/main" id="{4DDC7EA6-953B-A7C8-E877-52B6A5FA27E2}"/>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338601" y="4168562"/>
            <a:ext cx="1880281" cy="1880281"/>
          </a:xfrm>
          <a:prstGeom prst="rect">
            <a:avLst/>
          </a:prstGeom>
        </p:spPr>
      </p:pic>
      <p:sp>
        <p:nvSpPr>
          <p:cNvPr id="4" name="内容占位符 2">
            <a:extLst>
              <a:ext uri="{FF2B5EF4-FFF2-40B4-BE49-F238E27FC236}">
                <a16:creationId xmlns:a16="http://schemas.microsoft.com/office/drawing/2014/main" id="{0D0D608B-DF54-ACF1-894D-59590A31618F}"/>
              </a:ext>
            </a:extLst>
          </p:cNvPr>
          <p:cNvSpPr txBox="1">
            <a:spLocks/>
          </p:cNvSpPr>
          <p:nvPr/>
        </p:nvSpPr>
        <p:spPr>
          <a:xfrm>
            <a:off x="521208" y="3260457"/>
            <a:ext cx="11149583" cy="22052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胆经的</a:t>
            </a:r>
            <a:r>
              <a:rPr lang="zh-CN" altLang="en-US" sz="1800" dirty="0">
                <a:latin typeface="+mn-ea"/>
              </a:rPr>
              <a:t>情绪包括，挫折感，痛苦，投射在他人身上，认为不是自己的错，指责，觉得自己像受害者，拒绝承担责任，优柔寡断，羞愧，懊悔，忧郁，恼怒，很难宽恕并放下，不讲理，过度反应，易怒，爱挑信，有攻击性，粗鲁，觉得被</a:t>
            </a:r>
            <a:r>
              <a:rPr lang="zh-CN" altLang="en-US" sz="1800" dirty="0" smtClean="0">
                <a:latin typeface="+mn-ea"/>
              </a:rPr>
              <a:t>虐待</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首先，闭上眼睛，回想过去让你感受到这些情绪的情境</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想起</a:t>
            </a:r>
            <a:r>
              <a:rPr lang="zh-CN" altLang="en-US" sz="1800" dirty="0">
                <a:latin typeface="+mn-ea"/>
              </a:rPr>
              <a:t>那时的感觉，当时的事件，参与的人，当时的场景</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将</a:t>
            </a:r>
            <a:r>
              <a:rPr lang="zh-CN" altLang="en-US" sz="1800" dirty="0">
                <a:latin typeface="+mn-ea"/>
              </a:rPr>
              <a:t>那些情境带回到现在</a:t>
            </a:r>
            <a:r>
              <a:rPr lang="zh-CN" altLang="en-US" sz="1800" dirty="0" smtClean="0">
                <a:latin typeface="+mn-ea"/>
              </a:rPr>
              <a:t>。接着</a:t>
            </a:r>
            <a:r>
              <a:rPr lang="zh-CN" altLang="en-US" sz="1800" dirty="0">
                <a:latin typeface="+mn-ea"/>
              </a:rPr>
              <a:t>，轻敲或</a:t>
            </a:r>
            <a:r>
              <a:rPr lang="zh-CN" altLang="en-US" sz="1800" dirty="0" smtClean="0">
                <a:latin typeface="+mn-ea"/>
              </a:rPr>
              <a:t>按摩穴道</a:t>
            </a:r>
            <a:endParaRPr lang="zh-CN" altLang="en-US" sz="1800" dirty="0">
              <a:latin typeface="+mn-ea"/>
            </a:endParaRPr>
          </a:p>
        </p:txBody>
      </p:sp>
    </p:spTree>
    <p:extLst>
      <p:ext uri="{BB962C8B-B14F-4D97-AF65-F5344CB8AC3E}">
        <p14:creationId xmlns:p14="http://schemas.microsoft.com/office/powerpoint/2010/main" val="3412981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3" y="1576785"/>
            <a:ext cx="11155678" cy="1463141"/>
          </a:xfrm>
        </p:spPr>
        <p:txBody>
          <a:bodyPr/>
          <a:lstStyle/>
          <a:p>
            <a:pPr>
              <a:buFont typeface="Wingdings" panose="05000000000000000000" pitchFamily="2" charset="2"/>
              <a:buChar char="n"/>
            </a:pPr>
            <a:r>
              <a:rPr lang="zh-CN" altLang="en-US" sz="1800" dirty="0" smtClean="0">
                <a:latin typeface="+mn-ea"/>
              </a:rPr>
              <a:t>对应情绪：</a:t>
            </a:r>
            <a:r>
              <a:rPr lang="zh-CN" altLang="en-US" sz="1800" dirty="0">
                <a:latin typeface="+mn-ea"/>
              </a:rPr>
              <a:t>担忧、</a:t>
            </a:r>
            <a:r>
              <a:rPr lang="zh-CN" altLang="en-US" sz="1800" dirty="0" smtClean="0">
                <a:latin typeface="+mn-ea"/>
              </a:rPr>
              <a:t>忧虑</a:t>
            </a:r>
          </a:p>
          <a:p>
            <a:pPr>
              <a:buFont typeface="Wingdings" panose="05000000000000000000" pitchFamily="2" charset="2"/>
              <a:buChar char="n"/>
            </a:pPr>
            <a:r>
              <a:rPr lang="zh-CN" altLang="en-US" sz="1800" dirty="0" smtClean="0">
                <a:latin typeface="+mn-ea"/>
              </a:rPr>
              <a:t>穴位</a:t>
            </a:r>
            <a:r>
              <a:rPr lang="zh-CN" altLang="en-US" sz="1800" dirty="0">
                <a:latin typeface="+mn-ea"/>
              </a:rPr>
              <a:t>位置</a:t>
            </a:r>
            <a:r>
              <a:rPr lang="zh-CN" altLang="en-US" sz="1800" dirty="0" smtClean="0">
                <a:latin typeface="+mn-ea"/>
              </a:rPr>
              <a:t>：</a:t>
            </a:r>
            <a:r>
              <a:rPr lang="zh-CN" altLang="en-US" sz="1800" dirty="0">
                <a:latin typeface="+mn-ea"/>
              </a:rPr>
              <a:t>位于眼睛下方，眼窝和骨头的交会</a:t>
            </a:r>
            <a:r>
              <a:rPr lang="zh-CN" altLang="en-US" sz="1800" dirty="0" smtClean="0">
                <a:latin typeface="+mn-ea"/>
              </a:rPr>
              <a:t>处</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：连接</a:t>
            </a:r>
            <a:r>
              <a:rPr lang="zh-CN" altLang="en-US" sz="1800" dirty="0">
                <a:latin typeface="+mn-ea"/>
              </a:rPr>
              <a:t>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282201" y="5953682"/>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承泣穴和四白穴</a:t>
            </a:r>
          </a:p>
        </p:txBody>
      </p:sp>
      <p:pic>
        <p:nvPicPr>
          <p:cNvPr id="5" name="图片 4" descr="卡通人物&#10;&#10;AI 生成的内容可能不正确。">
            <a:extLst>
              <a:ext uri="{FF2B5EF4-FFF2-40B4-BE49-F238E27FC236}">
                <a16:creationId xmlns:a16="http://schemas.microsoft.com/office/drawing/2014/main" id="{540EECD8-7242-28D5-FB1A-7200A5277089}"/>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150859" y="4691837"/>
            <a:ext cx="1897039" cy="1897039"/>
          </a:xfrm>
          <a:prstGeom prst="rect">
            <a:avLst/>
          </a:prstGeom>
          <a:effectLst>
            <a:softEdge rad="127000"/>
          </a:effectLst>
        </p:spPr>
      </p:pic>
      <p:sp>
        <p:nvSpPr>
          <p:cNvPr id="4" name="内容占位符 2">
            <a:extLst>
              <a:ext uri="{FF2B5EF4-FFF2-40B4-BE49-F238E27FC236}">
                <a16:creationId xmlns:a16="http://schemas.microsoft.com/office/drawing/2014/main" id="{EC480333-50DC-88E1-C987-8CA0EC2A51C8}"/>
              </a:ext>
            </a:extLst>
          </p:cNvPr>
          <p:cNvSpPr txBox="1">
            <a:spLocks/>
          </p:cNvSpPr>
          <p:nvPr/>
        </p:nvSpPr>
        <p:spPr>
          <a:xfrm>
            <a:off x="515112" y="2973246"/>
            <a:ext cx="6012855" cy="288184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胃</a:t>
            </a:r>
            <a:r>
              <a:rPr lang="zh-CN" altLang="en-US" sz="1800" dirty="0">
                <a:latin typeface="+mn-ea"/>
              </a:rPr>
              <a:t>经是一条很特别的经络，这条经络的情绪都和未来的预期有关，担忧未来的事情是否能按自己期望发生。</a:t>
            </a:r>
          </a:p>
          <a:p>
            <a:pPr marL="0" indent="0">
              <a:buFont typeface="Arial" panose="020B0604020202020204" pitchFamily="34" charset="0"/>
              <a:buNone/>
            </a:pPr>
            <a:r>
              <a:rPr lang="zh-CN" altLang="en-US" sz="1800" dirty="0">
                <a:latin typeface="+mn-ea"/>
              </a:rPr>
              <a:t>胃经的能量阻塞会造成的情绪包括：过度担心，抗拒所做的事，厌恶，妄想行为，自私，冷漠，不信任，不断担心别人无法信守承诺，或怀疑别人会反对我，失望，贪婪</a:t>
            </a:r>
            <a:r>
              <a:rPr lang="zh-CN" altLang="en-US" sz="1800" dirty="0" smtClean="0">
                <a:latin typeface="+mn-ea"/>
              </a:rPr>
              <a:t>，很难</a:t>
            </a:r>
            <a:r>
              <a:rPr lang="zh-CN" altLang="en-US" sz="1800" dirty="0">
                <a:latin typeface="+mn-ea"/>
              </a:rPr>
              <a:t>把钱花在别人身上，不满，对匮乏的恐惧，例如别人只要插队</a:t>
            </a:r>
            <a:r>
              <a:rPr lang="zh-CN" altLang="en-US" sz="1800" dirty="0" smtClean="0">
                <a:latin typeface="+mn-ea"/>
              </a:rPr>
              <a:t>，就</a:t>
            </a:r>
            <a:r>
              <a:rPr lang="zh-CN" altLang="en-US" sz="1800" dirty="0">
                <a:latin typeface="+mn-ea"/>
              </a:rPr>
              <a:t>勃然大怒，对未来的恐惧，嫌恶</a:t>
            </a:r>
            <a:r>
              <a:rPr lang="zh-CN" altLang="en-US" sz="1800" dirty="0" smtClean="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EC480333-50DC-88E1-C987-8CA0EC2A51C8}"/>
              </a:ext>
            </a:extLst>
          </p:cNvPr>
          <p:cNvSpPr txBox="1">
            <a:spLocks/>
          </p:cNvSpPr>
          <p:nvPr/>
        </p:nvSpPr>
        <p:spPr>
          <a:xfrm>
            <a:off x="6437134" y="2973633"/>
            <a:ext cx="5233656" cy="153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首先</a:t>
            </a:r>
            <a:r>
              <a:rPr lang="zh-CN" altLang="en-US" sz="1800" dirty="0">
                <a:latin typeface="+mn-ea"/>
              </a:rPr>
              <a:t>，闭上眼睛，回想过去让你感受到这些情绪的情境，想起那时的感觉，当时的事件，参与的人，当时的场景。将那些情境带回到现在</a:t>
            </a:r>
            <a:r>
              <a:rPr lang="zh-CN" altLang="en-US" sz="1800" dirty="0" smtClean="0">
                <a:latin typeface="+mn-ea"/>
              </a:rPr>
              <a:t>。接着</a:t>
            </a:r>
            <a:r>
              <a:rPr lang="zh-CN" altLang="en-US" sz="1800" dirty="0">
                <a:latin typeface="+mn-ea"/>
              </a:rPr>
              <a:t>，轻敲或按摩胃经的穴道「承泣」</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42244189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161776" cy="1493419"/>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：压力</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人中沟下半部分（上嘴唇与鼻底之间的凹陷处</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：平衡</a:t>
            </a:r>
            <a:r>
              <a:rPr lang="zh-CN" altLang="en-US" sz="1800" dirty="0">
                <a:latin typeface="+mn-ea"/>
              </a:rPr>
              <a:t>情绪与身体的连接，缓解强烈的情绪冲击（如恐慌、崩溃感</a:t>
            </a:r>
            <a:r>
              <a:rPr lang="zh-CN" altLang="en-US" sz="1800" dirty="0" smtClean="0">
                <a:latin typeface="+mn-ea"/>
              </a:rPr>
              <a:t>）</a:t>
            </a:r>
            <a:endParaRPr lang="zh-CN" altLang="en-US" sz="1800" dirty="0">
              <a:latin typeface="+mn-ea"/>
            </a:endParaRP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 - </a:t>
            </a:r>
            <a:r>
              <a:rPr lang="zh-CN" altLang="en-US" sz="3200" dirty="0">
                <a:effectLst>
                  <a:outerShdw blurRad="38100" dist="38100" dir="2700000" algn="tl">
                    <a:srgbClr val="000000">
                      <a:alpha val="43137"/>
                    </a:srgbClr>
                  </a:outerShdw>
                </a:effectLst>
                <a:latin typeface="+mn-ea"/>
              </a:rPr>
              <a:t>人中穴（水沟穴）</a:t>
            </a:r>
          </a:p>
        </p:txBody>
      </p:sp>
      <p:pic>
        <p:nvPicPr>
          <p:cNvPr id="5" name="图片 4" descr="卡通人物&#10;&#10;AI 生成的内容可能不正确。">
            <a:extLst>
              <a:ext uri="{FF2B5EF4-FFF2-40B4-BE49-F238E27FC236}">
                <a16:creationId xmlns:a16="http://schemas.microsoft.com/office/drawing/2014/main" id="{C0714B6B-C01A-6398-A28E-19418680B27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61708" y="4309147"/>
            <a:ext cx="2014182" cy="2014182"/>
          </a:xfrm>
          <a:prstGeom prst="rect">
            <a:avLst/>
          </a:prstGeom>
          <a:effectLst>
            <a:softEdge rad="127000"/>
          </a:effectLst>
        </p:spPr>
      </p:pic>
      <p:sp>
        <p:nvSpPr>
          <p:cNvPr id="4" name="内容占位符 2">
            <a:extLst>
              <a:ext uri="{FF2B5EF4-FFF2-40B4-BE49-F238E27FC236}">
                <a16:creationId xmlns:a16="http://schemas.microsoft.com/office/drawing/2014/main" id="{41F5D977-AEBE-D6FE-75F8-C170C9707973}"/>
              </a:ext>
            </a:extLst>
          </p:cNvPr>
          <p:cNvSpPr txBox="1">
            <a:spLocks/>
          </p:cNvSpPr>
          <p:nvPr/>
        </p:nvSpPr>
        <p:spPr>
          <a:xfrm>
            <a:off x="515112" y="3070204"/>
            <a:ext cx="8450072" cy="24959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督</a:t>
            </a:r>
            <a:r>
              <a:rPr lang="zh-CN" altLang="en-US" sz="1800" dirty="0">
                <a:latin typeface="+mn-ea"/>
              </a:rPr>
              <a:t>脉是一条非常强而有力的经络，对慢性疾病和生命力的影响非常</a:t>
            </a:r>
            <a:r>
              <a:rPr lang="zh-CN" altLang="en-US" sz="1800" dirty="0" smtClean="0">
                <a:latin typeface="+mn-ea"/>
              </a:rPr>
              <a:t>重要</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首先，闭上眼睛，回想过去让你觉得有压力的情境。观想在家里感受到压力的情境，社交场合，工作上感受到让你紧张，有压力的情境，想起那时的感觉，当时的事件，参与的人，当时的场景。将那些情境带回到</a:t>
            </a:r>
            <a:r>
              <a:rPr lang="zh-CN" altLang="en-US" sz="1800" dirty="0" smtClean="0">
                <a:latin typeface="+mn-ea"/>
              </a:rPr>
              <a:t>现在</a:t>
            </a:r>
            <a:endParaRPr lang="zh-CN" altLang="en-US" sz="1800" dirty="0">
              <a:latin typeface="+mn-ea"/>
            </a:endParaRPr>
          </a:p>
          <a:p>
            <a:pPr marL="0" indent="0">
              <a:buFont typeface="Arial" panose="020B0604020202020204" pitchFamily="34" charset="0"/>
              <a:buNone/>
            </a:pPr>
            <a:r>
              <a:rPr lang="zh-CN" altLang="en-US" sz="1800" dirty="0">
                <a:latin typeface="+mn-ea"/>
              </a:rPr>
              <a:t>接着，轻敲或按摩督脉的穴道「水沟」，又名「人中</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257811285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21207" y="1595372"/>
            <a:ext cx="4819857" cy="1068153"/>
          </a:xfrm>
        </p:spPr>
        <p:txBody>
          <a:bodyPr/>
          <a:lstStyle/>
          <a:p>
            <a:pPr>
              <a:buFont typeface="Wingdings" panose="05000000000000000000" pitchFamily="2" charset="2"/>
              <a:buChar char="n"/>
            </a:pPr>
            <a:r>
              <a:rPr lang="zh-CN" altLang="en-US" sz="1200" dirty="0">
                <a:latin typeface="+mn-ea"/>
              </a:rPr>
              <a:t>对应情绪</a:t>
            </a:r>
            <a:r>
              <a:rPr lang="zh-CN" altLang="en-US" sz="1200" dirty="0" smtClean="0">
                <a:latin typeface="+mn-ea"/>
              </a:rPr>
              <a:t>：</a:t>
            </a:r>
            <a:r>
              <a:rPr lang="zh-CN" altLang="en-US" sz="1200" dirty="0">
                <a:latin typeface="+mn-ea"/>
              </a:rPr>
              <a:t>被压抑的</a:t>
            </a:r>
            <a:r>
              <a:rPr lang="zh-CN" altLang="en-US" sz="1200" dirty="0" smtClean="0">
                <a:latin typeface="+mn-ea"/>
              </a:rPr>
              <a:t>情绪</a:t>
            </a:r>
            <a:endParaRPr lang="en-US" altLang="zh-CN" sz="1200" dirty="0" smtClean="0">
              <a:latin typeface="+mn-ea"/>
            </a:endParaRPr>
          </a:p>
          <a:p>
            <a:pPr>
              <a:buFont typeface="Wingdings" panose="05000000000000000000" pitchFamily="2" charset="2"/>
              <a:buChar char="n"/>
            </a:pPr>
            <a:r>
              <a:rPr lang="zh-CN" altLang="en-US" sz="1200" dirty="0" smtClean="0">
                <a:latin typeface="+mn-ea"/>
              </a:rPr>
              <a:t>穴位</a:t>
            </a:r>
            <a:r>
              <a:rPr lang="zh-CN" altLang="en-US" sz="1200" dirty="0">
                <a:latin typeface="+mn-ea"/>
              </a:rPr>
              <a:t>位置</a:t>
            </a:r>
            <a:r>
              <a:rPr lang="zh-CN" altLang="en-US" sz="1200" dirty="0" smtClean="0">
                <a:latin typeface="+mn-ea"/>
              </a:rPr>
              <a:t>：</a:t>
            </a:r>
            <a:r>
              <a:rPr lang="zh-CN" altLang="en-US" sz="1200" dirty="0">
                <a:latin typeface="+mn-ea"/>
              </a:rPr>
              <a:t>下嘴唇下方、下巴骨上方的凹陷</a:t>
            </a:r>
            <a:r>
              <a:rPr lang="zh-CN" altLang="en-US" sz="1200" dirty="0" smtClean="0">
                <a:latin typeface="+mn-ea"/>
              </a:rPr>
              <a:t>处</a:t>
            </a:r>
            <a:endParaRPr lang="en-US" altLang="zh-CN" sz="1200" dirty="0" smtClean="0">
              <a:latin typeface="+mn-ea"/>
            </a:endParaRPr>
          </a:p>
          <a:p>
            <a:pPr>
              <a:buFont typeface="Wingdings" panose="05000000000000000000" pitchFamily="2" charset="2"/>
              <a:buChar char="n"/>
            </a:pPr>
            <a:r>
              <a:rPr lang="zh-CN" altLang="en-US" sz="1200" dirty="0" smtClean="0">
                <a:latin typeface="+mn-ea"/>
              </a:rPr>
              <a:t>功效</a:t>
            </a:r>
            <a:r>
              <a:rPr lang="zh-CN" altLang="en-US" sz="1200" dirty="0">
                <a:latin typeface="+mn-ea"/>
              </a:rPr>
              <a:t>作用</a:t>
            </a:r>
            <a:r>
              <a:rPr lang="zh-CN" altLang="en-US" sz="1200" dirty="0" smtClean="0">
                <a:latin typeface="+mn-ea"/>
              </a:rPr>
              <a:t>：稳定</a:t>
            </a:r>
            <a:r>
              <a:rPr lang="zh-CN" altLang="en-US" sz="1200" dirty="0">
                <a:latin typeface="+mn-ea"/>
              </a:rPr>
              <a:t>情绪状态，尤其适合缓解失控感、无助</a:t>
            </a:r>
            <a:r>
              <a:rPr lang="zh-CN" altLang="en-US" sz="1200" dirty="0" smtClean="0">
                <a:latin typeface="+mn-ea"/>
              </a:rPr>
              <a:t>感</a:t>
            </a:r>
            <a:endParaRPr lang="zh-CN" altLang="en-US" sz="1200" dirty="0">
              <a:latin typeface="+mn-ea"/>
            </a:endParaRP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248800" y="5971849"/>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a:t>
            </a:r>
            <a:r>
              <a:rPr lang="zh-CN" altLang="en-US" sz="3200" dirty="0">
                <a:effectLst>
                  <a:outerShdw blurRad="38100" dist="38100" dir="2700000" algn="tl">
                    <a:srgbClr val="000000">
                      <a:alpha val="43137"/>
                    </a:srgbClr>
                  </a:outerShdw>
                </a:effectLst>
                <a:latin typeface="+mn-ea"/>
              </a:rPr>
              <a:t>穴（任脉与足阳明胃经的交会穴）</a:t>
            </a:r>
            <a:endParaRPr lang="zh-CN" altLang="en-US" sz="3200" dirty="0">
              <a:effectLst>
                <a:outerShdw blurRad="38100" dist="38100" dir="2700000" algn="tl">
                  <a:srgbClr val="000000">
                    <a:alpha val="43137"/>
                  </a:srgbClr>
                </a:outerShdw>
              </a:effectLst>
              <a:latin typeface="+mn-ea"/>
            </a:endParaRPr>
          </a:p>
        </p:txBody>
      </p:sp>
      <p:pic>
        <p:nvPicPr>
          <p:cNvPr id="5" name="图片 4" descr="图示&#10;&#10;AI 生成的内容可能不正确。">
            <a:extLst>
              <a:ext uri="{FF2B5EF4-FFF2-40B4-BE49-F238E27FC236}">
                <a16:creationId xmlns:a16="http://schemas.microsoft.com/office/drawing/2014/main" id="{4B4177A4-FAC4-7DA9-F7FB-6A1398FB371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40717" y="3911946"/>
            <a:ext cx="1959591" cy="1959591"/>
          </a:xfrm>
          <a:prstGeom prst="rect">
            <a:avLst/>
          </a:prstGeom>
          <a:effectLst>
            <a:softEdge rad="127000"/>
          </a:effectLst>
        </p:spPr>
      </p:pic>
      <p:sp>
        <p:nvSpPr>
          <p:cNvPr id="4" name="内容占位符 2">
            <a:extLst>
              <a:ext uri="{FF2B5EF4-FFF2-40B4-BE49-F238E27FC236}">
                <a16:creationId xmlns:a16="http://schemas.microsoft.com/office/drawing/2014/main" id="{DD101519-FCF0-835A-7BFC-323465AADC19}"/>
              </a:ext>
            </a:extLst>
          </p:cNvPr>
          <p:cNvSpPr txBox="1">
            <a:spLocks/>
          </p:cNvSpPr>
          <p:nvPr/>
        </p:nvSpPr>
        <p:spPr>
          <a:xfrm>
            <a:off x="521208" y="2791644"/>
            <a:ext cx="8042929" cy="3079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smtClean="0">
                <a:latin typeface="+mn-ea"/>
              </a:rPr>
              <a:t>任</a:t>
            </a:r>
            <a:r>
              <a:rPr lang="zh-CN" altLang="en-US" sz="1200" dirty="0">
                <a:latin typeface="+mn-ea"/>
              </a:rPr>
              <a:t>脉和督脉一样，与内在器官连结。</a:t>
            </a:r>
          </a:p>
          <a:p>
            <a:pPr marL="0" indent="0">
              <a:buFont typeface="Arial" panose="020B0604020202020204" pitchFamily="34" charset="0"/>
              <a:buNone/>
            </a:pPr>
            <a:r>
              <a:rPr lang="zh-CN" altLang="en-US" sz="1200" dirty="0">
                <a:latin typeface="+mn-ea"/>
              </a:rPr>
              <a:t>与生殖荷尔蒙及生殖器官，也就是摄护腺和子宫，有着紧密的连结</a:t>
            </a:r>
            <a:r>
              <a:rPr lang="zh-CN" altLang="en-US" sz="1200" dirty="0" smtClean="0">
                <a:latin typeface="+mn-ea"/>
              </a:rPr>
              <a:t>。</a:t>
            </a:r>
            <a:endParaRPr lang="en-US" altLang="zh-CN" sz="1200" dirty="0" smtClean="0">
              <a:latin typeface="+mn-ea"/>
            </a:endParaRPr>
          </a:p>
          <a:p>
            <a:pPr marL="0" indent="0">
              <a:buFont typeface="Arial" panose="020B0604020202020204" pitchFamily="34" charset="0"/>
              <a:buNone/>
            </a:pPr>
            <a:r>
              <a:rPr lang="zh-CN" altLang="en-US" sz="1200" dirty="0" smtClean="0">
                <a:latin typeface="+mn-ea"/>
              </a:rPr>
              <a:t>这</a:t>
            </a:r>
            <a:r>
              <a:rPr lang="zh-CN" altLang="en-US" sz="1200" dirty="0">
                <a:latin typeface="+mn-ea"/>
              </a:rPr>
              <a:t>是一条强而有力的经络，对急性的压力和环境的反应有重大影响。</a:t>
            </a:r>
          </a:p>
          <a:p>
            <a:pPr marL="0" indent="0">
              <a:buFont typeface="Arial" panose="020B0604020202020204" pitchFamily="34" charset="0"/>
              <a:buNone/>
            </a:pPr>
            <a:r>
              <a:rPr lang="zh-CN" altLang="en-US" sz="1200" dirty="0">
                <a:latin typeface="+mn-ea"/>
              </a:rPr>
              <a:t>我们常常为了好面子，而假装自己没有受到压力，我们学会了压抑自己的情绪和感觉，而且非常擅于此道。</a:t>
            </a:r>
          </a:p>
          <a:p>
            <a:pPr marL="0" indent="0">
              <a:buFont typeface="Arial" panose="020B0604020202020204" pitchFamily="34" charset="0"/>
              <a:buNone/>
            </a:pPr>
            <a:r>
              <a:rPr lang="zh-CN" altLang="en-US" sz="1200" dirty="0">
                <a:latin typeface="+mn-ea"/>
              </a:rPr>
              <a:t>擅长到甚至相信自己没有任何压力。这会导致情绪爆发，变得不可理喻，大题小作，爆发的反应甚至大到会吓坏自己。</a:t>
            </a:r>
          </a:p>
          <a:p>
            <a:pPr marL="0" indent="0">
              <a:buFont typeface="Arial" panose="020B0604020202020204" pitchFamily="34" charset="0"/>
              <a:buNone/>
            </a:pPr>
            <a:r>
              <a:rPr lang="zh-CN" altLang="en-US" sz="1200" dirty="0">
                <a:latin typeface="+mn-ea"/>
              </a:rPr>
              <a:t>压抑情绪发生的比例，比我们想象的要高。</a:t>
            </a:r>
          </a:p>
          <a:p>
            <a:pPr marL="0" indent="0">
              <a:buFont typeface="Arial" panose="020B0604020202020204" pitchFamily="34" charset="0"/>
              <a:buNone/>
            </a:pPr>
            <a:r>
              <a:rPr lang="zh-CN" altLang="en-US" sz="1200" dirty="0">
                <a:latin typeface="+mn-ea"/>
              </a:rPr>
              <a:t>长时间压抑情绪造成的生理反应，可能影响子宫，摄护腺等器官，造成子宫肌瘤，摄护腺肥大等。</a:t>
            </a:r>
          </a:p>
          <a:p>
            <a:pPr marL="0" indent="0">
              <a:buFont typeface="Arial" panose="020B0604020202020204" pitchFamily="34" charset="0"/>
              <a:buNone/>
            </a:pPr>
            <a:r>
              <a:rPr lang="zh-CN" altLang="en-US" sz="1200" dirty="0">
                <a:latin typeface="+mn-ea"/>
              </a:rPr>
              <a:t>所以，学会接纳自己的情绪，给它一个位置，然后处理它。</a:t>
            </a:r>
          </a:p>
          <a:p>
            <a:pPr marL="0" indent="0">
              <a:buFont typeface="Arial" panose="020B0604020202020204" pitchFamily="34" charset="0"/>
              <a:buNone/>
            </a:pPr>
            <a:endParaRPr lang="zh-CN" altLang="en-US" sz="1200" dirty="0">
              <a:latin typeface="+mn-ea"/>
            </a:endParaRPr>
          </a:p>
        </p:txBody>
      </p:sp>
      <p:sp>
        <p:nvSpPr>
          <p:cNvPr id="6" name="内容占位符 2">
            <a:extLst>
              <a:ext uri="{FF2B5EF4-FFF2-40B4-BE49-F238E27FC236}">
                <a16:creationId xmlns:a16="http://schemas.microsoft.com/office/drawing/2014/main" id="{6EFDACA4-F9D6-3BE6-B69D-632EF9080BC8}"/>
              </a:ext>
            </a:extLst>
          </p:cNvPr>
          <p:cNvSpPr txBox="1">
            <a:spLocks/>
          </p:cNvSpPr>
          <p:nvPr/>
        </p:nvSpPr>
        <p:spPr>
          <a:xfrm>
            <a:off x="5952683" y="1595372"/>
            <a:ext cx="5724205" cy="22136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首先，闭上眼睛，回想过去让你觉得难以应付的情境。观想那时的感觉，当时的事件，参与的人，当时的场景。</a:t>
            </a:r>
          </a:p>
          <a:p>
            <a:pPr marL="0" indent="0">
              <a:buFont typeface="Arial" panose="020B0604020202020204" pitchFamily="34" charset="0"/>
              <a:buNone/>
            </a:pPr>
            <a:r>
              <a:rPr lang="zh-CN" altLang="en-US" sz="1200" dirty="0">
                <a:latin typeface="+mn-ea"/>
              </a:rPr>
              <a:t>将那些情境带回到现在</a:t>
            </a:r>
            <a:r>
              <a:rPr lang="zh-CN" altLang="en-US" sz="1200" dirty="0" smtClean="0">
                <a:latin typeface="+mn-ea"/>
              </a:rPr>
              <a:t>。那时</a:t>
            </a:r>
            <a:r>
              <a:rPr lang="zh-CN" altLang="en-US" sz="1200" dirty="0">
                <a:latin typeface="+mn-ea"/>
              </a:rPr>
              <a:t>你觉得脆弱，不想表露自己，让其他人知道。现在就让自己去感受那些情绪，体验自己的情绪，不要和它对抗，去感受它的存在，就像你有时候会忍住泪水。</a:t>
            </a:r>
          </a:p>
          <a:p>
            <a:pPr marL="0" indent="0">
              <a:buFont typeface="Arial" panose="020B0604020202020204" pitchFamily="34" charset="0"/>
              <a:buNone/>
            </a:pPr>
            <a:r>
              <a:rPr lang="zh-CN" altLang="en-US" sz="1200" dirty="0">
                <a:latin typeface="+mn-ea"/>
              </a:rPr>
              <a:t>是的，只要是人，就会有情绪，请允许自己接受这点。</a:t>
            </a:r>
          </a:p>
          <a:p>
            <a:pPr marL="0" indent="0">
              <a:buFont typeface="Arial" panose="020B0604020202020204" pitchFamily="34" charset="0"/>
              <a:buNone/>
            </a:pPr>
            <a:r>
              <a:rPr lang="zh-CN" altLang="en-US" sz="1200" dirty="0">
                <a:latin typeface="+mn-ea"/>
              </a:rPr>
              <a:t>接着，轻敲或按摩任脉的穴道「承浆</a:t>
            </a:r>
            <a:r>
              <a:rPr lang="zh-CN" altLang="en-US" sz="1200" dirty="0" smtClean="0">
                <a:latin typeface="+mn-ea"/>
              </a:rPr>
              <a:t>」</a:t>
            </a:r>
            <a:endParaRPr lang="zh-CN" altLang="en-US" sz="1200" dirty="0">
              <a:latin typeface="+mn-ea"/>
            </a:endParaRPr>
          </a:p>
        </p:txBody>
      </p:sp>
    </p:spTree>
    <p:extLst>
      <p:ext uri="{BB962C8B-B14F-4D97-AF65-F5344CB8AC3E}">
        <p14:creationId xmlns:p14="http://schemas.microsoft.com/office/powerpoint/2010/main" val="90594501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7529431" cy="3989337"/>
          </a:xfrm>
        </p:spPr>
        <p:txBody>
          <a:bodyPr/>
          <a:lstStyle/>
          <a:p>
            <a:pPr marL="0" indent="0">
              <a:buNone/>
            </a:pPr>
            <a:r>
              <a:rPr lang="en-US" altLang="zh-CN" sz="1800" dirty="0">
                <a:latin typeface="+mn-ea"/>
              </a:rPr>
              <a:t>- </a:t>
            </a:r>
            <a:r>
              <a:rPr lang="zh-CN" altLang="en-US" sz="1800" dirty="0">
                <a:latin typeface="+mn-ea"/>
              </a:rPr>
              <a:t>位置</a:t>
            </a:r>
            <a:r>
              <a:rPr lang="zh-CN" altLang="en-US" sz="1800" dirty="0" smtClean="0">
                <a:latin typeface="+mn-ea"/>
              </a:rPr>
              <a:t>：胸部第二肋间隙，前正中线旁开两寸。</a:t>
            </a:r>
            <a:endParaRPr lang="zh-CN" altLang="en-US" sz="1800" dirty="0">
              <a:latin typeface="+mn-ea"/>
            </a:endParaRPr>
          </a:p>
          <a:p>
            <a:pPr marL="0" indent="0">
              <a:buNone/>
            </a:pPr>
            <a:r>
              <a:rPr lang="en-US" altLang="zh-CN" sz="1800" dirty="0">
                <a:latin typeface="+mn-ea"/>
              </a:rPr>
              <a:t>- </a:t>
            </a:r>
            <a:r>
              <a:rPr lang="zh-CN" altLang="en-US" sz="1800" dirty="0">
                <a:latin typeface="+mn-ea"/>
              </a:rPr>
              <a:t>定位：低头时摸到锁骨，向中间靠近胸骨的位置，能感受到明显凹陷。</a:t>
            </a:r>
          </a:p>
          <a:p>
            <a:pPr marL="0" indent="0">
              <a:buNone/>
            </a:pPr>
            <a:r>
              <a:rPr lang="en-US" altLang="zh-CN" sz="1800" dirty="0">
                <a:latin typeface="+mn-ea"/>
              </a:rPr>
              <a:t>- </a:t>
            </a:r>
            <a:r>
              <a:rPr lang="zh-CN" altLang="en-US" sz="1800" dirty="0">
                <a:latin typeface="+mn-ea"/>
              </a:rPr>
              <a:t>作用</a:t>
            </a:r>
            <a:r>
              <a:rPr lang="zh-CN" altLang="en-US" sz="1800" dirty="0" smtClean="0">
                <a:latin typeface="+mn-ea"/>
              </a:rPr>
              <a:t>：疏通肾经，改善心脏供血以安神（不痛快，胸口堵得慌，挺胸就是在拍神藏穴）</a:t>
            </a:r>
            <a:r>
              <a:rPr lang="zh-CN" altLang="en-US" sz="1800" dirty="0">
                <a:latin typeface="+mn-ea"/>
              </a:rPr>
              <a:t>。</a:t>
            </a: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前胸 </a:t>
            </a:r>
            <a:r>
              <a:rPr lang="en-US" altLang="zh-CN" sz="3200" dirty="0" smtClean="0">
                <a:effectLst>
                  <a:outerShdw blurRad="38100" dist="38100" dir="2700000" algn="tl">
                    <a:srgbClr val="000000">
                      <a:alpha val="43137"/>
                    </a:srgbClr>
                  </a:outerShdw>
                </a:effectLst>
                <a:latin typeface="+mn-ea"/>
              </a:rPr>
              <a:t>- </a:t>
            </a:r>
            <a:r>
              <a:rPr lang="zh-CN" altLang="en-US" sz="3200" dirty="0" smtClean="0">
                <a:effectLst>
                  <a:outerShdw blurRad="38100" dist="38100" dir="2700000" algn="tl">
                    <a:srgbClr val="000000">
                      <a:alpha val="43137"/>
                    </a:srgbClr>
                  </a:outerShdw>
                </a:effectLst>
                <a:latin typeface="+mn-ea"/>
              </a:rPr>
              <a:t>神</a:t>
            </a:r>
            <a:r>
              <a:rPr lang="zh-CN" altLang="en-US" sz="3200" dirty="0">
                <a:effectLst>
                  <a:outerShdw blurRad="38100" dist="38100" dir="2700000" algn="tl">
                    <a:srgbClr val="000000">
                      <a:alpha val="43137"/>
                    </a:srgbClr>
                  </a:outerShdw>
                </a:effectLst>
                <a:latin typeface="+mn-ea"/>
              </a:rPr>
              <a:t>藏</a:t>
            </a:r>
            <a:r>
              <a:rPr lang="zh-CN" altLang="en-US" sz="3200" dirty="0" smtClean="0">
                <a:effectLst>
                  <a:outerShdw blurRad="38100" dist="38100" dir="2700000" algn="tl">
                    <a:srgbClr val="000000">
                      <a:alpha val="43137"/>
                    </a:srgbClr>
                  </a:outerShdw>
                </a:effectLst>
                <a:latin typeface="+mn-ea"/>
              </a:rPr>
              <a:t>穴（足少阴肾经）</a:t>
            </a:r>
            <a:endParaRPr lang="zh-CN" altLang="en-US" sz="3200" dirty="0">
              <a:effectLst>
                <a:outerShdw blurRad="38100" dist="38100" dir="2700000" algn="tl">
                  <a:srgbClr val="000000">
                    <a:alpha val="43137"/>
                  </a:srgbClr>
                </a:outerShdw>
              </a:effectLst>
              <a:latin typeface="+mn-ea"/>
            </a:endParaRPr>
          </a:p>
        </p:txBody>
      </p:sp>
      <p:pic>
        <p:nvPicPr>
          <p:cNvPr id="4" name="图片 3"/>
          <p:cNvPicPr>
            <a:picLocks noChangeAspect="1"/>
          </p:cNvPicPr>
          <p:nvPr/>
        </p:nvPicPr>
        <p:blipFill>
          <a:blip r:embed="rId2"/>
          <a:stretch>
            <a:fillRect/>
          </a:stretch>
        </p:blipFill>
        <p:spPr>
          <a:xfrm>
            <a:off x="9538847" y="4307547"/>
            <a:ext cx="2138041" cy="2015782"/>
          </a:xfrm>
          <a:prstGeom prst="rect">
            <a:avLst/>
          </a:prstGeom>
          <a:effectLst>
            <a:softEdge rad="127000"/>
          </a:effectLst>
        </p:spPr>
      </p:pic>
    </p:spTree>
    <p:extLst>
      <p:ext uri="{BB962C8B-B14F-4D97-AF65-F5344CB8AC3E}">
        <p14:creationId xmlns:p14="http://schemas.microsoft.com/office/powerpoint/2010/main" val="25787089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2699505" cy="3989337"/>
          </a:xfrm>
        </p:spPr>
        <p:txBody>
          <a:bodyPr/>
          <a:lstStyle/>
          <a:p>
            <a:pPr marL="0" indent="0">
              <a:buNone/>
            </a:pPr>
            <a:r>
              <a:rPr lang="en-US" altLang="zh-CN" sz="1200" dirty="0">
                <a:latin typeface="+mn-ea"/>
              </a:rPr>
              <a:t>- </a:t>
            </a:r>
            <a:r>
              <a:rPr lang="zh-CN" altLang="en-US" sz="1200" dirty="0">
                <a:latin typeface="+mn-ea"/>
              </a:rPr>
              <a:t>位置：两侧锁骨与胸骨连接处的凹陷处（锁骨内侧端点下方）。</a:t>
            </a:r>
          </a:p>
          <a:p>
            <a:pPr marL="0" indent="0">
              <a:buNone/>
            </a:pPr>
            <a:r>
              <a:rPr lang="en-US" altLang="zh-CN" sz="1200" dirty="0">
                <a:latin typeface="+mn-ea"/>
              </a:rPr>
              <a:t>- </a:t>
            </a:r>
            <a:r>
              <a:rPr lang="zh-CN" altLang="en-US" sz="1200" dirty="0">
                <a:latin typeface="+mn-ea"/>
              </a:rPr>
              <a:t>定位：低头时摸到锁骨，向中间靠近胸骨的位置，能感受到明显凹陷。</a:t>
            </a:r>
          </a:p>
          <a:p>
            <a:pPr marL="0" indent="0">
              <a:buNone/>
            </a:pPr>
            <a:r>
              <a:rPr lang="en-US" altLang="zh-CN" sz="1200" dirty="0">
                <a:latin typeface="+mn-ea"/>
              </a:rPr>
              <a:t>- </a:t>
            </a:r>
            <a:r>
              <a:rPr lang="zh-CN" altLang="en-US" sz="1200" dirty="0">
                <a:latin typeface="+mn-ea"/>
              </a:rPr>
              <a:t>作用：释放深层压力，调节呼吸相关的情绪反应（如紧张导致的呼吸急促）。</a:t>
            </a: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云门穴和中府穴</a:t>
            </a:r>
          </a:p>
        </p:txBody>
      </p:sp>
      <p:pic>
        <p:nvPicPr>
          <p:cNvPr id="5" name="图片 4" descr="图示&#10;&#10;AI 生成的内容可能不正确。">
            <a:extLst>
              <a:ext uri="{FF2B5EF4-FFF2-40B4-BE49-F238E27FC236}">
                <a16:creationId xmlns:a16="http://schemas.microsoft.com/office/drawing/2014/main" id="{8835566B-9169-A39B-CB30-9B078E43AAB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977384" y="4863731"/>
            <a:ext cx="2210937" cy="1473958"/>
          </a:xfrm>
          <a:prstGeom prst="rect">
            <a:avLst/>
          </a:prstGeom>
          <a:effectLst>
            <a:softEdge rad="127000"/>
          </a:effectLst>
        </p:spPr>
      </p:pic>
    </p:spTree>
    <p:extLst>
      <p:ext uri="{BB962C8B-B14F-4D97-AF65-F5344CB8AC3E}">
        <p14:creationId xmlns:p14="http://schemas.microsoft.com/office/powerpoint/2010/main" val="302738305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E96C-C88C-2807-AEFD-AC6B8D8C709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A9B21DC-4D60-74B0-277B-0CAAE430A608}"/>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14" name="内容占位符 2">
            <a:extLst>
              <a:ext uri="{FF2B5EF4-FFF2-40B4-BE49-F238E27FC236}">
                <a16:creationId xmlns:a16="http://schemas.microsoft.com/office/drawing/2014/main" id="{959D526B-B91F-1327-7DC6-A51C5935DB2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latin typeface="+mn-ea"/>
              </a:rPr>
              <a:t>俞府</a:t>
            </a:r>
            <a:r>
              <a:rPr lang="zh-CN" altLang="en-US" sz="3200" dirty="0">
                <a:effectLst>
                  <a:outerShdw blurRad="38100" dist="38100" dir="2700000" algn="tl">
                    <a:srgbClr val="000000">
                      <a:alpha val="43137"/>
                    </a:srgbClr>
                  </a:outerShdw>
                </a:effectLst>
                <a:latin typeface="+mn-ea"/>
              </a:rPr>
              <a:t>穴</a:t>
            </a:r>
          </a:p>
        </p:txBody>
      </p:sp>
      <p:sp>
        <p:nvSpPr>
          <p:cNvPr id="4" name="内容占位符 2">
            <a:extLst>
              <a:ext uri="{FF2B5EF4-FFF2-40B4-BE49-F238E27FC236}">
                <a16:creationId xmlns:a16="http://schemas.microsoft.com/office/drawing/2014/main" id="{54AF1136-699E-DE52-D153-C47D85AAE2FB}"/>
              </a:ext>
            </a:extLst>
          </p:cNvPr>
          <p:cNvSpPr txBox="1">
            <a:spLocks/>
          </p:cNvSpPr>
          <p:nvPr/>
        </p:nvSpPr>
        <p:spPr>
          <a:xfrm>
            <a:off x="515112" y="1434331"/>
            <a:ext cx="546956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情绪要穴</a:t>
            </a:r>
            <a:r>
              <a:rPr lang="en-US" altLang="zh-CN" sz="1200" dirty="0">
                <a:latin typeface="+mn-ea"/>
              </a:rPr>
              <a:t>6</a:t>
            </a:r>
            <a:r>
              <a:rPr lang="zh-CN" altLang="en-US" sz="1200" dirty="0">
                <a:latin typeface="+mn-ea"/>
              </a:rPr>
              <a:t>：肾经之「俞府」－恐惧</a:t>
            </a:r>
          </a:p>
          <a:p>
            <a:pPr marL="0" indent="0">
              <a:buFont typeface="Arial" panose="020B0604020202020204" pitchFamily="34" charset="0"/>
              <a:buNone/>
            </a:pPr>
            <a:r>
              <a:rPr lang="zh-CN" altLang="en-US" sz="1200" dirty="0">
                <a:latin typeface="+mn-ea"/>
              </a:rPr>
              <a:t>与肾经相关的能量与情绪有，不信任，怀疑，觉得自己被利用，心神不宁，害怕，觉得不安全。</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灵魂会招来情绪，让我们知道，自己还有哪些未处理的创伤，还要面对什么样的事情。恐惧，是其中最强烈的情绪。</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恐惧是通往生命进化的一扇门，勇敢的面对恐惧，往前大步迈进。如果不敢面对恐惧，我们就无法真正的活着，而且某些门永远不会为我们而开。</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怀着这样的心情，我们要勇敢的面对，被拒绝，对立，被指责，被批判，等等等等的恐惧。我们要接受，每个人都可能这样子对待我，这是人生的一部分。</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我们每个人都有权力对别人说不，不让别人越雷池一步。</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对死亡的恐惧，是恐惧放下我们所知的一切，恐惧未知，克服死亡的恐惧，是接受人生，只是一趟短暂的旅程。</a:t>
            </a:r>
          </a:p>
        </p:txBody>
      </p:sp>
      <p:sp>
        <p:nvSpPr>
          <p:cNvPr id="6" name="内容占位符 2">
            <a:extLst>
              <a:ext uri="{FF2B5EF4-FFF2-40B4-BE49-F238E27FC236}">
                <a16:creationId xmlns:a16="http://schemas.microsoft.com/office/drawing/2014/main" id="{A5921136-D0C7-D431-AB1B-25CFF1E6836F}"/>
              </a:ext>
            </a:extLst>
          </p:cNvPr>
          <p:cNvSpPr txBox="1">
            <a:spLocks/>
          </p:cNvSpPr>
          <p:nvPr/>
        </p:nvSpPr>
        <p:spPr>
          <a:xfrm>
            <a:off x="6032157" y="1320251"/>
            <a:ext cx="5638635" cy="398933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1200" spc="160">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dirty="0"/>
              <a:t>首先，闭上眼睛，回想过去让你觉得恐惧的情境。尢其是那些对立，拒绝，死亡，等等。</a:t>
            </a:r>
          </a:p>
          <a:p>
            <a:endParaRPr lang="zh-CN" altLang="en-US" dirty="0"/>
          </a:p>
          <a:p>
            <a:r>
              <a:rPr lang="zh-CN" altLang="en-US" dirty="0"/>
              <a:t>观想那时的感觉，当时的事件，参与的人，当时的场景。将那些情境带回到现在。</a:t>
            </a:r>
          </a:p>
          <a:p>
            <a:endParaRPr lang="zh-CN" altLang="en-US" dirty="0"/>
          </a:p>
          <a:p>
            <a:r>
              <a:rPr lang="zh-CN" altLang="en-US" dirty="0"/>
              <a:t>允许自己去感受那些情绪，体验自己的情绪，不要和它对抗，去感受它的存在。</a:t>
            </a:r>
          </a:p>
          <a:p>
            <a:endParaRPr lang="zh-CN" altLang="en-US" dirty="0"/>
          </a:p>
          <a:p>
            <a:r>
              <a:rPr lang="zh-CN" altLang="en-US" dirty="0"/>
              <a:t>接着，轻敲或按摩肾经的穴道「俞府」，位于锁骨下方与肋骨中间的位置。</a:t>
            </a:r>
          </a:p>
        </p:txBody>
      </p:sp>
      <p:pic>
        <p:nvPicPr>
          <p:cNvPr id="5" name="图片 4" descr="画着卡通人物&#10;&#10;AI 生成的内容可能不正确。">
            <a:extLst>
              <a:ext uri="{FF2B5EF4-FFF2-40B4-BE49-F238E27FC236}">
                <a16:creationId xmlns:a16="http://schemas.microsoft.com/office/drawing/2014/main" id="{FA5C0743-2BFC-F4B3-60CC-4595694DB0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7240" y="4395690"/>
            <a:ext cx="4160520" cy="2340864"/>
          </a:xfrm>
          <a:prstGeom prst="rect">
            <a:avLst/>
          </a:prstGeom>
          <a:effectLst>
            <a:softEdge rad="127000"/>
          </a:effectLst>
        </p:spPr>
      </p:pic>
    </p:spTree>
    <p:extLst>
      <p:ext uri="{BB962C8B-B14F-4D97-AF65-F5344CB8AC3E}">
        <p14:creationId xmlns:p14="http://schemas.microsoft.com/office/powerpoint/2010/main" val="205614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500677" cy="3989337"/>
          </a:xfrm>
        </p:spPr>
        <p:txBody>
          <a:bodyPr/>
          <a:lstStyle/>
          <a:p>
            <a:pPr marL="0" indent="0">
              <a:buNone/>
            </a:pPr>
            <a:r>
              <a:rPr lang="zh-CN" altLang="en-US" sz="1400" dirty="0">
                <a:latin typeface="+mn-ea"/>
              </a:rPr>
              <a:t>情绪要穴</a:t>
            </a:r>
            <a:r>
              <a:rPr lang="en-US" altLang="zh-CN" sz="1400" dirty="0">
                <a:latin typeface="+mn-ea"/>
              </a:rPr>
              <a:t>7</a:t>
            </a:r>
            <a:r>
              <a:rPr lang="zh-CN" altLang="en-US" sz="1400" dirty="0">
                <a:latin typeface="+mn-ea"/>
              </a:rPr>
              <a:t>：脾经之「大包」－低自尊</a:t>
            </a:r>
          </a:p>
          <a:p>
            <a:pPr marL="0" indent="0">
              <a:buNone/>
            </a:pPr>
            <a:r>
              <a:rPr lang="zh-CN" altLang="en-US" sz="1400" dirty="0">
                <a:latin typeface="+mn-ea"/>
              </a:rPr>
              <a:t>脾经，对免疫系统非常重要，与内分泌系统息息相关。</a:t>
            </a:r>
          </a:p>
          <a:p>
            <a:pPr marL="0" indent="0">
              <a:buNone/>
            </a:pPr>
            <a:endParaRPr lang="zh-CN" altLang="en-US" sz="1400" dirty="0">
              <a:latin typeface="+mn-ea"/>
            </a:endParaRPr>
          </a:p>
          <a:p>
            <a:pPr marL="0" indent="0">
              <a:buNone/>
            </a:pPr>
            <a:r>
              <a:rPr lang="zh-CN" altLang="en-US" sz="1400" dirty="0">
                <a:latin typeface="+mn-ea"/>
              </a:rPr>
              <a:t>和脾经相连结的情绪有：缺乏自尊，不敢悍卫自己，胆怯，软弱，缺乏魄力，依赖他人，缺乏安全感，觉得没有希望，无法控制自己的人生，忧虑，怀疑并恐惧未来，觉得自己不好，不美，不聪明，充满负面的信念：「我不苗条」，「不坚强」，「不够勇敢」，「我不值得，不该得到这样的报偿」，「我做不到」。</a:t>
            </a:r>
          </a:p>
          <a:p>
            <a:pPr marL="0" indent="0">
              <a:buNone/>
            </a:pPr>
            <a:endParaRPr lang="zh-CN" altLang="en-US" sz="1400" dirty="0">
              <a:latin typeface="+mn-ea"/>
            </a:endParaRPr>
          </a:p>
          <a:p>
            <a:pPr marL="0" indent="0">
              <a:buNone/>
            </a:pPr>
            <a:r>
              <a:rPr lang="zh-CN" altLang="en-US" sz="1400" dirty="0">
                <a:latin typeface="+mn-ea"/>
              </a:rPr>
              <a:t>去观想，你是否有这些情绪。</a:t>
            </a:r>
          </a:p>
          <a:p>
            <a:pPr marL="0" indent="0">
              <a:buNone/>
            </a:pPr>
            <a:r>
              <a:rPr lang="zh-CN" altLang="en-US" sz="1400" dirty="0">
                <a:latin typeface="+mn-ea"/>
              </a:rPr>
              <a:t>静静的，闭上眼睛，放松全身，将注意力集中在这些让你感觉到没有了自尊的情境里。你没有起身悍卫自己的时候，以及，你觉得受到威胁的时候，你觉得无法掌握自己力量的时候，你不敢设定界线的时候。</a:t>
            </a:r>
          </a:p>
          <a:p>
            <a:pPr marL="0" indent="0">
              <a:buNone/>
            </a:pPr>
            <a:r>
              <a:rPr lang="zh-CN" altLang="en-US" sz="1400" dirty="0">
                <a:latin typeface="+mn-ea"/>
              </a:rPr>
              <a:t>接着，轻敲或按摩脾经的穴道「大包」的位置。</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大包</a:t>
            </a:r>
            <a:r>
              <a:rPr lang="zh-CN" altLang="en-US" sz="3200" dirty="0">
                <a:effectLst>
                  <a:outerShdw blurRad="38100" dist="38100" dir="2700000" algn="tl">
                    <a:srgbClr val="000000">
                      <a:alpha val="43137"/>
                    </a:srgbClr>
                  </a:outerShdw>
                </a:effectLst>
                <a:latin typeface="+mn-ea"/>
              </a:rPr>
              <a:t>穴（足太阴脾经）</a:t>
            </a:r>
            <a:endParaRPr lang="zh-CN" altLang="en-US" sz="3200" dirty="0">
              <a:effectLst>
                <a:outerShdw blurRad="38100" dist="38100" dir="2700000" algn="tl">
                  <a:srgbClr val="000000">
                    <a:alpha val="43137"/>
                  </a:srgbClr>
                </a:outerShdw>
              </a:effectLst>
              <a:latin typeface="+mn-ea"/>
            </a:endParaRPr>
          </a:p>
        </p:txBody>
      </p:sp>
      <p:pic>
        <p:nvPicPr>
          <p:cNvPr id="5" name="图片 4" descr="图示&#10;&#10;AI 生成的内容可能不正确。">
            <a:extLst>
              <a:ext uri="{FF2B5EF4-FFF2-40B4-BE49-F238E27FC236}">
                <a16:creationId xmlns:a16="http://schemas.microsoft.com/office/drawing/2014/main" id="{A5D48709-EDE8-455C-2614-443D3274F15E}"/>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9131300" y="4892648"/>
            <a:ext cx="1890776" cy="1890776"/>
          </a:xfrm>
          <a:prstGeom prst="rect">
            <a:avLst/>
          </a:prstGeom>
          <a:effectLst>
            <a:softEdge rad="127000"/>
          </a:effectLst>
        </p:spPr>
      </p:pic>
    </p:spTree>
    <p:extLst>
      <p:ext uri="{BB962C8B-B14F-4D97-AF65-F5344CB8AC3E}">
        <p14:creationId xmlns:p14="http://schemas.microsoft.com/office/powerpoint/2010/main" val="1785199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0EC0-AD7E-347B-0B20-0133F0AC16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9386250-E194-8828-5CD1-8C2BA241352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439AEF9A-001E-96D5-0E4B-B95C0998F77A}"/>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位置：两侧腋下约 </a:t>
            </a:r>
            <a:r>
              <a:rPr lang="en-US" altLang="zh-CN" sz="1800" dirty="0">
                <a:latin typeface="+mn-ea"/>
              </a:rPr>
              <a:t>10 </a:t>
            </a:r>
            <a:r>
              <a:rPr lang="zh-CN" altLang="en-US" sz="1800" dirty="0">
                <a:latin typeface="+mn-ea"/>
              </a:rPr>
              <a:t>厘米处（乳房外侧上方，手臂自然下垂时的腋窝下方）。</a:t>
            </a:r>
          </a:p>
          <a:p>
            <a:pPr marL="0" indent="0">
              <a:buNone/>
            </a:pPr>
            <a:r>
              <a:rPr lang="en-US" altLang="zh-CN" sz="1800" dirty="0">
                <a:latin typeface="+mn-ea"/>
              </a:rPr>
              <a:t>- </a:t>
            </a:r>
            <a:r>
              <a:rPr lang="zh-CN" altLang="en-US" sz="1800" dirty="0">
                <a:latin typeface="+mn-ea"/>
              </a:rPr>
              <a:t>定位：手臂自然下垂，腋窝往下约一掌宽的位置，贴近肋骨外侧。</a:t>
            </a:r>
          </a:p>
          <a:p>
            <a:pPr marL="0" indent="0">
              <a:buNone/>
            </a:pPr>
            <a:r>
              <a:rPr lang="en-US" altLang="zh-CN" sz="1800" dirty="0">
                <a:latin typeface="+mn-ea"/>
              </a:rPr>
              <a:t>- </a:t>
            </a:r>
            <a:r>
              <a:rPr lang="zh-CN" altLang="en-US" sz="1800" dirty="0">
                <a:latin typeface="+mn-ea"/>
              </a:rPr>
              <a:t>作用：疏导积压的负面情绪，尤其适合缓解长期压抑的恐惧、焦虑。</a:t>
            </a:r>
          </a:p>
        </p:txBody>
      </p:sp>
      <p:sp>
        <p:nvSpPr>
          <p:cNvPr id="14" name="内容占位符 2">
            <a:extLst>
              <a:ext uri="{FF2B5EF4-FFF2-40B4-BE49-F238E27FC236}">
                <a16:creationId xmlns:a16="http://schemas.microsoft.com/office/drawing/2014/main" id="{3EF09517-31A4-C319-F60E-BB758E570B1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腋下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a:t>
            </a:r>
            <a:r>
              <a:rPr lang="zh-CN" altLang="en-US" sz="3200" dirty="0">
                <a:effectLst>
                  <a:outerShdw blurRad="38100" dist="38100" dir="2700000" algn="tl">
                    <a:srgbClr val="000000">
                      <a:alpha val="43137"/>
                    </a:srgbClr>
                  </a:outerShdw>
                </a:effectLst>
                <a:latin typeface="+mn-ea"/>
              </a:rPr>
              <a:t>穴（手少阴心</a:t>
            </a:r>
            <a:r>
              <a:rPr lang="zh-CN" altLang="en-US" sz="3200" dirty="0" smtClean="0">
                <a:effectLst>
                  <a:outerShdw blurRad="38100" dist="38100" dir="2700000" algn="tl">
                    <a:srgbClr val="000000">
                      <a:alpha val="43137"/>
                    </a:srgbClr>
                  </a:outerShdw>
                </a:effectLst>
                <a:latin typeface="+mn-ea"/>
              </a:rPr>
              <a:t>经）</a:t>
            </a:r>
            <a:endParaRPr lang="zh-CN" altLang="en-US" sz="3200" dirty="0">
              <a:effectLst>
                <a:outerShdw blurRad="38100" dist="38100" dir="2700000" algn="tl">
                  <a:srgbClr val="000000">
                    <a:alpha val="43137"/>
                  </a:srgbClr>
                </a:outerShdw>
              </a:effectLst>
              <a:latin typeface="+mn-ea"/>
            </a:endParaRPr>
          </a:p>
        </p:txBody>
      </p:sp>
      <p:pic>
        <p:nvPicPr>
          <p:cNvPr id="5" name="图片 4" descr="图示&#10;&#10;AI 生成的内容可能不正确。">
            <a:extLst>
              <a:ext uri="{FF2B5EF4-FFF2-40B4-BE49-F238E27FC236}">
                <a16:creationId xmlns:a16="http://schemas.microsoft.com/office/drawing/2014/main" id="{2BF954DF-3C20-377B-350A-AF1853C80FB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571664" y="4422009"/>
            <a:ext cx="3087237" cy="2058158"/>
          </a:xfrm>
          <a:prstGeom prst="rect">
            <a:avLst/>
          </a:prstGeom>
          <a:effectLst>
            <a:softEdge rad="127000"/>
          </a:effectLst>
        </p:spPr>
      </p:pic>
    </p:spTree>
    <p:extLst>
      <p:ext uri="{BB962C8B-B14F-4D97-AF65-F5344CB8AC3E}">
        <p14:creationId xmlns:p14="http://schemas.microsoft.com/office/powerpoint/2010/main" val="32690941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8</a:t>
            </a:r>
            <a:r>
              <a:rPr lang="zh-CN" altLang="en-US" sz="900" dirty="0"/>
              <a:t>）</a:t>
            </a:r>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位置：头顶正中央（百会穴区域，两耳尖连线与头顶中线的交点）。</a:t>
            </a:r>
          </a:p>
          <a:p>
            <a:pPr marL="0" indent="0">
              <a:buNone/>
            </a:pPr>
            <a:r>
              <a:rPr lang="en-US" altLang="zh-CN" sz="1800" dirty="0">
                <a:latin typeface="+mn-ea"/>
              </a:rPr>
              <a:t>- </a:t>
            </a:r>
            <a:r>
              <a:rPr lang="zh-CN" altLang="en-US" sz="1800" dirty="0">
                <a:latin typeface="+mn-ea"/>
              </a:rPr>
              <a:t>定位：头顶最顶端，用手指按压有轻微酸胀感处。</a:t>
            </a:r>
          </a:p>
          <a:p>
            <a:pPr marL="0" indent="0">
              <a:buNone/>
            </a:pPr>
            <a:r>
              <a:rPr lang="en-US" altLang="zh-CN" sz="1800" dirty="0">
                <a:latin typeface="+mn-ea"/>
              </a:rPr>
              <a:t>- </a:t>
            </a:r>
            <a:r>
              <a:rPr lang="zh-CN" altLang="en-US" sz="1800" dirty="0">
                <a:latin typeface="+mn-ea"/>
              </a:rPr>
              <a:t>作用：平衡全身情绪能量，收尾并稳定敲击后的情绪状态。</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264034" y="4241934"/>
            <a:ext cx="9337166" cy="208139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头顶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a:t>
            </a:r>
            <a:r>
              <a:rPr lang="zh-CN" altLang="en-US" sz="3200" dirty="0" smtClean="0">
                <a:effectLst>
                  <a:outerShdw blurRad="38100" dist="38100" dir="2700000" algn="tl">
                    <a:srgbClr val="000000">
                      <a:alpha val="43137"/>
                    </a:srgbClr>
                  </a:outerShdw>
                </a:effectLst>
                <a:latin typeface="+mn-ea"/>
              </a:rPr>
              <a:t>穴</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督脉与足太阳膀胱经</a:t>
            </a:r>
            <a:r>
              <a:rPr lang="zh-CN" altLang="en-US" sz="3200" dirty="0" smtClean="0">
                <a:effectLst>
                  <a:outerShdw blurRad="38100" dist="38100" dir="2700000" algn="tl">
                    <a:srgbClr val="000000">
                      <a:alpha val="43137"/>
                    </a:srgbClr>
                  </a:outerShdw>
                </a:effectLst>
                <a:latin typeface="+mn-ea"/>
              </a:rPr>
              <a:t>、</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足</a:t>
            </a:r>
            <a:r>
              <a:rPr lang="zh-CN" altLang="en-US" sz="3200" dirty="0">
                <a:effectLst>
                  <a:outerShdw blurRad="38100" dist="38100" dir="2700000" algn="tl">
                    <a:srgbClr val="000000">
                      <a:alpha val="43137"/>
                    </a:srgbClr>
                  </a:outerShdw>
                </a:effectLst>
                <a:latin typeface="+mn-ea"/>
              </a:rPr>
              <a:t>少阳胆经等多条经脉的交会穴）</a:t>
            </a:r>
            <a:endParaRPr lang="zh-CN" altLang="en-US" sz="3200" dirty="0">
              <a:effectLst>
                <a:outerShdw blurRad="38100" dist="38100" dir="2700000" algn="tl">
                  <a:srgbClr val="000000">
                    <a:alpha val="43137"/>
                  </a:srgbClr>
                </a:outerShdw>
              </a:effectLst>
              <a:latin typeface="+mn-ea"/>
            </a:endParaRPr>
          </a:p>
        </p:txBody>
      </p:sp>
      <p:pic>
        <p:nvPicPr>
          <p:cNvPr id="5" name="图片 4" descr="卡通人物&#10;&#10;AI 生成的内容可能不正确。">
            <a:extLst>
              <a:ext uri="{FF2B5EF4-FFF2-40B4-BE49-F238E27FC236}">
                <a16:creationId xmlns:a16="http://schemas.microsoft.com/office/drawing/2014/main" id="{A2772CCE-52F0-53A1-A893-08EA234C026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598960" y="4241934"/>
            <a:ext cx="3357350" cy="2238233"/>
          </a:xfrm>
          <a:prstGeom prst="rect">
            <a:avLst/>
          </a:prstGeom>
          <a:effectLst>
            <a:softEdge rad="127000"/>
          </a:effectLst>
        </p:spPr>
      </p:pic>
    </p:spTree>
    <p:extLst>
      <p:ext uri="{BB962C8B-B14F-4D97-AF65-F5344CB8AC3E}">
        <p14:creationId xmlns:p14="http://schemas.microsoft.com/office/powerpoint/2010/main" val="20816149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3" y="1576785"/>
            <a:ext cx="3458174" cy="3989337"/>
          </a:xfrm>
        </p:spPr>
        <p:txBody>
          <a:bodyPr/>
          <a:lstStyle/>
          <a:p>
            <a:pPr marL="0" indent="0">
              <a:buNone/>
            </a:pPr>
            <a:r>
              <a:rPr lang="en-US" altLang="zh-CN" sz="1800" dirty="0">
                <a:latin typeface="+mn-ea"/>
              </a:rPr>
              <a:t>### </a:t>
            </a:r>
            <a:r>
              <a:rPr lang="zh-CN" altLang="en-US" sz="1800" dirty="0">
                <a:latin typeface="+mn-ea"/>
              </a:rPr>
              <a:t>收尾稳定（</a:t>
            </a:r>
            <a:r>
              <a:rPr lang="en-US" altLang="zh-CN" sz="1800" dirty="0">
                <a:latin typeface="+mn-ea"/>
              </a:rPr>
              <a:t>1 </a:t>
            </a:r>
            <a:r>
              <a:rPr lang="zh-CN" altLang="en-US" sz="1800" dirty="0">
                <a:latin typeface="+mn-ea"/>
              </a:rPr>
              <a:t>分钟）</a:t>
            </a:r>
          </a:p>
          <a:p>
            <a:pPr marL="0" indent="0">
              <a:buNone/>
            </a:pPr>
            <a:endParaRPr lang="zh-CN" altLang="en-US" sz="1800" dirty="0">
              <a:latin typeface="+mn-ea"/>
            </a:endParaRPr>
          </a:p>
          <a:p>
            <a:pPr marL="0" indent="0">
              <a:buNone/>
            </a:pPr>
            <a:r>
              <a:rPr lang="en-US" altLang="zh-CN" sz="1800" dirty="0">
                <a:latin typeface="+mn-ea"/>
              </a:rPr>
              <a:t>- </a:t>
            </a:r>
            <a:r>
              <a:rPr lang="zh-CN" altLang="en-US" sz="1800" dirty="0">
                <a:latin typeface="+mn-ea"/>
              </a:rPr>
              <a:t>持续敲击**头顶穴位**</a:t>
            </a:r>
            <a:r>
              <a:rPr lang="en-US" altLang="zh-CN" sz="1800" dirty="0">
                <a:latin typeface="+mn-ea"/>
              </a:rPr>
              <a:t>10 </a:t>
            </a:r>
            <a:r>
              <a:rPr lang="zh-CN" altLang="en-US" sz="1800" dirty="0">
                <a:latin typeface="+mn-ea"/>
              </a:rPr>
              <a:t>次，同时默念：“我现在感到平静、安全，我的身心都在放松”。</a:t>
            </a:r>
          </a:p>
          <a:p>
            <a:pPr>
              <a:buFontTx/>
              <a:buChar char="-"/>
            </a:pPr>
            <a:r>
              <a:rPr lang="zh-CN" altLang="en-US" sz="1800" dirty="0" smtClean="0">
                <a:latin typeface="+mn-ea"/>
              </a:rPr>
              <a:t>再</a:t>
            </a:r>
            <a:r>
              <a:rPr lang="zh-CN" altLang="en-US" sz="1800" dirty="0">
                <a:latin typeface="+mn-ea"/>
              </a:rPr>
              <a:t>深呼吸 </a:t>
            </a:r>
            <a:r>
              <a:rPr lang="en-US" altLang="zh-CN" sz="1800" dirty="0">
                <a:latin typeface="+mn-ea"/>
              </a:rPr>
              <a:t>3 </a:t>
            </a:r>
            <a:r>
              <a:rPr lang="zh-CN" altLang="en-US" sz="1800" dirty="0">
                <a:latin typeface="+mn-ea"/>
              </a:rPr>
              <a:t>次，感受身体变化（如紧张感是否减轻、呼吸是否平稳），结束操作</a:t>
            </a:r>
            <a:r>
              <a:rPr lang="zh-CN" altLang="en-US" sz="1800" dirty="0" smtClean="0">
                <a:latin typeface="+mn-ea"/>
              </a:rPr>
              <a:t>。</a:t>
            </a:r>
            <a:endParaRPr lang="en-US" altLang="zh-CN" sz="1800" dirty="0" smtClean="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a:t>
            </a: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5206856" y="1304642"/>
            <a:ext cx="6470032"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叩击顺序总结：</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手掌外侧 </a:t>
            </a:r>
            <a:r>
              <a:rPr lang="en-US" altLang="zh-CN" sz="1800" dirty="0" smtClean="0">
                <a:latin typeface="+mn-ea"/>
              </a:rPr>
              <a:t>- </a:t>
            </a:r>
            <a:r>
              <a:rPr lang="zh-CN" altLang="en-US" sz="1800" dirty="0" smtClean="0">
                <a:latin typeface="+mn-ea"/>
              </a:rPr>
              <a:t>后溪穴</a:t>
            </a:r>
          </a:p>
          <a:p>
            <a:pPr marL="0" indent="0">
              <a:buFont typeface="Arial" panose="020B0604020202020204" pitchFamily="34" charset="0"/>
              <a:buNone/>
            </a:pPr>
            <a:r>
              <a:rPr lang="zh-CN" altLang="en-US" sz="1800" dirty="0" smtClean="0">
                <a:latin typeface="+mn-ea"/>
              </a:rPr>
              <a:t>手腕内侧 </a:t>
            </a:r>
            <a:r>
              <a:rPr lang="en-US" altLang="zh-CN" sz="1800" dirty="0" smtClean="0">
                <a:latin typeface="+mn-ea"/>
              </a:rPr>
              <a:t>- </a:t>
            </a:r>
            <a:r>
              <a:rPr lang="zh-CN" altLang="en-US" sz="1800" dirty="0" smtClean="0">
                <a:latin typeface="+mn-ea"/>
              </a:rPr>
              <a:t>内关穴</a:t>
            </a:r>
          </a:p>
          <a:p>
            <a:pPr marL="0" indent="0">
              <a:buFont typeface="Arial" panose="020B0604020202020204" pitchFamily="34" charset="0"/>
              <a:buNone/>
            </a:pPr>
            <a:r>
              <a:rPr lang="zh-CN" altLang="en-US" sz="1800" dirty="0" smtClean="0">
                <a:latin typeface="+mn-ea"/>
              </a:rPr>
              <a:t>眉头 </a:t>
            </a:r>
            <a:r>
              <a:rPr lang="en-US" altLang="zh-CN" sz="1800" dirty="0" smtClean="0">
                <a:latin typeface="+mn-ea"/>
              </a:rPr>
              <a:t>- </a:t>
            </a:r>
            <a:r>
              <a:rPr lang="zh-CN" altLang="en-US" sz="1800" dirty="0" smtClean="0">
                <a:latin typeface="+mn-ea"/>
              </a:rPr>
              <a:t>攒竹穴</a:t>
            </a:r>
          </a:p>
          <a:p>
            <a:pPr marL="0" indent="0">
              <a:buFont typeface="Arial" panose="020B0604020202020204" pitchFamily="34" charset="0"/>
              <a:buNone/>
            </a:pPr>
            <a:r>
              <a:rPr lang="zh-CN" altLang="en-US" sz="1800" dirty="0" smtClean="0">
                <a:latin typeface="+mn-ea"/>
              </a:rPr>
              <a:t>眼外侧 </a:t>
            </a:r>
            <a:r>
              <a:rPr lang="en-US" altLang="zh-CN" sz="1800" dirty="0" smtClean="0">
                <a:latin typeface="+mn-ea"/>
              </a:rPr>
              <a:t>- </a:t>
            </a:r>
            <a:r>
              <a:rPr lang="zh-CN" altLang="en-US" sz="1800" dirty="0" smtClean="0">
                <a:latin typeface="+mn-ea"/>
              </a:rPr>
              <a:t>丝竹空穴	瞳子髎</a:t>
            </a:r>
          </a:p>
          <a:p>
            <a:pPr marL="0" indent="0">
              <a:buFont typeface="Arial" panose="020B0604020202020204" pitchFamily="34" charset="0"/>
              <a:buNone/>
            </a:pPr>
            <a:r>
              <a:rPr lang="zh-CN" altLang="en-US" sz="1800" dirty="0" smtClean="0">
                <a:latin typeface="+mn-ea"/>
              </a:rPr>
              <a:t>眼下 </a:t>
            </a:r>
            <a:r>
              <a:rPr lang="en-US" altLang="zh-CN" sz="1800" dirty="0" smtClean="0">
                <a:latin typeface="+mn-ea"/>
              </a:rPr>
              <a:t>- </a:t>
            </a:r>
            <a:r>
              <a:rPr lang="zh-CN" altLang="en-US" sz="1800" dirty="0" smtClean="0">
                <a:latin typeface="+mn-ea"/>
              </a:rPr>
              <a:t>承泣穴和四白穴</a:t>
            </a:r>
          </a:p>
          <a:p>
            <a:pPr marL="0" indent="0">
              <a:buFont typeface="Arial" panose="020B0604020202020204" pitchFamily="34" charset="0"/>
              <a:buNone/>
            </a:pPr>
            <a:r>
              <a:rPr lang="zh-CN" altLang="en-US" sz="1800" dirty="0" smtClean="0">
                <a:latin typeface="+mn-ea"/>
              </a:rPr>
              <a:t>鼻下 </a:t>
            </a:r>
            <a:r>
              <a:rPr lang="en-US" altLang="zh-CN" sz="1800" dirty="0" smtClean="0">
                <a:latin typeface="+mn-ea"/>
              </a:rPr>
              <a:t>- </a:t>
            </a:r>
            <a:r>
              <a:rPr lang="zh-CN" altLang="en-US" sz="1800" dirty="0" smtClean="0">
                <a:latin typeface="+mn-ea"/>
              </a:rPr>
              <a:t>人中穴</a:t>
            </a:r>
          </a:p>
          <a:p>
            <a:pPr marL="0" indent="0">
              <a:buFont typeface="Arial" panose="020B0604020202020204" pitchFamily="34" charset="0"/>
              <a:buNone/>
            </a:pPr>
            <a:r>
              <a:rPr lang="zh-CN" altLang="en-US" sz="1800" dirty="0" smtClean="0">
                <a:latin typeface="+mn-ea"/>
              </a:rPr>
              <a:t>下巴 </a:t>
            </a:r>
            <a:r>
              <a:rPr lang="en-US" altLang="zh-CN" sz="1800" dirty="0" smtClean="0">
                <a:latin typeface="+mn-ea"/>
              </a:rPr>
              <a:t>- </a:t>
            </a:r>
            <a:r>
              <a:rPr lang="zh-CN" altLang="en-US" sz="1800" dirty="0" smtClean="0">
                <a:latin typeface="+mn-ea"/>
              </a:rPr>
              <a:t>承浆穴</a:t>
            </a:r>
          </a:p>
          <a:p>
            <a:pPr marL="0" indent="0">
              <a:buFont typeface="Arial" panose="020B0604020202020204" pitchFamily="34" charset="0"/>
              <a:buNone/>
            </a:pPr>
            <a:r>
              <a:rPr lang="zh-CN" altLang="en-US" sz="1800" dirty="0" smtClean="0">
                <a:latin typeface="+mn-ea"/>
              </a:rPr>
              <a:t>前胸 </a:t>
            </a:r>
            <a:r>
              <a:rPr lang="en-US" altLang="zh-CN" sz="1800" dirty="0" smtClean="0">
                <a:latin typeface="+mn-ea"/>
              </a:rPr>
              <a:t>- </a:t>
            </a:r>
            <a:r>
              <a:rPr lang="zh-CN" altLang="en-US" sz="1800" dirty="0" smtClean="0">
                <a:latin typeface="+mn-ea"/>
              </a:rPr>
              <a:t>神藏穴</a:t>
            </a:r>
          </a:p>
          <a:p>
            <a:pPr marL="0" indent="0">
              <a:buFont typeface="Arial" panose="020B0604020202020204" pitchFamily="34" charset="0"/>
              <a:buNone/>
            </a:pPr>
            <a:r>
              <a:rPr lang="zh-CN" altLang="en-US" sz="1800" dirty="0" smtClean="0">
                <a:latin typeface="+mn-ea"/>
              </a:rPr>
              <a:t>锁骨 </a:t>
            </a:r>
            <a:r>
              <a:rPr lang="en-US" altLang="zh-CN" sz="1800" dirty="0" smtClean="0">
                <a:latin typeface="+mn-ea"/>
              </a:rPr>
              <a:t>- </a:t>
            </a:r>
            <a:r>
              <a:rPr lang="zh-CN" altLang="en-US" sz="1800" dirty="0" smtClean="0">
                <a:latin typeface="+mn-ea"/>
              </a:rPr>
              <a:t>云门穴和中府穴</a:t>
            </a:r>
          </a:p>
          <a:p>
            <a:pPr marL="0" indent="0">
              <a:buFont typeface="Arial" panose="020B0604020202020204" pitchFamily="34" charset="0"/>
              <a:buNone/>
            </a:pPr>
            <a:r>
              <a:rPr lang="zh-CN" altLang="en-US" sz="1800" dirty="0" smtClean="0">
                <a:latin typeface="+mn-ea"/>
              </a:rPr>
              <a:t>锁骨 </a:t>
            </a:r>
            <a:r>
              <a:rPr lang="en-US" altLang="zh-CN" sz="1800" dirty="0" smtClean="0">
                <a:latin typeface="+mn-ea"/>
              </a:rPr>
              <a:t>- </a:t>
            </a:r>
            <a:r>
              <a:rPr lang="zh-CN" altLang="en-US" sz="1800" dirty="0" smtClean="0">
                <a:latin typeface="+mn-ea"/>
              </a:rPr>
              <a:t>俞府穴</a:t>
            </a:r>
          </a:p>
          <a:p>
            <a:pPr marL="0" indent="0">
              <a:buFont typeface="Arial" panose="020B0604020202020204" pitchFamily="34" charset="0"/>
              <a:buNone/>
            </a:pPr>
            <a:r>
              <a:rPr lang="zh-CN" altLang="en-US" sz="1800" dirty="0" smtClean="0">
                <a:latin typeface="+mn-ea"/>
              </a:rPr>
              <a:t>腋下 </a:t>
            </a:r>
            <a:r>
              <a:rPr lang="en-US" altLang="zh-CN" sz="1800" dirty="0" smtClean="0">
                <a:latin typeface="+mn-ea"/>
              </a:rPr>
              <a:t>- </a:t>
            </a:r>
            <a:r>
              <a:rPr lang="zh-CN" altLang="en-US" sz="1800" dirty="0" smtClean="0">
                <a:latin typeface="+mn-ea"/>
              </a:rPr>
              <a:t>大包穴</a:t>
            </a:r>
          </a:p>
          <a:p>
            <a:pPr marL="0" indent="0">
              <a:buFont typeface="Arial" panose="020B0604020202020204" pitchFamily="34" charset="0"/>
              <a:buNone/>
            </a:pPr>
            <a:r>
              <a:rPr lang="zh-CN" altLang="en-US" sz="1800" dirty="0" smtClean="0">
                <a:latin typeface="+mn-ea"/>
              </a:rPr>
              <a:t>腋下 </a:t>
            </a:r>
            <a:r>
              <a:rPr lang="en-US" altLang="zh-CN" sz="1800" dirty="0" smtClean="0">
                <a:latin typeface="+mn-ea"/>
              </a:rPr>
              <a:t>- </a:t>
            </a:r>
            <a:r>
              <a:rPr lang="zh-CN" altLang="en-US" sz="1800" dirty="0" smtClean="0">
                <a:latin typeface="+mn-ea"/>
              </a:rPr>
              <a:t>极泉穴</a:t>
            </a:r>
          </a:p>
          <a:p>
            <a:pPr marL="0" indent="0">
              <a:buFont typeface="Arial" panose="020B0604020202020204" pitchFamily="34" charset="0"/>
              <a:buNone/>
            </a:pPr>
            <a:r>
              <a:rPr lang="zh-CN" altLang="en-US" sz="1800" dirty="0" smtClean="0">
                <a:latin typeface="+mn-ea"/>
              </a:rPr>
              <a:t>头顶	百会穴</a:t>
            </a:r>
            <a:endParaRPr lang="zh-CN" altLang="en-US" sz="1800" dirty="0">
              <a:latin typeface="+mn-ea"/>
            </a:endParaRPr>
          </a:p>
        </p:txBody>
      </p:sp>
    </p:spTree>
    <p:extLst>
      <p:ext uri="{BB962C8B-B14F-4D97-AF65-F5344CB8AC3E}">
        <p14:creationId xmlns:p14="http://schemas.microsoft.com/office/powerpoint/2010/main" val="17029035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2" y="1576785"/>
            <a:ext cx="4691743" cy="3989337"/>
          </a:xfrm>
        </p:spPr>
        <p:txBody>
          <a:bodyPr/>
          <a:lstStyle/>
          <a:p>
            <a:pPr marL="0" indent="0">
              <a:buNone/>
            </a:pPr>
            <a:r>
              <a:rPr lang="zh-CN" altLang="en-US" sz="1200" dirty="0" smtClean="0">
                <a:latin typeface="+mn-ea"/>
              </a:rPr>
              <a:t>第一步，心理调节目标的确定</a:t>
            </a:r>
            <a:endParaRPr lang="en-US" altLang="zh-CN" sz="1200" dirty="0" smtClean="0">
              <a:latin typeface="+mn-ea"/>
            </a:endParaRPr>
          </a:p>
          <a:p>
            <a:pPr marL="0" indent="0">
              <a:buNone/>
            </a:pPr>
            <a:r>
              <a:rPr lang="zh-CN" altLang="en-US" sz="1200" dirty="0" smtClean="0">
                <a:latin typeface="+mn-ea"/>
              </a:rPr>
              <a:t>首先要确定我们要调节什么样的负面心理，是一个痛苦的回忆，一个心结，还是抑郁症、焦虑、强迫等等。</a:t>
            </a:r>
            <a:endParaRPr lang="en-US" altLang="zh-CN" sz="1200" dirty="0" smtClean="0">
              <a:latin typeface="+mn-ea"/>
            </a:endParaRPr>
          </a:p>
          <a:p>
            <a:pPr marL="0" indent="0">
              <a:buNone/>
            </a:pPr>
            <a:r>
              <a:rPr lang="zh-CN" altLang="en-US" sz="1200" dirty="0" smtClean="0">
                <a:latin typeface="+mn-ea"/>
              </a:rPr>
              <a:t>第二步，负面心理指数的确定</a:t>
            </a:r>
            <a:endParaRPr lang="en-US" altLang="zh-CN" sz="1200" dirty="0" smtClean="0">
              <a:latin typeface="+mn-ea"/>
            </a:endParaRPr>
          </a:p>
          <a:p>
            <a:pPr marL="0" indent="0">
              <a:buNone/>
            </a:pPr>
            <a:r>
              <a:rPr lang="zh-CN" altLang="en-US" sz="1200" dirty="0" smtClean="0">
                <a:latin typeface="+mn-ea"/>
              </a:rPr>
              <a:t>这样可以在调节完成后对心理状态进行比较，看看效果如何。</a:t>
            </a:r>
            <a:endParaRPr lang="en-US" altLang="zh-CN" sz="1200" dirty="0" smtClean="0">
              <a:latin typeface="+mn-ea"/>
            </a:endParaRPr>
          </a:p>
          <a:p>
            <a:pPr marL="0" indent="0">
              <a:buNone/>
            </a:pPr>
            <a:r>
              <a:rPr lang="zh-CN" altLang="en-US" sz="1200" dirty="0" smtClean="0">
                <a:latin typeface="+mn-ea"/>
              </a:rPr>
              <a:t>第三步，组织提示语</a:t>
            </a:r>
            <a:endParaRPr lang="en-US" altLang="zh-CN" sz="1200" dirty="0" smtClean="0">
              <a:latin typeface="+mn-ea"/>
            </a:endParaRPr>
          </a:p>
          <a:p>
            <a:pPr marL="0" indent="0">
              <a:buNone/>
            </a:pPr>
            <a:r>
              <a:rPr lang="zh-CN" altLang="en-US" sz="1200" dirty="0" smtClean="0">
                <a:latin typeface="+mn-ea"/>
              </a:rPr>
              <a:t>第四步，一边弹一边大声说出提示语</a:t>
            </a:r>
            <a:endParaRPr lang="en-US" altLang="zh-CN" sz="1200" dirty="0" smtClean="0">
              <a:latin typeface="+mn-ea"/>
            </a:endParaRPr>
          </a:p>
          <a:p>
            <a:pPr marL="0" indent="0">
              <a:buNone/>
            </a:pPr>
            <a:r>
              <a:rPr lang="zh-CN" altLang="en-US" sz="1200" dirty="0" smtClean="0">
                <a:latin typeface="+mn-ea"/>
              </a:rPr>
              <a:t>第五步，深呼吸两次，吐出浊气</a:t>
            </a:r>
            <a:endParaRPr lang="en-US" altLang="zh-CN" sz="1200" dirty="0" smtClean="0">
              <a:latin typeface="+mn-ea"/>
            </a:endParaRPr>
          </a:p>
          <a:p>
            <a:pPr marL="0" indent="0">
              <a:buNone/>
            </a:pPr>
            <a:r>
              <a:rPr lang="zh-CN" altLang="en-US" sz="1200" dirty="0" smtClean="0">
                <a:latin typeface="+mn-ea"/>
              </a:rPr>
              <a:t>第六步，评估第一次心理调节的效果</a:t>
            </a:r>
            <a:endParaRPr lang="en-US" altLang="zh-CN" sz="1200" dirty="0" smtClean="0">
              <a:latin typeface="+mn-ea"/>
            </a:endParaRPr>
          </a:p>
          <a:p>
            <a:pPr marL="0" indent="0">
              <a:buNone/>
            </a:pPr>
            <a:r>
              <a:rPr lang="zh-CN" altLang="en-US" sz="1200" dirty="0" smtClean="0">
                <a:latin typeface="+mn-ea"/>
              </a:rPr>
              <a:t>第七步，调整提示语，进行第二次心理疏导</a:t>
            </a:r>
            <a:endParaRPr lang="en-US" altLang="zh-CN" sz="1200" dirty="0" smtClean="0">
              <a:latin typeface="+mn-ea"/>
            </a:endParaRPr>
          </a:p>
          <a:p>
            <a:pPr marL="0" indent="0">
              <a:buNone/>
            </a:pPr>
            <a:r>
              <a:rPr lang="zh-CN" altLang="en-US" sz="1200" dirty="0" smtClean="0">
                <a:latin typeface="+mn-ea"/>
              </a:rPr>
              <a:t>第八步，评估第二次心理疏导的效果</a:t>
            </a:r>
            <a:endParaRPr lang="en-US" altLang="zh-CN" sz="1200" dirty="0" smtClean="0">
              <a:latin typeface="+mn-ea"/>
            </a:endParaRPr>
          </a:p>
          <a:p>
            <a:pPr marL="0" indent="0">
              <a:buNone/>
            </a:pPr>
            <a:r>
              <a:rPr lang="zh-CN" altLang="en-US" sz="1200" smtClean="0">
                <a:latin typeface="+mn-ea"/>
              </a:rPr>
              <a:t>第九步</a:t>
            </a:r>
            <a:r>
              <a:rPr lang="zh-CN" altLang="en-US" sz="1200" dirty="0">
                <a:latin typeface="+mn-ea"/>
              </a:rPr>
              <a:t>，调整提示语，</a:t>
            </a:r>
            <a:r>
              <a:rPr lang="zh-CN" altLang="en-US" sz="1200">
                <a:latin typeface="+mn-ea"/>
              </a:rPr>
              <a:t>进行</a:t>
            </a:r>
            <a:r>
              <a:rPr lang="zh-CN" altLang="en-US" sz="1200" smtClean="0">
                <a:latin typeface="+mn-ea"/>
              </a:rPr>
              <a:t>第三次</a:t>
            </a:r>
            <a:r>
              <a:rPr lang="zh-CN" altLang="en-US" sz="1200" dirty="0">
                <a:latin typeface="+mn-ea"/>
              </a:rPr>
              <a:t>心理疏导</a:t>
            </a:r>
            <a:endParaRPr lang="en-US" altLang="zh-CN" sz="1200" dirty="0">
              <a:latin typeface="+mn-ea"/>
            </a:endParaRPr>
          </a:p>
          <a:p>
            <a:pPr marL="0" indent="0">
              <a:buNone/>
            </a:pPr>
            <a:endParaRPr lang="zh-CN" altLang="en-US" sz="1200" dirty="0">
              <a:latin typeface="+mn-ea"/>
            </a:endParaRP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72200" y="5838265"/>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基本操作步骤</a:t>
            </a: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5206856" y="1304642"/>
            <a:ext cx="6470032" cy="53574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smtClean="0">
                <a:latin typeface="+mn-ea"/>
              </a:rPr>
              <a:t>负责心理指数测量方法：我们用</a:t>
            </a:r>
            <a:r>
              <a:rPr lang="en-US" altLang="zh-CN" sz="1200" dirty="0" smtClean="0">
                <a:latin typeface="+mn-ea"/>
              </a:rPr>
              <a:t>0~10</a:t>
            </a:r>
            <a:r>
              <a:rPr lang="zh-CN" altLang="en-US" sz="1200" dirty="0" smtClean="0">
                <a:latin typeface="+mn-ea"/>
              </a:rPr>
              <a:t>来表示负面心理指数。</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10</a:t>
            </a:r>
            <a:r>
              <a:rPr lang="zh-CN" altLang="en-US" sz="1200" dirty="0" smtClean="0">
                <a:latin typeface="+mn-ea"/>
              </a:rPr>
              <a:t>代表对事件的负面心理已经到了不可忍受的地步。</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9</a:t>
            </a:r>
            <a:r>
              <a:rPr lang="zh-CN" altLang="en-US" sz="1200" dirty="0" smtClean="0">
                <a:latin typeface="+mn-ea"/>
              </a:rPr>
              <a:t>负面情绪很高，感觉非常糟糕，情绪马上要失控。</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8</a:t>
            </a:r>
            <a:r>
              <a:rPr lang="zh-CN" altLang="en-US" sz="1200" dirty="0" smtClean="0">
                <a:latin typeface="+mn-ea"/>
              </a:rPr>
              <a:t>，感到糟糕，虽然还可以控制一下情绪，但一不小心会失控。</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7</a:t>
            </a:r>
            <a:r>
              <a:rPr lang="zh-CN" altLang="en-US" sz="1200" dirty="0" smtClean="0">
                <a:latin typeface="+mn-ea"/>
              </a:rPr>
              <a:t>，情绪开始要崩溃，在很糟糕的情绪边缘，但还可以努力控制。</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6</a:t>
            </a:r>
            <a:r>
              <a:rPr lang="zh-CN" altLang="en-US" sz="1200" dirty="0" smtClean="0">
                <a:latin typeface="+mn-ea"/>
              </a:rPr>
              <a:t>，感到挺糟糕，意识到应该想办法去调节不良情绪。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5</a:t>
            </a:r>
            <a:r>
              <a:rPr lang="zh-CN" altLang="en-US" sz="1200" dirty="0" smtClean="0">
                <a:latin typeface="+mn-ea"/>
              </a:rPr>
              <a:t>，有一些心理不舒服，但努力一下是可以控制的</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4</a:t>
            </a:r>
            <a:r>
              <a:rPr lang="zh-CN" altLang="en-US" sz="1200" dirty="0" smtClean="0">
                <a:latin typeface="+mn-ea"/>
              </a:rPr>
              <a:t>，有一些不痛快，无法回避感受，但能控制情绪。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3</a:t>
            </a:r>
            <a:r>
              <a:rPr lang="zh-CN" altLang="en-US" sz="1200" dirty="0" smtClean="0">
                <a:latin typeface="+mn-ea"/>
              </a:rPr>
              <a:t>，有点不舒服，并注意到了这样的感受。</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2</a:t>
            </a:r>
            <a:r>
              <a:rPr lang="zh-CN" altLang="en-US" sz="1200" dirty="0" smtClean="0">
                <a:latin typeface="+mn-ea"/>
              </a:rPr>
              <a:t>，有点不舒服，平时不注意它不会打扰你，有时想到会有点困扰。</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1</a:t>
            </a:r>
            <a:r>
              <a:rPr lang="zh-CN" altLang="en-US" sz="1200" dirty="0" smtClean="0">
                <a:latin typeface="+mn-ea"/>
              </a:rPr>
              <a:t>，基本上还好，如果很仔细想会有一丝不痛快。</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0</a:t>
            </a:r>
            <a:r>
              <a:rPr lang="zh-CN" altLang="en-US" sz="1200" dirty="0" smtClean="0">
                <a:latin typeface="+mn-ea"/>
              </a:rPr>
              <a:t>，内心平静，完全解脱，没有不愉快的感觉。</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5~8</a:t>
            </a:r>
            <a:r>
              <a:rPr lang="zh-CN" altLang="en-US" sz="1200" dirty="0" smtClean="0">
                <a:latin typeface="+mn-ea"/>
              </a:rPr>
              <a:t>可以进行疏导，如果</a:t>
            </a:r>
            <a:r>
              <a:rPr lang="en-US" altLang="zh-CN" sz="1200" dirty="0" smtClean="0">
                <a:latin typeface="+mn-ea"/>
              </a:rPr>
              <a:t>5</a:t>
            </a:r>
            <a:r>
              <a:rPr lang="zh-CN" altLang="en-US" sz="1200" dirty="0" smtClean="0">
                <a:latin typeface="+mn-ea"/>
              </a:rPr>
              <a:t>以下甚至是</a:t>
            </a:r>
            <a:r>
              <a:rPr lang="en-US" altLang="zh-CN" sz="1200" dirty="0" smtClean="0">
                <a:latin typeface="+mn-ea"/>
              </a:rPr>
              <a:t>2~3</a:t>
            </a:r>
            <a:r>
              <a:rPr lang="zh-CN" altLang="en-US" sz="1200" dirty="0" smtClean="0">
                <a:latin typeface="+mn-ea"/>
              </a:rPr>
              <a:t>更低就没有必要疏导了。</a:t>
            </a:r>
            <a:endParaRPr lang="en-US" altLang="zh-CN" sz="1200" dirty="0" smtClean="0">
              <a:latin typeface="+mn-ea"/>
            </a:endParaRPr>
          </a:p>
          <a:p>
            <a:pPr marL="0" indent="0">
              <a:buFont typeface="Arial" panose="020B0604020202020204" pitchFamily="34" charset="0"/>
              <a:buNone/>
            </a:pPr>
            <a:r>
              <a:rPr lang="zh-CN" altLang="en-US" sz="1200" dirty="0" smtClean="0">
                <a:latin typeface="+mn-ea"/>
              </a:rPr>
              <a:t>通过操作可以将指数降低到</a:t>
            </a:r>
            <a:r>
              <a:rPr lang="en-US" altLang="zh-CN" sz="1200" dirty="0" smtClean="0">
                <a:latin typeface="+mn-ea"/>
              </a:rPr>
              <a:t>0</a:t>
            </a:r>
            <a:r>
              <a:rPr lang="zh-CN" altLang="en-US" sz="1200" dirty="0" smtClean="0">
                <a:latin typeface="+mn-ea"/>
              </a:rPr>
              <a:t>。</a:t>
            </a:r>
            <a:endParaRPr lang="zh-CN" altLang="en-US" sz="1200" dirty="0">
              <a:latin typeface="+mn-ea"/>
            </a:endParaRPr>
          </a:p>
        </p:txBody>
      </p:sp>
    </p:spTree>
    <p:extLst>
      <p:ext uri="{BB962C8B-B14F-4D97-AF65-F5344CB8AC3E}">
        <p14:creationId xmlns:p14="http://schemas.microsoft.com/office/powerpoint/2010/main" val="39698975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E3111418-7625-481B-A094-EB6CBFA2FE0E}"/>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623299" y="5377512"/>
            <a:ext cx="3053587" cy="1345614"/>
          </a:xfrm>
          <a:prstGeom prst="rect">
            <a:avLst/>
          </a:prstGeom>
          <a:effectLst>
            <a:softEdge rad="127000"/>
          </a:effectLst>
        </p:spPr>
      </p:pic>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5" y="1576785"/>
            <a:ext cx="3085590" cy="3989337"/>
          </a:xfrm>
        </p:spPr>
        <p:txBody>
          <a:bodyPr/>
          <a:lstStyle/>
          <a:p>
            <a:pPr marL="0" indent="0">
              <a:buNone/>
            </a:pPr>
            <a:r>
              <a:rPr lang="zh-CN" altLang="en-US" sz="1200" dirty="0">
                <a:latin typeface="+mn-ea"/>
              </a:rPr>
              <a:t>    允许 </a:t>
            </a:r>
            <a:r>
              <a:rPr lang="en-US" altLang="zh-CN" sz="1200" dirty="0">
                <a:latin typeface="+mn-ea"/>
              </a:rPr>
              <a:t>1-2 </a:t>
            </a:r>
            <a:r>
              <a:rPr lang="zh-CN" altLang="en-US" sz="1200" dirty="0">
                <a:latin typeface="+mn-ea"/>
              </a:rPr>
              <a:t>厘米的偏差：比如 “眼侧穴”（瞳子髎附近），只要敲击在眼外侧眶骨周围 </a:t>
            </a:r>
            <a:r>
              <a:rPr lang="en-US" altLang="zh-CN" sz="1200" dirty="0">
                <a:latin typeface="+mn-ea"/>
              </a:rPr>
              <a:t>1 </a:t>
            </a:r>
            <a:r>
              <a:rPr lang="zh-CN" altLang="en-US" sz="1200" dirty="0">
                <a:latin typeface="+mn-ea"/>
              </a:rPr>
              <a:t>厘米范围内，就能触发对应的情绪能量疏导，无需严格卡在 “外眼角 </a:t>
            </a:r>
            <a:r>
              <a:rPr lang="en-US" altLang="zh-CN" sz="1200" dirty="0">
                <a:latin typeface="+mn-ea"/>
              </a:rPr>
              <a:t>0.5 </a:t>
            </a:r>
            <a:r>
              <a:rPr lang="zh-CN" altLang="en-US" sz="1200" dirty="0">
                <a:latin typeface="+mn-ea"/>
              </a:rPr>
              <a:t>厘米凹陷处”；再如 “锁骨下方穴”，只要敲击在锁骨与第一肋的交汇处附近（前后偏差不超过 </a:t>
            </a:r>
            <a:r>
              <a:rPr lang="en-US" altLang="zh-CN" sz="1200" dirty="0">
                <a:latin typeface="+mn-ea"/>
              </a:rPr>
              <a:t>2 </a:t>
            </a:r>
            <a:r>
              <a:rPr lang="zh-CN" altLang="en-US" sz="1200" dirty="0">
                <a:latin typeface="+mn-ea"/>
              </a:rPr>
              <a:t>厘米），无论是否精准命中俞府穴，都能起到缓解胸闷的作用。</a:t>
            </a:r>
          </a:p>
          <a:p>
            <a:pPr marL="0" indent="0">
              <a:buNone/>
            </a:pPr>
            <a:r>
              <a:rPr lang="zh-CN" altLang="en-US" sz="1200" dirty="0">
                <a:latin typeface="+mn-ea"/>
              </a:rPr>
              <a:t>    以 “感觉舒适 </a:t>
            </a:r>
            <a:r>
              <a:rPr lang="en-US" altLang="zh-CN" sz="1200" dirty="0">
                <a:latin typeface="+mn-ea"/>
              </a:rPr>
              <a:t>+ </a:t>
            </a:r>
            <a:r>
              <a:rPr lang="zh-CN" altLang="en-US" sz="1200" dirty="0">
                <a:latin typeface="+mn-ea"/>
              </a:rPr>
              <a:t>有酸胀感” 为辅助判断：敲击时若能感受到轻微的酸胀、发麻，或单纯觉得 “这个位置敲击起来情绪更易流动”，即使位置略有偏差，也符合 </a:t>
            </a:r>
            <a:r>
              <a:rPr lang="en-US" altLang="zh-CN" sz="1200" dirty="0">
                <a:latin typeface="+mn-ea"/>
              </a:rPr>
              <a:t>EFT </a:t>
            </a:r>
            <a:r>
              <a:rPr lang="zh-CN" altLang="en-US" sz="1200" dirty="0">
                <a:latin typeface="+mn-ea"/>
              </a:rPr>
              <a:t>的要求；反之，若敲击时感到疼痛、不适（如眼部周围用力过猛），则需调整位置，而非强行对准 “标准点”。</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EFD0C9D0-5183-6B79-8840-7688210A0BF6}"/>
              </a:ext>
            </a:extLst>
          </p:cNvPr>
          <p:cNvSpPr txBox="1">
            <a:spLocks/>
          </p:cNvSpPr>
          <p:nvPr/>
        </p:nvSpPr>
        <p:spPr>
          <a:xfrm>
            <a:off x="3479800" y="1538447"/>
            <a:ext cx="82031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    穴位区域不能错：比如 “眉头穴” 必须在眉头内侧区域（不能敲到额头中间），“腋下穴” 必须在腋窝下方 </a:t>
            </a:r>
            <a:r>
              <a:rPr lang="en-US" altLang="zh-CN" sz="1200" dirty="0">
                <a:latin typeface="+mn-ea"/>
              </a:rPr>
              <a:t>10 </a:t>
            </a:r>
            <a:r>
              <a:rPr lang="zh-CN" altLang="en-US" sz="1200" dirty="0">
                <a:latin typeface="+mn-ea"/>
              </a:rPr>
              <a:t>厘米左右（不能敲到上臂或胸口正中间）</a:t>
            </a:r>
            <a:r>
              <a:rPr lang="en-US" altLang="zh-CN" sz="1200" dirty="0">
                <a:latin typeface="+mn-ea"/>
              </a:rPr>
              <a:t>—— </a:t>
            </a:r>
            <a:r>
              <a:rPr lang="zh-CN" altLang="en-US" sz="1200" dirty="0">
                <a:latin typeface="+mn-ea"/>
              </a:rPr>
              <a:t>核心区域不能偏离，否则无法联动对应的情绪疏导通道。</a:t>
            </a:r>
          </a:p>
          <a:p>
            <a:pPr marL="0" indent="0">
              <a:buFont typeface="Arial" panose="020B0604020202020204" pitchFamily="34" charset="0"/>
              <a:buNone/>
            </a:pPr>
            <a:r>
              <a:rPr lang="zh-CN" altLang="en-US" sz="1200" dirty="0">
                <a:latin typeface="+mn-ea"/>
              </a:rPr>
              <a:t>    敏感部位需轻柔 </a:t>
            </a:r>
            <a:r>
              <a:rPr lang="en-US" altLang="zh-CN" sz="1200" dirty="0">
                <a:latin typeface="+mn-ea"/>
              </a:rPr>
              <a:t>+ </a:t>
            </a:r>
            <a:r>
              <a:rPr lang="zh-CN" altLang="en-US" sz="1200" dirty="0">
                <a:latin typeface="+mn-ea"/>
              </a:rPr>
              <a:t>避开创伤：眼部周围（眼侧、眼下）、人中、头顶等部位，必须用指尖轻柔敲击（避免用力按压），且不能敲眼球、鼻孔、耳道等脆弱组织；若有面部伤口、眼部炎症、锁骨骨折等情况，需避开对应区域，不可强行敲击。</a:t>
            </a:r>
          </a:p>
          <a:p>
            <a:pPr marL="0" indent="0">
              <a:buFont typeface="Arial" panose="020B0604020202020204" pitchFamily="34" charset="0"/>
              <a:buNone/>
            </a:pPr>
            <a:r>
              <a:rPr lang="zh-CN" altLang="en-US" sz="1200" dirty="0">
                <a:latin typeface="+mn-ea"/>
              </a:rPr>
              <a:t>    核心穴位不可随意替换：基础 </a:t>
            </a:r>
            <a:r>
              <a:rPr lang="en-US" altLang="zh-CN" sz="1200" dirty="0">
                <a:latin typeface="+mn-ea"/>
              </a:rPr>
              <a:t>8-9 </a:t>
            </a:r>
            <a:r>
              <a:rPr lang="zh-CN" altLang="en-US" sz="1200" dirty="0">
                <a:latin typeface="+mn-ea"/>
              </a:rPr>
              <a:t>个核心穴位（手刀点、眉头、眼侧、眼下、人中、下巴、锁骨下方、腋下、百会）是经过长期实践验证的 “情绪疏导关键区域”，不可用完全无关的部位替代（比如用脚背、手背替代锁骨下方），否则会失去情绪联动的效果。</a:t>
            </a:r>
          </a:p>
        </p:txBody>
      </p:sp>
      <p:sp>
        <p:nvSpPr>
          <p:cNvPr id="5" name="内容占位符 2">
            <a:extLst>
              <a:ext uri="{FF2B5EF4-FFF2-40B4-BE49-F238E27FC236}">
                <a16:creationId xmlns:a16="http://schemas.microsoft.com/office/drawing/2014/main" id="{559B9C3B-AE28-D19E-D973-96621B570616}"/>
              </a:ext>
            </a:extLst>
          </p:cNvPr>
          <p:cNvSpPr txBox="1">
            <a:spLocks/>
          </p:cNvSpPr>
          <p:nvPr/>
        </p:nvSpPr>
        <p:spPr>
          <a:xfrm>
            <a:off x="3473703" y="3985811"/>
            <a:ext cx="82031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    新手阶段：参考 “标准区域” 找感觉：初期可按 </a:t>
            </a:r>
            <a:r>
              <a:rPr lang="en-US" altLang="zh-CN" sz="1200" dirty="0">
                <a:latin typeface="+mn-ea"/>
              </a:rPr>
              <a:t>EFT </a:t>
            </a:r>
            <a:r>
              <a:rPr lang="zh-CN" altLang="en-US" sz="1200" dirty="0">
                <a:latin typeface="+mn-ea"/>
              </a:rPr>
              <a:t>的标准描述（如 “眉头内侧凹陷处”“锁骨与第一肋交汇处”）定位，先建立 “区域认知”，敲击时感受情绪是否有流动（如胸闷缓解、烦躁感减轻）。</a:t>
            </a:r>
          </a:p>
          <a:p>
            <a:pPr marL="0" indent="0">
              <a:buFont typeface="Arial" panose="020B0604020202020204" pitchFamily="34" charset="0"/>
              <a:buNone/>
            </a:pPr>
            <a:r>
              <a:rPr lang="zh-CN" altLang="en-US" sz="1200" dirty="0">
                <a:latin typeface="+mn-ea"/>
              </a:rPr>
              <a:t>    熟练后：按 “个人感受” 微调：若发现 “稍微偏离标准点” 敲击时情绪释放更明显（比如有人敲 “眼侧” 时，偏上 </a:t>
            </a:r>
            <a:r>
              <a:rPr lang="en-US" altLang="zh-CN" sz="1200" dirty="0">
                <a:latin typeface="+mn-ea"/>
              </a:rPr>
              <a:t>1 </a:t>
            </a:r>
            <a:r>
              <a:rPr lang="zh-CN" altLang="en-US" sz="1200" dirty="0">
                <a:latin typeface="+mn-ea"/>
              </a:rPr>
              <a:t>厘米的位置更易平复紧张），可固定自己的 “舒适位置”，无需强行纠正为 “标准点”。</a:t>
            </a:r>
          </a:p>
          <a:p>
            <a:pPr marL="0" indent="0">
              <a:buFont typeface="Arial" panose="020B0604020202020204" pitchFamily="34" charset="0"/>
              <a:buNone/>
            </a:pPr>
            <a:r>
              <a:rPr lang="zh-CN" altLang="en-US" sz="1200" dirty="0">
                <a:latin typeface="+mn-ea"/>
              </a:rPr>
              <a:t>    避免两个极端：① 不必纠结 “是否绝对精准”，过度追求解剖学定位会忽视情绪感受，反而降低效果；② 不可完全随意敲击（如把 “腋下穴” 敲到大腿上），核心区域偏离会导致情绪能量无法有效疏导，相当于 “无效敲击”。</a:t>
            </a:r>
          </a:p>
          <a:p>
            <a:pPr marL="0" indent="0">
              <a:buFont typeface="Arial" panose="020B0604020202020204" pitchFamily="34" charset="0"/>
              <a:buNone/>
            </a:pPr>
            <a:endParaRPr lang="zh-CN" altLang="en-US" sz="1200" dirty="0">
              <a:latin typeface="+mn-ea"/>
            </a:endParaRPr>
          </a:p>
        </p:txBody>
      </p:sp>
    </p:spTree>
    <p:extLst>
      <p:ext uri="{BB962C8B-B14F-4D97-AF65-F5344CB8AC3E}">
        <p14:creationId xmlns:p14="http://schemas.microsoft.com/office/powerpoint/2010/main" val="40426743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7A49-8050-8463-ACEF-B75E607905D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0232EB0-82FF-AB47-9EE7-730616F33AEA}"/>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A9B792F4-A1CA-8A39-A57C-B0A46D6D7940}"/>
              </a:ext>
            </a:extLst>
          </p:cNvPr>
          <p:cNvSpPr>
            <a:spLocks noGrp="1"/>
          </p:cNvSpPr>
          <p:nvPr>
            <p:ph idx="1"/>
          </p:nvPr>
        </p:nvSpPr>
        <p:spPr>
          <a:xfrm>
            <a:off x="515113" y="1576785"/>
            <a:ext cx="5580888" cy="3989337"/>
          </a:xfrm>
        </p:spPr>
        <p:txBody>
          <a:bodyPr/>
          <a:lstStyle/>
          <a:p>
            <a:pPr marL="0" indent="0">
              <a:buNone/>
            </a:pPr>
            <a:r>
              <a:rPr lang="en-US" altLang="zh-CN" sz="1400" dirty="0">
                <a:latin typeface="+mn-ea"/>
              </a:rPr>
              <a:t>1. </a:t>
            </a:r>
            <a:r>
              <a:rPr lang="zh-CN" altLang="en-US" sz="1400" dirty="0">
                <a:latin typeface="+mn-ea"/>
              </a:rPr>
              <a:t>情绪强度未下降？</a:t>
            </a:r>
          </a:p>
          <a:p>
            <a:pPr marL="0" indent="0">
              <a:buNone/>
            </a:pPr>
            <a:r>
              <a:rPr lang="zh-CN" altLang="en-US" sz="1400" dirty="0">
                <a:latin typeface="+mn-ea"/>
              </a:rPr>
              <a:t>   </a:t>
            </a:r>
            <a:r>
              <a:rPr lang="en-US" altLang="zh-CN" sz="1400" dirty="0">
                <a:latin typeface="+mn-ea"/>
              </a:rPr>
              <a:t>- </a:t>
            </a:r>
            <a:r>
              <a:rPr lang="zh-CN" altLang="en-US" sz="1400" dirty="0">
                <a:latin typeface="+mn-ea"/>
              </a:rPr>
              <a:t>检查是否情绪描述不够具体（如把 “怕水” 细化为 “怕泳池的深水”），重新设定语句。</a:t>
            </a:r>
          </a:p>
          <a:p>
            <a:pPr marL="0" indent="0">
              <a:buNone/>
            </a:pPr>
            <a:r>
              <a:rPr lang="zh-CN" altLang="en-US" sz="1400" dirty="0">
                <a:latin typeface="+mn-ea"/>
              </a:rPr>
              <a:t>   </a:t>
            </a:r>
            <a:r>
              <a:rPr lang="en-US" altLang="zh-CN" sz="1400" dirty="0">
                <a:latin typeface="+mn-ea"/>
              </a:rPr>
              <a:t>- </a:t>
            </a:r>
            <a:r>
              <a:rPr lang="zh-CN" altLang="en-US" sz="1400" dirty="0">
                <a:latin typeface="+mn-ea"/>
              </a:rPr>
              <a:t>增加 “腋下” 和 “锁骨” 穴位的敲击次数（各 </a:t>
            </a:r>
            <a:r>
              <a:rPr lang="en-US" altLang="zh-CN" sz="1400" dirty="0">
                <a:latin typeface="+mn-ea"/>
              </a:rPr>
              <a:t>10 </a:t>
            </a:r>
            <a:r>
              <a:rPr lang="zh-CN" altLang="en-US" sz="1400" dirty="0">
                <a:latin typeface="+mn-ea"/>
              </a:rPr>
              <a:t>次），这两个穴位更易疏导深层情绪。</a:t>
            </a:r>
          </a:p>
          <a:p>
            <a:pPr marL="0" indent="0">
              <a:buNone/>
            </a:pPr>
            <a:r>
              <a:rPr lang="en-US" altLang="zh-CN" sz="1400" dirty="0">
                <a:latin typeface="+mn-ea"/>
              </a:rPr>
              <a:t>2. </a:t>
            </a:r>
            <a:r>
              <a:rPr lang="zh-CN" altLang="en-US" sz="1400" dirty="0">
                <a:latin typeface="+mn-ea"/>
              </a:rPr>
              <a:t>伴随躯体不适（如胃痛、手抖）？</a:t>
            </a:r>
          </a:p>
          <a:p>
            <a:pPr marL="0" indent="0">
              <a:buNone/>
            </a:pPr>
            <a:r>
              <a:rPr lang="zh-CN" altLang="en-US" sz="1400" dirty="0">
                <a:latin typeface="+mn-ea"/>
              </a:rPr>
              <a:t>   </a:t>
            </a:r>
            <a:r>
              <a:rPr lang="en-US" altLang="zh-CN" sz="1400" dirty="0">
                <a:latin typeface="+mn-ea"/>
              </a:rPr>
              <a:t>- </a:t>
            </a:r>
            <a:r>
              <a:rPr lang="zh-CN" altLang="en-US" sz="1400" dirty="0">
                <a:latin typeface="+mn-ea"/>
              </a:rPr>
              <a:t>敲击时重点强化 “眼下”“锁骨” 穴位，提示语可结合躯体感受（如 “这份怕水带来的胃痛”）。</a:t>
            </a:r>
          </a:p>
          <a:p>
            <a:pPr marL="0" indent="0">
              <a:buNone/>
            </a:pPr>
            <a:r>
              <a:rPr lang="en-US" altLang="zh-CN" sz="1400" dirty="0">
                <a:latin typeface="+mn-ea"/>
              </a:rPr>
              <a:t>3. </a:t>
            </a:r>
            <a:r>
              <a:rPr lang="zh-CN" altLang="en-US" sz="1400" dirty="0">
                <a:latin typeface="+mn-ea"/>
              </a:rPr>
              <a:t>多次循环后仍无改善？</a:t>
            </a:r>
          </a:p>
          <a:p>
            <a:pPr marL="0" indent="0">
              <a:buNone/>
            </a:pPr>
            <a:r>
              <a:rPr lang="zh-CN" altLang="en-US" sz="1400" dirty="0">
                <a:latin typeface="+mn-ea"/>
              </a:rPr>
              <a:t>   </a:t>
            </a:r>
            <a:r>
              <a:rPr lang="en-US" altLang="zh-CN" sz="1400" dirty="0">
                <a:latin typeface="+mn-ea"/>
              </a:rPr>
              <a:t>- </a:t>
            </a:r>
            <a:r>
              <a:rPr lang="zh-CN" altLang="en-US" sz="1400" dirty="0">
                <a:latin typeface="+mn-ea"/>
              </a:rPr>
              <a:t>暂停操作，可能是情绪根源未找到（如怕水背后有具体创伤事件），建议结合专业心理疏导后再尝试。</a:t>
            </a:r>
          </a:p>
        </p:txBody>
      </p:sp>
      <p:sp>
        <p:nvSpPr>
          <p:cNvPr id="14" name="内容占位符 2">
            <a:extLst>
              <a:ext uri="{FF2B5EF4-FFF2-40B4-BE49-F238E27FC236}">
                <a16:creationId xmlns:a16="http://schemas.microsoft.com/office/drawing/2014/main" id="{7A16C453-EB6B-74BE-E889-64D01A68A82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FE60A112-7643-F679-6FFF-D6E04C0EF056}"/>
              </a:ext>
            </a:extLst>
          </p:cNvPr>
          <p:cNvSpPr txBox="1">
            <a:spLocks/>
          </p:cNvSpPr>
          <p:nvPr/>
        </p:nvSpPr>
        <p:spPr>
          <a:xfrm>
            <a:off x="6096000" y="1538447"/>
            <a:ext cx="55869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i="1" dirty="0">
                <a:latin typeface="+mn-ea"/>
              </a:rPr>
              <a:t>重要提醒</a:t>
            </a:r>
          </a:p>
          <a:p>
            <a:pPr marL="0" indent="0">
              <a:buFont typeface="Arial" panose="020B0604020202020204" pitchFamily="34" charset="0"/>
              <a:buNone/>
            </a:pPr>
            <a:r>
              <a:rPr lang="en-US" altLang="zh-CN" sz="1400" i="1" dirty="0">
                <a:latin typeface="+mn-ea"/>
              </a:rPr>
              <a:t>- EFT </a:t>
            </a:r>
            <a:r>
              <a:rPr lang="zh-CN" altLang="en-US" sz="1400" i="1" dirty="0">
                <a:latin typeface="+mn-ea"/>
              </a:rPr>
              <a:t>是**情绪缓解辅助工具**，不能替代专业心理治疗，若情绪问题严重（如影响正常生活、有极端想法），请及时寻求心理咨询师或医生帮助。</a:t>
            </a:r>
          </a:p>
          <a:p>
            <a:pPr marL="0" indent="0">
              <a:buFont typeface="Arial" panose="020B0604020202020204" pitchFamily="34" charset="0"/>
              <a:buNone/>
            </a:pPr>
            <a:r>
              <a:rPr lang="en-US" altLang="zh-CN" sz="1400" i="1" dirty="0">
                <a:latin typeface="+mn-ea"/>
              </a:rPr>
              <a:t>- </a:t>
            </a:r>
            <a:r>
              <a:rPr lang="zh-CN" altLang="en-US" sz="1400" i="1" dirty="0">
                <a:latin typeface="+mn-ea"/>
              </a:rPr>
              <a:t>操作时若出现情绪崩溃（如哭泣、强烈不适），可先停止敲击，深呼吸平复后再继续，或分多次短时间操作。</a:t>
            </a:r>
          </a:p>
        </p:txBody>
      </p:sp>
      <p:pic>
        <p:nvPicPr>
          <p:cNvPr id="8" name="图片 7">
            <a:extLst>
              <a:ext uri="{FF2B5EF4-FFF2-40B4-BE49-F238E27FC236}">
                <a16:creationId xmlns:a16="http://schemas.microsoft.com/office/drawing/2014/main" id="{5D24E448-7708-ECF7-BCD3-B5EC4EA507B8}"/>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5972123" y="4209227"/>
            <a:ext cx="5704764" cy="2513899"/>
          </a:xfrm>
          <a:prstGeom prst="rect">
            <a:avLst/>
          </a:prstGeom>
          <a:effectLst>
            <a:softEdge rad="127000"/>
          </a:effectLst>
        </p:spPr>
      </p:pic>
    </p:spTree>
    <p:extLst>
      <p:ext uri="{BB962C8B-B14F-4D97-AF65-F5344CB8AC3E}">
        <p14:creationId xmlns:p14="http://schemas.microsoft.com/office/powerpoint/2010/main" val="3334180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155680" cy="1558301"/>
          </a:xfrm>
        </p:spPr>
        <p:txBody>
          <a:bodyPr/>
          <a:lstStyle/>
          <a:p>
            <a:pPr marL="0" indent="0">
              <a:buNone/>
            </a:pPr>
            <a:r>
              <a:rPr lang="en-US" altLang="zh-CN" sz="1400" dirty="0">
                <a:latin typeface="+mn-ea"/>
              </a:rPr>
              <a:t>1.</a:t>
            </a:r>
            <a:r>
              <a:rPr lang="zh-CN" altLang="en-US" sz="1400" dirty="0">
                <a:latin typeface="+mn-ea"/>
              </a:rPr>
              <a:t>热身阶段迅速活跃身心状态为情绪敲击做好准备。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p:txBody>
      </p:sp>
      <p:sp>
        <p:nvSpPr>
          <p:cNvPr id="14" name="内容占位符 2">
            <a:extLst>
              <a:ext uri="{FF2B5EF4-FFF2-40B4-BE49-F238E27FC236}">
                <a16:creationId xmlns:a16="http://schemas.microsoft.com/office/drawing/2014/main" id="{60C08BF9-B244-DDD6-3562-787B531F682A}"/>
              </a:ext>
            </a:extLst>
          </p:cNvPr>
          <p:cNvSpPr txBox="1">
            <a:spLocks/>
          </p:cNvSpPr>
          <p:nvPr/>
        </p:nvSpPr>
        <p:spPr>
          <a:xfrm>
            <a:off x="264035" y="5566122"/>
            <a:ext cx="564037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心理自助操的作用分析</a:t>
            </a:r>
          </a:p>
        </p:txBody>
      </p:sp>
      <p:sp>
        <p:nvSpPr>
          <p:cNvPr id="4" name="内容占位符 2">
            <a:extLst>
              <a:ext uri="{FF2B5EF4-FFF2-40B4-BE49-F238E27FC236}">
                <a16:creationId xmlns:a16="http://schemas.microsoft.com/office/drawing/2014/main" id="{C2E3D7BC-FFBF-A76E-34DF-1FB8216C0811}"/>
              </a:ext>
            </a:extLst>
          </p:cNvPr>
          <p:cNvSpPr txBox="1">
            <a:spLocks/>
          </p:cNvSpPr>
          <p:nvPr/>
        </p:nvSpPr>
        <p:spPr>
          <a:xfrm>
            <a:off x="521208" y="2969347"/>
            <a:ext cx="5703678" cy="122682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2.</a:t>
            </a:r>
            <a:r>
              <a:rPr lang="zh-CN" altLang="en-US" sz="1400" dirty="0">
                <a:latin typeface="+mn-ea"/>
              </a:rPr>
              <a:t>情绪聚焦找准问题实现心理反转机制的有效解除。聚焦情绪的阶段是释放情绪前的必备动作，主要目的在于为调整情绪解除心理反转机制。心理反转是一些疾病呈现慢性化并且对传统治疗反应不良的原因，由于心理病患大脑功能长期受到物质成瘾的损害，在处理情绪问题时，更容易引起潜意识中自我挫败感与负向思考习惯，通常这个状态是不被觉知的，但常常为其所苦，这也是心理病患情绪调节困难的原因所在，当这样的心理反转机制存在往往会影响到心理病患接受心理咨询的效果，因此，心理反转必须通过聚焦情绪这一环节进行修正，否则</a:t>
            </a:r>
            <a:r>
              <a:rPr lang="en-US" altLang="zh-CN" sz="1400" dirty="0">
                <a:latin typeface="+mn-ea"/>
              </a:rPr>
              <a:t>EFT</a:t>
            </a:r>
            <a:r>
              <a:rPr lang="zh-CN" altLang="en-US" sz="1400" dirty="0">
                <a:latin typeface="+mn-ea"/>
              </a:rPr>
              <a:t>的基本方法将无法继续运作，心理自助操也难以见效。</a:t>
            </a:r>
          </a:p>
        </p:txBody>
      </p:sp>
      <p:sp>
        <p:nvSpPr>
          <p:cNvPr id="5" name="内容占位符 2">
            <a:extLst>
              <a:ext uri="{FF2B5EF4-FFF2-40B4-BE49-F238E27FC236}">
                <a16:creationId xmlns:a16="http://schemas.microsoft.com/office/drawing/2014/main" id="{CC37C43A-CBF6-378A-AFBB-DAB316FD66B6}"/>
              </a:ext>
            </a:extLst>
          </p:cNvPr>
          <p:cNvSpPr txBox="1">
            <a:spLocks/>
          </p:cNvSpPr>
          <p:nvPr/>
        </p:nvSpPr>
        <p:spPr>
          <a:xfrm>
            <a:off x="6230982" y="2899819"/>
            <a:ext cx="5316583" cy="22612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3.</a:t>
            </a:r>
            <a:r>
              <a:rPr lang="zh-CN" altLang="en-US" sz="1400" dirty="0">
                <a:latin typeface="+mn-ea"/>
              </a:rPr>
              <a:t>用中立化的引导语有效帮助修改心理反转机制。因心理病患的心理反转机制有可能引起负性思考，所以必须使用中立化的心理支持引导语去修改心理反转机制，一边敲击对应穴位堵点，一边说出心理支持引导语，这一过程能够有效地帮助心理病患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Tree>
    <p:extLst>
      <p:ext uri="{BB962C8B-B14F-4D97-AF65-F5344CB8AC3E}">
        <p14:creationId xmlns:p14="http://schemas.microsoft.com/office/powerpoint/2010/main" val="4187150082"/>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1485</TotalTime>
  <Words>6461</Words>
  <Application>Microsoft Office PowerPoint</Application>
  <PresentationFormat>宽屏</PresentationFormat>
  <Paragraphs>289</Paragraphs>
  <Slides>31</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31</vt:i4>
      </vt:variant>
    </vt:vector>
  </HeadingPairs>
  <TitlesOfParts>
    <vt:vector size="37" baseType="lpstr">
      <vt:lpstr>Bierstadt</vt:lpstr>
      <vt:lpstr>等线</vt:lpstr>
      <vt:lpstr>Microsoft YaHei</vt:lpstr>
      <vt:lpstr>Arial</vt:lpstr>
      <vt:lpstr>Wingdings</vt:lpstr>
      <vt:lpstr>GestaltVTI</vt:lpstr>
      <vt:lpstr>音乐情绪释放（EFT）心理训练</vt:lpstr>
      <vt:lpstr>情绪释放技术EFT的形成背景</vt:lpstr>
      <vt:lpstr>情绪释放技术EFT的治疗原理</vt:lpstr>
      <vt:lpstr>情绪释放技术EFT的主要特点</vt:lpstr>
      <vt:lpstr>情绪释放技术EFT技术主要应用范围举例</vt:lpstr>
      <vt:lpstr>情绪释放技术EFT的科学依据</vt:lpstr>
      <vt:lpstr>情绪释放技术EFT易学易用</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核心敲击穴位（9）</vt:lpstr>
      <vt:lpstr>EFT 核心敲击穴位（9）</vt:lpstr>
      <vt:lpstr>EFT 核心敲击穴位（1）</vt:lpstr>
      <vt:lpstr>EFT 核心敲击穴位（2）</vt:lpstr>
      <vt:lpstr>EFT 核心敲击穴位（3）</vt:lpstr>
      <vt:lpstr>EFT 核心敲击穴位（4）</vt:lpstr>
      <vt:lpstr>EFT 核心敲击穴位（5）</vt:lpstr>
      <vt:lpstr>EFT 核心敲击穴位（6）</vt:lpstr>
      <vt:lpstr>EFT 核心敲击穴位（6）</vt:lpstr>
      <vt:lpstr>EFT 核心敲击穴位（6）</vt:lpstr>
      <vt:lpstr>EFT 核心敲击穴位（7）</vt:lpstr>
      <vt:lpstr>EFT 核心敲击穴位（7）</vt:lpstr>
      <vt:lpstr>EFT 核心敲击穴位（8）</vt:lpstr>
      <vt:lpstr>EFT心理自助操的流程设计（4）</vt:lpstr>
      <vt:lpstr>EFT心理自助操的流程设计（4）</vt:lpstr>
      <vt:lpstr>EFT心理自助操的流程设计（5）</vt:lpstr>
      <vt:lpstr>EFT心理自助操的流程设计（5）</vt:lpstr>
      <vt:lpstr>EFT心理自助操的作用分析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483</cp:revision>
  <dcterms:created xsi:type="dcterms:W3CDTF">2025-09-26T07:10:55Z</dcterms:created>
  <dcterms:modified xsi:type="dcterms:W3CDTF">2025-12-26T09:23:34Z</dcterms:modified>
</cp:coreProperties>
</file>