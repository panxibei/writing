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6" r:id="rId1"/>
  </p:sldMasterIdLst>
  <p:notesMasterIdLst>
    <p:notesMasterId r:id="rId27"/>
  </p:notesMasterIdLst>
  <p:sldIdLst>
    <p:sldId id="256" r:id="rId2"/>
    <p:sldId id="257" r:id="rId3"/>
    <p:sldId id="298" r:id="rId4"/>
    <p:sldId id="297" r:id="rId5"/>
    <p:sldId id="261" r:id="rId6"/>
    <p:sldId id="264" r:id="rId7"/>
    <p:sldId id="262" r:id="rId8"/>
    <p:sldId id="299" r:id="rId9"/>
    <p:sldId id="293" r:id="rId10"/>
    <p:sldId id="294" r:id="rId11"/>
    <p:sldId id="295" r:id="rId12"/>
    <p:sldId id="296" r:id="rId13"/>
    <p:sldId id="300" r:id="rId14"/>
    <p:sldId id="301" r:id="rId15"/>
    <p:sldId id="302" r:id="rId16"/>
    <p:sldId id="303" r:id="rId17"/>
    <p:sldId id="304" r:id="rId18"/>
    <p:sldId id="305" r:id="rId19"/>
    <p:sldId id="306" r:id="rId20"/>
    <p:sldId id="307" r:id="rId21"/>
    <p:sldId id="308" r:id="rId22"/>
    <p:sldId id="309" r:id="rId23"/>
    <p:sldId id="310" r:id="rId24"/>
    <p:sldId id="311" r:id="rId25"/>
    <p:sldId id="312"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94660"/>
  </p:normalViewPr>
  <p:slideViewPr>
    <p:cSldViewPr snapToGrid="0">
      <p:cViewPr varScale="1">
        <p:scale>
          <a:sx n="67" d="100"/>
          <a:sy n="67" d="100"/>
        </p:scale>
        <p:origin x="588" y="7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613034E8-7B60-43FC-987C-A54D5D393751}" type="datetimeFigureOut">
              <a:rPr lang="zh-CN" altLang="en-US" smtClean="0"/>
              <a:t>2025/12/2</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DFCB7D-42D9-486B-87B3-4BC90113BD50}" type="slidenum">
              <a:rPr lang="zh-CN" altLang="en-US" smtClean="0"/>
              <a:t>‹#›</a:t>
            </a:fld>
            <a:endParaRPr lang="zh-CN" altLang="en-US"/>
          </a:p>
        </p:txBody>
      </p:sp>
    </p:spTree>
    <p:extLst>
      <p:ext uri="{BB962C8B-B14F-4D97-AF65-F5344CB8AC3E}">
        <p14:creationId xmlns:p14="http://schemas.microsoft.com/office/powerpoint/2010/main" val="34033872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2BDFCB7D-42D9-486B-87B3-4BC90113BD50}" type="slidenum">
              <a:rPr lang="zh-CN" altLang="en-US" smtClean="0"/>
              <a:t>5</a:t>
            </a:fld>
            <a:endParaRPr lang="zh-CN" altLang="en-US"/>
          </a:p>
        </p:txBody>
      </p:sp>
    </p:spTree>
    <p:extLst>
      <p:ext uri="{BB962C8B-B14F-4D97-AF65-F5344CB8AC3E}">
        <p14:creationId xmlns:p14="http://schemas.microsoft.com/office/powerpoint/2010/main" val="21052660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Freeform: Shape 6">
            <a:extLst>
              <a:ext uri="{FF2B5EF4-FFF2-40B4-BE49-F238E27FC236}">
                <a16:creationId xmlns:a16="http://schemas.microsoft.com/office/drawing/2014/main" id="{EA67E988-5919-57BB-C7DE-D3EAD38A3045}"/>
              </a:ext>
              <a:ext uri="{C183D7F6-B498-43B3-948B-1728B52AA6E4}">
                <adec:decorative xmlns:adec="http://schemas.microsoft.com/office/drawing/2017/decorative" val="1"/>
              </a:ext>
            </a:extLst>
          </p:cNvPr>
          <p:cNvSpPr/>
          <p:nvPr/>
        </p:nvSpPr>
        <p:spPr>
          <a:xfrm>
            <a:off x="517870" y="6209925"/>
            <a:ext cx="11155680" cy="45719"/>
          </a:xfrm>
          <a:custGeom>
            <a:avLst/>
            <a:gdLst>
              <a:gd name="connsiteX0" fmla="*/ 0 w 8715708"/>
              <a:gd name="connsiteY0" fmla="*/ 0 h 45719"/>
              <a:gd name="connsiteX1" fmla="*/ 3694525 w 8715708"/>
              <a:gd name="connsiteY1" fmla="*/ 0 h 45719"/>
              <a:gd name="connsiteX2" fmla="*/ 5021183 w 8715708"/>
              <a:gd name="connsiteY2" fmla="*/ 0 h 45719"/>
              <a:gd name="connsiteX3" fmla="*/ 8715708 w 8715708"/>
              <a:gd name="connsiteY3" fmla="*/ 0 h 45719"/>
              <a:gd name="connsiteX4" fmla="*/ 8715708 w 8715708"/>
              <a:gd name="connsiteY4" fmla="*/ 45719 h 45719"/>
              <a:gd name="connsiteX5" fmla="*/ 5021183 w 8715708"/>
              <a:gd name="connsiteY5" fmla="*/ 45719 h 45719"/>
              <a:gd name="connsiteX6" fmla="*/ 3694525 w 8715708"/>
              <a:gd name="connsiteY6" fmla="*/ 45719 h 45719"/>
              <a:gd name="connsiteX7" fmla="*/ 0 w 8715708"/>
              <a:gd name="connsiteY7" fmla="*/ 45719 h 4571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715708" h="45719">
                <a:moveTo>
                  <a:pt x="0" y="0"/>
                </a:moveTo>
                <a:lnTo>
                  <a:pt x="3694525" y="0"/>
                </a:lnTo>
                <a:lnTo>
                  <a:pt x="5021183" y="0"/>
                </a:lnTo>
                <a:lnTo>
                  <a:pt x="8715708" y="0"/>
                </a:lnTo>
                <a:lnTo>
                  <a:pt x="8715708" y="45719"/>
                </a:lnTo>
                <a:lnTo>
                  <a:pt x="5021183" y="45719"/>
                </a:lnTo>
                <a:lnTo>
                  <a:pt x="3694525" y="45719"/>
                </a:lnTo>
                <a:lnTo>
                  <a:pt x="0" y="4571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5B2327B2-BA4B-2C04-0751-5CB63D4AA425}"/>
              </a:ext>
            </a:extLst>
          </p:cNvPr>
          <p:cNvSpPr>
            <a:spLocks noGrp="1"/>
          </p:cNvSpPr>
          <p:nvPr>
            <p:ph type="ctrTitle"/>
          </p:nvPr>
        </p:nvSpPr>
        <p:spPr>
          <a:xfrm>
            <a:off x="521208" y="978408"/>
            <a:ext cx="11155680" cy="3429000"/>
          </a:xfrm>
        </p:spPr>
        <p:txBody>
          <a:bodyPr anchor="b"/>
          <a:lstStyle>
            <a:lvl1pPr algn="l">
              <a:defRPr sz="7200"/>
            </a:lvl1pPr>
          </a:lstStyle>
          <a:p>
            <a:r>
              <a:rPr lang="en-US" dirty="0"/>
              <a:t>Click to edit Master title style</a:t>
            </a:r>
          </a:p>
        </p:txBody>
      </p:sp>
      <p:sp>
        <p:nvSpPr>
          <p:cNvPr id="3" name="Subtitle 2">
            <a:extLst>
              <a:ext uri="{FF2B5EF4-FFF2-40B4-BE49-F238E27FC236}">
                <a16:creationId xmlns:a16="http://schemas.microsoft.com/office/drawing/2014/main" id="{E7201176-DC7A-4C3D-3D8F-352526DA7B5D}"/>
              </a:ext>
            </a:extLst>
          </p:cNvPr>
          <p:cNvSpPr>
            <a:spLocks noGrp="1"/>
          </p:cNvSpPr>
          <p:nvPr>
            <p:ph type="subTitle" idx="1"/>
          </p:nvPr>
        </p:nvSpPr>
        <p:spPr>
          <a:xfrm>
            <a:off x="521208" y="4480560"/>
            <a:ext cx="7104888" cy="1399032"/>
          </a:xfrm>
        </p:spPr>
        <p:txBody>
          <a:bodyPr anchor="b">
            <a:normAutofit/>
          </a:bodyPr>
          <a:lstStyle>
            <a:lvl1pPr marL="0" indent="0" algn="l">
              <a:buNone/>
              <a:defRPr sz="2200" i="1"/>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7DC221-9A2E-7459-102F-C3CFB27CC389}"/>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A5020671-6F7D-3A03-EEC1-661A87F96F4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453D3A-E0F9-8386-2A6C-96671FBB15A5}"/>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6372802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26D03-149A-DAB3-4B2A-E9B74F2E2514}"/>
              </a:ext>
            </a:extLst>
          </p:cNvPr>
          <p:cNvSpPr>
            <a:spLocks noGrp="1"/>
          </p:cNvSpPr>
          <p:nvPr>
            <p:ph type="title"/>
          </p:nvPr>
        </p:nvSpPr>
        <p:spPr>
          <a:xfrm>
            <a:off x="521208" y="762753"/>
            <a:ext cx="11155680" cy="936652"/>
          </a:xfrm>
        </p:spPr>
        <p:txBody>
          <a:bodyPr/>
          <a:lstStyle>
            <a:lvl1pPr>
              <a:defRPr sz="4800"/>
            </a:lvl1pPr>
          </a:lstStyle>
          <a:p>
            <a:r>
              <a:rPr lang="en-US"/>
              <a:t>Click to edit Master title style</a:t>
            </a:r>
          </a:p>
        </p:txBody>
      </p:sp>
      <p:sp>
        <p:nvSpPr>
          <p:cNvPr id="3" name="Content Placeholder 2">
            <a:extLst>
              <a:ext uri="{FF2B5EF4-FFF2-40B4-BE49-F238E27FC236}">
                <a16:creationId xmlns:a16="http://schemas.microsoft.com/office/drawing/2014/main" id="{23C1E73D-41A7-9934-0990-9208B952329C}"/>
              </a:ext>
            </a:extLst>
          </p:cNvPr>
          <p:cNvSpPr>
            <a:spLocks noGrp="1"/>
          </p:cNvSpPr>
          <p:nvPr>
            <p:ph idx="1"/>
          </p:nvPr>
        </p:nvSpPr>
        <p:spPr>
          <a:xfrm>
            <a:off x="521208" y="1828800"/>
            <a:ext cx="11155680" cy="4517136"/>
          </a:xfrm>
        </p:spPr>
        <p:txBody>
          <a:bodyPr/>
          <a:lstStyle>
            <a:lvl1pPr>
              <a:defRPr sz="1600"/>
            </a:lvl1pPr>
            <a:lvl2pPr>
              <a:defRPr sz="1600"/>
            </a:lvl2pPr>
            <a:lvl3pPr>
              <a:defRPr sz="1600"/>
            </a:lvl3pPr>
            <a:lvl4pPr>
              <a:defRPr sz="1600"/>
            </a:lvl4pPr>
            <a:lvl5pP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BB2A3F-E719-673C-5D56-F663712D0E7F}"/>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04AE594A-52F5-D85E-343C-ADFEE3C72E0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7D5C9C-B2E2-FC26-E459-9E880EF975B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5505536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29D51F-B2D5-2804-4F7C-C99850FBD05B}"/>
              </a:ext>
            </a:extLst>
          </p:cNvPr>
          <p:cNvSpPr>
            <a:spLocks noGrp="1"/>
          </p:cNvSpPr>
          <p:nvPr>
            <p:ph type="title"/>
          </p:nvPr>
        </p:nvSpPr>
        <p:spPr>
          <a:xfrm>
            <a:off x="521208" y="978408"/>
            <a:ext cx="5020056" cy="4288536"/>
          </a:xfrm>
        </p:spPr>
        <p:txBody>
          <a:bodyPr anchor="t">
            <a:normAutofit/>
          </a:bodyPr>
          <a:lstStyle>
            <a:lvl1pPr>
              <a:defRPr sz="5400"/>
            </a:lvl1pPr>
          </a:lstStyle>
          <a:p>
            <a:r>
              <a:rPr lang="en-US" dirty="0"/>
              <a:t>Click to edit Master title style</a:t>
            </a:r>
          </a:p>
        </p:txBody>
      </p:sp>
      <p:sp>
        <p:nvSpPr>
          <p:cNvPr id="3" name="Text Placeholder 2">
            <a:extLst>
              <a:ext uri="{FF2B5EF4-FFF2-40B4-BE49-F238E27FC236}">
                <a16:creationId xmlns:a16="http://schemas.microsoft.com/office/drawing/2014/main" id="{15FE5516-03B6-C488-EB4A-68AE681EDFB8}"/>
              </a:ext>
            </a:extLst>
          </p:cNvPr>
          <p:cNvSpPr>
            <a:spLocks noGrp="1"/>
          </p:cNvSpPr>
          <p:nvPr>
            <p:ph type="body" idx="1"/>
          </p:nvPr>
        </p:nvSpPr>
        <p:spPr>
          <a:xfrm>
            <a:off x="521208" y="5266944"/>
            <a:ext cx="5020056" cy="1088136"/>
          </a:xfrm>
        </p:spPr>
        <p:txBody>
          <a:bodyPr anchor="b">
            <a:normAutofit/>
          </a:bodyPr>
          <a:lstStyle>
            <a:lvl1pPr marL="0" indent="0">
              <a:buNone/>
              <a:defRPr sz="2200" i="1">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
        <p:nvSpPr>
          <p:cNvPr id="4" name="Date Placeholder 3">
            <a:extLst>
              <a:ext uri="{FF2B5EF4-FFF2-40B4-BE49-F238E27FC236}">
                <a16:creationId xmlns:a16="http://schemas.microsoft.com/office/drawing/2014/main" id="{50ECB4D7-49A7-D050-70B9-11A1E2D445D8}"/>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8A9A913F-AD00-C1EE-B01A-8590671C014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14FC386-B2AF-6FAD-D053-E22D48CD7285}"/>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4E1E1B67-3BFF-F04B-52F4-7E724FB3B24D}"/>
              </a:ext>
            </a:extLst>
          </p:cNvPr>
          <p:cNvSpPr/>
          <p:nvPr/>
        </p:nvSpPr>
        <p:spPr>
          <a:xfrm>
            <a:off x="517870" y="508090"/>
            <a:ext cx="5021183"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36987679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CE3B21-CF4D-1B01-0F4E-D32C1B218B63}"/>
              </a:ext>
            </a:extLst>
          </p:cNvPr>
          <p:cNvSpPr>
            <a:spLocks noGrp="1"/>
          </p:cNvSpPr>
          <p:nvPr>
            <p:ph type="title"/>
          </p:nvPr>
        </p:nvSpPr>
        <p:spPr/>
        <p:txBody>
          <a:bodyPr/>
          <a:lstStyle/>
          <a:p>
            <a:r>
              <a:rPr lang="en-US" dirty="0"/>
              <a:t>Click to edit Master title style</a:t>
            </a:r>
          </a:p>
        </p:txBody>
      </p:sp>
      <p:sp>
        <p:nvSpPr>
          <p:cNvPr id="3" name="Content Placeholder 2">
            <a:extLst>
              <a:ext uri="{FF2B5EF4-FFF2-40B4-BE49-F238E27FC236}">
                <a16:creationId xmlns:a16="http://schemas.microsoft.com/office/drawing/2014/main" id="{1FB39FF2-6858-B514-B695-58442557D0C1}"/>
              </a:ext>
            </a:extLst>
          </p:cNvPr>
          <p:cNvSpPr>
            <a:spLocks noGrp="1"/>
          </p:cNvSpPr>
          <p:nvPr>
            <p:ph sz="half" idx="1"/>
          </p:nvPr>
        </p:nvSpPr>
        <p:spPr>
          <a:xfrm>
            <a:off x="521208"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FA30130-974D-B91D-5B93-EC52AABDB5B0}"/>
              </a:ext>
            </a:extLst>
          </p:cNvPr>
          <p:cNvSpPr>
            <a:spLocks noGrp="1"/>
          </p:cNvSpPr>
          <p:nvPr>
            <p:ph sz="half" idx="2"/>
          </p:nvPr>
        </p:nvSpPr>
        <p:spPr>
          <a:xfrm>
            <a:off x="6519672" y="2578608"/>
            <a:ext cx="5166360" cy="3767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15BED99-6FD7-9C6B-1152-A6E42715BB79}"/>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6" name="Footer Placeholder 5">
            <a:extLst>
              <a:ext uri="{FF2B5EF4-FFF2-40B4-BE49-F238E27FC236}">
                <a16:creationId xmlns:a16="http://schemas.microsoft.com/office/drawing/2014/main" id="{BA253AAC-5967-2565-A715-82D3505ABF0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4B51313-69FB-E016-3CC1-62CA476ED214}"/>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304440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B3DF9D-B849-CE37-97E4-AD37F880677F}"/>
              </a:ext>
            </a:extLst>
          </p:cNvPr>
          <p:cNvSpPr>
            <a:spLocks noGrp="1"/>
          </p:cNvSpPr>
          <p:nvPr>
            <p:ph type="title"/>
          </p:nvPr>
        </p:nvSpPr>
        <p:spPr>
          <a:xfrm>
            <a:off x="521208" y="978408"/>
            <a:ext cx="11164824" cy="1216152"/>
          </a:xfrm>
        </p:spPr>
        <p:txBody>
          <a:bodyPr/>
          <a:lstStyle/>
          <a:p>
            <a:r>
              <a:rPr lang="en-US"/>
              <a:t>Click to edit Master title style</a:t>
            </a:r>
          </a:p>
        </p:txBody>
      </p:sp>
      <p:sp>
        <p:nvSpPr>
          <p:cNvPr id="3" name="Text Placeholder 2">
            <a:extLst>
              <a:ext uri="{FF2B5EF4-FFF2-40B4-BE49-F238E27FC236}">
                <a16:creationId xmlns:a16="http://schemas.microsoft.com/office/drawing/2014/main" id="{79D4C626-4008-960A-E601-6AA9F4BB8D8B}"/>
              </a:ext>
            </a:extLst>
          </p:cNvPr>
          <p:cNvSpPr>
            <a:spLocks noGrp="1"/>
          </p:cNvSpPr>
          <p:nvPr>
            <p:ph type="body" idx="1"/>
          </p:nvPr>
        </p:nvSpPr>
        <p:spPr>
          <a:xfrm>
            <a:off x="521208"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a:extLst>
              <a:ext uri="{FF2B5EF4-FFF2-40B4-BE49-F238E27FC236}">
                <a16:creationId xmlns:a16="http://schemas.microsoft.com/office/drawing/2014/main" id="{806E8D6C-AC07-ED6B-2EA8-9C40A5AEA748}"/>
              </a:ext>
            </a:extLst>
          </p:cNvPr>
          <p:cNvSpPr>
            <a:spLocks noGrp="1"/>
          </p:cNvSpPr>
          <p:nvPr>
            <p:ph sz="half" idx="2"/>
          </p:nvPr>
        </p:nvSpPr>
        <p:spPr>
          <a:xfrm>
            <a:off x="521208"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a:extLst>
              <a:ext uri="{FF2B5EF4-FFF2-40B4-BE49-F238E27FC236}">
                <a16:creationId xmlns:a16="http://schemas.microsoft.com/office/drawing/2014/main" id="{3C52617E-C6D9-246B-E7B7-8159DF17C0A3}"/>
              </a:ext>
            </a:extLst>
          </p:cNvPr>
          <p:cNvSpPr>
            <a:spLocks noGrp="1"/>
          </p:cNvSpPr>
          <p:nvPr>
            <p:ph type="body" sz="quarter" idx="3"/>
          </p:nvPr>
        </p:nvSpPr>
        <p:spPr>
          <a:xfrm>
            <a:off x="6519672" y="2340864"/>
            <a:ext cx="5166360" cy="658368"/>
          </a:xfrm>
        </p:spPr>
        <p:txBody>
          <a:bodyPr anchor="b">
            <a:normAutofit/>
          </a:bodyPr>
          <a:lstStyle>
            <a:lvl1pPr marL="0" indent="0">
              <a:buNone/>
              <a:defRPr sz="2200" b="0" i="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6" name="Content Placeholder 5">
            <a:extLst>
              <a:ext uri="{FF2B5EF4-FFF2-40B4-BE49-F238E27FC236}">
                <a16:creationId xmlns:a16="http://schemas.microsoft.com/office/drawing/2014/main" id="{3DBC2094-7EBC-02C5-5AB5-233E63080A9C}"/>
              </a:ext>
            </a:extLst>
          </p:cNvPr>
          <p:cNvSpPr>
            <a:spLocks noGrp="1"/>
          </p:cNvSpPr>
          <p:nvPr>
            <p:ph sz="quarter" idx="4"/>
          </p:nvPr>
        </p:nvSpPr>
        <p:spPr>
          <a:xfrm>
            <a:off x="6519672" y="3035808"/>
            <a:ext cx="5166360" cy="331012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a:extLst>
              <a:ext uri="{FF2B5EF4-FFF2-40B4-BE49-F238E27FC236}">
                <a16:creationId xmlns:a16="http://schemas.microsoft.com/office/drawing/2014/main" id="{23010BD2-59B4-FD2E-3C5E-C83AE6003985}"/>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8" name="Footer Placeholder 7">
            <a:extLst>
              <a:ext uri="{FF2B5EF4-FFF2-40B4-BE49-F238E27FC236}">
                <a16:creationId xmlns:a16="http://schemas.microsoft.com/office/drawing/2014/main" id="{E72B35C4-A654-7759-BDA0-94D9D1A2166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55F4347-2EC0-CA6E-2637-8048456D7ECB}"/>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6061271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4716D-52F2-C7FB-83B1-2DA1AD375EAE}"/>
              </a:ext>
            </a:extLst>
          </p:cNvPr>
          <p:cNvSpPr>
            <a:spLocks noGrp="1"/>
          </p:cNvSpPr>
          <p:nvPr>
            <p:ph type="title"/>
          </p:nvPr>
        </p:nvSpPr>
        <p:spPr/>
        <p:txBody>
          <a:bodyPr/>
          <a:lstStyle/>
          <a:p>
            <a:r>
              <a:rPr lang="en-US" dirty="0"/>
              <a:t>Click to edit Master title style</a:t>
            </a:r>
          </a:p>
        </p:txBody>
      </p:sp>
      <p:sp>
        <p:nvSpPr>
          <p:cNvPr id="3" name="Date Placeholder 2">
            <a:extLst>
              <a:ext uri="{FF2B5EF4-FFF2-40B4-BE49-F238E27FC236}">
                <a16:creationId xmlns:a16="http://schemas.microsoft.com/office/drawing/2014/main" id="{56F4A371-AC27-6A28-32E6-74A28371BF55}"/>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4" name="Footer Placeholder 3">
            <a:extLst>
              <a:ext uri="{FF2B5EF4-FFF2-40B4-BE49-F238E27FC236}">
                <a16:creationId xmlns:a16="http://schemas.microsoft.com/office/drawing/2014/main" id="{D155941A-A24E-885D-E894-0326F4C4004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99D5E5B4-971F-FF6A-1B07-A5C8537055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42285692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99F431F-E6DC-4137-3092-A30A0A3628EC}"/>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3" name="Footer Placeholder 2">
            <a:extLst>
              <a:ext uri="{FF2B5EF4-FFF2-40B4-BE49-F238E27FC236}">
                <a16:creationId xmlns:a16="http://schemas.microsoft.com/office/drawing/2014/main" id="{06AC814B-67B4-C70F-FA51-6205D5E2CB8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1EAA9C9-D895-DD20-1089-EA75EA42895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9372885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B50562-884C-9053-70C1-3B72A0B45EA6}"/>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Content Placeholder 2">
            <a:extLst>
              <a:ext uri="{FF2B5EF4-FFF2-40B4-BE49-F238E27FC236}">
                <a16:creationId xmlns:a16="http://schemas.microsoft.com/office/drawing/2014/main" id="{0318F509-68F0-39D5-1A8B-CE246715AE46}"/>
              </a:ext>
            </a:extLst>
          </p:cNvPr>
          <p:cNvSpPr>
            <a:spLocks noGrp="1"/>
          </p:cNvSpPr>
          <p:nvPr>
            <p:ph idx="1"/>
          </p:nvPr>
        </p:nvSpPr>
        <p:spPr>
          <a:xfrm>
            <a:off x="6519672" y="987424"/>
            <a:ext cx="5166360" cy="5358384"/>
          </a:xfrm>
        </p:spPr>
        <p:txBody>
          <a:bodyPr>
            <a:normAutofit/>
          </a:bodyPr>
          <a:lstStyle>
            <a:lvl1pPr>
              <a:defRPr sz="2000"/>
            </a:lvl1pPr>
            <a:lvl2pPr>
              <a:defRPr sz="1800"/>
            </a:lvl2pPr>
            <a:lvl3pPr>
              <a:defRPr sz="1600"/>
            </a:lvl3pPr>
            <a:lvl4pPr>
              <a:defRPr sz="1400"/>
            </a:lvl4pPr>
            <a:lvl5pPr>
              <a:defRPr sz="14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a:extLst>
              <a:ext uri="{FF2B5EF4-FFF2-40B4-BE49-F238E27FC236}">
                <a16:creationId xmlns:a16="http://schemas.microsoft.com/office/drawing/2014/main" id="{F158E37C-27CE-3A84-FC74-BDCCD8A9A3EC}"/>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2A95F79-E23E-11D2-40BF-66ED340195DB}"/>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6" name="Footer Placeholder 5">
            <a:extLst>
              <a:ext uri="{FF2B5EF4-FFF2-40B4-BE49-F238E27FC236}">
                <a16:creationId xmlns:a16="http://schemas.microsoft.com/office/drawing/2014/main" id="{4457F7FC-06F3-3D89-5D1A-4EC4B1D7355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554ACD5-6E0B-5713-DC9A-41E9D62AB12D}"/>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165391797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5B2D45-7CDB-D38C-2AAE-273F797674E1}"/>
              </a:ext>
            </a:extLst>
          </p:cNvPr>
          <p:cNvSpPr>
            <a:spLocks noGrp="1"/>
          </p:cNvSpPr>
          <p:nvPr>
            <p:ph type="title"/>
          </p:nvPr>
        </p:nvSpPr>
        <p:spPr>
          <a:xfrm>
            <a:off x="521208" y="978408"/>
            <a:ext cx="5020056" cy="2459736"/>
          </a:xfrm>
        </p:spPr>
        <p:txBody>
          <a:bodyPr anchor="t">
            <a:noAutofit/>
          </a:bodyPr>
          <a:lstStyle>
            <a:lvl1pPr>
              <a:defRPr sz="4400"/>
            </a:lvl1pPr>
          </a:lstStyle>
          <a:p>
            <a:r>
              <a:rPr lang="en-US" dirty="0"/>
              <a:t>Click to edit Master title style</a:t>
            </a:r>
          </a:p>
        </p:txBody>
      </p:sp>
      <p:sp>
        <p:nvSpPr>
          <p:cNvPr id="3" name="Picture Placeholder 2">
            <a:extLst>
              <a:ext uri="{FF2B5EF4-FFF2-40B4-BE49-F238E27FC236}">
                <a16:creationId xmlns:a16="http://schemas.microsoft.com/office/drawing/2014/main" id="{CCBF0855-1744-56E4-B115-3A3C5EA7834B}"/>
              </a:ext>
            </a:extLst>
          </p:cNvPr>
          <p:cNvSpPr>
            <a:spLocks noGrp="1"/>
          </p:cNvSpPr>
          <p:nvPr>
            <p:ph type="pic" idx="1"/>
          </p:nvPr>
        </p:nvSpPr>
        <p:spPr>
          <a:xfrm>
            <a:off x="6519672" y="987424"/>
            <a:ext cx="5166360" cy="5358384"/>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85E8A1D-28AE-4A19-BD96-401D4822A53D}"/>
              </a:ext>
            </a:extLst>
          </p:cNvPr>
          <p:cNvSpPr>
            <a:spLocks noGrp="1"/>
          </p:cNvSpPr>
          <p:nvPr>
            <p:ph type="body" sz="half" idx="2"/>
          </p:nvPr>
        </p:nvSpPr>
        <p:spPr>
          <a:xfrm>
            <a:off x="521208" y="3575304"/>
            <a:ext cx="5020056" cy="2770632"/>
          </a:xfrm>
        </p:spPr>
        <p:txBody>
          <a:bodyPr>
            <a:normAutofit/>
          </a:bodyPr>
          <a:lstStyle>
            <a:lvl1pPr marL="0" indent="0">
              <a:buNone/>
              <a:defRPr sz="2200" i="1"/>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7327DDB-CE95-4C89-DFC5-7DDBFC24E89C}"/>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6" name="Footer Placeholder 5">
            <a:extLst>
              <a:ext uri="{FF2B5EF4-FFF2-40B4-BE49-F238E27FC236}">
                <a16:creationId xmlns:a16="http://schemas.microsoft.com/office/drawing/2014/main" id="{0522C835-F3B5-943C-FFC4-D5BA9666AF3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8709891-6E3C-ADED-01DD-15FCED37AF4A}"/>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223144423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36771-E72D-FAD8-771E-3E196DD2E1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B5BB827-257D-60D9-792F-E6959004297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CE5D2E7-C856-F78A-E88C-375474982A5F}"/>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0FDAB289-9591-51C9-9E3C-B6F2ACC6A62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7FE037C-790D-7442-8E43-D2740B3952B1}"/>
              </a:ext>
            </a:extLst>
          </p:cNvPr>
          <p:cNvSpPr>
            <a:spLocks noGrp="1"/>
          </p:cNvSpPr>
          <p:nvPr>
            <p:ph type="sldNum" sz="quarter" idx="12"/>
          </p:nvPr>
        </p:nvSpPr>
        <p:spPr/>
        <p:txBody>
          <a:bodyPr/>
          <a:lstStyle/>
          <a:p>
            <a:fld id="{148CC95F-0247-41B6-91CF-DC97C76A7088}" type="slidenum">
              <a:rPr lang="en-US" smtClean="0"/>
              <a:t>‹#›</a:t>
            </a:fld>
            <a:endParaRPr lang="en-US"/>
          </a:p>
        </p:txBody>
      </p:sp>
    </p:spTree>
    <p:extLst>
      <p:ext uri="{BB962C8B-B14F-4D97-AF65-F5344CB8AC3E}">
        <p14:creationId xmlns:p14="http://schemas.microsoft.com/office/powerpoint/2010/main" val="3806371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2635151-A38B-3766-6A32-FF1DF7687D9F}"/>
              </a:ext>
            </a:extLst>
          </p:cNvPr>
          <p:cNvSpPr>
            <a:spLocks noGrp="1"/>
          </p:cNvSpPr>
          <p:nvPr>
            <p:ph type="title" orient="vert"/>
          </p:nvPr>
        </p:nvSpPr>
        <p:spPr>
          <a:xfrm>
            <a:off x="8659368" y="978408"/>
            <a:ext cx="2551176" cy="5367528"/>
          </a:xfrm>
        </p:spPr>
        <p:txBody>
          <a:bodyPr vert="eaVert"/>
          <a:lstStyle/>
          <a:p>
            <a:r>
              <a:rPr lang="en-US" dirty="0"/>
              <a:t>Click to edit Master title style</a:t>
            </a:r>
          </a:p>
        </p:txBody>
      </p:sp>
      <p:sp>
        <p:nvSpPr>
          <p:cNvPr id="3" name="Vertical Text Placeholder 2">
            <a:extLst>
              <a:ext uri="{FF2B5EF4-FFF2-40B4-BE49-F238E27FC236}">
                <a16:creationId xmlns:a16="http://schemas.microsoft.com/office/drawing/2014/main" id="{33D132D1-640C-FB9A-AD6F-D845738349F6}"/>
              </a:ext>
            </a:extLst>
          </p:cNvPr>
          <p:cNvSpPr>
            <a:spLocks noGrp="1"/>
          </p:cNvSpPr>
          <p:nvPr>
            <p:ph type="body" orient="vert" idx="1"/>
          </p:nvPr>
        </p:nvSpPr>
        <p:spPr>
          <a:xfrm>
            <a:off x="521208" y="978408"/>
            <a:ext cx="8010144" cy="5367528"/>
          </a:xfrm>
        </p:spPr>
        <p:txBody>
          <a:bodyPr vert="eaVert"/>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6955F80A-4BA7-8ED8-9A62-B92194272620}"/>
              </a:ext>
            </a:extLst>
          </p:cNvPr>
          <p:cNvSpPr>
            <a:spLocks noGrp="1"/>
          </p:cNvSpPr>
          <p:nvPr>
            <p:ph type="dt" sz="half" idx="10"/>
          </p:nvPr>
        </p:nvSpPr>
        <p:spPr/>
        <p:txBody>
          <a:bodyPr/>
          <a:lstStyle/>
          <a:p>
            <a:fld id="{E80C50CD-E178-4744-9B35-B2F624D6C5E9}" type="datetimeFigureOut">
              <a:rPr lang="en-US" smtClean="0"/>
              <a:t>12/2/2025</a:t>
            </a:fld>
            <a:endParaRPr lang="en-US"/>
          </a:p>
        </p:txBody>
      </p:sp>
      <p:sp>
        <p:nvSpPr>
          <p:cNvPr id="5" name="Footer Placeholder 4">
            <a:extLst>
              <a:ext uri="{FF2B5EF4-FFF2-40B4-BE49-F238E27FC236}">
                <a16:creationId xmlns:a16="http://schemas.microsoft.com/office/drawing/2014/main" id="{85E38113-D55A-A1A0-D1FE-53C95860F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19DDB-F89D-4B2D-21A2-82AF1D1023E4}"/>
              </a:ext>
            </a:extLst>
          </p:cNvPr>
          <p:cNvSpPr>
            <a:spLocks noGrp="1"/>
          </p:cNvSpPr>
          <p:nvPr>
            <p:ph type="sldNum" sz="quarter" idx="12"/>
          </p:nvPr>
        </p:nvSpPr>
        <p:spPr/>
        <p:txBody>
          <a:bodyPr/>
          <a:lstStyle/>
          <a:p>
            <a:fld id="{148CC95F-0247-41B6-91CF-DC97C76A7088}" type="slidenum">
              <a:rPr lang="en-US" smtClean="0"/>
              <a:t>‹#›</a:t>
            </a:fld>
            <a:endParaRPr lang="en-US"/>
          </a:p>
        </p:txBody>
      </p:sp>
      <p:sp>
        <p:nvSpPr>
          <p:cNvPr id="7" name="Rectangle 6">
            <a:extLst>
              <a:ext uri="{FF2B5EF4-FFF2-40B4-BE49-F238E27FC236}">
                <a16:creationId xmlns:a16="http://schemas.microsoft.com/office/drawing/2014/main" id="{262572D8-D485-1DB1-34B1-C35C61C89940}"/>
              </a:ext>
            </a:extLst>
          </p:cNvPr>
          <p:cNvSpPr/>
          <p:nvPr/>
        </p:nvSpPr>
        <p:spPr>
          <a:xfrm rot="5400000">
            <a:off x="8936623" y="3585018"/>
            <a:ext cx="5325734" cy="149279"/>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04449469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31A28D7-6581-4956-AAE3-9104804DF55B}"/>
              </a:ext>
            </a:extLst>
          </p:cNvPr>
          <p:cNvSpPr>
            <a:spLocks noGrp="1"/>
          </p:cNvSpPr>
          <p:nvPr>
            <p:ph type="title"/>
          </p:nvPr>
        </p:nvSpPr>
        <p:spPr>
          <a:xfrm>
            <a:off x="515403" y="730521"/>
            <a:ext cx="11155680" cy="988415"/>
          </a:xfrm>
          <a:prstGeom prst="rect">
            <a:avLst/>
          </a:prstGeom>
        </p:spPr>
        <p:txBody>
          <a:bodyPr lIns="109728" tIns="109728" rIns="109728" bIns="91440" anchor="t"/>
          <a:lstStyle/>
          <a:p>
            <a:r>
              <a:rPr lang="en-US" dirty="0"/>
              <a:t>Click to edit Master title style</a:t>
            </a:r>
          </a:p>
        </p:txBody>
      </p:sp>
      <p:sp>
        <p:nvSpPr>
          <p:cNvPr id="3" name="Text Placeholder 2">
            <a:extLst>
              <a:ext uri="{FF2B5EF4-FFF2-40B4-BE49-F238E27FC236}">
                <a16:creationId xmlns:a16="http://schemas.microsoft.com/office/drawing/2014/main" id="{F3CFCCA4-57A4-08A1-FC45-D2BBA66FABFA}"/>
              </a:ext>
            </a:extLst>
          </p:cNvPr>
          <p:cNvSpPr>
            <a:spLocks noGrp="1"/>
          </p:cNvSpPr>
          <p:nvPr>
            <p:ph type="body" idx="1"/>
          </p:nvPr>
        </p:nvSpPr>
        <p:spPr>
          <a:xfrm>
            <a:off x="521208" y="1792088"/>
            <a:ext cx="11155680" cy="4553848"/>
          </a:xfrm>
          <a:prstGeom prst="rect">
            <a:avLst/>
          </a:prstGeom>
        </p:spPr>
        <p:txBody>
          <a:bodyPr lIns="109728" tIns="109728" rIns="109728" bIns="91440"/>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B0FAA0F4-2442-8D45-3C3D-1B8F55C8683A}"/>
              </a:ext>
            </a:extLst>
          </p:cNvPr>
          <p:cNvSpPr>
            <a:spLocks noGrp="1"/>
          </p:cNvSpPr>
          <p:nvPr>
            <p:ph type="dt" sz="half" idx="2"/>
          </p:nvPr>
        </p:nvSpPr>
        <p:spPr>
          <a:xfrm>
            <a:off x="521208" y="6419088"/>
            <a:ext cx="2743200" cy="365125"/>
          </a:xfrm>
          <a:prstGeom prst="rect">
            <a:avLst/>
          </a:prstGeom>
        </p:spPr>
        <p:txBody>
          <a:bodyPr lIns="109728" tIns="109728" rIns="109728" bIns="91440" anchor="ctr"/>
          <a:lstStyle>
            <a:lvl1pPr algn="l">
              <a:defRPr sz="1000" spc="180">
                <a:solidFill>
                  <a:schemeClr val="tx1"/>
                </a:solidFill>
              </a:defRPr>
            </a:lvl1pPr>
          </a:lstStyle>
          <a:p>
            <a:fld id="{E80C50CD-E178-4744-9B35-B2F624D6C5E9}" type="datetimeFigureOut">
              <a:rPr lang="en-US" smtClean="0"/>
              <a:pPr/>
              <a:t>12/2/2025</a:t>
            </a:fld>
            <a:endParaRPr lang="en-US"/>
          </a:p>
        </p:txBody>
      </p:sp>
      <p:sp>
        <p:nvSpPr>
          <p:cNvPr id="5" name="Footer Placeholder 4">
            <a:extLst>
              <a:ext uri="{FF2B5EF4-FFF2-40B4-BE49-F238E27FC236}">
                <a16:creationId xmlns:a16="http://schemas.microsoft.com/office/drawing/2014/main" id="{9E03785E-FB42-1D54-92AC-D0A61A8FABD4}"/>
              </a:ext>
            </a:extLst>
          </p:cNvPr>
          <p:cNvSpPr>
            <a:spLocks noGrp="1"/>
          </p:cNvSpPr>
          <p:nvPr>
            <p:ph type="ftr" sz="quarter" idx="3"/>
          </p:nvPr>
        </p:nvSpPr>
        <p:spPr>
          <a:xfrm>
            <a:off x="521208" y="100584"/>
            <a:ext cx="4114800" cy="365125"/>
          </a:xfrm>
          <a:prstGeom prst="rect">
            <a:avLst/>
          </a:prstGeom>
        </p:spPr>
        <p:txBody>
          <a:bodyPr lIns="109728" tIns="109728" rIns="109728" bIns="91440" anchor="ctr"/>
          <a:lstStyle>
            <a:lvl1pPr algn="l">
              <a:defRPr sz="1000" spc="180">
                <a:solidFill>
                  <a:schemeClr val="tx1"/>
                </a:solidFill>
              </a:defRPr>
            </a:lvl1pPr>
          </a:lstStyle>
          <a:p>
            <a:endParaRPr lang="en-US" dirty="0"/>
          </a:p>
        </p:txBody>
      </p:sp>
      <p:sp>
        <p:nvSpPr>
          <p:cNvPr id="6" name="Slide Number Placeholder 5">
            <a:extLst>
              <a:ext uri="{FF2B5EF4-FFF2-40B4-BE49-F238E27FC236}">
                <a16:creationId xmlns:a16="http://schemas.microsoft.com/office/drawing/2014/main" id="{BCC9CF34-1274-DB45-4809-90E5D244A9AE}"/>
              </a:ext>
            </a:extLst>
          </p:cNvPr>
          <p:cNvSpPr>
            <a:spLocks noGrp="1"/>
          </p:cNvSpPr>
          <p:nvPr>
            <p:ph type="sldNum" sz="quarter" idx="4"/>
          </p:nvPr>
        </p:nvSpPr>
        <p:spPr>
          <a:xfrm>
            <a:off x="11457432" y="6419088"/>
            <a:ext cx="640080" cy="365125"/>
          </a:xfrm>
          <a:prstGeom prst="rect">
            <a:avLst/>
          </a:prstGeom>
        </p:spPr>
        <p:txBody>
          <a:bodyPr lIns="109728" tIns="109728" rIns="109728" bIns="91440" anchor="ctr"/>
          <a:lstStyle>
            <a:lvl1pPr algn="r">
              <a:defRPr sz="1000">
                <a:solidFill>
                  <a:schemeClr val="tx1"/>
                </a:solidFill>
              </a:defRPr>
            </a:lvl1pPr>
          </a:lstStyle>
          <a:p>
            <a:fld id="{148CC95F-0247-41B6-91CF-DC97C76A7088}" type="slidenum">
              <a:rPr lang="en-US" smtClean="0"/>
              <a:pPr/>
              <a:t>‹#›</a:t>
            </a:fld>
            <a:endParaRPr lang="en-US"/>
          </a:p>
        </p:txBody>
      </p:sp>
      <p:sp>
        <p:nvSpPr>
          <p:cNvPr id="7" name="Freeform: Shape 6">
            <a:extLst>
              <a:ext uri="{FF2B5EF4-FFF2-40B4-BE49-F238E27FC236}">
                <a16:creationId xmlns:a16="http://schemas.microsoft.com/office/drawing/2014/main" id="{774A975B-A886-5202-0489-6965514A0D14}"/>
              </a:ext>
              <a:ext uri="{C183D7F6-B498-43B3-948B-1728B52AA6E4}">
                <adec:decorative xmlns:adec="http://schemas.microsoft.com/office/drawing/2017/decorative" val="1"/>
              </a:ext>
            </a:extLst>
          </p:cNvPr>
          <p:cNvSpPr/>
          <p:nvPr/>
        </p:nvSpPr>
        <p:spPr>
          <a:xfrm>
            <a:off x="517869" y="508090"/>
            <a:ext cx="11153214" cy="149279"/>
          </a:xfrm>
          <a:custGeom>
            <a:avLst/>
            <a:gdLst>
              <a:gd name="connsiteX0" fmla="*/ 0 w 8085002"/>
              <a:gd name="connsiteY0" fmla="*/ 0 h 149279"/>
              <a:gd name="connsiteX1" fmla="*/ 8085002 w 8085002"/>
              <a:gd name="connsiteY1" fmla="*/ 0 h 149279"/>
              <a:gd name="connsiteX2" fmla="*/ 8085002 w 8085002"/>
              <a:gd name="connsiteY2" fmla="*/ 149279 h 149279"/>
              <a:gd name="connsiteX3" fmla="*/ 0 w 8085002"/>
              <a:gd name="connsiteY3" fmla="*/ 149279 h 149279"/>
            </a:gdLst>
            <a:ahLst/>
            <a:cxnLst>
              <a:cxn ang="0">
                <a:pos x="connsiteX0" y="connsiteY0"/>
              </a:cxn>
              <a:cxn ang="0">
                <a:pos x="connsiteX1" y="connsiteY1"/>
              </a:cxn>
              <a:cxn ang="0">
                <a:pos x="connsiteX2" y="connsiteY2"/>
              </a:cxn>
              <a:cxn ang="0">
                <a:pos x="connsiteX3" y="connsiteY3"/>
              </a:cxn>
            </a:cxnLst>
            <a:rect l="l" t="t" r="r" b="b"/>
            <a:pathLst>
              <a:path w="8085002" h="149279">
                <a:moveTo>
                  <a:pt x="0" y="0"/>
                </a:moveTo>
                <a:lnTo>
                  <a:pt x="8085002" y="0"/>
                </a:lnTo>
                <a:lnTo>
                  <a:pt x="8085002" y="149279"/>
                </a:lnTo>
                <a:lnTo>
                  <a:pt x="0" y="149279"/>
                </a:lnTo>
                <a:close/>
              </a:path>
            </a:pathLst>
          </a:cu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1027232683"/>
      </p:ext>
    </p:extLst>
  </p:cSld>
  <p:clrMap bg1="lt1" tx1="dk1" bg2="lt2" tx2="dk2" accent1="accent1" accent2="accent2" accent3="accent3" accent4="accent4" accent5="accent5" accent6="accent6" hlink="hlink" folHlink="folHlink"/>
  <p:sldLayoutIdLst>
    <p:sldLayoutId id="2147483691" r:id="rId1"/>
    <p:sldLayoutId id="2147483692" r:id="rId2"/>
    <p:sldLayoutId id="2147483693" r:id="rId3"/>
    <p:sldLayoutId id="2147483694" r:id="rId4"/>
    <p:sldLayoutId id="2147483695" r:id="rId5"/>
    <p:sldLayoutId id="2147483689" r:id="rId6"/>
    <p:sldLayoutId id="2147483685" r:id="rId7"/>
    <p:sldLayoutId id="2147483686" r:id="rId8"/>
    <p:sldLayoutId id="2147483687" r:id="rId9"/>
    <p:sldLayoutId id="2147483688" r:id="rId10"/>
    <p:sldLayoutId id="2147483690" r:id="rId11"/>
  </p:sldLayoutIdLst>
  <p:txStyles>
    <p:titleStyle>
      <a:lvl1pPr algn="l" defTabSz="914400" rtl="0" eaLnBrk="1" latinLnBrk="0" hangingPunct="1">
        <a:lnSpc>
          <a:spcPct val="100000"/>
        </a:lnSpc>
        <a:spcBef>
          <a:spcPct val="0"/>
        </a:spcBef>
        <a:buNone/>
        <a:defRPr sz="4800" b="1" kern="1200" spc="200">
          <a:solidFill>
            <a:schemeClr val="tx1"/>
          </a:solidFill>
          <a:latin typeface="+mj-lt"/>
          <a:ea typeface="+mj-ea"/>
          <a:cs typeface="+mj-cs"/>
        </a:defRPr>
      </a:lvl1pPr>
    </p:titleStyle>
    <p:body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0EECA69B-4C2A-7F31-8019-E90DB3BD4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bg1"/>
          </a:solidFill>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pic>
        <p:nvPicPr>
          <p:cNvPr id="4" name="Picture 3" descr="抽象遗传概念">
            <a:extLst>
              <a:ext uri="{FF2B5EF4-FFF2-40B4-BE49-F238E27FC236}">
                <a16:creationId xmlns:a16="http://schemas.microsoft.com/office/drawing/2014/main" id="{99060100-A8AA-6674-2EEF-E313A8EA5A06}"/>
              </a:ext>
            </a:extLst>
          </p:cNvPr>
          <p:cNvPicPr>
            <a:picLocks noChangeAspect="1"/>
          </p:cNvPicPr>
          <p:nvPr/>
        </p:nvPicPr>
        <p:blipFill>
          <a:blip r:embed="rId2"/>
          <a:srcRect t="32657" b="11093"/>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857DEAC1-B3AA-6569-0A44-A191DF2F3C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577840"/>
            <a:ext cx="12191999" cy="1280160"/>
          </a:xfrm>
          <a:prstGeom prst="rect">
            <a:avLst/>
          </a:prstGeom>
          <a:solidFill>
            <a:schemeClr val="bg1">
              <a:alpha val="88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Bierstadt"/>
              <a:ea typeface="+mn-ea"/>
              <a:cs typeface="+mn-cs"/>
            </a:endParaRPr>
          </a:p>
        </p:txBody>
      </p:sp>
      <p:sp>
        <p:nvSpPr>
          <p:cNvPr id="2" name="标题 1">
            <a:extLst>
              <a:ext uri="{FF2B5EF4-FFF2-40B4-BE49-F238E27FC236}">
                <a16:creationId xmlns:a16="http://schemas.microsoft.com/office/drawing/2014/main" id="{62077292-5498-36F7-C035-FCC8AE38380B}"/>
              </a:ext>
            </a:extLst>
          </p:cNvPr>
          <p:cNvSpPr>
            <a:spLocks noGrp="1"/>
          </p:cNvSpPr>
          <p:nvPr>
            <p:ph type="ctrTitle"/>
          </p:nvPr>
        </p:nvSpPr>
        <p:spPr>
          <a:xfrm>
            <a:off x="320039" y="5739969"/>
            <a:ext cx="8178501" cy="960120"/>
          </a:xfrm>
          <a:ln>
            <a:noFill/>
          </a:ln>
        </p:spPr>
        <p:txBody>
          <a:bodyPr anchor="ctr">
            <a:noAutofit/>
          </a:bodyPr>
          <a:lstStyle/>
          <a:p>
            <a:r>
              <a:rPr lang="zh-CN" altLang="en-US" sz="5400" dirty="0"/>
              <a:t>中高考减压音乐训练</a:t>
            </a:r>
          </a:p>
        </p:txBody>
      </p:sp>
      <p:sp>
        <p:nvSpPr>
          <p:cNvPr id="3" name="副标题 2">
            <a:extLst>
              <a:ext uri="{FF2B5EF4-FFF2-40B4-BE49-F238E27FC236}">
                <a16:creationId xmlns:a16="http://schemas.microsoft.com/office/drawing/2014/main" id="{6673B8A1-D398-BE75-6533-FFFB3C95EA5F}"/>
              </a:ext>
            </a:extLst>
          </p:cNvPr>
          <p:cNvSpPr>
            <a:spLocks noGrp="1"/>
          </p:cNvSpPr>
          <p:nvPr>
            <p:ph type="subTitle" idx="1"/>
          </p:nvPr>
        </p:nvSpPr>
        <p:spPr>
          <a:xfrm>
            <a:off x="7386639" y="5739969"/>
            <a:ext cx="4610646" cy="960120"/>
          </a:xfrm>
        </p:spPr>
        <p:txBody>
          <a:bodyPr anchor="ctr">
            <a:normAutofit/>
          </a:bodyPr>
          <a:lstStyle/>
          <a:p>
            <a:pPr algn="r"/>
            <a:r>
              <a:rPr lang="zh-CN" altLang="en-US" sz="1900" dirty="0"/>
              <a:t>浥尘伙伴社团原创密训 </a:t>
            </a:r>
            <a:r>
              <a:rPr lang="en-US" altLang="zh-CN" sz="1900" dirty="0"/>
              <a:t>2025</a:t>
            </a:r>
            <a:r>
              <a:rPr lang="zh-CN" altLang="en-US" sz="1900" dirty="0"/>
              <a:t>年</a:t>
            </a:r>
            <a:r>
              <a:rPr lang="en-US" altLang="zh-CN" sz="1900" dirty="0"/>
              <a:t>12</a:t>
            </a:r>
            <a:r>
              <a:rPr lang="zh-CN" altLang="en-US" sz="1900" dirty="0"/>
              <a:t>月</a:t>
            </a:r>
          </a:p>
        </p:txBody>
      </p:sp>
    </p:spTree>
    <p:extLst>
      <p:ext uri="{BB962C8B-B14F-4D97-AF65-F5344CB8AC3E}">
        <p14:creationId xmlns:p14="http://schemas.microsoft.com/office/powerpoint/2010/main" val="228928231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011E1E6-6BB0-22D9-BC45-494D62AE4162}"/>
              </a:ext>
            </a:extLst>
          </p:cNvPr>
          <p:cNvSpPr>
            <a:spLocks noGrp="1"/>
          </p:cNvSpPr>
          <p:nvPr>
            <p:ph type="title"/>
          </p:nvPr>
        </p:nvSpPr>
        <p:spPr>
          <a:xfrm>
            <a:off x="521208" y="662740"/>
            <a:ext cx="11155680" cy="936652"/>
          </a:xfrm>
        </p:spPr>
        <p:txBody>
          <a:bodyPr/>
          <a:lstStyle/>
          <a:p>
            <a:r>
              <a:rPr lang="zh-CN" altLang="en-US" sz="900" dirty="0"/>
              <a:t>摆渡技术：考前心理总动员</a:t>
            </a:r>
            <a:r>
              <a:rPr lang="zh-CN" altLang="en-US" sz="900" dirty="0">
                <a:latin typeface="+mn-ea"/>
              </a:rPr>
              <a:t>家长篇</a:t>
            </a:r>
            <a:r>
              <a:rPr lang="zh-CN" altLang="en-US" sz="900" dirty="0"/>
              <a:t>（一）</a:t>
            </a:r>
          </a:p>
        </p:txBody>
      </p:sp>
      <p:sp>
        <p:nvSpPr>
          <p:cNvPr id="3" name="内容占位符 2">
            <a:extLst>
              <a:ext uri="{FF2B5EF4-FFF2-40B4-BE49-F238E27FC236}">
                <a16:creationId xmlns:a16="http://schemas.microsoft.com/office/drawing/2014/main" id="{A2C68CB0-C8C5-260C-C325-BE4AA61114DE}"/>
              </a:ext>
            </a:extLst>
          </p:cNvPr>
          <p:cNvSpPr>
            <a:spLocks noGrp="1"/>
          </p:cNvSpPr>
          <p:nvPr>
            <p:ph idx="1"/>
          </p:nvPr>
        </p:nvSpPr>
        <p:spPr>
          <a:xfrm>
            <a:off x="5043489" y="1576785"/>
            <a:ext cx="6972300" cy="4746544"/>
          </a:xfrm>
        </p:spPr>
        <p:txBody>
          <a:bodyPr/>
          <a:lstStyle/>
          <a:p>
            <a:pPr marL="0" indent="0">
              <a:buNone/>
            </a:pPr>
            <a:r>
              <a:rPr lang="zh-CN" altLang="en-US" sz="1800" dirty="0">
                <a:latin typeface="+mn-ea"/>
              </a:rPr>
              <a:t>人的压力水平和动机、任务难度直接相关，动机是促使问题解决的动力因素。</a:t>
            </a:r>
          </a:p>
          <a:p>
            <a:pPr marL="0" indent="0">
              <a:buNone/>
            </a:pPr>
            <a:r>
              <a:rPr lang="zh-CN" altLang="en-US" sz="1800" dirty="0">
                <a:latin typeface="+mn-ea"/>
              </a:rPr>
              <a:t>动机强 </a:t>
            </a:r>
            <a:r>
              <a:rPr lang="en-US" altLang="zh-CN" sz="1800" dirty="0">
                <a:latin typeface="+mn-ea"/>
                <a:sym typeface="Wingdings" panose="05000000000000000000" pitchFamily="2" charset="2"/>
              </a:rPr>
              <a:t> </a:t>
            </a:r>
            <a:r>
              <a:rPr lang="zh-CN" altLang="en-US" sz="1800" dirty="0">
                <a:latin typeface="+mn-ea"/>
              </a:rPr>
              <a:t>思维活跃，反之，动机弱 </a:t>
            </a:r>
            <a:r>
              <a:rPr lang="en-US" altLang="zh-CN" sz="1800" dirty="0">
                <a:latin typeface="+mn-ea"/>
                <a:sym typeface="Wingdings" panose="05000000000000000000" pitchFamily="2" charset="2"/>
              </a:rPr>
              <a:t> </a:t>
            </a:r>
            <a:r>
              <a:rPr lang="zh-CN" altLang="en-US" sz="1800" dirty="0">
                <a:latin typeface="+mn-ea"/>
              </a:rPr>
              <a:t>思维不活跃。</a:t>
            </a:r>
          </a:p>
          <a:p>
            <a:pPr marL="0" indent="0">
              <a:buNone/>
            </a:pPr>
            <a:r>
              <a:rPr lang="zh-CN" altLang="en-US" sz="1800" dirty="0">
                <a:latin typeface="+mn-ea"/>
              </a:rPr>
              <a:t>但是，</a:t>
            </a:r>
            <a:r>
              <a:rPr lang="zh-CN" altLang="en-US" sz="1800" b="1" dirty="0">
                <a:latin typeface="+mn-ea"/>
              </a:rPr>
              <a:t>动机强度</a:t>
            </a:r>
            <a:r>
              <a:rPr lang="zh-CN" altLang="en-US" sz="1800" dirty="0">
                <a:latin typeface="+mn-ea"/>
              </a:rPr>
              <a:t>与解决问题的</a:t>
            </a:r>
            <a:r>
              <a:rPr lang="zh-CN" altLang="en-US" sz="1800" b="1" dirty="0">
                <a:latin typeface="+mn-ea"/>
              </a:rPr>
              <a:t>思维活动效率</a:t>
            </a:r>
            <a:r>
              <a:rPr lang="zh-CN" altLang="en-US" sz="1800" dirty="0">
                <a:latin typeface="+mn-ea"/>
              </a:rPr>
              <a:t>之间并不总是呈正相关。</a:t>
            </a:r>
          </a:p>
          <a:p>
            <a:pPr marL="0" indent="0">
              <a:buNone/>
            </a:pPr>
            <a:r>
              <a:rPr lang="zh-CN" altLang="en-US" sz="1800" dirty="0">
                <a:latin typeface="+mn-ea"/>
              </a:rPr>
              <a:t>动机强弱与解决问题的关系，是一条“倒转的</a:t>
            </a:r>
            <a:r>
              <a:rPr lang="en-US" altLang="zh-CN" sz="1800" dirty="0">
                <a:latin typeface="+mn-ea"/>
              </a:rPr>
              <a:t>U</a:t>
            </a:r>
            <a:r>
              <a:rPr lang="zh-CN" altLang="en-US" sz="1800" dirty="0">
                <a:latin typeface="+mn-ea"/>
              </a:rPr>
              <a:t>形曲线” 。</a:t>
            </a:r>
          </a:p>
          <a:p>
            <a:pPr marL="0" indent="0">
              <a:buNone/>
            </a:pPr>
            <a:r>
              <a:rPr lang="zh-CN" altLang="en-US" sz="1800" dirty="0">
                <a:latin typeface="+mn-ea"/>
              </a:rPr>
              <a:t>动机过强，会造成很大的心理压力。</a:t>
            </a:r>
          </a:p>
          <a:p>
            <a:pPr marL="0" indent="0">
              <a:buNone/>
            </a:pPr>
            <a:r>
              <a:rPr lang="zh-CN" altLang="en-US" sz="1800" dirty="0">
                <a:latin typeface="+mn-ea"/>
              </a:rPr>
              <a:t>压力在到一定程度，甚至会引起严重的心理问题。</a:t>
            </a:r>
          </a:p>
        </p:txBody>
      </p:sp>
      <p:pic>
        <p:nvPicPr>
          <p:cNvPr id="12" name="图片 11">
            <a:extLst>
              <a:ext uri="{FF2B5EF4-FFF2-40B4-BE49-F238E27FC236}">
                <a16:creationId xmlns:a16="http://schemas.microsoft.com/office/drawing/2014/main" id="{E312B2DE-E135-1974-6246-D969BD36D143}"/>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AEC7CA15-301F-04B5-92A3-D8344CC842A9}"/>
              </a:ext>
            </a:extLst>
          </p:cNvPr>
          <p:cNvSpPr txBox="1">
            <a:spLocks/>
          </p:cNvSpPr>
          <p:nvPr/>
        </p:nvSpPr>
        <p:spPr>
          <a:xfrm>
            <a:off x="264035" y="5023450"/>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AC9DD4A8-BC3C-72D4-B9F5-C6F63B8E2272}"/>
              </a:ext>
            </a:extLst>
          </p:cNvPr>
          <p:cNvSpPr txBox="1">
            <a:spLocks/>
          </p:cNvSpPr>
          <p:nvPr/>
        </p:nvSpPr>
        <p:spPr>
          <a:xfrm>
            <a:off x="264035" y="5566122"/>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1856905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39FA6E-3095-346D-8365-EC2D25E1369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CFCB162-1BBE-ABF7-8666-782C7E5BC844}"/>
              </a:ext>
            </a:extLst>
          </p:cNvPr>
          <p:cNvSpPr>
            <a:spLocks noGrp="1"/>
          </p:cNvSpPr>
          <p:nvPr>
            <p:ph type="title"/>
          </p:nvPr>
        </p:nvSpPr>
        <p:spPr>
          <a:xfrm>
            <a:off x="521208" y="662740"/>
            <a:ext cx="11155680" cy="936652"/>
          </a:xfrm>
        </p:spPr>
        <p:txBody>
          <a:bodyPr/>
          <a:lstStyle/>
          <a:p>
            <a:r>
              <a:rPr lang="zh-CN" altLang="en-US" sz="900" dirty="0"/>
              <a:t>摆渡技术：考前心理总动员</a:t>
            </a:r>
            <a:r>
              <a:rPr lang="zh-CN" altLang="en-US" sz="900" dirty="0">
                <a:latin typeface="+mn-ea"/>
              </a:rPr>
              <a:t>家长篇</a:t>
            </a:r>
            <a:r>
              <a:rPr lang="zh-CN" altLang="en-US" sz="900" dirty="0"/>
              <a:t>（二）</a:t>
            </a:r>
          </a:p>
        </p:txBody>
      </p:sp>
      <p:sp>
        <p:nvSpPr>
          <p:cNvPr id="3" name="内容占位符 2">
            <a:extLst>
              <a:ext uri="{FF2B5EF4-FFF2-40B4-BE49-F238E27FC236}">
                <a16:creationId xmlns:a16="http://schemas.microsoft.com/office/drawing/2014/main" id="{29267B40-3434-E64E-51FD-D0C5F1494FF5}"/>
              </a:ext>
            </a:extLst>
          </p:cNvPr>
          <p:cNvSpPr>
            <a:spLocks noGrp="1"/>
          </p:cNvSpPr>
          <p:nvPr>
            <p:ph idx="1"/>
          </p:nvPr>
        </p:nvSpPr>
        <p:spPr>
          <a:xfrm>
            <a:off x="5043489" y="1576785"/>
            <a:ext cx="7015160" cy="5038328"/>
          </a:xfrm>
        </p:spPr>
        <p:txBody>
          <a:bodyPr/>
          <a:lstStyle/>
          <a:p>
            <a:pPr marL="0" indent="0">
              <a:buNone/>
            </a:pPr>
            <a:r>
              <a:rPr lang="zh-CN" altLang="en-US" sz="1800" dirty="0">
                <a:latin typeface="+mn-ea"/>
              </a:rPr>
              <a:t>动力不足的要加压，动力太高的要减压。</a:t>
            </a:r>
          </a:p>
          <a:p>
            <a:pPr marL="0" indent="0">
              <a:buNone/>
            </a:pPr>
            <a:r>
              <a:rPr lang="zh-CN" altLang="en-US" sz="1800" dirty="0">
                <a:latin typeface="+mn-ea"/>
              </a:rPr>
              <a:t>因此，理想的情况是这个学生想考上一所好大学，但是又不至于因为期望过高、压力过大而影响学习效率，因此考前的学生要学会心理调节。</a:t>
            </a:r>
            <a:endParaRPr lang="en-US" altLang="zh-CN" sz="1800" dirty="0">
              <a:latin typeface="+mn-ea"/>
            </a:endParaRPr>
          </a:p>
          <a:p>
            <a:pPr marL="0" indent="0">
              <a:buNone/>
            </a:pPr>
            <a:endParaRPr lang="zh-CN" altLang="en-US" sz="1800" dirty="0">
              <a:latin typeface="+mn-ea"/>
            </a:endParaRPr>
          </a:p>
          <a:p>
            <a:pPr marL="0" indent="0">
              <a:buNone/>
            </a:pPr>
            <a:r>
              <a:rPr lang="zh-CN" altLang="en-US" sz="1800" dirty="0">
                <a:latin typeface="+mn-ea"/>
              </a:rPr>
              <a:t>在</a:t>
            </a:r>
            <a:r>
              <a:rPr lang="en-US" altLang="zh-CN" sz="1800" dirty="0">
                <a:latin typeface="+mn-ea"/>
              </a:rPr>
              <a:t>20</a:t>
            </a:r>
            <a:r>
              <a:rPr lang="zh-CN" altLang="en-US" sz="1800" dirty="0">
                <a:latin typeface="+mn-ea"/>
              </a:rPr>
              <a:t>项决定高考因素中，前五项因素是：</a:t>
            </a:r>
            <a:endParaRPr lang="en-US" altLang="zh-CN" sz="1800" dirty="0">
              <a:latin typeface="+mn-ea"/>
            </a:endParaRPr>
          </a:p>
          <a:p>
            <a:pPr lvl="1">
              <a:buFont typeface="Wingdings" panose="05000000000000000000" pitchFamily="2" charset="2"/>
              <a:buChar char="ü"/>
            </a:pPr>
            <a:r>
              <a:rPr lang="zh-CN" altLang="en-US" sz="1800" dirty="0">
                <a:latin typeface="+mn-ea"/>
              </a:rPr>
              <a:t>考场心态</a:t>
            </a:r>
            <a:endParaRPr lang="en-US" altLang="zh-CN" sz="1800" dirty="0">
              <a:latin typeface="+mn-ea"/>
            </a:endParaRPr>
          </a:p>
          <a:p>
            <a:pPr lvl="1">
              <a:buFont typeface="Wingdings" panose="05000000000000000000" pitchFamily="2" charset="2"/>
              <a:buChar char="ü"/>
            </a:pPr>
            <a:r>
              <a:rPr lang="zh-CN" altLang="en-US" sz="1800" dirty="0">
                <a:latin typeface="+mn-ea"/>
              </a:rPr>
              <a:t>考前心态</a:t>
            </a:r>
            <a:endParaRPr lang="en-US" altLang="zh-CN" sz="1800" dirty="0">
              <a:latin typeface="+mn-ea"/>
            </a:endParaRPr>
          </a:p>
          <a:p>
            <a:pPr lvl="1">
              <a:buFont typeface="Wingdings" panose="05000000000000000000" pitchFamily="2" charset="2"/>
              <a:buChar char="ü"/>
            </a:pPr>
            <a:r>
              <a:rPr lang="zh-CN" altLang="en-US" sz="1800" dirty="0">
                <a:latin typeface="+mn-ea"/>
              </a:rPr>
              <a:t>学习方法</a:t>
            </a:r>
            <a:endParaRPr lang="en-US" altLang="zh-CN" sz="1800" dirty="0">
              <a:latin typeface="+mn-ea"/>
            </a:endParaRPr>
          </a:p>
          <a:p>
            <a:pPr lvl="1">
              <a:buFont typeface="Wingdings" panose="05000000000000000000" pitchFamily="2" charset="2"/>
              <a:buChar char="ü"/>
            </a:pPr>
            <a:r>
              <a:rPr lang="zh-CN" altLang="en-US" sz="1800" dirty="0">
                <a:latin typeface="+mn-ea"/>
              </a:rPr>
              <a:t>学习基础</a:t>
            </a:r>
            <a:endParaRPr lang="en-US" altLang="zh-CN" sz="1800" dirty="0">
              <a:latin typeface="+mn-ea"/>
            </a:endParaRPr>
          </a:p>
          <a:p>
            <a:pPr lvl="1">
              <a:buFont typeface="Wingdings" panose="05000000000000000000" pitchFamily="2" charset="2"/>
              <a:buChar char="ü"/>
            </a:pPr>
            <a:r>
              <a:rPr lang="zh-CN" altLang="en-US" sz="1800" dirty="0">
                <a:latin typeface="+mn-ea"/>
              </a:rPr>
              <a:t>学习态度</a:t>
            </a:r>
          </a:p>
        </p:txBody>
      </p:sp>
      <p:pic>
        <p:nvPicPr>
          <p:cNvPr id="12" name="图片 11">
            <a:extLst>
              <a:ext uri="{FF2B5EF4-FFF2-40B4-BE49-F238E27FC236}">
                <a16:creationId xmlns:a16="http://schemas.microsoft.com/office/drawing/2014/main" id="{7542F787-EE60-63D7-489F-3D137154CEB3}"/>
              </a:ext>
            </a:extLst>
          </p:cNvPr>
          <p:cNvPicPr>
            <a:picLocks noChangeAspect="1"/>
          </p:cNvPicPr>
          <p:nvPr/>
        </p:nvPicPr>
        <p:blipFill>
          <a:blip r:embed="rId2"/>
          <a:stretch>
            <a:fillRect/>
          </a:stretch>
        </p:blipFill>
        <p:spPr>
          <a:xfrm>
            <a:off x="386771" y="1813926"/>
            <a:ext cx="4123809" cy="3209524"/>
          </a:xfrm>
          <a:prstGeom prst="rect">
            <a:avLst/>
          </a:prstGeom>
        </p:spPr>
      </p:pic>
      <p:sp>
        <p:nvSpPr>
          <p:cNvPr id="13" name="内容占位符 2">
            <a:extLst>
              <a:ext uri="{FF2B5EF4-FFF2-40B4-BE49-F238E27FC236}">
                <a16:creationId xmlns:a16="http://schemas.microsoft.com/office/drawing/2014/main" id="{760BA3FC-CCEB-8E96-465B-D73928DD23C7}"/>
              </a:ext>
            </a:extLst>
          </p:cNvPr>
          <p:cNvSpPr txBox="1">
            <a:spLocks/>
          </p:cNvSpPr>
          <p:nvPr/>
        </p:nvSpPr>
        <p:spPr>
          <a:xfrm>
            <a:off x="264035" y="5013148"/>
            <a:ext cx="4779454" cy="47031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dirty="0">
                <a:latin typeface="+mn-ea"/>
              </a:rPr>
              <a:t>耶克斯*多德森定律：压力与“倒转的</a:t>
            </a:r>
            <a:r>
              <a:rPr lang="en-US" altLang="zh-CN" dirty="0">
                <a:latin typeface="+mn-ea"/>
              </a:rPr>
              <a:t>U</a:t>
            </a:r>
            <a:r>
              <a:rPr lang="zh-CN" altLang="en-US" dirty="0">
                <a:latin typeface="+mn-ea"/>
              </a:rPr>
              <a:t>形曲线”</a:t>
            </a:r>
          </a:p>
        </p:txBody>
      </p:sp>
      <p:sp>
        <p:nvSpPr>
          <p:cNvPr id="14" name="内容占位符 2">
            <a:extLst>
              <a:ext uri="{FF2B5EF4-FFF2-40B4-BE49-F238E27FC236}">
                <a16:creationId xmlns:a16="http://schemas.microsoft.com/office/drawing/2014/main" id="{6CE27A2D-FD12-DE10-9760-CC5CA7543472}"/>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如何正确认识考前减压？</a:t>
            </a:r>
          </a:p>
        </p:txBody>
      </p:sp>
    </p:spTree>
    <p:extLst>
      <p:ext uri="{BB962C8B-B14F-4D97-AF65-F5344CB8AC3E}">
        <p14:creationId xmlns:p14="http://schemas.microsoft.com/office/powerpoint/2010/main" val="277460987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85101A-54FD-9CD1-7987-DE55C9D8356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EC866E9-F7E6-15CA-A033-5C12B4988FB5}"/>
              </a:ext>
            </a:extLst>
          </p:cNvPr>
          <p:cNvSpPr>
            <a:spLocks noGrp="1"/>
          </p:cNvSpPr>
          <p:nvPr>
            <p:ph type="title"/>
          </p:nvPr>
        </p:nvSpPr>
        <p:spPr>
          <a:xfrm>
            <a:off x="518160" y="634165"/>
            <a:ext cx="11155680" cy="936652"/>
          </a:xfrm>
        </p:spPr>
        <p:txBody>
          <a:bodyPr/>
          <a:lstStyle/>
          <a:p>
            <a:r>
              <a:rPr lang="zh-CN" altLang="en-US" sz="900" dirty="0"/>
              <a:t>摆渡技术：考前心理总动员</a:t>
            </a:r>
            <a:r>
              <a:rPr lang="zh-CN" altLang="en-US" sz="900" dirty="0">
                <a:latin typeface="+mn-ea"/>
              </a:rPr>
              <a:t>家长篇</a:t>
            </a:r>
            <a:r>
              <a:rPr lang="zh-CN" altLang="en-US" sz="900" dirty="0"/>
              <a:t>（三）</a:t>
            </a:r>
          </a:p>
        </p:txBody>
      </p:sp>
      <p:sp>
        <p:nvSpPr>
          <p:cNvPr id="3" name="内容占位符 2">
            <a:extLst>
              <a:ext uri="{FF2B5EF4-FFF2-40B4-BE49-F238E27FC236}">
                <a16:creationId xmlns:a16="http://schemas.microsoft.com/office/drawing/2014/main" id="{44B1E305-C001-B0E0-FC54-CDDBE895369F}"/>
              </a:ext>
            </a:extLst>
          </p:cNvPr>
          <p:cNvSpPr>
            <a:spLocks noGrp="1"/>
          </p:cNvSpPr>
          <p:nvPr>
            <p:ph idx="1"/>
          </p:nvPr>
        </p:nvSpPr>
        <p:spPr>
          <a:xfrm>
            <a:off x="518160" y="1570817"/>
            <a:ext cx="11155680" cy="936652"/>
          </a:xfrm>
        </p:spPr>
        <p:txBody>
          <a:bodyPr/>
          <a:lstStyle/>
          <a:p>
            <a:pPr marL="0" indent="0">
              <a:buNone/>
            </a:pPr>
            <a:r>
              <a:rPr lang="zh-CN" altLang="en-US" sz="1800" dirty="0">
                <a:latin typeface="+mn-ea"/>
              </a:rPr>
              <a:t>对处于紧张焦虑状态中的考生，如果简单地给他们做放松训练，不但没有改善的可能，而且会进一步强化他们的无力感和无助感。</a:t>
            </a:r>
          </a:p>
        </p:txBody>
      </p:sp>
      <p:sp>
        <p:nvSpPr>
          <p:cNvPr id="4" name="内容占位符 2">
            <a:extLst>
              <a:ext uri="{FF2B5EF4-FFF2-40B4-BE49-F238E27FC236}">
                <a16:creationId xmlns:a16="http://schemas.microsoft.com/office/drawing/2014/main" id="{5E154557-791B-3F98-3C92-58C7D7CC9AC8}"/>
              </a:ext>
            </a:extLst>
          </p:cNvPr>
          <p:cNvSpPr txBox="1">
            <a:spLocks/>
          </p:cNvSpPr>
          <p:nvPr/>
        </p:nvSpPr>
        <p:spPr>
          <a:xfrm>
            <a:off x="264035" y="5558891"/>
            <a:ext cx="47794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如何给考前学生减压呢？</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F84606FA-77CD-9925-307F-7A43AFEB372A}"/>
              </a:ext>
            </a:extLst>
          </p:cNvPr>
          <p:cNvSpPr txBox="1">
            <a:spLocks/>
          </p:cNvSpPr>
          <p:nvPr/>
        </p:nvSpPr>
        <p:spPr>
          <a:xfrm>
            <a:off x="518160" y="2507469"/>
            <a:ext cx="3253740"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latin typeface="+mn-ea"/>
              </a:rPr>
              <a:t>目前在中高考减压认识中，存在三个误区：</a:t>
            </a:r>
            <a:endParaRPr lang="en-US" altLang="zh-CN" sz="1800" i="1" dirty="0">
              <a:latin typeface="+mn-ea"/>
            </a:endParaRPr>
          </a:p>
          <a:p>
            <a:pPr>
              <a:buFont typeface="Wingdings" panose="05000000000000000000" pitchFamily="2" charset="2"/>
              <a:buChar char="l"/>
            </a:pPr>
            <a:r>
              <a:rPr lang="zh-CN" altLang="en-US" sz="1800" i="1" dirty="0">
                <a:latin typeface="+mn-ea"/>
              </a:rPr>
              <a:t>压力减为零</a:t>
            </a:r>
            <a:endParaRPr lang="en-US" altLang="zh-CN" sz="1800" i="1" dirty="0">
              <a:latin typeface="+mn-ea"/>
            </a:endParaRPr>
          </a:p>
          <a:p>
            <a:pPr>
              <a:buFont typeface="Wingdings" panose="05000000000000000000" pitchFamily="2" charset="2"/>
              <a:buChar char="l"/>
            </a:pPr>
            <a:r>
              <a:rPr lang="zh-CN" altLang="en-US" sz="1800" i="1" dirty="0">
                <a:latin typeface="+mn-ea"/>
              </a:rPr>
              <a:t>越早减压越好</a:t>
            </a:r>
            <a:endParaRPr lang="en-US" altLang="zh-CN" sz="1800" i="1" dirty="0">
              <a:latin typeface="+mn-ea"/>
            </a:endParaRPr>
          </a:p>
          <a:p>
            <a:pPr>
              <a:buFont typeface="Wingdings" panose="05000000000000000000" pitchFamily="2" charset="2"/>
              <a:buChar char="l"/>
            </a:pPr>
            <a:r>
              <a:rPr lang="zh-CN" altLang="en-US" sz="1800" i="1" dirty="0">
                <a:latin typeface="+mn-ea"/>
              </a:rPr>
              <a:t>人人都要减压</a:t>
            </a:r>
          </a:p>
        </p:txBody>
      </p:sp>
      <p:sp>
        <p:nvSpPr>
          <p:cNvPr id="6" name="内容占位符 2">
            <a:extLst>
              <a:ext uri="{FF2B5EF4-FFF2-40B4-BE49-F238E27FC236}">
                <a16:creationId xmlns:a16="http://schemas.microsoft.com/office/drawing/2014/main" id="{8A8FF03A-753D-064E-9FDF-46D4357FA9E6}"/>
              </a:ext>
            </a:extLst>
          </p:cNvPr>
          <p:cNvSpPr txBox="1">
            <a:spLocks/>
          </p:cNvSpPr>
          <p:nvPr/>
        </p:nvSpPr>
        <p:spPr>
          <a:xfrm>
            <a:off x="3796431" y="2507469"/>
            <a:ext cx="3886201"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根据中国心理音乐治疗师协会多年积累的数据表明，科学减压的流程：</a:t>
            </a:r>
            <a:endParaRPr lang="en-US" altLang="zh-CN" sz="1800" dirty="0">
              <a:latin typeface="+mn-ea"/>
            </a:endParaRPr>
          </a:p>
          <a:p>
            <a:pPr marL="342900" indent="-342900">
              <a:buFont typeface="+mj-ea"/>
              <a:buAutoNum type="circleNumDbPlain"/>
            </a:pPr>
            <a:r>
              <a:rPr lang="zh-CN" altLang="en-US" sz="1800" dirty="0">
                <a:latin typeface="+mn-ea"/>
              </a:rPr>
              <a:t>正确评估考生心理状态</a:t>
            </a:r>
            <a:endParaRPr lang="en-US" altLang="zh-CN" sz="1800" dirty="0">
              <a:latin typeface="+mn-ea"/>
            </a:endParaRPr>
          </a:p>
          <a:p>
            <a:pPr marL="342900" indent="-342900">
              <a:buFont typeface="+mj-ea"/>
              <a:buAutoNum type="circleNumDbPlain"/>
            </a:pPr>
            <a:r>
              <a:rPr lang="zh-CN" altLang="en-US" sz="1800" dirty="0">
                <a:latin typeface="+mn-ea"/>
              </a:rPr>
              <a:t>早期增压</a:t>
            </a:r>
            <a:endParaRPr lang="en-US" altLang="zh-CN" sz="1800" dirty="0">
              <a:latin typeface="+mn-ea"/>
            </a:endParaRPr>
          </a:p>
          <a:p>
            <a:pPr marL="342900" indent="-342900">
              <a:buFont typeface="+mj-ea"/>
              <a:buAutoNum type="circleNumDbPlain"/>
            </a:pPr>
            <a:r>
              <a:rPr lang="zh-CN" altLang="en-US" sz="1800" dirty="0">
                <a:latin typeface="+mn-ea"/>
              </a:rPr>
              <a:t>中期放松</a:t>
            </a:r>
            <a:endParaRPr lang="en-US" altLang="zh-CN" sz="1800" dirty="0">
              <a:latin typeface="+mn-ea"/>
            </a:endParaRPr>
          </a:p>
          <a:p>
            <a:pPr marL="342900" indent="-342900">
              <a:buFont typeface="+mj-ea"/>
              <a:buAutoNum type="circleNumDbPlain"/>
            </a:pPr>
            <a:r>
              <a:rPr lang="zh-CN" altLang="en-US" sz="1800" dirty="0">
                <a:latin typeface="+mn-ea"/>
              </a:rPr>
              <a:t>后期减压</a:t>
            </a:r>
            <a:endParaRPr lang="zh-CN" altLang="en-US" sz="1800" i="1" dirty="0">
              <a:latin typeface="+mn-ea"/>
            </a:endParaRPr>
          </a:p>
        </p:txBody>
      </p:sp>
      <p:sp>
        <p:nvSpPr>
          <p:cNvPr id="7" name="内容占位符 2">
            <a:extLst>
              <a:ext uri="{FF2B5EF4-FFF2-40B4-BE49-F238E27FC236}">
                <a16:creationId xmlns:a16="http://schemas.microsoft.com/office/drawing/2014/main" id="{DAC707A0-C4A3-D5DC-2A24-CFA9EAAD28A8}"/>
              </a:ext>
            </a:extLst>
          </p:cNvPr>
          <p:cNvSpPr txBox="1">
            <a:spLocks/>
          </p:cNvSpPr>
          <p:nvPr/>
        </p:nvSpPr>
        <p:spPr>
          <a:xfrm>
            <a:off x="7707162" y="2507469"/>
            <a:ext cx="4365775" cy="214869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latin typeface="+mn-ea"/>
              </a:rPr>
              <a:t>中高考学生减压的方法，包括生理减压和心理减压。</a:t>
            </a:r>
          </a:p>
          <a:p>
            <a:pPr marL="342900" indent="-342900">
              <a:buFont typeface="+mj-lt"/>
              <a:buAutoNum type="alphaLcParenR"/>
            </a:pPr>
            <a:r>
              <a:rPr lang="zh-CN" altLang="en-US" sz="1800" dirty="0">
                <a:latin typeface="+mn-ea"/>
              </a:rPr>
              <a:t>生理减压：药物、饮食和运动等</a:t>
            </a:r>
            <a:endParaRPr lang="en-US" altLang="zh-CN" sz="1800" dirty="0">
              <a:latin typeface="+mn-ea"/>
            </a:endParaRPr>
          </a:p>
          <a:p>
            <a:pPr marL="342900" indent="-342900">
              <a:buFont typeface="+mj-lt"/>
              <a:buAutoNum type="alphaLcParenR"/>
            </a:pPr>
            <a:r>
              <a:rPr lang="zh-CN" altLang="en-US" sz="1800" dirty="0">
                <a:latin typeface="+mn-ea"/>
              </a:rPr>
              <a:t>心理减压：运用心理学技术和手段</a:t>
            </a:r>
          </a:p>
        </p:txBody>
      </p:sp>
      <p:sp>
        <p:nvSpPr>
          <p:cNvPr id="8" name="内容占位符 2">
            <a:extLst>
              <a:ext uri="{FF2B5EF4-FFF2-40B4-BE49-F238E27FC236}">
                <a16:creationId xmlns:a16="http://schemas.microsoft.com/office/drawing/2014/main" id="{BB415FB3-97E6-2874-2DAC-65FE7B0954A7}"/>
              </a:ext>
            </a:extLst>
          </p:cNvPr>
          <p:cNvSpPr txBox="1">
            <a:spLocks/>
          </p:cNvSpPr>
          <p:nvPr/>
        </p:nvSpPr>
        <p:spPr>
          <a:xfrm>
            <a:off x="6636828" y="5413406"/>
            <a:ext cx="5291137" cy="902691"/>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latin typeface="+mn-ea"/>
              </a:rPr>
              <a:t>辅助学生做恰当的生涯规划，明确前进方向，拥有现实感，以达到减缓压力的目的。</a:t>
            </a:r>
            <a:endParaRPr lang="en-US" altLang="zh-CN" sz="1800" dirty="0">
              <a:latin typeface="+mn-ea"/>
            </a:endParaRPr>
          </a:p>
        </p:txBody>
      </p:sp>
    </p:spTree>
    <p:extLst>
      <p:ext uri="{BB962C8B-B14F-4D97-AF65-F5344CB8AC3E}">
        <p14:creationId xmlns:p14="http://schemas.microsoft.com/office/powerpoint/2010/main" val="89669373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FB38B2-215C-B133-E415-26BB5A0C83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496B343-CD74-ED13-0C99-2857EF5FDBD0}"/>
              </a:ext>
            </a:extLst>
          </p:cNvPr>
          <p:cNvSpPr>
            <a:spLocks noGrp="1"/>
          </p:cNvSpPr>
          <p:nvPr>
            <p:ph type="title"/>
          </p:nvPr>
        </p:nvSpPr>
        <p:spPr>
          <a:xfrm>
            <a:off x="518160" y="661929"/>
            <a:ext cx="11155680" cy="936652"/>
          </a:xfrm>
        </p:spPr>
        <p:txBody>
          <a:bodyPr/>
          <a:lstStyle/>
          <a:p>
            <a:r>
              <a:rPr lang="zh-CN" altLang="en-US" sz="900" dirty="0"/>
              <a:t>摆渡技术：考前心理总动员</a:t>
            </a:r>
            <a:r>
              <a:rPr lang="zh-CN" altLang="en-US" sz="900" dirty="0">
                <a:latin typeface="+mn-ea"/>
              </a:rPr>
              <a:t>家长篇</a:t>
            </a:r>
            <a:r>
              <a:rPr lang="zh-CN" altLang="en-US" sz="900" dirty="0"/>
              <a:t>（四）</a:t>
            </a:r>
          </a:p>
        </p:txBody>
      </p:sp>
      <p:sp>
        <p:nvSpPr>
          <p:cNvPr id="3" name="内容占位符 2">
            <a:extLst>
              <a:ext uri="{FF2B5EF4-FFF2-40B4-BE49-F238E27FC236}">
                <a16:creationId xmlns:a16="http://schemas.microsoft.com/office/drawing/2014/main" id="{6F4A103E-2D53-8E44-196E-0FD8059B0839}"/>
              </a:ext>
            </a:extLst>
          </p:cNvPr>
          <p:cNvSpPr>
            <a:spLocks noGrp="1"/>
          </p:cNvSpPr>
          <p:nvPr>
            <p:ph idx="1"/>
          </p:nvPr>
        </p:nvSpPr>
        <p:spPr>
          <a:xfrm>
            <a:off x="4985006" y="3914992"/>
            <a:ext cx="6733413" cy="2401106"/>
          </a:xfrm>
        </p:spPr>
        <p:txBody>
          <a:bodyPr/>
          <a:lstStyle/>
          <a:p>
            <a:pPr marL="0" indent="0">
              <a:buNone/>
            </a:pPr>
            <a:r>
              <a:rPr lang="zh-CN" altLang="en-US" sz="1800" dirty="0"/>
              <a:t>而这种情况下，孩子的青春期会延长，叛逆，失控。</a:t>
            </a:r>
          </a:p>
          <a:p>
            <a:pPr marL="0" indent="0">
              <a:buNone/>
            </a:pPr>
            <a:r>
              <a:rPr lang="zh-CN" altLang="en-US" sz="1800" dirty="0"/>
              <a:t>很多时候，家长的焦虑并不完全是担忧孩子的未来，更有很多隐形的焦虑潜藏在家庭结构中。</a:t>
            </a:r>
          </a:p>
          <a:p>
            <a:pPr marL="0" indent="0">
              <a:buNone/>
            </a:pPr>
            <a:r>
              <a:rPr lang="zh-CN" altLang="en-US" sz="1800" dirty="0"/>
              <a:t>家长如果能够看到自己焦虑的根源，便能够减少他们对孩子的负性干扰，真正给孩子营造一个和谐的家庭氛围。</a:t>
            </a:r>
          </a:p>
        </p:txBody>
      </p:sp>
      <p:sp>
        <p:nvSpPr>
          <p:cNvPr id="5" name="内容占位符 2">
            <a:extLst>
              <a:ext uri="{FF2B5EF4-FFF2-40B4-BE49-F238E27FC236}">
                <a16:creationId xmlns:a16="http://schemas.microsoft.com/office/drawing/2014/main" id="{2BCB91B2-13BE-52F2-264B-EF51916CAA4F}"/>
              </a:ext>
            </a:extLst>
          </p:cNvPr>
          <p:cNvSpPr txBox="1">
            <a:spLocks/>
          </p:cNvSpPr>
          <p:nvPr/>
        </p:nvSpPr>
        <p:spPr>
          <a:xfrm>
            <a:off x="264035" y="5558891"/>
            <a:ext cx="4679440"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家长的焦虑源自何处</a:t>
            </a:r>
            <a:r>
              <a:rPr lang="zh-CN" altLang="en-US" sz="3200" dirty="0">
                <a:effectLst>
                  <a:outerShdw blurRad="38100" dist="38100" dir="2700000" algn="tl">
                    <a:srgbClr val="000000">
                      <a:alpha val="43137"/>
                    </a:srgbClr>
                  </a:outerShdw>
                </a:effectLst>
                <a:latin typeface="+mn-ea"/>
              </a:rPr>
              <a:t>？</a:t>
            </a: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48A5DA5D-36F7-0211-0C49-8E4A86A71B13}"/>
              </a:ext>
            </a:extLst>
          </p:cNvPr>
          <p:cNvSpPr txBox="1">
            <a:spLocks/>
          </p:cNvSpPr>
          <p:nvPr/>
        </p:nvSpPr>
        <p:spPr>
          <a:xfrm>
            <a:off x="515112" y="1321375"/>
            <a:ext cx="5312855" cy="2107686"/>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dirty="0"/>
              <a:t>在家长焦虑的背后有一个可怕的思维模式：很多家长习惯了为孩子而活着，一切都为了孩子。</a:t>
            </a:r>
          </a:p>
          <a:p>
            <a:pPr marL="0" indent="0">
              <a:buFont typeface="Arial" panose="020B0604020202020204" pitchFamily="34" charset="0"/>
              <a:buNone/>
            </a:pPr>
            <a:r>
              <a:rPr lang="zh-CN" altLang="en-US" sz="1800" dirty="0"/>
              <a:t>实际上，带给家长这么大焦虑的并不完全是高考，而是高考这个导火索激活了他们的原始焦虑。</a:t>
            </a:r>
            <a:endParaRPr lang="en-US" altLang="zh-CN" sz="1800" dirty="0"/>
          </a:p>
        </p:txBody>
      </p:sp>
      <p:sp>
        <p:nvSpPr>
          <p:cNvPr id="7" name="内容占位符 2">
            <a:extLst>
              <a:ext uri="{FF2B5EF4-FFF2-40B4-BE49-F238E27FC236}">
                <a16:creationId xmlns:a16="http://schemas.microsoft.com/office/drawing/2014/main" id="{A5218FC0-B8DB-68A5-C30D-BA389A70EDCF}"/>
              </a:ext>
            </a:extLst>
          </p:cNvPr>
          <p:cNvSpPr txBox="1">
            <a:spLocks/>
          </p:cNvSpPr>
          <p:nvPr/>
        </p:nvSpPr>
        <p:spPr>
          <a:xfrm>
            <a:off x="6096000" y="1245580"/>
            <a:ext cx="5574792" cy="255408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1800" dirty="0"/>
              <a:t>在多年的中高考个案中，我们发现现在的家庭结构有一个共性模式：</a:t>
            </a:r>
            <a:endParaRPr lang="en-US" altLang="zh-CN" sz="1800" dirty="0"/>
          </a:p>
          <a:p>
            <a:pPr>
              <a:buFont typeface="Wingdings" panose="05000000000000000000" pitchFamily="2" charset="2"/>
              <a:buChar char="l"/>
            </a:pPr>
            <a:r>
              <a:rPr lang="zh-CN" altLang="en-US" sz="1800" dirty="0"/>
              <a:t>父亲将生活的焦点放在工作上，导致父亲角色缺席</a:t>
            </a:r>
            <a:endParaRPr lang="en-US" altLang="zh-CN" sz="1800" dirty="0"/>
          </a:p>
          <a:p>
            <a:pPr>
              <a:buFont typeface="Wingdings" panose="05000000000000000000" pitchFamily="2" charset="2"/>
              <a:buChar char="l"/>
            </a:pPr>
            <a:r>
              <a:rPr lang="zh-CN" altLang="en-US" sz="1800" dirty="0"/>
              <a:t>母亲失去了对工作及丈夫的控制，于是便转向孩子，焦虑如影随形。</a:t>
            </a:r>
          </a:p>
        </p:txBody>
      </p:sp>
    </p:spTree>
    <p:extLst>
      <p:ext uri="{BB962C8B-B14F-4D97-AF65-F5344CB8AC3E}">
        <p14:creationId xmlns:p14="http://schemas.microsoft.com/office/powerpoint/2010/main" val="42333428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670365-2299-B2AA-5924-DEE980176D9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D694D40-A61A-DF0D-1BA2-53D6E9D6EF2D}"/>
              </a:ext>
            </a:extLst>
          </p:cNvPr>
          <p:cNvSpPr>
            <a:spLocks noGrp="1"/>
          </p:cNvSpPr>
          <p:nvPr>
            <p:ph type="title"/>
          </p:nvPr>
        </p:nvSpPr>
        <p:spPr>
          <a:xfrm>
            <a:off x="518160" y="662739"/>
            <a:ext cx="11155680" cy="936652"/>
          </a:xfrm>
        </p:spPr>
        <p:txBody>
          <a:bodyPr/>
          <a:lstStyle/>
          <a:p>
            <a:r>
              <a:rPr lang="zh-CN" altLang="en-US" sz="900" dirty="0"/>
              <a:t>摆渡技术：考前心理总动员</a:t>
            </a:r>
            <a:r>
              <a:rPr lang="zh-CN" altLang="en-US" sz="900" dirty="0">
                <a:latin typeface="+mn-ea"/>
              </a:rPr>
              <a:t>家长篇</a:t>
            </a:r>
            <a:r>
              <a:rPr lang="zh-CN" altLang="en-US" sz="900" dirty="0"/>
              <a:t>（五）</a:t>
            </a:r>
          </a:p>
        </p:txBody>
      </p:sp>
      <p:sp>
        <p:nvSpPr>
          <p:cNvPr id="3" name="内容占位符 2">
            <a:extLst>
              <a:ext uri="{FF2B5EF4-FFF2-40B4-BE49-F238E27FC236}">
                <a16:creationId xmlns:a16="http://schemas.microsoft.com/office/drawing/2014/main" id="{A45FE186-0B6B-82CB-FCA6-9F09E55C68EF}"/>
              </a:ext>
            </a:extLst>
          </p:cNvPr>
          <p:cNvSpPr>
            <a:spLocks noGrp="1"/>
          </p:cNvSpPr>
          <p:nvPr>
            <p:ph idx="1"/>
          </p:nvPr>
        </p:nvSpPr>
        <p:spPr>
          <a:xfrm>
            <a:off x="521208" y="1814514"/>
            <a:ext cx="11155680" cy="2214562"/>
          </a:xfrm>
        </p:spPr>
        <p:txBody>
          <a:bodyPr/>
          <a:lstStyle/>
          <a:p>
            <a:pPr marL="0" indent="0">
              <a:buNone/>
            </a:pPr>
            <a:r>
              <a:rPr lang="zh-CN" altLang="en-US" sz="1800" dirty="0"/>
              <a:t>很多孩子中高考前夕出现的问题，其实都与家庭有着密不可分的关系。</a:t>
            </a:r>
          </a:p>
          <a:p>
            <a:pPr marL="0" indent="0">
              <a:buNone/>
            </a:pPr>
            <a:r>
              <a:rPr lang="zh-CN" altLang="en-US" sz="1800" dirty="0"/>
              <a:t>当父母的关系出现问题时，孩子会伤害自己，目的是拯救父母的关系。</a:t>
            </a:r>
          </a:p>
          <a:p>
            <a:pPr marL="0" indent="0">
              <a:buNone/>
            </a:pPr>
            <a:r>
              <a:rPr lang="zh-CN" altLang="en-US" sz="1800" dirty="0"/>
              <a:t>有的孩子长期压抑，难以体会成长的快乐。</a:t>
            </a:r>
          </a:p>
          <a:p>
            <a:pPr marL="0" indent="0">
              <a:buNone/>
            </a:pPr>
            <a:r>
              <a:rPr lang="zh-CN" altLang="en-US" sz="1800" dirty="0"/>
              <a:t>有的孩子会用问题行为将父母置身于风雨同舟的境地。</a:t>
            </a:r>
          </a:p>
        </p:txBody>
      </p:sp>
      <p:sp>
        <p:nvSpPr>
          <p:cNvPr id="4" name="内容占位符 2">
            <a:extLst>
              <a:ext uri="{FF2B5EF4-FFF2-40B4-BE49-F238E27FC236}">
                <a16:creationId xmlns:a16="http://schemas.microsoft.com/office/drawing/2014/main" id="{471122C7-C06B-1644-C1B8-CFDCF9B20041}"/>
              </a:ext>
            </a:extLst>
          </p:cNvPr>
          <p:cNvSpPr txBox="1">
            <a:spLocks/>
          </p:cNvSpPr>
          <p:nvPr/>
        </p:nvSpPr>
        <p:spPr>
          <a:xfrm>
            <a:off x="264034" y="5558891"/>
            <a:ext cx="5122353"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孩子考完了，就各自为政？</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05616483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C1647B-66A0-660F-BBF8-5044AEFB19A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1C549644-A754-9445-E6E2-20A3BD3549D6}"/>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（五）</a:t>
            </a:r>
          </a:p>
        </p:txBody>
      </p:sp>
      <p:sp>
        <p:nvSpPr>
          <p:cNvPr id="3" name="内容占位符 2">
            <a:extLst>
              <a:ext uri="{FF2B5EF4-FFF2-40B4-BE49-F238E27FC236}">
                <a16:creationId xmlns:a16="http://schemas.microsoft.com/office/drawing/2014/main" id="{B2413F73-0C0C-1295-A54B-CCE12118F499}"/>
              </a:ext>
            </a:extLst>
          </p:cNvPr>
          <p:cNvSpPr>
            <a:spLocks noGrp="1"/>
          </p:cNvSpPr>
          <p:nvPr>
            <p:ph idx="1"/>
          </p:nvPr>
        </p:nvSpPr>
        <p:spPr>
          <a:xfrm>
            <a:off x="521207" y="2687430"/>
            <a:ext cx="11149584" cy="2900199"/>
          </a:xfrm>
        </p:spPr>
        <p:txBody>
          <a:bodyPr/>
          <a:lstStyle/>
          <a:p>
            <a:pPr marL="0" indent="0">
              <a:buNone/>
            </a:pPr>
            <a:r>
              <a:rPr lang="en-US" altLang="zh-CN" sz="1800" b="1" dirty="0">
                <a:latin typeface="+mn-ea"/>
              </a:rPr>
              <a:t>1</a:t>
            </a:r>
            <a:r>
              <a:rPr lang="zh-CN" altLang="en-US" sz="1800" b="1" dirty="0">
                <a:latin typeface="+mn-ea"/>
              </a:rPr>
              <a:t>、所有的准备都提前到前六个月，而不是一个月</a:t>
            </a:r>
          </a:p>
          <a:p>
            <a:pPr marL="0" indent="0">
              <a:buNone/>
            </a:pPr>
            <a:r>
              <a:rPr lang="zh-CN" altLang="en-US" sz="1800" dirty="0">
                <a:latin typeface="+mn-ea"/>
              </a:rPr>
              <a:t>考前一个月才做准备，反而会给考生增加压力，包括饮食和生活习惯的改善，应趋于平常化。</a:t>
            </a:r>
          </a:p>
          <a:p>
            <a:pPr marL="0" indent="0">
              <a:buNone/>
            </a:pPr>
            <a:r>
              <a:rPr lang="zh-CN" altLang="en-US" sz="1800" dirty="0">
                <a:latin typeface="+mn-ea"/>
              </a:rPr>
              <a:t>提前一两个月带孩子去熟悉考场环境以及旅馆，中间可以抽空去旅馆住一住。</a:t>
            </a:r>
          </a:p>
          <a:p>
            <a:pPr marL="0" indent="0">
              <a:buNone/>
            </a:pPr>
            <a:r>
              <a:rPr lang="zh-CN" altLang="en-US" sz="1800" dirty="0">
                <a:latin typeface="+mn-ea"/>
              </a:rPr>
              <a:t>看考场，看旅馆，看交通路线，讨论一下一旦发生交通堵塞可采取的几种解决方案。</a:t>
            </a:r>
          </a:p>
          <a:p>
            <a:pPr marL="0" indent="0">
              <a:buNone/>
            </a:pPr>
            <a:r>
              <a:rPr lang="zh-CN" altLang="en-US" sz="1800" dirty="0">
                <a:latin typeface="+mn-ea"/>
              </a:rPr>
              <a:t>考试的前一天晚上，检查孩子的准考证是否放在备考袋中。</a:t>
            </a:r>
          </a:p>
          <a:p>
            <a:pPr marL="0" indent="0">
              <a:buNone/>
            </a:pPr>
            <a:r>
              <a:rPr lang="zh-CN" altLang="en-US" sz="1800" dirty="0">
                <a:latin typeface="+mn-ea"/>
              </a:rPr>
              <a:t>还有其他物品的准备。</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7C57D2F9-C5F4-A6B0-67AE-BB8E6A3BCEAF}"/>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endParaRP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6" name="内容占位符 2">
            <a:extLst>
              <a:ext uri="{FF2B5EF4-FFF2-40B4-BE49-F238E27FC236}">
                <a16:creationId xmlns:a16="http://schemas.microsoft.com/office/drawing/2014/main" id="{21060E0E-E457-05DA-5DBB-B0276CCFC7DB}"/>
              </a:ext>
            </a:extLst>
          </p:cNvPr>
          <p:cNvSpPr txBox="1">
            <a:spLocks/>
          </p:cNvSpPr>
          <p:nvPr/>
        </p:nvSpPr>
        <p:spPr>
          <a:xfrm>
            <a:off x="515112" y="1578111"/>
            <a:ext cx="11155679" cy="93665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zh-CN" altLang="en-US" sz="1800" i="1" dirty="0"/>
              <a:t>考前家长的心态很重要，平和的心态才能够对孩子起到积极的支持作用。</a:t>
            </a:r>
            <a:endParaRPr lang="en-US" altLang="zh-CN" sz="1800" i="1" dirty="0"/>
          </a:p>
          <a:p>
            <a:pPr marL="0" indent="0">
              <a:buFont typeface="Arial" panose="020B0604020202020204" pitchFamily="34" charset="0"/>
              <a:buNone/>
            </a:pPr>
            <a:r>
              <a:rPr lang="zh-CN" altLang="en-US" sz="1800" i="1" dirty="0"/>
              <a:t>不要给孩子施加过多的精神压力。</a:t>
            </a:r>
          </a:p>
        </p:txBody>
      </p:sp>
    </p:spTree>
    <p:extLst>
      <p:ext uri="{BB962C8B-B14F-4D97-AF65-F5344CB8AC3E}">
        <p14:creationId xmlns:p14="http://schemas.microsoft.com/office/powerpoint/2010/main" val="9869694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5DB856-58BA-49A6-ED85-20BD4BED357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BC7B25D-3F0E-2722-E50F-995F717A0D18}"/>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（五）</a:t>
            </a:r>
          </a:p>
        </p:txBody>
      </p:sp>
      <p:sp>
        <p:nvSpPr>
          <p:cNvPr id="4" name="内容占位符 2">
            <a:extLst>
              <a:ext uri="{FF2B5EF4-FFF2-40B4-BE49-F238E27FC236}">
                <a16:creationId xmlns:a16="http://schemas.microsoft.com/office/drawing/2014/main" id="{68537BB8-5C73-740E-F438-B4837B9F987D}"/>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
        <p:nvSpPr>
          <p:cNvPr id="5" name="内容占位符 2">
            <a:extLst>
              <a:ext uri="{FF2B5EF4-FFF2-40B4-BE49-F238E27FC236}">
                <a16:creationId xmlns:a16="http://schemas.microsoft.com/office/drawing/2014/main" id="{5EE64210-9D8A-EB92-68A3-810E44228B2F}"/>
              </a:ext>
            </a:extLst>
          </p:cNvPr>
          <p:cNvSpPr txBox="1">
            <a:spLocks/>
          </p:cNvSpPr>
          <p:nvPr/>
        </p:nvSpPr>
        <p:spPr>
          <a:xfrm>
            <a:off x="515111" y="1699406"/>
            <a:ext cx="11155680" cy="397273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altLang="zh-CN" sz="1800" b="1" dirty="0">
                <a:latin typeface="+mn-ea"/>
              </a:rPr>
              <a:t>2</a:t>
            </a:r>
            <a:r>
              <a:rPr lang="zh-CN" altLang="en-US" sz="1800" b="1" dirty="0">
                <a:latin typeface="+mn-ea"/>
              </a:rPr>
              <a:t>、帮助制订复习计划</a:t>
            </a:r>
            <a:endParaRPr lang="en-US" altLang="zh-CN" sz="1800" b="1" dirty="0">
              <a:latin typeface="+mn-ea"/>
            </a:endParaRPr>
          </a:p>
          <a:p>
            <a:pPr marL="0" indent="0">
              <a:buFont typeface="Arial" panose="020B0604020202020204" pitchFamily="34" charset="0"/>
              <a:buNone/>
            </a:pPr>
            <a:endParaRPr lang="zh-CN" altLang="en-US" sz="1800" b="1" dirty="0">
              <a:latin typeface="+mn-ea"/>
            </a:endParaRPr>
          </a:p>
          <a:p>
            <a:pPr marL="0" indent="0">
              <a:buFont typeface="Arial" panose="020B0604020202020204" pitchFamily="34" charset="0"/>
              <a:buNone/>
            </a:pPr>
            <a:r>
              <a:rPr lang="zh-CN" altLang="en-US" sz="1800" dirty="0">
                <a:latin typeface="+mn-ea"/>
              </a:rPr>
              <a:t>制订复习计划应以孩子的意见为主，家长可以进行一些必要的指导和提示，但绝不能包办代替。</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r>
              <a:rPr lang="zh-CN" altLang="en-US" sz="1800" dirty="0">
                <a:latin typeface="+mn-ea"/>
              </a:rPr>
              <a:t>让孩子充分发挥其自主性。</a:t>
            </a: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a:p>
            <a:pPr marL="0" indent="0">
              <a:buFont typeface="Arial" panose="020B0604020202020204" pitchFamily="34" charset="0"/>
              <a:buNone/>
            </a:pPr>
            <a:endParaRPr lang="zh-CN" altLang="en-US" sz="1800" dirty="0">
              <a:latin typeface="+mn-ea"/>
            </a:endParaRPr>
          </a:p>
        </p:txBody>
      </p:sp>
    </p:spTree>
    <p:extLst>
      <p:ext uri="{BB962C8B-B14F-4D97-AF65-F5344CB8AC3E}">
        <p14:creationId xmlns:p14="http://schemas.microsoft.com/office/powerpoint/2010/main" val="109579064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7F422C-8ECB-DB58-59D4-A0000DDAEBC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D1B84DB-2EE5-1EB4-21B8-431A0F01DD5D}"/>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（六）</a:t>
            </a:r>
          </a:p>
        </p:txBody>
      </p:sp>
      <p:sp>
        <p:nvSpPr>
          <p:cNvPr id="3" name="内容占位符 2">
            <a:extLst>
              <a:ext uri="{FF2B5EF4-FFF2-40B4-BE49-F238E27FC236}">
                <a16:creationId xmlns:a16="http://schemas.microsoft.com/office/drawing/2014/main" id="{91767350-2128-F5B4-0F78-13102D1038D7}"/>
              </a:ext>
            </a:extLst>
          </p:cNvPr>
          <p:cNvSpPr>
            <a:spLocks noGrp="1"/>
          </p:cNvSpPr>
          <p:nvPr>
            <p:ph idx="1"/>
          </p:nvPr>
        </p:nvSpPr>
        <p:spPr>
          <a:xfrm>
            <a:off x="521208" y="1699405"/>
            <a:ext cx="11155680" cy="3859486"/>
          </a:xfrm>
        </p:spPr>
        <p:txBody>
          <a:bodyPr/>
          <a:lstStyle/>
          <a:p>
            <a:pPr marL="0" indent="0">
              <a:buNone/>
            </a:pPr>
            <a:r>
              <a:rPr lang="en-US" altLang="zh-CN" sz="1800" b="1" dirty="0">
                <a:latin typeface="+mn-ea"/>
              </a:rPr>
              <a:t>3</a:t>
            </a:r>
            <a:r>
              <a:rPr lang="zh-CN" altLang="en-US" sz="1800" b="1" dirty="0">
                <a:latin typeface="+mn-ea"/>
              </a:rPr>
              <a:t>、创造良好的复习环境</a:t>
            </a:r>
          </a:p>
          <a:p>
            <a:pPr marL="0" indent="0">
              <a:buNone/>
            </a:pPr>
            <a:endParaRPr lang="zh-CN" altLang="en-US" sz="1800" dirty="0">
              <a:latin typeface="+mn-ea"/>
            </a:endParaRPr>
          </a:p>
          <a:p>
            <a:pPr marL="0" indent="0">
              <a:buNone/>
            </a:pPr>
            <a:r>
              <a:rPr lang="zh-CN" altLang="en-US" sz="1800" dirty="0">
                <a:latin typeface="+mn-ea"/>
              </a:rPr>
              <a:t>备考阶段，家长要想方设法使家庭的环境相对安静。</a:t>
            </a:r>
          </a:p>
          <a:p>
            <a:pPr marL="0" indent="0">
              <a:buNone/>
            </a:pPr>
            <a:endParaRPr lang="zh-CN" altLang="en-US" sz="1800" dirty="0">
              <a:latin typeface="+mn-ea"/>
            </a:endParaRPr>
          </a:p>
          <a:p>
            <a:pPr lvl="1">
              <a:buFont typeface="Wingdings" panose="05000000000000000000" pitchFamily="2" charset="2"/>
              <a:buChar char="ü"/>
            </a:pPr>
            <a:r>
              <a:rPr lang="zh-CN" altLang="en-US" sz="1800" dirty="0">
                <a:latin typeface="+mn-ea"/>
              </a:rPr>
              <a:t>不要看太过于吸引孩子的电视节目</a:t>
            </a:r>
            <a:endParaRPr lang="en-US" altLang="zh-CN" sz="1800" dirty="0">
              <a:latin typeface="+mn-ea"/>
            </a:endParaRPr>
          </a:p>
          <a:p>
            <a:pPr lvl="1">
              <a:buFont typeface="Wingdings" panose="05000000000000000000" pitchFamily="2" charset="2"/>
              <a:buChar char="ü"/>
            </a:pPr>
            <a:r>
              <a:rPr lang="zh-CN" altLang="en-US" sz="1800" dirty="0">
                <a:latin typeface="+mn-ea"/>
              </a:rPr>
              <a:t>不会客，或尽量在家以外的地方会客</a:t>
            </a:r>
            <a:endParaRPr lang="en-US" altLang="zh-CN" sz="1800" dirty="0">
              <a:latin typeface="+mn-ea"/>
            </a:endParaRPr>
          </a:p>
          <a:p>
            <a:pPr lvl="1">
              <a:buFont typeface="Wingdings" panose="05000000000000000000" pitchFamily="2" charset="2"/>
              <a:buChar char="ü"/>
            </a:pPr>
            <a:r>
              <a:rPr lang="zh-CN" altLang="en-US" sz="1800" dirty="0">
                <a:latin typeface="+mn-ea"/>
              </a:rPr>
              <a:t>尽量少打电话，或通话简短，不要拉家常、闲聊天。</a:t>
            </a:r>
          </a:p>
          <a:p>
            <a:pPr marL="0" indent="0">
              <a:buNone/>
            </a:pPr>
            <a:endParaRPr lang="zh-CN" altLang="en-US" sz="1800" dirty="0">
              <a:latin typeface="+mn-ea"/>
            </a:endParaRP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34B4F9BF-1521-2EA5-CF7F-8FCB9974599A}"/>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9472083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EFDF0A-364E-9282-CAD7-A99C57EC592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A77D56A-A945-1A79-E01C-454E782E2DDE}"/>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（七）</a:t>
            </a:r>
          </a:p>
        </p:txBody>
      </p:sp>
      <p:sp>
        <p:nvSpPr>
          <p:cNvPr id="3" name="内容占位符 2">
            <a:extLst>
              <a:ext uri="{FF2B5EF4-FFF2-40B4-BE49-F238E27FC236}">
                <a16:creationId xmlns:a16="http://schemas.microsoft.com/office/drawing/2014/main" id="{30DD122E-0816-89AE-B465-11EDCE8CBD69}"/>
              </a:ext>
            </a:extLst>
          </p:cNvPr>
          <p:cNvSpPr>
            <a:spLocks noGrp="1"/>
          </p:cNvSpPr>
          <p:nvPr>
            <p:ph idx="1"/>
          </p:nvPr>
        </p:nvSpPr>
        <p:spPr>
          <a:xfrm>
            <a:off x="521208" y="1699404"/>
            <a:ext cx="11155680" cy="3701271"/>
          </a:xfrm>
        </p:spPr>
        <p:txBody>
          <a:bodyPr/>
          <a:lstStyle/>
          <a:p>
            <a:pPr marL="0" indent="0">
              <a:buNone/>
            </a:pPr>
            <a:r>
              <a:rPr lang="en-US" altLang="zh-CN" sz="1800" b="1" dirty="0">
                <a:latin typeface="+mn-ea"/>
              </a:rPr>
              <a:t>4</a:t>
            </a:r>
            <a:r>
              <a:rPr lang="zh-CN" altLang="en-US" sz="1800" b="1" dirty="0">
                <a:latin typeface="+mn-ea"/>
              </a:rPr>
              <a:t>、督促孩子运动与娱乐</a:t>
            </a:r>
          </a:p>
          <a:p>
            <a:pPr marL="0" indent="0">
              <a:buNone/>
            </a:pPr>
            <a:endParaRPr lang="zh-CN" altLang="en-US" sz="1800" dirty="0">
              <a:latin typeface="+mn-ea"/>
            </a:endParaRPr>
          </a:p>
          <a:p>
            <a:pPr marL="0" indent="0">
              <a:buNone/>
            </a:pPr>
            <a:r>
              <a:rPr lang="zh-CN" altLang="en-US" sz="1800" dirty="0">
                <a:latin typeface="+mn-ea"/>
              </a:rPr>
              <a:t>复习期间做必要的、适度的轻微运动。</a:t>
            </a:r>
          </a:p>
          <a:p>
            <a:pPr marL="0" indent="0">
              <a:buNone/>
            </a:pPr>
            <a:endParaRPr lang="zh-CN" altLang="en-US" sz="1800" dirty="0">
              <a:latin typeface="+mn-ea"/>
            </a:endParaRPr>
          </a:p>
          <a:p>
            <a:pPr marL="0" indent="0">
              <a:buNone/>
            </a:pPr>
            <a:r>
              <a:rPr lang="zh-CN" altLang="en-US" sz="1800" dirty="0">
                <a:latin typeface="+mn-ea"/>
              </a:rPr>
              <a:t>例如散步、做俯卧撑等，八段锦、打太极，有助于解除疲劳、焕发精力。</a:t>
            </a:r>
          </a:p>
          <a:p>
            <a:pPr marL="0" indent="0">
              <a:buNone/>
            </a:pPr>
            <a:r>
              <a:rPr lang="zh-CN" altLang="en-US" sz="1800" dirty="0">
                <a:latin typeface="+mn-ea"/>
              </a:rPr>
              <a:t>还可以在休息期间听听喜欢的音乐。</a:t>
            </a:r>
          </a:p>
          <a:p>
            <a:pPr marL="0" indent="0">
              <a:buNone/>
            </a:pPr>
            <a:r>
              <a:rPr lang="zh-CN" altLang="en-US" sz="1800" dirty="0">
                <a:latin typeface="+mn-ea"/>
              </a:rPr>
              <a:t>但不宜看强烈的、有刺激性的节目。</a:t>
            </a:r>
          </a:p>
        </p:txBody>
      </p:sp>
      <p:sp>
        <p:nvSpPr>
          <p:cNvPr id="4" name="内容占位符 2">
            <a:extLst>
              <a:ext uri="{FF2B5EF4-FFF2-40B4-BE49-F238E27FC236}">
                <a16:creationId xmlns:a16="http://schemas.microsoft.com/office/drawing/2014/main" id="{FDEA665F-634E-488A-529C-4AD3BD30936C}"/>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266989089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8EC770-15FF-A3B7-B855-BCB2947BECE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5EA9F81-855B-B35C-C1D6-25FC63E2B590}"/>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（八）</a:t>
            </a:r>
          </a:p>
        </p:txBody>
      </p:sp>
      <p:sp>
        <p:nvSpPr>
          <p:cNvPr id="3" name="内容占位符 2">
            <a:extLst>
              <a:ext uri="{FF2B5EF4-FFF2-40B4-BE49-F238E27FC236}">
                <a16:creationId xmlns:a16="http://schemas.microsoft.com/office/drawing/2014/main" id="{7C715949-A676-82ED-5864-F9D44B25D6B8}"/>
              </a:ext>
            </a:extLst>
          </p:cNvPr>
          <p:cNvSpPr>
            <a:spLocks noGrp="1"/>
          </p:cNvSpPr>
          <p:nvPr>
            <p:ph idx="1"/>
          </p:nvPr>
        </p:nvSpPr>
        <p:spPr>
          <a:xfrm>
            <a:off x="521208" y="1699405"/>
            <a:ext cx="11155680" cy="3229783"/>
          </a:xfrm>
        </p:spPr>
        <p:txBody>
          <a:bodyPr/>
          <a:lstStyle/>
          <a:p>
            <a:pPr marL="0" indent="0">
              <a:buNone/>
            </a:pPr>
            <a:r>
              <a:rPr lang="en-US" altLang="zh-CN" sz="1800" dirty="0">
                <a:latin typeface="+mn-ea"/>
              </a:rPr>
              <a:t>5</a:t>
            </a:r>
            <a:r>
              <a:rPr lang="zh-CN" altLang="en-US" sz="1800" dirty="0">
                <a:latin typeface="+mn-ea"/>
              </a:rPr>
              <a:t>、确保孩子身体健康</a:t>
            </a:r>
          </a:p>
          <a:p>
            <a:pPr marL="0" indent="0">
              <a:buNone/>
            </a:pPr>
            <a:endParaRPr lang="zh-CN" altLang="en-US" sz="1800" dirty="0">
              <a:latin typeface="+mn-ea"/>
            </a:endParaRPr>
          </a:p>
          <a:p>
            <a:pPr marL="0" indent="0">
              <a:buNone/>
            </a:pPr>
            <a:r>
              <a:rPr lang="zh-CN" altLang="en-US" sz="1800" dirty="0">
                <a:latin typeface="+mn-ea"/>
              </a:rPr>
              <a:t>饮食卫生问题。</a:t>
            </a:r>
          </a:p>
          <a:p>
            <a:pPr marL="0" indent="0">
              <a:buNone/>
            </a:pPr>
            <a:r>
              <a:rPr lang="zh-CN" altLang="en-US" sz="1800" dirty="0">
                <a:latin typeface="+mn-ea"/>
              </a:rPr>
              <a:t>空调使用问题。</a:t>
            </a:r>
          </a:p>
        </p:txBody>
      </p:sp>
      <p:sp>
        <p:nvSpPr>
          <p:cNvPr id="4" name="内容占位符 2">
            <a:extLst>
              <a:ext uri="{FF2B5EF4-FFF2-40B4-BE49-F238E27FC236}">
                <a16:creationId xmlns:a16="http://schemas.microsoft.com/office/drawing/2014/main" id="{DC634FD4-15B4-18F9-EF8B-EDEE41BEACB4}"/>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6125651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493EE9-B0D4-A577-A75E-2C57A782772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DA76E41-5CE4-6D5C-5B3E-1D2D5ED70A66}"/>
              </a:ext>
            </a:extLst>
          </p:cNvPr>
          <p:cNvSpPr>
            <a:spLocks noGrp="1"/>
          </p:cNvSpPr>
          <p:nvPr>
            <p:ph type="title"/>
          </p:nvPr>
        </p:nvSpPr>
        <p:spPr>
          <a:xfrm>
            <a:off x="521208" y="662737"/>
            <a:ext cx="11155680" cy="936652"/>
          </a:xfrm>
        </p:spPr>
        <p:txBody>
          <a:bodyPr/>
          <a:lstStyle/>
          <a:p>
            <a:r>
              <a:rPr lang="zh-CN" altLang="en-US" sz="900" dirty="0"/>
              <a:t>摆渡技术：考前心理总动员</a:t>
            </a:r>
            <a:r>
              <a:rPr lang="zh-CN" altLang="en-US" sz="900" dirty="0">
                <a:latin typeface="+mn-ea"/>
              </a:rPr>
              <a:t>家长篇</a:t>
            </a:r>
            <a:r>
              <a:rPr lang="zh-CN" altLang="en-US" sz="900" dirty="0"/>
              <a:t>（九）</a:t>
            </a:r>
          </a:p>
        </p:txBody>
      </p:sp>
      <p:sp>
        <p:nvSpPr>
          <p:cNvPr id="3" name="内容占位符 2">
            <a:extLst>
              <a:ext uri="{FF2B5EF4-FFF2-40B4-BE49-F238E27FC236}">
                <a16:creationId xmlns:a16="http://schemas.microsoft.com/office/drawing/2014/main" id="{E24526CF-5562-3411-3784-1EA3D2E7DFCB}"/>
              </a:ext>
            </a:extLst>
          </p:cNvPr>
          <p:cNvSpPr>
            <a:spLocks noGrp="1"/>
          </p:cNvSpPr>
          <p:nvPr>
            <p:ph idx="1"/>
          </p:nvPr>
        </p:nvSpPr>
        <p:spPr>
          <a:xfrm>
            <a:off x="521208" y="1828800"/>
            <a:ext cx="11155680" cy="3629025"/>
          </a:xfrm>
        </p:spPr>
        <p:txBody>
          <a:bodyPr/>
          <a:lstStyle/>
          <a:p>
            <a:pPr marL="0" indent="0">
              <a:buNone/>
            </a:pPr>
            <a:r>
              <a:rPr lang="en-US" altLang="zh-CN" sz="1800" b="1" dirty="0">
                <a:latin typeface="+mn-ea"/>
              </a:rPr>
              <a:t>6</a:t>
            </a:r>
            <a:r>
              <a:rPr lang="zh-CN" altLang="en-US" sz="1800" b="1" dirty="0">
                <a:latin typeface="+mn-ea"/>
              </a:rPr>
              <a:t>、经常帮助孩子调整心态</a:t>
            </a:r>
          </a:p>
          <a:p>
            <a:pPr marL="0" indent="0">
              <a:buNone/>
            </a:pPr>
            <a:r>
              <a:rPr lang="zh-CN" altLang="en-US" sz="1800" dirty="0">
                <a:latin typeface="+mn-ea"/>
              </a:rPr>
              <a:t>孩子在备考阶段出现心态变化情绪是正常的现象，不必过于担心，要以平等的身份从尊重孩子人格的角度出发，帮助孩子及时调整心态。</a:t>
            </a:r>
            <a:endParaRPr lang="en-US" altLang="zh-CN" sz="1800" dirty="0">
              <a:latin typeface="+mn-ea"/>
            </a:endParaRPr>
          </a:p>
          <a:p>
            <a:pPr marL="0" indent="0">
              <a:buNone/>
            </a:pPr>
            <a:endParaRPr lang="en-US" altLang="zh-CN" sz="1800" dirty="0">
              <a:latin typeface="+mn-ea"/>
            </a:endParaRPr>
          </a:p>
          <a:p>
            <a:pPr marL="0" indent="0">
              <a:buNone/>
            </a:pPr>
            <a:r>
              <a:rPr lang="en-US" altLang="zh-CN" sz="1800" b="1" dirty="0">
                <a:latin typeface="+mn-ea"/>
              </a:rPr>
              <a:t>7</a:t>
            </a:r>
            <a:r>
              <a:rPr lang="zh-CN" altLang="en-US" sz="1800" b="1" dirty="0">
                <a:latin typeface="+mn-ea"/>
              </a:rPr>
              <a:t>、积极关注和鼓励</a:t>
            </a:r>
          </a:p>
          <a:p>
            <a:pPr marL="0" indent="0">
              <a:buNone/>
            </a:pPr>
            <a:r>
              <a:rPr lang="zh-CN" altLang="en-US" sz="1800" dirty="0">
                <a:latin typeface="+mn-ea"/>
              </a:rPr>
              <a:t>家长应该多做鼓励和积极暗示。</a:t>
            </a:r>
          </a:p>
          <a:p>
            <a:pPr marL="0" indent="0">
              <a:buNone/>
            </a:pPr>
            <a:r>
              <a:rPr lang="zh-CN" altLang="en-US" sz="1800" dirty="0">
                <a:latin typeface="+mn-ea"/>
              </a:rPr>
              <a:t>但不要用过高的期望造成孩子心理压力。</a:t>
            </a:r>
          </a:p>
          <a:p>
            <a:pPr marL="0" indent="0">
              <a:buNone/>
            </a:pPr>
            <a:endParaRPr lang="zh-CN" altLang="en-US" sz="1800" dirty="0">
              <a:latin typeface="+mn-ea"/>
            </a:endParaRPr>
          </a:p>
        </p:txBody>
      </p:sp>
      <p:sp>
        <p:nvSpPr>
          <p:cNvPr id="4" name="内容占位符 2">
            <a:extLst>
              <a:ext uri="{FF2B5EF4-FFF2-40B4-BE49-F238E27FC236}">
                <a16:creationId xmlns:a16="http://schemas.microsoft.com/office/drawing/2014/main" id="{BED51311-2DB4-4AD6-C486-696939849442}"/>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rPr>
              <a:t>家长只需做好重要陪护</a:t>
            </a:r>
          </a:p>
          <a:p>
            <a:pPr marL="0" indent="0">
              <a:buNone/>
            </a:pPr>
            <a:endParaRPr lang="zh-CN" altLang="en-US" sz="3200" dirty="0">
              <a:effectLst>
                <a:outerShdw blurRad="38100" dist="38100" dir="2700000" algn="tl">
                  <a:srgbClr val="000000">
                    <a:alpha val="43137"/>
                  </a:srgbClr>
                </a:outerShdw>
              </a:effectLst>
              <a:latin typeface="+mn-ea"/>
            </a:endParaRP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0117318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CC1461-6B34-B4D4-36CF-2403E90473DD}"/>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F88B20F-274E-D980-4F2E-C2239C8C0877}"/>
              </a:ext>
            </a:extLst>
          </p:cNvPr>
          <p:cNvSpPr>
            <a:spLocks noGrp="1"/>
          </p:cNvSpPr>
          <p:nvPr>
            <p:ph type="title"/>
          </p:nvPr>
        </p:nvSpPr>
        <p:spPr>
          <a:xfrm>
            <a:off x="521208" y="662737"/>
            <a:ext cx="11155680" cy="936652"/>
          </a:xfrm>
        </p:spPr>
        <p:txBody>
          <a:bodyPr/>
          <a:lstStyle/>
          <a:p>
            <a:r>
              <a:rPr lang="zh-CN" altLang="en-US" sz="900" dirty="0"/>
              <a:t>中高考减压音乐摆渡的原理（一）</a:t>
            </a:r>
          </a:p>
        </p:txBody>
      </p:sp>
      <p:sp>
        <p:nvSpPr>
          <p:cNvPr id="3" name="内容占位符 2">
            <a:extLst>
              <a:ext uri="{FF2B5EF4-FFF2-40B4-BE49-F238E27FC236}">
                <a16:creationId xmlns:a16="http://schemas.microsoft.com/office/drawing/2014/main" id="{4FFDE198-1736-2D86-56B1-3FD9FCA83890}"/>
              </a:ext>
            </a:extLst>
          </p:cNvPr>
          <p:cNvSpPr>
            <a:spLocks noGrp="1"/>
          </p:cNvSpPr>
          <p:nvPr>
            <p:ph idx="1"/>
          </p:nvPr>
        </p:nvSpPr>
        <p:spPr>
          <a:xfrm>
            <a:off x="4757739" y="1599389"/>
            <a:ext cx="6913054" cy="5129212"/>
          </a:xfrm>
        </p:spPr>
        <p:txBody>
          <a:bodyPr/>
          <a:lstStyle/>
          <a:p>
            <a:pPr marL="0" indent="0">
              <a:buNone/>
            </a:pPr>
            <a:r>
              <a:rPr lang="zh-CN" altLang="en-US" sz="1800" dirty="0">
                <a:latin typeface="+mn-ea"/>
              </a:rPr>
              <a:t>用中医的情绪管理，让学生不稳定的焦虑和抑郁稳定在心房和中脘这里。</a:t>
            </a:r>
          </a:p>
          <a:p>
            <a:pPr marL="0" indent="0">
              <a:buNone/>
            </a:pPr>
            <a:r>
              <a:rPr lang="zh-CN" altLang="en-US" sz="1800" dirty="0">
                <a:latin typeface="+mn-ea"/>
              </a:rPr>
              <a:t>用音乐压力免疫接种程序，让学生对铃声、钟声等比较敏感的声音而引起的焦虑进行脱敏。</a:t>
            </a:r>
          </a:p>
          <a:p>
            <a:pPr marL="0" indent="0">
              <a:buNone/>
            </a:pPr>
            <a:r>
              <a:rPr lang="zh-CN" altLang="en-US" sz="1800" dirty="0">
                <a:latin typeface="+mn-ea"/>
              </a:rPr>
              <a:t>用心灵排毒的方法，配合意向，感觉雨水从身体内部淋下去带走疲惫，带走不安。</a:t>
            </a:r>
          </a:p>
          <a:p>
            <a:pPr marL="0" indent="0">
              <a:buNone/>
            </a:pPr>
            <a:r>
              <a:rPr lang="zh-CN" altLang="en-US" sz="1800" dirty="0">
                <a:latin typeface="+mn-ea"/>
              </a:rPr>
              <a:t>带着一个社会支持系统的隐喻，出现成熟的哼唱的声音，引导你发现我们每一个人都有的那个一直陪着我们成长不离左右的内存支撑。</a:t>
            </a:r>
          </a:p>
          <a:p>
            <a:pPr marL="0" indent="0">
              <a:buNone/>
            </a:pPr>
            <a:r>
              <a:rPr lang="zh-CN" altLang="en-US" sz="1800" dirty="0">
                <a:latin typeface="+mn-ea"/>
              </a:rPr>
              <a:t>当我们用音乐眼动技术，让学生把注意力放在下脘时，心灵沉稳在地上，既不焦虑，也不抑郁。</a:t>
            </a:r>
          </a:p>
        </p:txBody>
      </p:sp>
      <p:sp>
        <p:nvSpPr>
          <p:cNvPr id="6" name="内容占位符 2">
            <a:extLst>
              <a:ext uri="{FF2B5EF4-FFF2-40B4-BE49-F238E27FC236}">
                <a16:creationId xmlns:a16="http://schemas.microsoft.com/office/drawing/2014/main" id="{3F7A8874-BB96-D533-D060-F937A6A6C778}"/>
              </a:ext>
            </a:extLst>
          </p:cNvPr>
          <p:cNvSpPr txBox="1">
            <a:spLocks/>
          </p:cNvSpPr>
          <p:nvPr/>
        </p:nvSpPr>
        <p:spPr>
          <a:xfrm>
            <a:off x="671513" y="1485901"/>
            <a:ext cx="5574792" cy="5129212"/>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342900" indent="-342900">
              <a:buFont typeface="+mj-ea"/>
              <a:buAutoNum type="circleNumDbPlain"/>
            </a:pPr>
            <a:r>
              <a:rPr lang="zh-CN" altLang="en-US" sz="1800" dirty="0">
                <a:latin typeface="+mn-ea"/>
              </a:rPr>
              <a:t>共情：前行下降至内窝</a:t>
            </a:r>
            <a:endParaRPr lang="en-US" altLang="zh-CN" sz="1800" dirty="0">
              <a:latin typeface="+mn-ea"/>
            </a:endParaRPr>
          </a:p>
          <a:p>
            <a:pPr marL="342900" indent="-342900">
              <a:buFont typeface="+mj-ea"/>
              <a:buAutoNum type="circleNumDbPlain"/>
            </a:pPr>
            <a:r>
              <a:rPr lang="zh-CN" altLang="en-US" sz="1800" dirty="0">
                <a:latin typeface="+mn-ea"/>
              </a:rPr>
              <a:t>抱持：温暖心窝情结完形</a:t>
            </a:r>
            <a:endParaRPr lang="en-US" altLang="zh-CN" sz="1800" dirty="0">
              <a:latin typeface="+mn-ea"/>
            </a:endParaRPr>
          </a:p>
          <a:p>
            <a:pPr marL="342900" indent="-342900">
              <a:buFont typeface="+mj-ea"/>
              <a:buAutoNum type="circleNumDbPlain"/>
            </a:pPr>
            <a:r>
              <a:rPr lang="zh-CN" altLang="en-US" sz="1800" dirty="0">
                <a:latin typeface="+mn-ea"/>
              </a:rPr>
              <a:t>安神：人静，降至中脘</a:t>
            </a:r>
            <a:endParaRPr lang="en-US" altLang="zh-CN" sz="1800" dirty="0">
              <a:latin typeface="+mn-ea"/>
            </a:endParaRPr>
          </a:p>
          <a:p>
            <a:pPr marL="342900" indent="-342900">
              <a:buFont typeface="+mj-ea"/>
              <a:buAutoNum type="circleNumDbPlain"/>
            </a:pPr>
            <a:r>
              <a:rPr lang="zh-CN" altLang="en-US" sz="1800" dirty="0">
                <a:latin typeface="+mn-ea"/>
              </a:rPr>
              <a:t>稳定：焦虑稳定节奏中脘</a:t>
            </a:r>
            <a:endParaRPr lang="en-US" altLang="zh-CN" sz="1800" dirty="0">
              <a:latin typeface="+mn-ea"/>
            </a:endParaRPr>
          </a:p>
          <a:p>
            <a:pPr marL="342900" indent="-342900">
              <a:buFont typeface="+mj-ea"/>
              <a:buAutoNum type="circleNumDbPlain"/>
            </a:pPr>
            <a:r>
              <a:rPr lang="zh-CN" altLang="en-US" sz="1800" dirty="0">
                <a:latin typeface="+mn-ea"/>
              </a:rPr>
              <a:t>激活：激活浓情中脘完形</a:t>
            </a:r>
            <a:endParaRPr lang="en-US" altLang="zh-CN" sz="1800" dirty="0">
              <a:latin typeface="+mn-ea"/>
            </a:endParaRPr>
          </a:p>
          <a:p>
            <a:pPr marL="342900" indent="-342900">
              <a:buFont typeface="+mj-ea"/>
              <a:buAutoNum type="circleNumDbPlain"/>
            </a:pPr>
            <a:r>
              <a:rPr lang="zh-CN" altLang="en-US" sz="1800" dirty="0">
                <a:latin typeface="+mn-ea"/>
              </a:rPr>
              <a:t>排毒：滴雨深表抑郁中下</a:t>
            </a:r>
            <a:endParaRPr lang="en-US" altLang="zh-CN" sz="1800" dirty="0">
              <a:latin typeface="+mn-ea"/>
            </a:endParaRPr>
          </a:p>
          <a:p>
            <a:pPr marL="342900" indent="-342900">
              <a:buFont typeface="+mj-ea"/>
              <a:buAutoNum type="circleNumDbPlain"/>
            </a:pPr>
            <a:r>
              <a:rPr lang="zh-CN" altLang="en-US" sz="1800" dirty="0">
                <a:latin typeface="+mn-ea"/>
              </a:rPr>
              <a:t>陪伴：完形、释怀、呼吸</a:t>
            </a:r>
            <a:endParaRPr lang="en-US" altLang="zh-CN" sz="1800" dirty="0">
              <a:latin typeface="+mn-ea"/>
            </a:endParaRPr>
          </a:p>
          <a:p>
            <a:pPr marL="342900" indent="-342900">
              <a:buFont typeface="+mj-ea"/>
              <a:buAutoNum type="circleNumDbPlain"/>
            </a:pPr>
            <a:r>
              <a:rPr lang="zh-CN" altLang="en-US" sz="1800" dirty="0">
                <a:latin typeface="+mn-ea"/>
              </a:rPr>
              <a:t>凝神：意象蒸发与下落第三层</a:t>
            </a:r>
            <a:endParaRPr lang="en-US" altLang="zh-CN" sz="1800" dirty="0">
              <a:latin typeface="+mn-ea"/>
            </a:endParaRPr>
          </a:p>
          <a:p>
            <a:pPr marL="342900" indent="-342900">
              <a:buFont typeface="+mj-ea"/>
              <a:buAutoNum type="circleNumDbPlain"/>
            </a:pPr>
            <a:r>
              <a:rPr lang="zh-CN" altLang="en-US" sz="1800" dirty="0">
                <a:latin typeface="+mn-ea"/>
              </a:rPr>
              <a:t>训练：下脘呼吸训练</a:t>
            </a:r>
            <a:endParaRPr lang="en-US" altLang="zh-CN" sz="1800" dirty="0">
              <a:latin typeface="+mn-ea"/>
            </a:endParaRPr>
          </a:p>
          <a:p>
            <a:pPr marL="342900" indent="-342900">
              <a:buFont typeface="+mj-ea"/>
              <a:buAutoNum type="circleNumDbPlain"/>
            </a:pPr>
            <a:r>
              <a:rPr lang="zh-CN" altLang="en-US" sz="1800" dirty="0">
                <a:latin typeface="+mn-ea"/>
              </a:rPr>
              <a:t>创造：力量狂想曲资源挖掘</a:t>
            </a:r>
            <a:endParaRPr lang="en-US" altLang="zh-CN" sz="1800" dirty="0">
              <a:latin typeface="+mn-ea"/>
            </a:endParaRPr>
          </a:p>
          <a:p>
            <a:pPr marL="342900" indent="-342900">
              <a:buFont typeface="+mj-ea"/>
              <a:buAutoNum type="circleNumDbPlain"/>
            </a:pPr>
            <a:r>
              <a:rPr lang="zh-CN" altLang="en-US" sz="1800" dirty="0">
                <a:latin typeface="+mn-ea"/>
              </a:rPr>
              <a:t>固化：时间线焦虑转积极应对</a:t>
            </a:r>
          </a:p>
        </p:txBody>
      </p:sp>
    </p:spTree>
    <p:extLst>
      <p:ext uri="{BB962C8B-B14F-4D97-AF65-F5344CB8AC3E}">
        <p14:creationId xmlns:p14="http://schemas.microsoft.com/office/powerpoint/2010/main" val="15522984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E1BEB9-6885-B380-FD66-F1CBB7012FC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0523BB7-29D2-D109-1CDF-C13536B09C39}"/>
              </a:ext>
            </a:extLst>
          </p:cNvPr>
          <p:cNvSpPr>
            <a:spLocks noGrp="1"/>
          </p:cNvSpPr>
          <p:nvPr>
            <p:ph type="title"/>
          </p:nvPr>
        </p:nvSpPr>
        <p:spPr>
          <a:xfrm>
            <a:off x="521208" y="662737"/>
            <a:ext cx="11155680" cy="936652"/>
          </a:xfrm>
        </p:spPr>
        <p:txBody>
          <a:bodyPr/>
          <a:lstStyle/>
          <a:p>
            <a:r>
              <a:rPr lang="zh-CN" altLang="en-US" sz="900" dirty="0"/>
              <a:t>中高考减压音乐摆渡的原理（二）</a:t>
            </a:r>
          </a:p>
        </p:txBody>
      </p:sp>
      <p:sp>
        <p:nvSpPr>
          <p:cNvPr id="3" name="内容占位符 2">
            <a:extLst>
              <a:ext uri="{FF2B5EF4-FFF2-40B4-BE49-F238E27FC236}">
                <a16:creationId xmlns:a16="http://schemas.microsoft.com/office/drawing/2014/main" id="{9007AA4F-714D-310C-155D-11A42BCDB63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让来访者减少理智思考，跟着音乐律动感受，反复强调这一点。</a:t>
            </a:r>
          </a:p>
          <a:p>
            <a:pPr marL="0" indent="0">
              <a:buNone/>
            </a:pPr>
            <a:r>
              <a:rPr lang="zh-CN" altLang="en-US" sz="1800" dirty="0">
                <a:latin typeface="+mn-ea"/>
              </a:rPr>
              <a:t>“把注意力专注到音乐中来，防止走神和过于理智化。”</a:t>
            </a:r>
          </a:p>
          <a:p>
            <a:pPr marL="0" indent="0">
              <a:buNone/>
            </a:pPr>
            <a:r>
              <a:rPr lang="zh-CN" altLang="en-US" sz="1800" dirty="0">
                <a:latin typeface="+mn-ea"/>
              </a:rPr>
              <a:t>音乐的连贯性可以带着我们向前走。</a:t>
            </a:r>
          </a:p>
          <a:p>
            <a:pPr marL="0" indent="0">
              <a:buNone/>
            </a:pPr>
            <a:r>
              <a:rPr lang="zh-CN" altLang="en-US" sz="1800" dirty="0">
                <a:latin typeface="+mn-ea"/>
              </a:rPr>
              <a:t>音乐中浮现大量的打击乐，会使我们无序的神经冲动和焦虑变得有序起来。</a:t>
            </a:r>
          </a:p>
        </p:txBody>
      </p:sp>
      <p:sp>
        <p:nvSpPr>
          <p:cNvPr id="5" name="内容占位符 2">
            <a:extLst>
              <a:ext uri="{FF2B5EF4-FFF2-40B4-BE49-F238E27FC236}">
                <a16:creationId xmlns:a16="http://schemas.microsoft.com/office/drawing/2014/main" id="{FE1BB057-DB63-1D16-DF25-7D005BE5DDD5}"/>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a:t>
            </a:r>
            <a:r>
              <a:rPr lang="zh-CN" altLang="en-US" sz="3200" dirty="0">
                <a:effectLst>
                  <a:outerShdw blurRad="38100" dist="38100" dir="2700000" algn="tl">
                    <a:srgbClr val="000000">
                      <a:alpha val="43137"/>
                    </a:srgbClr>
                  </a:outerShdw>
                </a:effectLst>
                <a:latin typeface="+mn-ea"/>
              </a:rPr>
              <a:t>首音乐：前行下降至心窝</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8102670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AD85BD-1312-7F5A-4154-B3C106ED0E7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499952-96A3-C639-2BB6-12CED330E22F}"/>
              </a:ext>
            </a:extLst>
          </p:cNvPr>
          <p:cNvSpPr>
            <a:spLocks noGrp="1"/>
          </p:cNvSpPr>
          <p:nvPr>
            <p:ph type="title"/>
          </p:nvPr>
        </p:nvSpPr>
        <p:spPr>
          <a:xfrm>
            <a:off x="521208" y="662737"/>
            <a:ext cx="11155680" cy="936652"/>
          </a:xfrm>
        </p:spPr>
        <p:txBody>
          <a:bodyPr/>
          <a:lstStyle/>
          <a:p>
            <a:r>
              <a:rPr lang="zh-CN" altLang="en-US" sz="900" dirty="0"/>
              <a:t>中高考减压音乐摆渡的原理（三）</a:t>
            </a:r>
          </a:p>
        </p:txBody>
      </p:sp>
      <p:sp>
        <p:nvSpPr>
          <p:cNvPr id="3" name="内容占位符 2">
            <a:extLst>
              <a:ext uri="{FF2B5EF4-FFF2-40B4-BE49-F238E27FC236}">
                <a16:creationId xmlns:a16="http://schemas.microsoft.com/office/drawing/2014/main" id="{287E8854-FCA6-723C-09F6-265BCC22CF2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通过闹钟铃声，引起考生敏感的共鸣。</a:t>
            </a:r>
          </a:p>
          <a:p>
            <a:pPr marL="0" indent="0">
              <a:buNone/>
            </a:pPr>
            <a:r>
              <a:rPr lang="zh-CN" altLang="en-US" sz="1800" dirty="0">
                <a:latin typeface="+mn-ea"/>
              </a:rPr>
              <a:t>这样做是可以让他们对铃声所象征的时间焦虑进行脱敏。</a:t>
            </a:r>
          </a:p>
          <a:p>
            <a:pPr marL="0" indent="0">
              <a:buNone/>
            </a:pPr>
            <a:r>
              <a:rPr lang="zh-CN" altLang="en-US" sz="1800" dirty="0">
                <a:latin typeface="+mn-ea"/>
              </a:rPr>
              <a:t>这是行为主义的暴露疗法，之后对其进行放松训练。</a:t>
            </a:r>
          </a:p>
          <a:p>
            <a:pPr marL="0" indent="0">
              <a:buNone/>
            </a:pPr>
            <a:r>
              <a:rPr lang="zh-CN" altLang="en-US" sz="1800" dirty="0">
                <a:latin typeface="+mn-ea"/>
              </a:rPr>
              <a:t>这种先引诱进入焦虑情景，然后进行脱敏的技术，叫作压力的免疫接种。</a:t>
            </a:r>
          </a:p>
          <a:p>
            <a:pPr marL="0" indent="0">
              <a:buNone/>
            </a:pPr>
            <a:r>
              <a:rPr lang="zh-CN" altLang="en-US" sz="1800" dirty="0">
                <a:latin typeface="+mn-ea"/>
              </a:rPr>
              <a:t>接下来的滴滴滴铃声逐渐变成音乐的声音，也就悄悄地在来访者潜意识中实现焦虑情景到无害的音乐情景的转化。</a:t>
            </a:r>
          </a:p>
        </p:txBody>
      </p:sp>
      <p:sp>
        <p:nvSpPr>
          <p:cNvPr id="5" name="内容占位符 2">
            <a:extLst>
              <a:ext uri="{FF2B5EF4-FFF2-40B4-BE49-F238E27FC236}">
                <a16:creationId xmlns:a16="http://schemas.microsoft.com/office/drawing/2014/main" id="{A1D07D0B-1E1A-E784-A247-568EC076E0C4}"/>
              </a:ext>
            </a:extLst>
          </p:cNvPr>
          <p:cNvSpPr txBox="1">
            <a:spLocks/>
          </p:cNvSpPr>
          <p:nvPr/>
        </p:nvSpPr>
        <p:spPr>
          <a:xfrm>
            <a:off x="264034" y="5558891"/>
            <a:ext cx="73940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2</a:t>
            </a:r>
            <a:r>
              <a:rPr lang="zh-CN" altLang="en-US" sz="3200" dirty="0">
                <a:effectLst>
                  <a:outerShdw blurRad="38100" dist="38100" dir="2700000" algn="tl">
                    <a:srgbClr val="000000">
                      <a:alpha val="43137"/>
                    </a:srgbClr>
                  </a:outerShdw>
                </a:effectLst>
                <a:latin typeface="+mn-ea"/>
              </a:rPr>
              <a:t>首音乐：抱持温暖心窝</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情结完形</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5054140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F7B0FA-2305-BD5D-FFB3-FA5CFEFAA9A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53815DF-5C24-A201-41DA-13F97A50A3B7}"/>
              </a:ext>
            </a:extLst>
          </p:cNvPr>
          <p:cNvSpPr>
            <a:spLocks noGrp="1"/>
          </p:cNvSpPr>
          <p:nvPr>
            <p:ph type="title"/>
          </p:nvPr>
        </p:nvSpPr>
        <p:spPr>
          <a:xfrm>
            <a:off x="521208" y="662737"/>
            <a:ext cx="11155680" cy="936652"/>
          </a:xfrm>
        </p:spPr>
        <p:txBody>
          <a:bodyPr/>
          <a:lstStyle/>
          <a:p>
            <a:r>
              <a:rPr lang="zh-CN" altLang="en-US" sz="900" dirty="0"/>
              <a:t>中高考减压音乐摆渡的原理（四）</a:t>
            </a:r>
          </a:p>
        </p:txBody>
      </p:sp>
      <p:sp>
        <p:nvSpPr>
          <p:cNvPr id="3" name="内容占位符 2">
            <a:extLst>
              <a:ext uri="{FF2B5EF4-FFF2-40B4-BE49-F238E27FC236}">
                <a16:creationId xmlns:a16="http://schemas.microsoft.com/office/drawing/2014/main" id="{A65529A2-FF6C-4263-C60E-DBDA698B4D8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注意力由心房降到中脘位置，我们开始降低焦虑的等级，注意力由头部往下降，调节植物神经变得平和与平缓。</a:t>
            </a:r>
          </a:p>
        </p:txBody>
      </p:sp>
      <p:sp>
        <p:nvSpPr>
          <p:cNvPr id="5" name="内容占位符 2">
            <a:extLst>
              <a:ext uri="{FF2B5EF4-FFF2-40B4-BE49-F238E27FC236}">
                <a16:creationId xmlns:a16="http://schemas.microsoft.com/office/drawing/2014/main" id="{460E1E86-735C-A21E-9F7C-601CC8487A2E}"/>
              </a:ext>
            </a:extLst>
          </p:cNvPr>
          <p:cNvSpPr txBox="1">
            <a:spLocks/>
          </p:cNvSpPr>
          <p:nvPr/>
        </p:nvSpPr>
        <p:spPr>
          <a:xfrm>
            <a:off x="264034" y="5558891"/>
            <a:ext cx="677970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3</a:t>
            </a:r>
            <a:r>
              <a:rPr lang="zh-CN" altLang="en-US" sz="3200" dirty="0">
                <a:effectLst>
                  <a:outerShdw blurRad="38100" dist="38100" dir="2700000" algn="tl">
                    <a:srgbClr val="000000">
                      <a:alpha val="43137"/>
                    </a:srgbClr>
                  </a:outerShdw>
                </a:effectLst>
                <a:latin typeface="+mn-ea"/>
              </a:rPr>
              <a:t>首音乐：安神一人静</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降至中脘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4728387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8B498-0F90-2667-7B4B-BDA9B3B67BF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E6ECD6F-7E39-874A-E5EB-AAB114DCDF2A}"/>
              </a:ext>
            </a:extLst>
          </p:cNvPr>
          <p:cNvSpPr>
            <a:spLocks noGrp="1"/>
          </p:cNvSpPr>
          <p:nvPr>
            <p:ph type="title"/>
          </p:nvPr>
        </p:nvSpPr>
        <p:spPr>
          <a:xfrm>
            <a:off x="521208" y="662737"/>
            <a:ext cx="11155680" cy="936652"/>
          </a:xfrm>
        </p:spPr>
        <p:txBody>
          <a:bodyPr/>
          <a:lstStyle/>
          <a:p>
            <a:r>
              <a:rPr lang="zh-CN" altLang="en-US" sz="900" dirty="0"/>
              <a:t>中高考减压音乐摆渡的原理（五）</a:t>
            </a:r>
          </a:p>
        </p:txBody>
      </p:sp>
      <p:sp>
        <p:nvSpPr>
          <p:cNvPr id="3" name="内容占位符 2">
            <a:extLst>
              <a:ext uri="{FF2B5EF4-FFF2-40B4-BE49-F238E27FC236}">
                <a16:creationId xmlns:a16="http://schemas.microsoft.com/office/drawing/2014/main" id="{07C4A02B-3AF0-2D90-29BB-131060EAB07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考试焦虑和其他压力治疗是不一样的。</a:t>
            </a:r>
          </a:p>
          <a:p>
            <a:pPr marL="0" indent="0">
              <a:buNone/>
            </a:pPr>
            <a:r>
              <a:rPr lang="zh-CN" altLang="en-US" sz="1800" dirty="0">
                <a:latin typeface="+mn-ea"/>
              </a:rPr>
              <a:t>考虑焦虑治疗，并不是让焦虑完全缓解，因为考试本身还没有进行，距离考试还有一段时间，要让学生认识到考试是要等到</a:t>
            </a:r>
            <a:r>
              <a:rPr lang="en-US" altLang="zh-CN" sz="1800" dirty="0">
                <a:latin typeface="+mn-ea"/>
              </a:rPr>
              <a:t>6</a:t>
            </a:r>
            <a:r>
              <a:rPr lang="zh-CN" altLang="en-US" sz="1800" dirty="0">
                <a:latin typeface="+mn-ea"/>
              </a:rPr>
              <a:t>月份，所以不可能做到完全消除压力。</a:t>
            </a:r>
          </a:p>
          <a:p>
            <a:pPr marL="0" indent="0">
              <a:buNone/>
            </a:pPr>
            <a:r>
              <a:rPr lang="zh-CN" altLang="en-US" sz="1800" dirty="0">
                <a:latin typeface="+mn-ea"/>
              </a:rPr>
              <a:t>这首音乐，让来访者把注意力放在中脘部位，让压力值保持不超载的限度。</a:t>
            </a:r>
          </a:p>
          <a:p>
            <a:pPr marL="0" indent="0">
              <a:buNone/>
            </a:pPr>
            <a:r>
              <a:rPr lang="zh-CN" altLang="en-US" sz="1800" dirty="0">
                <a:latin typeface="+mn-ea"/>
              </a:rPr>
              <a:t>这首音乐取材于动漫，要用年轻人的文化，激活年轻人。</a:t>
            </a:r>
          </a:p>
        </p:txBody>
      </p:sp>
      <p:sp>
        <p:nvSpPr>
          <p:cNvPr id="5" name="内容占位符 2">
            <a:extLst>
              <a:ext uri="{FF2B5EF4-FFF2-40B4-BE49-F238E27FC236}">
                <a16:creationId xmlns:a16="http://schemas.microsoft.com/office/drawing/2014/main" id="{CB212C4F-D082-03E8-63B2-CB7ACCDD6583}"/>
              </a:ext>
            </a:extLst>
          </p:cNvPr>
          <p:cNvSpPr txBox="1">
            <a:spLocks/>
          </p:cNvSpPr>
          <p:nvPr/>
        </p:nvSpPr>
        <p:spPr>
          <a:xfrm>
            <a:off x="264033" y="5558891"/>
            <a:ext cx="63510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4</a:t>
            </a:r>
            <a:r>
              <a:rPr lang="zh-CN" altLang="en-US" sz="3200" dirty="0">
                <a:effectLst>
                  <a:outerShdw blurRad="38100" dist="38100" dir="2700000" algn="tl">
                    <a:srgbClr val="000000">
                      <a:alpha val="43137"/>
                    </a:srgbClr>
                  </a:outerShdw>
                </a:effectLst>
                <a:latin typeface="+mn-ea"/>
              </a:rPr>
              <a:t>首音乐：焦虑稳定节奏</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中脘</a:t>
            </a:r>
          </a:p>
        </p:txBody>
      </p:sp>
    </p:spTree>
    <p:extLst>
      <p:ext uri="{BB962C8B-B14F-4D97-AF65-F5344CB8AC3E}">
        <p14:creationId xmlns:p14="http://schemas.microsoft.com/office/powerpoint/2010/main" val="1417338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D3571-8426-210D-6BE0-3A4AC97046A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6C47AA-D935-D30A-712C-2979E2AF2914}"/>
              </a:ext>
            </a:extLst>
          </p:cNvPr>
          <p:cNvSpPr>
            <a:spLocks noGrp="1"/>
          </p:cNvSpPr>
          <p:nvPr>
            <p:ph type="title"/>
          </p:nvPr>
        </p:nvSpPr>
        <p:spPr>
          <a:xfrm>
            <a:off x="521208" y="662737"/>
            <a:ext cx="11155680" cy="936652"/>
          </a:xfrm>
        </p:spPr>
        <p:txBody>
          <a:bodyPr/>
          <a:lstStyle/>
          <a:p>
            <a:r>
              <a:rPr lang="zh-CN" altLang="en-US" sz="900" dirty="0"/>
              <a:t>中高考减压音乐摆渡的原理（六）</a:t>
            </a:r>
          </a:p>
        </p:txBody>
      </p:sp>
      <p:sp>
        <p:nvSpPr>
          <p:cNvPr id="3" name="内容占位符 2">
            <a:extLst>
              <a:ext uri="{FF2B5EF4-FFF2-40B4-BE49-F238E27FC236}">
                <a16:creationId xmlns:a16="http://schemas.microsoft.com/office/drawing/2014/main" id="{A3E9DB53-EF7B-4CEB-9BAF-118D4A9896CB}"/>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是一首钢琴曲，节奏慢慢地趋于缓和，给人一种淡淡的忧伤的感觉，让人不自觉地想长嘘一口气。</a:t>
            </a:r>
          </a:p>
          <a:p>
            <a:pPr marL="0" indent="0">
              <a:buNone/>
            </a:pPr>
            <a:r>
              <a:rPr lang="zh-CN" altLang="en-US" sz="1800" dirty="0">
                <a:latin typeface="+mn-ea"/>
              </a:rPr>
              <a:t>虽然音乐的节奏让人平缓，但是起伏的旋律仍然让考生的情结此起彼伏，这就是考前的正常状态。</a:t>
            </a:r>
          </a:p>
          <a:p>
            <a:pPr marL="0" indent="0">
              <a:buNone/>
            </a:pPr>
            <a:r>
              <a:rPr lang="zh-CN" altLang="en-US" sz="1800" dirty="0">
                <a:latin typeface="+mn-ea"/>
              </a:rPr>
              <a:t>随着第一小节音乐结束，刚好在</a:t>
            </a:r>
            <a:r>
              <a:rPr lang="en-US" altLang="zh-CN" sz="1800" dirty="0">
                <a:latin typeface="+mn-ea"/>
              </a:rPr>
              <a:t>40</a:t>
            </a:r>
            <a:r>
              <a:rPr lang="zh-CN" altLang="en-US" sz="1800" dirty="0">
                <a:latin typeface="+mn-ea"/>
              </a:rPr>
              <a:t>秒时，就完成了一个循环。</a:t>
            </a:r>
          </a:p>
          <a:p>
            <a:pPr marL="0" indent="0">
              <a:buNone/>
            </a:pPr>
            <a:r>
              <a:rPr lang="zh-CN" altLang="en-US" sz="1800" dirty="0">
                <a:latin typeface="+mn-ea"/>
              </a:rPr>
              <a:t>这种完整的轮回，在音乐心理学里叫作格式塔，也是一种释怀，即情结上的完形。</a:t>
            </a:r>
          </a:p>
        </p:txBody>
      </p:sp>
      <p:sp>
        <p:nvSpPr>
          <p:cNvPr id="5" name="内容占位符 2">
            <a:extLst>
              <a:ext uri="{FF2B5EF4-FFF2-40B4-BE49-F238E27FC236}">
                <a16:creationId xmlns:a16="http://schemas.microsoft.com/office/drawing/2014/main" id="{588A3104-2FDF-3960-AE50-A433E2F8487F}"/>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5</a:t>
            </a:r>
            <a:r>
              <a:rPr lang="zh-CN" altLang="en-US" sz="3200" dirty="0">
                <a:effectLst>
                  <a:outerShdw blurRad="38100" dist="38100" dir="2700000" algn="tl">
                    <a:srgbClr val="000000">
                      <a:alpha val="43137"/>
                    </a:srgbClr>
                  </a:outerShdw>
                </a:effectLst>
                <a:latin typeface="+mn-ea"/>
              </a:rPr>
              <a:t>首音乐：激活浓情</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中脘完型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86828450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710798-C07B-8343-52AC-CED14F4ACA9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906E56-C504-7E11-4CA6-4E09136ADE57}"/>
              </a:ext>
            </a:extLst>
          </p:cNvPr>
          <p:cNvSpPr>
            <a:spLocks noGrp="1"/>
          </p:cNvSpPr>
          <p:nvPr>
            <p:ph type="title"/>
          </p:nvPr>
        </p:nvSpPr>
        <p:spPr>
          <a:xfrm>
            <a:off x="521208" y="662737"/>
            <a:ext cx="11155680" cy="936652"/>
          </a:xfrm>
        </p:spPr>
        <p:txBody>
          <a:bodyPr/>
          <a:lstStyle/>
          <a:p>
            <a:r>
              <a:rPr lang="zh-CN" altLang="en-US" sz="900" dirty="0"/>
              <a:t>中高考减压音乐摆渡的原理（七）</a:t>
            </a:r>
          </a:p>
        </p:txBody>
      </p:sp>
      <p:sp>
        <p:nvSpPr>
          <p:cNvPr id="3" name="内容占位符 2">
            <a:extLst>
              <a:ext uri="{FF2B5EF4-FFF2-40B4-BE49-F238E27FC236}">
                <a16:creationId xmlns:a16="http://schemas.microsoft.com/office/drawing/2014/main" id="{F0070BF1-110F-5573-5335-5325615407A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背景是雨声，配合的钢琴声给人的感觉也有些抑郁，对于一个焦虑的人，却能让他沉浸下来。</a:t>
            </a:r>
          </a:p>
          <a:p>
            <a:pPr marL="0" indent="0">
              <a:buNone/>
            </a:pPr>
            <a:r>
              <a:rPr lang="zh-CN" altLang="en-US" sz="1800" dirty="0">
                <a:latin typeface="+mn-ea"/>
              </a:rPr>
              <a:t>雨水给他提供一个可以让他的情绪静下来的情境。</a:t>
            </a:r>
          </a:p>
          <a:p>
            <a:pPr marL="0" indent="0">
              <a:buNone/>
            </a:pPr>
            <a:r>
              <a:rPr lang="zh-CN" altLang="en-US" sz="1800" dirty="0">
                <a:latin typeface="+mn-ea"/>
              </a:rPr>
              <a:t>水能让他安静清灵，同时配合意象，感觉雨水从他身上滑落，带走疲惫和不安，这个过程叫作心灵的排毒。</a:t>
            </a:r>
          </a:p>
          <a:p>
            <a:pPr marL="0" indent="0">
              <a:buNone/>
            </a:pPr>
            <a:r>
              <a:rPr lang="zh-CN" altLang="en-US" sz="1800" dirty="0">
                <a:latin typeface="+mn-ea"/>
              </a:rPr>
              <a:t>同时，在这首音乐中，对于焦虑和抑郁的情绪，我们都可以让他们配合着呼吸，呼吸能给人身体的植物神经系统一个放松休息的机会。</a:t>
            </a:r>
          </a:p>
        </p:txBody>
      </p:sp>
      <p:sp>
        <p:nvSpPr>
          <p:cNvPr id="5" name="内容占位符 2">
            <a:extLst>
              <a:ext uri="{FF2B5EF4-FFF2-40B4-BE49-F238E27FC236}">
                <a16:creationId xmlns:a16="http://schemas.microsoft.com/office/drawing/2014/main" id="{397E3EF3-47F3-C58D-7216-10CA45E50F62}"/>
              </a:ext>
            </a:extLst>
          </p:cNvPr>
          <p:cNvSpPr txBox="1">
            <a:spLocks/>
          </p:cNvSpPr>
          <p:nvPr/>
        </p:nvSpPr>
        <p:spPr>
          <a:xfrm>
            <a:off x="264034" y="5558891"/>
            <a:ext cx="62653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6</a:t>
            </a:r>
            <a:r>
              <a:rPr lang="zh-CN" altLang="en-US" sz="3200" dirty="0">
                <a:effectLst>
                  <a:outerShdw blurRad="38100" dist="38100" dir="2700000" algn="tl">
                    <a:srgbClr val="000000">
                      <a:alpha val="43137"/>
                    </a:srgbClr>
                  </a:outerShdw>
                </a:effectLst>
                <a:latin typeface="+mn-ea"/>
              </a:rPr>
              <a:t>首音乐：滴雨沉静抑郁</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中下</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32430376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1C1EAC-E2EF-5A5E-BBD2-2E09DCE78E9F}"/>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63B885-88C1-C678-9F31-B80AD3CF5AC1}"/>
              </a:ext>
            </a:extLst>
          </p:cNvPr>
          <p:cNvSpPr>
            <a:spLocks noGrp="1"/>
          </p:cNvSpPr>
          <p:nvPr>
            <p:ph type="title"/>
          </p:nvPr>
        </p:nvSpPr>
        <p:spPr>
          <a:xfrm>
            <a:off x="521208" y="662737"/>
            <a:ext cx="11155680" cy="936652"/>
          </a:xfrm>
        </p:spPr>
        <p:txBody>
          <a:bodyPr/>
          <a:lstStyle/>
          <a:p>
            <a:r>
              <a:rPr lang="zh-CN" altLang="en-US" sz="900" dirty="0"/>
              <a:t>中高考减压音乐摆渡的原理（八）</a:t>
            </a:r>
          </a:p>
        </p:txBody>
      </p:sp>
      <p:sp>
        <p:nvSpPr>
          <p:cNvPr id="3" name="内容占位符 2">
            <a:extLst>
              <a:ext uri="{FF2B5EF4-FFF2-40B4-BE49-F238E27FC236}">
                <a16:creationId xmlns:a16="http://schemas.microsoft.com/office/drawing/2014/main" id="{AAF97769-C781-5E06-B212-6946928851B3}"/>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加入人声，是一种社会支持系统的隐喻。</a:t>
            </a:r>
          </a:p>
          <a:p>
            <a:pPr marL="0" indent="0">
              <a:buNone/>
            </a:pPr>
            <a:r>
              <a:rPr lang="zh-CN" altLang="en-US" sz="1800" dirty="0">
                <a:latin typeface="+mn-ea"/>
              </a:rPr>
              <a:t>这种感觉会让人觉得安稳，进而退行，这里会让来访者尝试放松下来。</a:t>
            </a:r>
          </a:p>
          <a:p>
            <a:pPr marL="0" indent="0">
              <a:buNone/>
            </a:pPr>
            <a:r>
              <a:rPr lang="zh-CN" altLang="en-US" sz="1800" dirty="0">
                <a:latin typeface="+mn-ea"/>
              </a:rPr>
              <a:t>在这个地方，允许来访者睡一会儿。</a:t>
            </a:r>
          </a:p>
        </p:txBody>
      </p:sp>
      <p:sp>
        <p:nvSpPr>
          <p:cNvPr id="5" name="内容占位符 2">
            <a:extLst>
              <a:ext uri="{FF2B5EF4-FFF2-40B4-BE49-F238E27FC236}">
                <a16:creationId xmlns:a16="http://schemas.microsoft.com/office/drawing/2014/main" id="{31CC3E51-14A1-23B7-405B-661282B38CF1}"/>
              </a:ext>
            </a:extLst>
          </p:cNvPr>
          <p:cNvSpPr txBox="1">
            <a:spLocks/>
          </p:cNvSpPr>
          <p:nvPr/>
        </p:nvSpPr>
        <p:spPr>
          <a:xfrm>
            <a:off x="264033" y="5558891"/>
            <a:ext cx="84084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7</a:t>
            </a:r>
            <a:r>
              <a:rPr lang="zh-CN" altLang="en-US" sz="3200" dirty="0">
                <a:effectLst>
                  <a:outerShdw blurRad="38100" dist="38100" dir="2700000" algn="tl">
                    <a:srgbClr val="000000">
                      <a:alpha val="43137"/>
                    </a:srgbClr>
                  </a:outerShdw>
                </a:effectLst>
                <a:latin typeface="+mn-ea"/>
              </a:rPr>
              <a:t>首音乐：中下释怀完形配呼吸</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74093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32BC15-10F8-3ABE-AE3A-F7516F15CA1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BB04C81-5A33-4F87-2C6E-37C7CA744F35}"/>
              </a:ext>
            </a:extLst>
          </p:cNvPr>
          <p:cNvSpPr>
            <a:spLocks noGrp="1"/>
          </p:cNvSpPr>
          <p:nvPr>
            <p:ph type="title"/>
          </p:nvPr>
        </p:nvSpPr>
        <p:spPr>
          <a:xfrm>
            <a:off x="521208" y="662737"/>
            <a:ext cx="11155680" cy="936652"/>
          </a:xfrm>
        </p:spPr>
        <p:txBody>
          <a:bodyPr/>
          <a:lstStyle/>
          <a:p>
            <a:r>
              <a:rPr lang="zh-CN" altLang="en-US" sz="900" dirty="0"/>
              <a:t>中高考减压音乐摆渡的原理（九）</a:t>
            </a:r>
          </a:p>
        </p:txBody>
      </p:sp>
      <p:sp>
        <p:nvSpPr>
          <p:cNvPr id="3" name="内容占位符 2">
            <a:extLst>
              <a:ext uri="{FF2B5EF4-FFF2-40B4-BE49-F238E27FC236}">
                <a16:creationId xmlns:a16="http://schemas.microsoft.com/office/drawing/2014/main" id="{7EAA4650-638A-492D-EA61-F527BBE33955}"/>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我们会让来访者做丙俱音乐治疗里面的经典技术，音乐眼动和音乐呼吸技术。</a:t>
            </a:r>
          </a:p>
          <a:p>
            <a:pPr marL="0" indent="0">
              <a:buNone/>
            </a:pPr>
            <a:r>
              <a:rPr lang="zh-CN" altLang="en-US" sz="1800" dirty="0">
                <a:latin typeface="+mn-ea"/>
              </a:rPr>
              <a:t>同时要求来访者完成一个意象，想象手中捧着很多羽毛，有的羽毛很轻，飞向天空，有的则很重，往下掉。</a:t>
            </a:r>
          </a:p>
          <a:p>
            <a:pPr marL="0" indent="0">
              <a:buNone/>
            </a:pPr>
            <a:r>
              <a:rPr lang="zh-CN" altLang="en-US" sz="1800" dirty="0">
                <a:latin typeface="+mn-ea"/>
              </a:rPr>
              <a:t>它们自由舒展，寻找各种需要的地方。</a:t>
            </a:r>
          </a:p>
          <a:p>
            <a:pPr marL="0" indent="0">
              <a:buNone/>
            </a:pPr>
            <a:r>
              <a:rPr lang="zh-CN" altLang="en-US" sz="1800" dirty="0">
                <a:latin typeface="+mn-ea"/>
              </a:rPr>
              <a:t>这是道教阴阳分离的一个隐喻，同时也是将自己的焦虑降下来，让自己的抑郁升上去的一个象征。</a:t>
            </a:r>
          </a:p>
        </p:txBody>
      </p:sp>
      <p:sp>
        <p:nvSpPr>
          <p:cNvPr id="5" name="内容占位符 2">
            <a:extLst>
              <a:ext uri="{FF2B5EF4-FFF2-40B4-BE49-F238E27FC236}">
                <a16:creationId xmlns:a16="http://schemas.microsoft.com/office/drawing/2014/main" id="{EC4202EA-1B28-21B7-1AF9-A9F789082FC6}"/>
              </a:ext>
            </a:extLst>
          </p:cNvPr>
          <p:cNvSpPr txBox="1">
            <a:spLocks/>
          </p:cNvSpPr>
          <p:nvPr/>
        </p:nvSpPr>
        <p:spPr>
          <a:xfrm>
            <a:off x="264034" y="5558891"/>
            <a:ext cx="893711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8</a:t>
            </a:r>
            <a:r>
              <a:rPr lang="zh-CN" altLang="en-US" sz="3200" dirty="0">
                <a:effectLst>
                  <a:outerShdw blurRad="38100" dist="38100" dir="2700000" algn="tl">
                    <a:srgbClr val="000000">
                      <a:alpha val="43137"/>
                    </a:srgbClr>
                  </a:outerShdw>
                </a:effectLst>
                <a:latin typeface="+mn-ea"/>
              </a:rPr>
              <a:t>首音乐：手动跟随</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意象蒸发与下落第三层</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38342023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E0A32-45EE-39E4-596B-4DDD189BCD8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F111F7-1E77-E856-3F1D-B622195DE299}"/>
              </a:ext>
            </a:extLst>
          </p:cNvPr>
          <p:cNvSpPr>
            <a:spLocks noGrp="1"/>
          </p:cNvSpPr>
          <p:nvPr>
            <p:ph type="title"/>
          </p:nvPr>
        </p:nvSpPr>
        <p:spPr>
          <a:xfrm>
            <a:off x="521208" y="662737"/>
            <a:ext cx="11155680" cy="936652"/>
          </a:xfrm>
        </p:spPr>
        <p:txBody>
          <a:bodyPr/>
          <a:lstStyle/>
          <a:p>
            <a:r>
              <a:rPr lang="zh-CN" altLang="en-US" sz="900" dirty="0"/>
              <a:t>中高考减压音乐摆渡的原理（十）</a:t>
            </a:r>
          </a:p>
        </p:txBody>
      </p:sp>
      <p:sp>
        <p:nvSpPr>
          <p:cNvPr id="3" name="内容占位符 2">
            <a:extLst>
              <a:ext uri="{FF2B5EF4-FFF2-40B4-BE49-F238E27FC236}">
                <a16:creationId xmlns:a16="http://schemas.microsoft.com/office/drawing/2014/main" id="{5B913DCB-BACD-1244-2AF4-7D6F120F8DA0}"/>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逐步让来访者把注意力集中到下脘。</a:t>
            </a:r>
          </a:p>
          <a:p>
            <a:pPr marL="0" indent="0">
              <a:buNone/>
            </a:pPr>
            <a:r>
              <a:rPr lang="zh-CN" altLang="en-US" sz="1800" dirty="0">
                <a:latin typeface="+mn-ea"/>
              </a:rPr>
              <a:t>让自己情绪飞扬到天上，让心灵沉稳在地上，这样既不焦虑，也不抑郁，这才是音乐减压的核心。</a:t>
            </a:r>
          </a:p>
        </p:txBody>
      </p:sp>
      <p:sp>
        <p:nvSpPr>
          <p:cNvPr id="5" name="内容占位符 2">
            <a:extLst>
              <a:ext uri="{FF2B5EF4-FFF2-40B4-BE49-F238E27FC236}">
                <a16:creationId xmlns:a16="http://schemas.microsoft.com/office/drawing/2014/main" id="{2CB5E1C1-EA11-6FF3-12DD-05CC1D974455}"/>
              </a:ext>
            </a:extLst>
          </p:cNvPr>
          <p:cNvSpPr txBox="1">
            <a:spLocks/>
          </p:cNvSpPr>
          <p:nvPr/>
        </p:nvSpPr>
        <p:spPr>
          <a:xfrm>
            <a:off x="264033" y="5558891"/>
            <a:ext cx="9665779"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9</a:t>
            </a:r>
            <a:r>
              <a:rPr lang="zh-CN" altLang="en-US" sz="3200" dirty="0">
                <a:effectLst>
                  <a:outerShdw blurRad="38100" dist="38100" dir="2700000" algn="tl">
                    <a:srgbClr val="000000">
                      <a:alpha val="43137"/>
                    </a:srgbClr>
                  </a:outerShdw>
                </a:effectLst>
                <a:latin typeface="+mn-ea"/>
              </a:rPr>
              <a:t>首音乐：慢摇节奏</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下脘呼吸训练</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1022634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B3D01F7-C629-1F86-E915-A2D099B85BD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FB6793-3906-D2A3-7FFC-F2BBA1BB8208}"/>
              </a:ext>
            </a:extLst>
          </p:cNvPr>
          <p:cNvSpPr>
            <a:spLocks noGrp="1"/>
          </p:cNvSpPr>
          <p:nvPr>
            <p:ph type="title"/>
          </p:nvPr>
        </p:nvSpPr>
        <p:spPr>
          <a:xfrm>
            <a:off x="521208" y="662737"/>
            <a:ext cx="11155680" cy="936652"/>
          </a:xfrm>
        </p:spPr>
        <p:txBody>
          <a:bodyPr/>
          <a:lstStyle/>
          <a:p>
            <a:r>
              <a:rPr lang="zh-CN" altLang="en-US" sz="900" dirty="0"/>
              <a:t>中高考减压音乐摆渡的原理（十一）</a:t>
            </a:r>
          </a:p>
        </p:txBody>
      </p:sp>
      <p:sp>
        <p:nvSpPr>
          <p:cNvPr id="3" name="内容占位符 2">
            <a:extLst>
              <a:ext uri="{FF2B5EF4-FFF2-40B4-BE49-F238E27FC236}">
                <a16:creationId xmlns:a16="http://schemas.microsoft.com/office/drawing/2014/main" id="{E312565D-DE47-5297-BEE1-9395D04CEFB9}"/>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引导考生走向认知层面，让考生想起自己的潜力与资源。</a:t>
            </a:r>
          </a:p>
          <a:p>
            <a:pPr marL="0" indent="0">
              <a:buNone/>
            </a:pPr>
            <a:r>
              <a:rPr lang="zh-CN" altLang="en-US" sz="1800" dirty="0">
                <a:latin typeface="+mn-ea"/>
              </a:rPr>
              <a:t>这首音乐隐喻为狂想曲，潜台词是你什么都可以试试，最大限度地去发挥自己的潜能。</a:t>
            </a:r>
          </a:p>
          <a:p>
            <a:pPr marL="0" indent="0">
              <a:buNone/>
            </a:pPr>
            <a:r>
              <a:rPr lang="zh-CN" altLang="en-US" sz="1800" dirty="0">
                <a:latin typeface="+mn-ea"/>
              </a:rPr>
              <a:t>这也是中高考音乐减压中的高峰体验。</a:t>
            </a:r>
          </a:p>
          <a:p>
            <a:pPr marL="0" indent="0">
              <a:buNone/>
            </a:pPr>
            <a:endParaRPr lang="zh-CN" altLang="en-US" sz="1800" dirty="0">
              <a:latin typeface="+mn-ea"/>
            </a:endParaRPr>
          </a:p>
        </p:txBody>
      </p:sp>
      <p:sp>
        <p:nvSpPr>
          <p:cNvPr id="5" name="内容占位符 2">
            <a:extLst>
              <a:ext uri="{FF2B5EF4-FFF2-40B4-BE49-F238E27FC236}">
                <a16:creationId xmlns:a16="http://schemas.microsoft.com/office/drawing/2014/main" id="{AE4B0D78-F8B5-6E7D-D0DD-9EB84D120C9D}"/>
              </a:ext>
            </a:extLst>
          </p:cNvPr>
          <p:cNvSpPr txBox="1">
            <a:spLocks/>
          </p:cNvSpPr>
          <p:nvPr/>
        </p:nvSpPr>
        <p:spPr>
          <a:xfrm>
            <a:off x="264034" y="5558891"/>
            <a:ext cx="7508366"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10</a:t>
            </a:r>
            <a:r>
              <a:rPr lang="zh-CN" altLang="en-US" sz="3200" dirty="0">
                <a:effectLst>
                  <a:outerShdw blurRad="38100" dist="38100" dir="2700000" algn="tl">
                    <a:srgbClr val="000000">
                      <a:alpha val="43137"/>
                    </a:srgbClr>
                  </a:outerShdw>
                </a:effectLst>
                <a:latin typeface="+mn-ea"/>
              </a:rPr>
              <a:t>首音乐：力量狂想曲</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资源挖掘</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60514177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A8DB3-73F6-3F69-39CD-F1847D8910B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4647D87-7C2D-9DDD-D2DA-919338524590}"/>
              </a:ext>
            </a:extLst>
          </p:cNvPr>
          <p:cNvSpPr>
            <a:spLocks noGrp="1"/>
          </p:cNvSpPr>
          <p:nvPr>
            <p:ph type="title"/>
          </p:nvPr>
        </p:nvSpPr>
        <p:spPr>
          <a:xfrm>
            <a:off x="521208" y="662737"/>
            <a:ext cx="11155680" cy="936652"/>
          </a:xfrm>
        </p:spPr>
        <p:txBody>
          <a:bodyPr/>
          <a:lstStyle/>
          <a:p>
            <a:r>
              <a:rPr lang="zh-CN" altLang="en-US" sz="900" dirty="0"/>
              <a:t>中高考减压音乐摆渡的原理（十二）</a:t>
            </a:r>
          </a:p>
        </p:txBody>
      </p:sp>
      <p:sp>
        <p:nvSpPr>
          <p:cNvPr id="3" name="内容占位符 2">
            <a:extLst>
              <a:ext uri="{FF2B5EF4-FFF2-40B4-BE49-F238E27FC236}">
                <a16:creationId xmlns:a16="http://schemas.microsoft.com/office/drawing/2014/main" id="{22EAAAC6-EE28-4F76-FF7A-F37077384D9A}"/>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运用了音乐治疗的格式塔时间线技术。</a:t>
            </a:r>
          </a:p>
          <a:p>
            <a:pPr marL="0" indent="0">
              <a:buNone/>
            </a:pPr>
            <a:endParaRPr lang="zh-CN" altLang="en-US" sz="1800" dirty="0">
              <a:latin typeface="+mn-ea"/>
            </a:endParaRPr>
          </a:p>
          <a:p>
            <a:pPr marL="0" indent="0">
              <a:buNone/>
            </a:pPr>
            <a:r>
              <a:rPr lang="zh-CN" altLang="en-US" sz="1800" dirty="0">
                <a:latin typeface="+mn-ea"/>
              </a:rPr>
              <a:t>隐喻是轻松愉快的夏天，对考生来说意味着考试结束，他们可以享受这个自由的暑假。</a:t>
            </a:r>
          </a:p>
          <a:p>
            <a:pPr marL="0" indent="0">
              <a:buNone/>
            </a:pPr>
            <a:endParaRPr lang="zh-CN" altLang="en-US" sz="1800" dirty="0">
              <a:latin typeface="+mn-ea"/>
            </a:endParaRPr>
          </a:p>
          <a:p>
            <a:pPr marL="0" indent="0">
              <a:buNone/>
            </a:pPr>
            <a:r>
              <a:rPr lang="zh-CN" altLang="en-US" sz="1800" dirty="0">
                <a:latin typeface="+mn-ea"/>
              </a:rPr>
              <a:t>这首音乐是儿歌类型的音乐，特点是成对出现的音乐结构化要素配对，这样的节奏让人容易把握，同时很容易调动人的情绪，让他们回忆起童年的一些美好记忆，整个人都放松起来。</a:t>
            </a:r>
          </a:p>
        </p:txBody>
      </p:sp>
      <p:sp>
        <p:nvSpPr>
          <p:cNvPr id="5" name="内容占位符 2">
            <a:extLst>
              <a:ext uri="{FF2B5EF4-FFF2-40B4-BE49-F238E27FC236}">
                <a16:creationId xmlns:a16="http://schemas.microsoft.com/office/drawing/2014/main" id="{34BA88AA-2095-F4AA-2ACF-15AF6BFDD16F}"/>
              </a:ext>
            </a:extLst>
          </p:cNvPr>
          <p:cNvSpPr txBox="1">
            <a:spLocks/>
          </p:cNvSpPr>
          <p:nvPr/>
        </p:nvSpPr>
        <p:spPr>
          <a:xfrm>
            <a:off x="264034" y="5558891"/>
            <a:ext cx="87799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第</a:t>
            </a:r>
            <a:r>
              <a:rPr lang="en-US" altLang="zh-CN" sz="3200" dirty="0">
                <a:effectLst>
                  <a:outerShdw blurRad="38100" dist="38100" dir="2700000" algn="tl">
                    <a:srgbClr val="000000">
                      <a:alpha val="43137"/>
                    </a:srgbClr>
                  </a:outerShdw>
                </a:effectLst>
                <a:latin typeface="+mn-ea"/>
              </a:rPr>
              <a:t>11</a:t>
            </a:r>
            <a:r>
              <a:rPr lang="zh-CN" altLang="en-US" sz="3200" dirty="0">
                <a:effectLst>
                  <a:outerShdw blurRad="38100" dist="38100" dir="2700000" algn="tl">
                    <a:srgbClr val="000000">
                      <a:alpha val="43137"/>
                    </a:srgbClr>
                  </a:outerShdw>
                </a:effectLst>
                <a:latin typeface="+mn-ea"/>
              </a:rPr>
              <a:t>首音乐：焦虑转积极应对</a:t>
            </a:r>
            <a:r>
              <a:rPr lang="en-US" altLang="zh-CN" sz="3200" dirty="0">
                <a:effectLst>
                  <a:outerShdw blurRad="38100" dist="38100" dir="2700000" algn="tl">
                    <a:srgbClr val="000000">
                      <a:alpha val="43137"/>
                    </a:srgbClr>
                  </a:outerShdw>
                </a:effectLst>
                <a:latin typeface="+mn-ea"/>
              </a:rPr>
              <a:t>-</a:t>
            </a:r>
            <a:r>
              <a:rPr lang="zh-CN" altLang="en-US" sz="3200" dirty="0">
                <a:effectLst>
                  <a:outerShdw blurRad="38100" dist="38100" dir="2700000" algn="tl">
                    <a:srgbClr val="000000">
                      <a:alpha val="43137"/>
                    </a:srgbClr>
                  </a:outerShdw>
                </a:effectLst>
                <a:latin typeface="+mn-ea"/>
              </a:rPr>
              <a:t>意象夏天未来</a:t>
            </a:r>
          </a:p>
          <a:p>
            <a:pPr marL="0" indent="0">
              <a:buNone/>
            </a:pPr>
            <a:endParaRPr lang="zh-CN" altLang="en-US" sz="3200" dirty="0">
              <a:effectLst>
                <a:outerShdw blurRad="38100" dist="38100" dir="2700000" algn="tl">
                  <a:srgbClr val="000000">
                    <a:alpha val="43137"/>
                  </a:srgbClr>
                </a:outerShdw>
              </a:effectLst>
              <a:latin typeface="+mn-ea"/>
            </a:endParaRPr>
          </a:p>
        </p:txBody>
      </p:sp>
    </p:spTree>
    <p:extLst>
      <p:ext uri="{BB962C8B-B14F-4D97-AF65-F5344CB8AC3E}">
        <p14:creationId xmlns:p14="http://schemas.microsoft.com/office/powerpoint/2010/main" val="88210278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CFED19-3183-6C74-EF6C-AAD63468F95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50D70B0-B54E-2CB5-64F9-AD2E1A37463A}"/>
              </a:ext>
            </a:extLst>
          </p:cNvPr>
          <p:cNvSpPr>
            <a:spLocks noGrp="1"/>
          </p:cNvSpPr>
          <p:nvPr>
            <p:ph type="title"/>
          </p:nvPr>
        </p:nvSpPr>
        <p:spPr>
          <a:xfrm>
            <a:off x="521208" y="662737"/>
            <a:ext cx="11155680" cy="936652"/>
          </a:xfrm>
        </p:spPr>
        <p:txBody>
          <a:bodyPr/>
          <a:lstStyle/>
          <a:p>
            <a:r>
              <a:rPr lang="zh-CN" altLang="en-US" sz="900" dirty="0"/>
              <a:t>中高考减压音乐摆渡的原理（十三）</a:t>
            </a:r>
          </a:p>
        </p:txBody>
      </p:sp>
      <p:sp>
        <p:nvSpPr>
          <p:cNvPr id="3" name="内容占位符 2">
            <a:extLst>
              <a:ext uri="{FF2B5EF4-FFF2-40B4-BE49-F238E27FC236}">
                <a16:creationId xmlns:a16="http://schemas.microsoft.com/office/drawing/2014/main" id="{B30FDA53-DBAC-32BA-A817-819C56097436}"/>
              </a:ext>
            </a:extLst>
          </p:cNvPr>
          <p:cNvSpPr>
            <a:spLocks noGrp="1"/>
          </p:cNvSpPr>
          <p:nvPr>
            <p:ph idx="1"/>
          </p:nvPr>
        </p:nvSpPr>
        <p:spPr>
          <a:xfrm>
            <a:off x="515112" y="1599389"/>
            <a:ext cx="11155681" cy="4058461"/>
          </a:xfrm>
        </p:spPr>
        <p:txBody>
          <a:bodyPr/>
          <a:lstStyle/>
          <a:p>
            <a:pPr marL="0" indent="0">
              <a:buNone/>
            </a:pPr>
            <a:r>
              <a:rPr lang="zh-CN" altLang="en-US" sz="1800" dirty="0">
                <a:latin typeface="+mn-ea"/>
              </a:rPr>
              <a:t>在你以往面对考试的时候，有很多消极的应对方式，比如失眠、焦虑、抑郁等等，那么现在我们把这些消极的应对方式转变为积极的应对方式，让我们用具体的行动代替失眠、焦虑，一起去创造与改变，来迎接这个美好的夏天。</a:t>
            </a:r>
          </a:p>
          <a:p>
            <a:pPr marL="0" indent="0">
              <a:buNone/>
            </a:pPr>
            <a:endParaRPr lang="zh-CN" altLang="en-US" sz="1800" dirty="0">
              <a:latin typeface="+mn-ea"/>
            </a:endParaRPr>
          </a:p>
          <a:p>
            <a:pPr marL="0" indent="0">
              <a:buNone/>
            </a:pPr>
            <a:r>
              <a:rPr lang="zh-CN" altLang="en-US" sz="1800">
                <a:latin typeface="+mn-ea"/>
              </a:rPr>
              <a:t>以上</a:t>
            </a:r>
            <a:r>
              <a:rPr lang="zh-CN" altLang="en-US" sz="1800" dirty="0">
                <a:latin typeface="+mn-ea"/>
              </a:rPr>
              <a:t>是一个完整的中高考音乐减压的摆渡流程。</a:t>
            </a:r>
          </a:p>
        </p:txBody>
      </p:sp>
      <p:sp>
        <p:nvSpPr>
          <p:cNvPr id="5" name="内容占位符 2">
            <a:extLst>
              <a:ext uri="{FF2B5EF4-FFF2-40B4-BE49-F238E27FC236}">
                <a16:creationId xmlns:a16="http://schemas.microsoft.com/office/drawing/2014/main" id="{92DE633C-B9D2-0112-412D-FF388573E8A5}"/>
              </a:ext>
            </a:extLst>
          </p:cNvPr>
          <p:cNvSpPr txBox="1">
            <a:spLocks/>
          </p:cNvSpPr>
          <p:nvPr/>
        </p:nvSpPr>
        <p:spPr>
          <a:xfrm>
            <a:off x="264034" y="5558891"/>
            <a:ext cx="8779954" cy="757207"/>
          </a:xfrm>
          <a:prstGeom prst="rect">
            <a:avLst/>
          </a:prstGeom>
        </p:spPr>
        <p:txBody>
          <a:bodyPr lIns="109728" tIns="109728" rIns="109728" bIns="91440"/>
          <a:lstStyle>
            <a:lvl1pPr marL="228600" indent="-228600" algn="l" defTabSz="914400" rtl="0" eaLnBrk="1" latinLnBrk="0" hangingPunct="1">
              <a:lnSpc>
                <a:spcPct val="125000"/>
              </a:lnSpc>
              <a:spcBef>
                <a:spcPts val="1000"/>
              </a:spcBef>
              <a:buFont typeface="Arial" panose="020B0604020202020204" pitchFamily="34" charset="0"/>
              <a:buChar char="•"/>
              <a:defRPr sz="1600" kern="1200" spc="160">
                <a:solidFill>
                  <a:schemeClr val="tx1"/>
                </a:solidFill>
                <a:latin typeface="+mn-lt"/>
                <a:ea typeface="+mn-ea"/>
                <a:cs typeface="+mn-cs"/>
              </a:defRPr>
            </a:lvl1pPr>
            <a:lvl2pPr marL="6858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2pPr>
            <a:lvl3pPr marL="11430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3pPr>
            <a:lvl4pPr marL="16002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4pPr>
            <a:lvl5pPr marL="2057400" indent="-228600" algn="l" defTabSz="914400" rtl="0" eaLnBrk="1" latinLnBrk="0" hangingPunct="1">
              <a:lnSpc>
                <a:spcPct val="125000"/>
              </a:lnSpc>
              <a:spcBef>
                <a:spcPts val="500"/>
              </a:spcBef>
              <a:buFont typeface="Arial" panose="020B0604020202020204" pitchFamily="34" charset="0"/>
              <a:buChar char="•"/>
              <a:defRPr sz="1600" kern="1200" spc="16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zh-CN" altLang="en-US" sz="3200" dirty="0">
                <a:effectLst>
                  <a:outerShdw blurRad="38100" dist="38100" dir="2700000" algn="tl">
                    <a:srgbClr val="000000">
                      <a:alpha val="43137"/>
                    </a:srgbClr>
                  </a:outerShdw>
                </a:effectLst>
                <a:latin typeface="+mn-ea"/>
              </a:rPr>
              <a:t>最后，从认知上去引导</a:t>
            </a:r>
          </a:p>
        </p:txBody>
      </p:sp>
    </p:spTree>
    <p:extLst>
      <p:ext uri="{BB962C8B-B14F-4D97-AF65-F5344CB8AC3E}">
        <p14:creationId xmlns:p14="http://schemas.microsoft.com/office/powerpoint/2010/main" val="1371623806"/>
      </p:ext>
    </p:extLst>
  </p:cSld>
  <p:clrMapOvr>
    <a:masterClrMapping/>
  </p:clrMapOvr>
</p:sld>
</file>

<file path=ppt/theme/theme1.xml><?xml version="1.0" encoding="utf-8"?>
<a:theme xmlns:a="http://schemas.openxmlformats.org/drawingml/2006/main" name="GestaltVTI">
  <a:themeElements>
    <a:clrScheme name="Gestalt">
      <a:dk1>
        <a:srgbClr val="000000"/>
      </a:dk1>
      <a:lt1>
        <a:sysClr val="window" lastClr="FFFFFF"/>
      </a:lt1>
      <a:dk2>
        <a:srgbClr val="262626"/>
      </a:dk2>
      <a:lt2>
        <a:srgbClr val="F7F7F7"/>
      </a:lt2>
      <a:accent1>
        <a:srgbClr val="EBA000"/>
      </a:accent1>
      <a:accent2>
        <a:srgbClr val="00BAC8"/>
      </a:accent2>
      <a:accent3>
        <a:srgbClr val="E64823"/>
      </a:accent3>
      <a:accent4>
        <a:srgbClr val="4D5AFF"/>
      </a:accent4>
      <a:accent5>
        <a:srgbClr val="FE5D21"/>
      </a:accent5>
      <a:accent6>
        <a:srgbClr val="00C777"/>
      </a:accent6>
      <a:hlink>
        <a:srgbClr val="2998E3"/>
      </a:hlink>
      <a:folHlink>
        <a:srgbClr val="939393"/>
      </a:folHlink>
    </a:clrScheme>
    <a:fontScheme name="Gestalt">
      <a:majorFont>
        <a:latin typeface="Microsoft YaHei"/>
        <a:ea typeface=""/>
        <a:cs typeface=""/>
      </a:majorFont>
      <a:minorFont>
        <a:latin typeface="Microsoft YaHe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GestaltVTI" id="{4F87C71D-53D1-4B71-BF97-FD0EA4B25665}" vid="{A110AFC4-8D8A-4C02-8885-7BA370B379B5}"/>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445</TotalTime>
  <Words>2515</Words>
  <Application>Microsoft Office PowerPoint</Application>
  <PresentationFormat>宽屏</PresentationFormat>
  <Paragraphs>190</Paragraphs>
  <Slides>25</Slides>
  <Notes>1</Notes>
  <HiddenSlides>0</HiddenSlides>
  <MMClips>0</MMClips>
  <ScaleCrop>false</ScaleCrop>
  <HeadingPairs>
    <vt:vector size="6" baseType="variant">
      <vt:variant>
        <vt:lpstr>已用的字体</vt:lpstr>
      </vt:variant>
      <vt:variant>
        <vt:i4>5</vt:i4>
      </vt:variant>
      <vt:variant>
        <vt:lpstr>主题</vt:lpstr>
      </vt:variant>
      <vt:variant>
        <vt:i4>1</vt:i4>
      </vt:variant>
      <vt:variant>
        <vt:lpstr>幻灯片标题</vt:lpstr>
      </vt:variant>
      <vt:variant>
        <vt:i4>25</vt:i4>
      </vt:variant>
    </vt:vector>
  </HeadingPairs>
  <TitlesOfParts>
    <vt:vector size="31" baseType="lpstr">
      <vt:lpstr>等线</vt:lpstr>
      <vt:lpstr>微软雅黑</vt:lpstr>
      <vt:lpstr>Arial</vt:lpstr>
      <vt:lpstr>Bierstadt</vt:lpstr>
      <vt:lpstr>Wingdings</vt:lpstr>
      <vt:lpstr>GestaltVTI</vt:lpstr>
      <vt:lpstr>中高考减压音乐训练</vt:lpstr>
      <vt:lpstr>摆渡技术：考前心理总动员家长篇（一）</vt:lpstr>
      <vt:lpstr>摆渡技术：考前心理总动员家长篇（二）</vt:lpstr>
      <vt:lpstr>摆渡技术：考前心理总动员家长篇（三）</vt:lpstr>
      <vt:lpstr>摆渡技术：考前心理总动员家长篇（四）</vt:lpstr>
      <vt:lpstr>摆渡技术：考前心理总动员家长篇（五）</vt:lpstr>
      <vt:lpstr>摆渡技术：考前心理总动员家长篇（五）</vt:lpstr>
      <vt:lpstr>摆渡技术：考前心理总动员家长篇（五）</vt:lpstr>
      <vt:lpstr>摆渡技术：考前心理总动员家长篇（六）</vt:lpstr>
      <vt:lpstr>摆渡技术：考前心理总动员家长篇（七）</vt:lpstr>
      <vt:lpstr>摆渡技术：考前心理总动员家长篇（八）</vt:lpstr>
      <vt:lpstr>摆渡技术：考前心理总动员家长篇（九）</vt:lpstr>
      <vt:lpstr>中高考减压音乐摆渡的原理（一）</vt:lpstr>
      <vt:lpstr>中高考减压音乐摆渡的原理（二）</vt:lpstr>
      <vt:lpstr>中高考减压音乐摆渡的原理（三）</vt:lpstr>
      <vt:lpstr>中高考减压音乐摆渡的原理（四）</vt:lpstr>
      <vt:lpstr>中高考减压音乐摆渡的原理（五）</vt:lpstr>
      <vt:lpstr>中高考减压音乐摆渡的原理（六）</vt:lpstr>
      <vt:lpstr>中高考减压音乐摆渡的原理（七）</vt:lpstr>
      <vt:lpstr>中高考减压音乐摆渡的原理（八）</vt:lpstr>
      <vt:lpstr>中高考减压音乐摆渡的原理（九）</vt:lpstr>
      <vt:lpstr>中高考减压音乐摆渡的原理（十）</vt:lpstr>
      <vt:lpstr>中高考减压音乐摆渡的原理（十一）</vt:lpstr>
      <vt:lpstr>中高考减压音乐摆渡的原理（十二）</vt:lpstr>
      <vt:lpstr>中高考减压音乐摆渡的原理（十三）</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智慧家长课堂</dc:title>
  <dc:creator>ABC</dc:creator>
  <cp:lastModifiedBy>ABC</cp:lastModifiedBy>
  <cp:revision>205</cp:revision>
  <dcterms:created xsi:type="dcterms:W3CDTF">2025-09-26T07:10:55Z</dcterms:created>
  <dcterms:modified xsi:type="dcterms:W3CDTF">2025-12-02T05:37:13Z</dcterms:modified>
</cp:coreProperties>
</file>