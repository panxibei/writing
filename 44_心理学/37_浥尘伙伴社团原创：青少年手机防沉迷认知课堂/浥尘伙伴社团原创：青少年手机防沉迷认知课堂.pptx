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9"/>
  </p:notesMasterIdLst>
  <p:sldIdLst>
    <p:sldId id="256" r:id="rId2"/>
    <p:sldId id="284" r:id="rId3"/>
    <p:sldId id="295" r:id="rId4"/>
    <p:sldId id="297" r:id="rId5"/>
    <p:sldId id="296" r:id="rId6"/>
    <p:sldId id="294" r:id="rId7"/>
    <p:sldId id="258" r:id="rId8"/>
    <p:sldId id="261" r:id="rId9"/>
    <p:sldId id="302" r:id="rId10"/>
    <p:sldId id="303" r:id="rId11"/>
    <p:sldId id="278" r:id="rId12"/>
    <p:sldId id="304" r:id="rId13"/>
    <p:sldId id="305" r:id="rId14"/>
    <p:sldId id="260" r:id="rId15"/>
    <p:sldId id="298" r:id="rId16"/>
    <p:sldId id="299" r:id="rId17"/>
    <p:sldId id="300" r:id="rId18"/>
    <p:sldId id="257" r:id="rId19"/>
    <p:sldId id="301" r:id="rId20"/>
    <p:sldId id="283" r:id="rId21"/>
    <p:sldId id="288" r:id="rId22"/>
    <p:sldId id="307" r:id="rId23"/>
    <p:sldId id="308" r:id="rId24"/>
    <p:sldId id="310" r:id="rId25"/>
    <p:sldId id="262" r:id="rId26"/>
    <p:sldId id="293" r:id="rId27"/>
    <p:sldId id="29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4660"/>
  </p:normalViewPr>
  <p:slideViewPr>
    <p:cSldViewPr snapToGrid="0">
      <p:cViewPr varScale="1">
        <p:scale>
          <a:sx n="76" d="100"/>
          <a:sy n="76" d="100"/>
        </p:scale>
        <p:origin x="2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034E8-7B60-43FC-987C-A54D5D39375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FCB7D-42D9-486B-87B3-4BC90113BD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8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FCB7D-42D9-486B-87B3-4BC90113BD5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31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2753"/>
            <a:ext cx="11155680" cy="93665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8800"/>
            <a:ext cx="11155680" cy="451713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730521"/>
            <a:ext cx="11155680" cy="988415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1792088"/>
            <a:ext cx="11155680" cy="455384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39969"/>
            <a:ext cx="8811260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zh-CN" altLang="en-US" sz="5400" dirty="0"/>
              <a:t>青少年手机防沉迷认知课堂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3399" y="5739969"/>
            <a:ext cx="2681871" cy="960120"/>
          </a:xfrm>
        </p:spPr>
        <p:txBody>
          <a:bodyPr anchor="ctr">
            <a:noAutofit/>
          </a:bodyPr>
          <a:lstStyle/>
          <a:p>
            <a:pPr algn="r"/>
            <a:r>
              <a:rPr lang="zh-CN" altLang="en-US" sz="1400" dirty="0"/>
              <a:t>浥尘伙伴社团密训</a:t>
            </a:r>
            <a:endParaRPr lang="en-US" altLang="zh-CN" sz="1400" dirty="0"/>
          </a:p>
          <a:p>
            <a:pPr algn="r"/>
            <a:r>
              <a:rPr lang="zh-CN" altLang="en-US" sz="1400" dirty="0"/>
              <a:t> </a:t>
            </a:r>
            <a:r>
              <a:rPr lang="en-US" altLang="zh-CN" sz="1400" dirty="0"/>
              <a:t>2026</a:t>
            </a:r>
            <a:r>
              <a:rPr lang="zh-CN" altLang="en-US" sz="1400" dirty="0"/>
              <a:t>年</a:t>
            </a:r>
            <a:r>
              <a:rPr lang="en-US" altLang="zh-CN" sz="1400" dirty="0"/>
              <a:t>1</a:t>
            </a:r>
            <a:r>
              <a:rPr lang="zh-CN" altLang="en-US" sz="1400" dirty="0"/>
              <a:t>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91D6BB-48ED-6480-AF23-1FC615EF8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272" y="5641734"/>
            <a:ext cx="1152372" cy="115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6558-2DAC-5999-297B-E0B3AE5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手里拿着手机&#10;&#10;AI 生成的内容可能不正确。">
            <a:extLst>
              <a:ext uri="{FF2B5EF4-FFF2-40B4-BE49-F238E27FC236}">
                <a16:creationId xmlns:a16="http://schemas.microsoft.com/office/drawing/2014/main" id="{ACB31902-4661-54E4-D418-FE0EE217A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2783928"/>
            <a:ext cx="3418200" cy="256365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B349C3E-DF4A-5692-11D9-7759D7A0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青少年玩电子游戏现状</a:t>
            </a:r>
            <a:br>
              <a:rPr lang="zh-CN" altLang="en-US" sz="4400" dirty="0"/>
            </a:b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EA631-E968-3474-CCB7-474210E1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99392"/>
            <a:ext cx="11155680" cy="1192856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400" b="1" dirty="0">
                <a:latin typeface="+mn-ea"/>
              </a:rPr>
              <a:t>未成年人接触频繁</a:t>
            </a:r>
            <a:endParaRPr lang="en-US" altLang="zh-CN" sz="1400" b="1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据中国音数协游戏工委</a:t>
            </a:r>
            <a:r>
              <a:rPr lang="en-US" altLang="zh-CN" sz="1400" dirty="0">
                <a:latin typeface="+mn-ea"/>
              </a:rPr>
              <a:t>2025</a:t>
            </a:r>
            <a:r>
              <a:rPr lang="zh-CN" altLang="en-US" sz="1400" dirty="0">
                <a:latin typeface="+mn-ea"/>
              </a:rPr>
              <a:t>年发布的报告，我国游戏产业用户达</a:t>
            </a:r>
            <a:r>
              <a:rPr lang="en-US" altLang="zh-CN" sz="1400" dirty="0">
                <a:latin typeface="+mn-ea"/>
              </a:rPr>
              <a:t>4.95</a:t>
            </a:r>
            <a:r>
              <a:rPr lang="zh-CN" altLang="en-US" sz="1400" dirty="0">
                <a:latin typeface="+mn-ea"/>
              </a:rPr>
              <a:t>亿人，其中</a:t>
            </a:r>
            <a:r>
              <a:rPr lang="en-US" altLang="zh-CN" sz="1400" dirty="0">
                <a:latin typeface="+mn-ea"/>
              </a:rPr>
              <a:t>18</a:t>
            </a:r>
            <a:r>
              <a:rPr lang="zh-CN" altLang="en-US" sz="1400" dirty="0">
                <a:latin typeface="+mn-ea"/>
              </a:rPr>
              <a:t>岁以下用户占比约</a:t>
            </a:r>
            <a:r>
              <a:rPr lang="en-US" altLang="zh-CN" sz="1400" dirty="0">
                <a:latin typeface="+mn-ea"/>
              </a:rPr>
              <a:t>35%</a:t>
            </a:r>
            <a:r>
              <a:rPr lang="zh-CN" altLang="en-US" sz="1400" dirty="0">
                <a:latin typeface="+mn-ea"/>
              </a:rPr>
              <a:t>，意味着至少有</a:t>
            </a:r>
            <a:r>
              <a:rPr lang="en-US" altLang="zh-CN" sz="1400" dirty="0">
                <a:latin typeface="+mn-ea"/>
              </a:rPr>
              <a:t>1.7</a:t>
            </a:r>
            <a:r>
              <a:rPr lang="zh-CN" altLang="en-US" sz="1400" dirty="0">
                <a:latin typeface="+mn-ea"/>
              </a:rPr>
              <a:t>亿未成年人频繁接触电子游戏。</a:t>
            </a:r>
            <a:endParaRPr lang="en-US" altLang="zh-CN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A98955B-A15A-4DAE-12CE-A65A97ADD073}"/>
              </a:ext>
            </a:extLst>
          </p:cNvPr>
          <p:cNvSpPr txBox="1">
            <a:spLocks/>
          </p:cNvSpPr>
          <p:nvPr/>
        </p:nvSpPr>
        <p:spPr>
          <a:xfrm>
            <a:off x="515111" y="2639848"/>
            <a:ext cx="7467092" cy="1772991"/>
          </a:xfrm>
          <a:prstGeom prst="rect">
            <a:avLst/>
          </a:prstGeom>
          <a:effectLst/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+mn-ea"/>
              </a:rPr>
              <a:t>健康负面影响</a:t>
            </a:r>
            <a:endParaRPr lang="en-US" altLang="zh-CN" sz="1400" b="1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中国医师协会眼科医师分会</a:t>
            </a:r>
            <a:r>
              <a:rPr lang="en-US" altLang="zh-CN" sz="1400" dirty="0">
                <a:latin typeface="+mn-ea"/>
              </a:rPr>
              <a:t>2024</a:t>
            </a:r>
            <a:r>
              <a:rPr lang="zh-CN" altLang="en-US" sz="1400" dirty="0">
                <a:latin typeface="+mn-ea"/>
              </a:rPr>
              <a:t>年临床统计显示，日均玩游戏</a:t>
            </a:r>
            <a:r>
              <a:rPr lang="en-US" altLang="zh-CN" sz="1400" dirty="0">
                <a:latin typeface="+mn-ea"/>
              </a:rPr>
              <a:t>4</a:t>
            </a:r>
            <a:r>
              <a:rPr lang="zh-CN" altLang="en-US" sz="1400" dirty="0">
                <a:latin typeface="+mn-ea"/>
              </a:rPr>
              <a:t>小时以上的青少年，干眼症发生率达</a:t>
            </a:r>
            <a:r>
              <a:rPr lang="en-US" altLang="zh-CN" sz="1400" dirty="0">
                <a:latin typeface="+mn-ea"/>
              </a:rPr>
              <a:t>73%</a:t>
            </a:r>
            <a:r>
              <a:rPr lang="zh-CN" altLang="en-US" sz="1400" dirty="0">
                <a:latin typeface="+mn-ea"/>
              </a:rPr>
              <a:t>，且全国学生体质健康监测数据显示，小学生高度近视占比已达</a:t>
            </a:r>
            <a:r>
              <a:rPr lang="en-US" altLang="zh-CN" sz="1400" dirty="0">
                <a:latin typeface="+mn-ea"/>
              </a:rPr>
              <a:t>52%</a:t>
            </a:r>
            <a:r>
              <a:rPr lang="zh-CN" altLang="en-US" sz="1400" dirty="0">
                <a:latin typeface="+mn-ea"/>
              </a:rPr>
              <a:t>，近视低龄化和重度化趋势明显。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中华医学会骨科分会</a:t>
            </a:r>
            <a:r>
              <a:rPr lang="en-US" altLang="zh-CN" sz="1400" dirty="0">
                <a:latin typeface="+mn-ea"/>
              </a:rPr>
              <a:t>2024</a:t>
            </a:r>
            <a:r>
              <a:rPr lang="zh-CN" altLang="en-US" sz="1400" dirty="0">
                <a:latin typeface="+mn-ea"/>
              </a:rPr>
              <a:t>年专项调查指出，</a:t>
            </a:r>
            <a:r>
              <a:rPr lang="en-US" altLang="zh-CN" sz="1400" dirty="0">
                <a:latin typeface="+mn-ea"/>
              </a:rPr>
              <a:t>15</a:t>
            </a:r>
            <a:r>
              <a:rPr lang="zh-CN" altLang="en-US" sz="1400" dirty="0">
                <a:latin typeface="+mn-ea"/>
              </a:rPr>
              <a:t>岁以下颈椎病患者中，</a:t>
            </a:r>
            <a:r>
              <a:rPr lang="en-US" altLang="zh-CN" sz="1400" dirty="0">
                <a:latin typeface="+mn-ea"/>
              </a:rPr>
              <a:t>82%</a:t>
            </a:r>
            <a:r>
              <a:rPr lang="zh-CN" altLang="en-US" sz="1400" dirty="0">
                <a:latin typeface="+mn-ea"/>
              </a:rPr>
              <a:t>有每日</a:t>
            </a:r>
            <a:r>
              <a:rPr lang="en-US" altLang="zh-CN" sz="1400" dirty="0">
                <a:latin typeface="+mn-ea"/>
              </a:rPr>
              <a:t>3</a:t>
            </a:r>
            <a:r>
              <a:rPr lang="zh-CN" altLang="en-US" sz="1400" dirty="0">
                <a:latin typeface="+mn-ea"/>
              </a:rPr>
              <a:t>小时以上游戏史，长期低头导致颈椎生理曲度消失等问题频发。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中国心理学会 </a:t>
            </a:r>
            <a:r>
              <a:rPr lang="en-US" altLang="zh-CN" sz="1400" dirty="0">
                <a:latin typeface="+mn-ea"/>
              </a:rPr>
              <a:t>2025 </a:t>
            </a:r>
            <a:r>
              <a:rPr lang="zh-CN" altLang="en-US" sz="1400" dirty="0">
                <a:latin typeface="+mn-ea"/>
              </a:rPr>
              <a:t>年抽样调查显示，</a:t>
            </a:r>
            <a:r>
              <a:rPr lang="en-US" altLang="zh-CN" sz="1400" dirty="0">
                <a:latin typeface="+mn-ea"/>
              </a:rPr>
              <a:t>68%</a:t>
            </a:r>
            <a:r>
              <a:rPr lang="zh-CN" altLang="en-US" sz="1400" dirty="0">
                <a:latin typeface="+mn-ea"/>
              </a:rPr>
              <a:t>的游戏成瘾青少年存在不同程度的社交恐惧，</a:t>
            </a:r>
            <a:r>
              <a:rPr lang="en-US" altLang="zh-CN" sz="1400" dirty="0">
                <a:latin typeface="+mn-ea"/>
              </a:rPr>
              <a:t>35%</a:t>
            </a:r>
            <a:r>
              <a:rPr lang="zh-CN" altLang="en-US" sz="1400" dirty="0">
                <a:latin typeface="+mn-ea"/>
              </a:rPr>
              <a:t>曾出现自残倾向。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6A5D850-32CB-E045-8CC9-C9B36E3DE5CC}"/>
              </a:ext>
            </a:extLst>
          </p:cNvPr>
          <p:cNvSpPr txBox="1">
            <a:spLocks/>
          </p:cNvSpPr>
          <p:nvPr/>
        </p:nvSpPr>
        <p:spPr>
          <a:xfrm>
            <a:off x="515111" y="5258607"/>
            <a:ext cx="11161778" cy="1331853"/>
          </a:xfrm>
          <a:prstGeom prst="rect">
            <a:avLst/>
          </a:prstGeom>
          <a:effectLst/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+mn-ea"/>
              </a:rPr>
              <a:t>典型案例</a:t>
            </a:r>
            <a:endParaRPr lang="en-US" altLang="zh-CN" sz="1400" b="1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长春</a:t>
            </a:r>
            <a:r>
              <a:rPr lang="en-US" altLang="zh-CN" sz="1400" dirty="0">
                <a:latin typeface="+mn-ea"/>
              </a:rPr>
              <a:t>11</a:t>
            </a:r>
            <a:r>
              <a:rPr lang="zh-CN" altLang="en-US" sz="1400" dirty="0">
                <a:latin typeface="+mn-ea"/>
              </a:rPr>
              <a:t>岁学霸聪聪成绩优异，常年位居班级前三、年级前十，家长奖励其一部手机。可从</a:t>
            </a:r>
            <a:r>
              <a:rPr lang="en-US" altLang="zh-CN" sz="1400" dirty="0">
                <a:latin typeface="+mn-ea"/>
              </a:rPr>
              <a:t>2019</a:t>
            </a:r>
            <a:r>
              <a:rPr lang="zh-CN" altLang="en-US" sz="1400" dirty="0">
                <a:latin typeface="+mn-ea"/>
              </a:rPr>
              <a:t>年</a:t>
            </a:r>
            <a:r>
              <a:rPr lang="en-US" altLang="zh-CN" sz="1400" dirty="0">
                <a:latin typeface="+mn-ea"/>
              </a:rPr>
              <a:t>6</a:t>
            </a:r>
            <a:r>
              <a:rPr lang="zh-CN" altLang="en-US" sz="1400" dirty="0">
                <a:latin typeface="+mn-ea"/>
              </a:rPr>
              <a:t>月起，聪聪开始偷偷给多款手游充值，起初仅几十元，后来单次充值达一两千元，不到一年累计充值近</a:t>
            </a:r>
            <a:r>
              <a:rPr lang="en-US" altLang="zh-CN" sz="1400" dirty="0">
                <a:latin typeface="+mn-ea"/>
              </a:rPr>
              <a:t>5</a:t>
            </a:r>
            <a:r>
              <a:rPr lang="zh-CN" altLang="en-US" sz="1400" dirty="0">
                <a:latin typeface="+mn-ea"/>
              </a:rPr>
              <a:t>万元，其中</a:t>
            </a:r>
            <a:r>
              <a:rPr lang="en-US" altLang="zh-CN" sz="1400" dirty="0">
                <a:latin typeface="+mn-ea"/>
              </a:rPr>
              <a:t>2</a:t>
            </a:r>
            <a:r>
              <a:rPr lang="zh-CN" altLang="en-US" sz="1400" dirty="0">
                <a:latin typeface="+mn-ea"/>
              </a:rPr>
              <a:t>月单月就充值两万多元。这些钱多流向</a:t>
            </a:r>
            <a:r>
              <a:rPr lang="en-US" altLang="zh-CN" sz="1400" dirty="0">
                <a:latin typeface="+mn-ea"/>
              </a:rPr>
              <a:t>《XX</a:t>
            </a:r>
            <a:r>
              <a:rPr lang="zh-CN" altLang="en-US" sz="1400" dirty="0">
                <a:latin typeface="+mn-ea"/>
              </a:rPr>
              <a:t>精英</a:t>
            </a:r>
            <a:r>
              <a:rPr lang="en-US" altLang="zh-CN" sz="1400" dirty="0">
                <a:latin typeface="+mn-ea"/>
              </a:rPr>
              <a:t>》《XX</a:t>
            </a:r>
            <a:r>
              <a:rPr lang="zh-CN" altLang="en-US" sz="1400" dirty="0">
                <a:latin typeface="+mn-ea"/>
              </a:rPr>
              <a:t>荣耀</a:t>
            </a:r>
            <a:r>
              <a:rPr lang="en-US" altLang="zh-CN" sz="1400" dirty="0">
                <a:latin typeface="+mn-ea"/>
              </a:rPr>
              <a:t>》</a:t>
            </a:r>
            <a:r>
              <a:rPr lang="zh-CN" altLang="en-US" sz="1400" dirty="0">
                <a:latin typeface="+mn-ea"/>
              </a:rPr>
              <a:t>等游戏，家长发现时，甚至刚到账的贷款都被孩子转出</a:t>
            </a:r>
            <a:r>
              <a:rPr lang="en-US" altLang="zh-CN" sz="1400" dirty="0">
                <a:latin typeface="+mn-ea"/>
              </a:rPr>
              <a:t>1000</a:t>
            </a:r>
            <a:r>
              <a:rPr lang="zh-CN" altLang="en-US" sz="1400" dirty="0">
                <a:latin typeface="+mn-ea"/>
              </a:rPr>
              <a:t>元充值游戏。事后聪聪曾想靠理财赚钱填补漏洞，家长则着手联系游戏公司协商退款。</a:t>
            </a:r>
          </a:p>
        </p:txBody>
      </p:sp>
    </p:spTree>
    <p:extLst>
      <p:ext uri="{BB962C8B-B14F-4D97-AF65-F5344CB8AC3E}">
        <p14:creationId xmlns:p14="http://schemas.microsoft.com/office/powerpoint/2010/main" val="149529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065B8-BA8F-0977-104A-A16C6B85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C1131-3095-D569-FC1E-70F4E4E7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为什么人们会喜欢玩游戏？（</a:t>
            </a:r>
            <a:r>
              <a:rPr lang="en-US" altLang="zh-CN" sz="4400" dirty="0"/>
              <a:t>1</a:t>
            </a:r>
            <a:r>
              <a:rPr lang="zh-CN" altLang="en-US" sz="4400" dirty="0"/>
              <a:t>）</a:t>
            </a:r>
            <a:br>
              <a:rPr lang="zh-CN" altLang="en-US" sz="4400" dirty="0"/>
            </a:b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8DB1C-76E5-717C-B4C4-A375188DA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2127079"/>
            <a:ext cx="11161778" cy="772715"/>
          </a:xfrm>
          <a:effectLst/>
        </p:spPr>
        <p:txBody>
          <a:bodyPr/>
          <a:lstStyle/>
          <a:p>
            <a:pPr marL="0" indent="0" algn="ctr">
              <a:buNone/>
            </a:pPr>
            <a:r>
              <a:rPr lang="zh-CN" altLang="en-US" sz="2400" dirty="0">
                <a:latin typeface="+mn-ea"/>
              </a:rPr>
              <a:t>电子游戏的前身是什么？？？</a:t>
            </a: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</p:txBody>
      </p:sp>
      <p:pic>
        <p:nvPicPr>
          <p:cNvPr id="11" name="图片 10" descr="卡通人物&#10;&#10;AI 生成的内容可能不正确。">
            <a:extLst>
              <a:ext uri="{FF2B5EF4-FFF2-40B4-BE49-F238E27FC236}">
                <a16:creationId xmlns:a16="http://schemas.microsoft.com/office/drawing/2014/main" id="{14211499-93B5-E465-F72F-C7169563F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119297"/>
            <a:ext cx="3048000" cy="2289048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89492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24097-1634-96BA-C27B-52119879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物体, 人, 室内, 检查&#10;&#10;AI 生成的内容可能不正确。">
            <a:extLst>
              <a:ext uri="{FF2B5EF4-FFF2-40B4-BE49-F238E27FC236}">
                <a16:creationId xmlns:a16="http://schemas.microsoft.com/office/drawing/2014/main" id="{31546891-7F06-FFCD-FF28-C06E04A05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56" y="3816123"/>
            <a:ext cx="3561583" cy="2379137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F8F529C-4601-5326-95E5-6ECFA5E1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为什么人们会喜欢玩游戏？（</a:t>
            </a:r>
            <a:r>
              <a:rPr lang="en-US" altLang="zh-CN" sz="4400" dirty="0"/>
              <a:t>2</a:t>
            </a:r>
            <a:r>
              <a:rPr lang="zh-CN" altLang="en-US" sz="4400" dirty="0"/>
              <a:t>）</a:t>
            </a:r>
            <a:br>
              <a:rPr lang="zh-CN" altLang="en-US" sz="4400" dirty="0"/>
            </a:b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1506E-95DF-54A6-B685-47606B38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+mn-ea"/>
              </a:rPr>
              <a:t>电子游戏的前身是什么？？？</a:t>
            </a: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+mn-ea"/>
              </a:rPr>
              <a:t>游戏（过家家、下棋、麻将、投壶等等）</a:t>
            </a:r>
          </a:p>
        </p:txBody>
      </p:sp>
      <p:pic>
        <p:nvPicPr>
          <p:cNvPr id="5" name="图片 4" descr="图片包含 游戏机, 文字, 女王&#10;&#10;AI 生成的内容可能不正确。">
            <a:extLst>
              <a:ext uri="{FF2B5EF4-FFF2-40B4-BE49-F238E27FC236}">
                <a16:creationId xmlns:a16="http://schemas.microsoft.com/office/drawing/2014/main" id="{A193092F-F477-3F81-1DD4-56B503726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94" y="2873168"/>
            <a:ext cx="2781306" cy="2781306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9" name="图片 8" descr="男孩手上拿着足球&#10;&#10;AI 生成的内容可能不正确。">
            <a:extLst>
              <a:ext uri="{FF2B5EF4-FFF2-40B4-BE49-F238E27FC236}">
                <a16:creationId xmlns:a16="http://schemas.microsoft.com/office/drawing/2014/main" id="{55684EFD-BA89-F5AF-7F61-323C209EA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08225"/>
            <a:ext cx="3313552" cy="3023616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00411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5760-D1D4-87BF-B4C1-F3ABBA1A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99C31-F228-F024-CADA-BA428A07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象征游戏和符号载体</a:t>
            </a:r>
            <a:br>
              <a:rPr lang="zh-CN" altLang="en-US" sz="4400" dirty="0"/>
            </a:b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BAD56-0F2F-C3A0-6965-429B289A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4951015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电子游戏的前身→游戏（过家家、下棋等等） →现在中的人类活动（战争、组织活动）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以前的游戏叫做“象征游戏”，叫做符号游戏，是现实世界中对人类活动（战争、组织活动）的抽象模拟。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人类会对世界感兴趣，所以通过象征游戏来了解这个世界的规则。</a:t>
            </a:r>
          </a:p>
          <a:p>
            <a:pPr marL="0" indent="0">
              <a:buNone/>
            </a:pPr>
            <a:endParaRPr lang="en-US" altLang="zh-CN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人们通过形而上（符号化）的规则来了解并验证形而下的真实世界。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人们都希望通过这些方式来获得世界运行的规则，进而可以为自己更好地生活作为指导。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人类天性都会对这些喜欢，上瘾！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+mn-ea"/>
              </a:rPr>
              <a:t>象征游戏的载体，还包括现在比如每个人上网发帖子、电影电视、小说等等，都是一种了解这个世界规则的表现。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BB7763-9847-92C8-38F4-4295CA91F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394" y="2935903"/>
            <a:ext cx="3374494" cy="2232777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93320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6D5F-DF61-FA1B-2988-21D8966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44E9089-6266-0A8F-3842-106EF02F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013" y="2563122"/>
            <a:ext cx="4638779" cy="309072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CDC02A2-71AB-3659-79BC-E60E42C2D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电子游戏存在偏差</a:t>
            </a:r>
            <a:br>
              <a:rPr lang="zh-CN" altLang="en-US" sz="4400" dirty="0"/>
            </a:b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D5B5D4-006A-F28F-9F58-5D591A216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637998"/>
            <a:ext cx="11155680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不管是哪个年龄层次的，都会对电子游戏痴迷。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任何一个人，都可以通过前面所说的任何载体（下棋、游戏、小说、电影电视等等）中汲取人生有用的有指导意义的这个世界的运行规则，即使这个人没有读过多少书。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再说读书也是一种载体，难道不是吗？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人类天性对模拟规则的东西有迷恋。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5A7E883-02C6-65AA-015A-7A46EC65E59B}"/>
              </a:ext>
            </a:extLst>
          </p:cNvPr>
          <p:cNvSpPr txBox="1">
            <a:spLocks/>
          </p:cNvSpPr>
          <p:nvPr/>
        </p:nvSpPr>
        <p:spPr>
          <a:xfrm>
            <a:off x="515112" y="3775212"/>
            <a:ext cx="6621524" cy="1444790"/>
          </a:xfrm>
          <a:prstGeom prst="rect">
            <a:avLst/>
          </a:prstGeom>
          <a:effectLst/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孩子迷恋游戏，不是有的专家说的，为了交友，为了减压。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而是他们需要通过这种方式来了解这个世界，虽然这种方式有一些问题。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单纯通过电子游戏来了解这个世界，可能会造成一些问题。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918B921-562A-049C-6E77-4DBEC6B5DF27}"/>
              </a:ext>
            </a:extLst>
          </p:cNvPr>
          <p:cNvSpPr txBox="1">
            <a:spLocks/>
          </p:cNvSpPr>
          <p:nvPr/>
        </p:nvSpPr>
        <p:spPr>
          <a:xfrm>
            <a:off x="515112" y="5305295"/>
            <a:ext cx="11155680" cy="889965"/>
          </a:xfrm>
          <a:prstGeom prst="rect">
            <a:avLst/>
          </a:prstGeom>
          <a:effectLst/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由于电子游戏对世界的模拟性非常强，因此越能吸引孩子。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但与此同时，会造成孩子们对象征游戏，也就是经典的老一套的模拟游戏反而吸引力不足了。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DF16D16-5E50-58F6-E71E-511442DFFB6D}"/>
              </a:ext>
            </a:extLst>
          </p:cNvPr>
          <p:cNvSpPr txBox="1">
            <a:spLocks/>
          </p:cNvSpPr>
          <p:nvPr/>
        </p:nvSpPr>
        <p:spPr>
          <a:xfrm>
            <a:off x="515112" y="5998785"/>
            <a:ext cx="6419088" cy="5635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+mn-ea"/>
              </a:rPr>
              <a:t>以样会造成对真实世界了解的更大的偏差。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751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AF12-4DDE-0849-072C-6C7A1019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2C733-3636-BB01-688C-78434C45E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真实游戏和虚拟游戏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8BED31-3B76-FBDD-58BF-40DFD9DD1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99392"/>
            <a:ext cx="5580888" cy="14331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解放前，土地最值钱，拥有土地就是地主。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解放后，出身身份最值钱，政治出身觉悟。</a:t>
            </a:r>
          </a:p>
          <a:p>
            <a:pPr marL="0" indent="0">
              <a:buNone/>
            </a:pPr>
            <a:r>
              <a:rPr lang="en-US" altLang="zh-CN" sz="1400" dirty="0">
                <a:latin typeface="+mn-ea"/>
              </a:rPr>
              <a:t>78</a:t>
            </a:r>
            <a:r>
              <a:rPr lang="zh-CN" altLang="en-US" sz="1400" dirty="0">
                <a:latin typeface="+mn-ea"/>
              </a:rPr>
              <a:t>年改革开放开始，文凭最值钱，也可以做生意。</a:t>
            </a:r>
            <a:endParaRPr lang="en-US" altLang="zh-CN" sz="1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E08DEF-8C98-A6B5-F269-789284A0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966" y="3767421"/>
            <a:ext cx="4067283" cy="2709946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116EFF5-CF6D-1466-F7B8-9D1644E981A0}"/>
              </a:ext>
            </a:extLst>
          </p:cNvPr>
          <p:cNvSpPr txBox="1">
            <a:spLocks/>
          </p:cNvSpPr>
          <p:nvPr/>
        </p:nvSpPr>
        <p:spPr>
          <a:xfrm>
            <a:off x="515112" y="3215699"/>
            <a:ext cx="6419088" cy="2042909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为什么微信红包成功了？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以前的压岁钱是真实世界的，而微信红包就是将这个东西搬到了网上。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而支付宝搞了一个集福卡却失败了。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玩互联网必须要有现实能力，也就是自然力。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以后，富人玩真实游戏，穷人玩虚拟游戏。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3000992-1974-3469-4D1A-AA2AC6F579EB}"/>
              </a:ext>
            </a:extLst>
          </p:cNvPr>
          <p:cNvSpPr txBox="1">
            <a:spLocks/>
          </p:cNvSpPr>
          <p:nvPr/>
        </p:nvSpPr>
        <p:spPr>
          <a:xfrm>
            <a:off x="6096001" y="1576785"/>
            <a:ext cx="5574791" cy="1763315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互联网时代什么最值钱？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组建社群，自然力（把自然搬到网上），原创力。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所以互联网时代，就是把真实地球，弄到网上去。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0402EBE-3F74-4198-6CAB-119B854D0B47}"/>
              </a:ext>
            </a:extLst>
          </p:cNvPr>
          <p:cNvSpPr txBox="1">
            <a:spLocks/>
          </p:cNvSpPr>
          <p:nvPr/>
        </p:nvSpPr>
        <p:spPr>
          <a:xfrm>
            <a:off x="515112" y="5735009"/>
            <a:ext cx="6419088" cy="5635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+mn-ea"/>
              </a:rPr>
              <a:t>以后，富人玩真实游戏，穷人玩虚拟游戏！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767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FDDC8-E075-3136-3925-596442A5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74151-AFDB-6284-23A0-2F82B2E7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揭开手机游戏减压骗局（</a:t>
            </a:r>
            <a:r>
              <a:rPr lang="en-US" altLang="zh-CN" sz="4400" dirty="0"/>
              <a:t>1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82672E-FD8D-A136-4837-D6D66C996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11155680" cy="174463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提高脑力的第一条就是停止刷短视频。第二条减少打电子游戏。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前额叶是管自律的部门。一般人到</a:t>
            </a:r>
            <a:r>
              <a:rPr lang="en-US" altLang="zh-CN" sz="1400" dirty="0">
                <a:latin typeface="+mn-ea"/>
              </a:rPr>
              <a:t>25</a:t>
            </a:r>
            <a:r>
              <a:rPr lang="zh-CN" altLang="en-US" sz="1400" dirty="0">
                <a:latin typeface="+mn-ea"/>
              </a:rPr>
              <a:t>岁前额叶成熟，自律性最好。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一个孩子管不住自己是很正常的。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如果一个孩子能管住自己，那么这个孩子就超出了一般人。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发给孩子手机，让孩子自主管理，挑战自律性。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通过申请制来发放手机给孩子。</a:t>
            </a:r>
            <a:endParaRPr lang="en-US" altLang="zh-CN" sz="1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8C038A-7699-49F6-344D-30E73DD94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787" y="1731055"/>
            <a:ext cx="3693448" cy="256073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80EB7B-0993-6DDC-1F24-A4E95483F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786" y="4626561"/>
            <a:ext cx="2265015" cy="1918682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711E150-9A34-C380-7704-F2EAF50C6342}"/>
              </a:ext>
            </a:extLst>
          </p:cNvPr>
          <p:cNvSpPr txBox="1">
            <a:spLocks/>
          </p:cNvSpPr>
          <p:nvPr/>
        </p:nvSpPr>
        <p:spPr>
          <a:xfrm>
            <a:off x="515112" y="4086352"/>
            <a:ext cx="11155680" cy="1744630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手机游戏能不能解压？不能！因为它也是消耗前额叶。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快旋转对人的要求更高，一般用于测试飞行员和宇航员。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旋转的时候为什么会晕？因为旋转的时候脑力也会快速地消耗。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把手机放在你的旁边，你都不会去碰它，你的自律力就会提高。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人的自律性是可以通过训练来提高。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有了自律性，你就可以从事很多种工作。因为大多数工作都需要这样的能力。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592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35F1A-30A7-5AAB-EF05-46C326EA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1EF2257-D221-32B9-3801-F8F25843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120" y="1787483"/>
            <a:ext cx="2100433" cy="193441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49092A4-8C10-807A-44AF-D2E8E915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揭开手机游戏减压骗局（</a:t>
            </a:r>
            <a:r>
              <a:rPr lang="en-US" altLang="zh-CN" sz="4400" dirty="0"/>
              <a:t>2</a:t>
            </a:r>
            <a:r>
              <a:rPr lang="zh-CN" altLang="en-US" sz="4400" dirty="0"/>
              <a:t>）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1CDF09C-4DC3-7F05-F570-CAA02F12CB75}"/>
              </a:ext>
            </a:extLst>
          </p:cNvPr>
          <p:cNvSpPr txBox="1">
            <a:spLocks/>
          </p:cNvSpPr>
          <p:nvPr/>
        </p:nvSpPr>
        <p:spPr>
          <a:xfrm>
            <a:off x="521208" y="1599392"/>
            <a:ext cx="11155680" cy="1744630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卫星在厂房里做测试。</a:t>
            </a: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卫星在发射前需要做测试。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不知道是哪一个工程师他分心了，不知道是玩手机游戏还是刷短视频。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用计算机来做模拟测试，他用鼠标点错了，本来应该点模拟发射，结果点成了真实发射。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玩手机游戏玩得越久，注意力就越差。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可能是他在玩电脑游戏。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模拟发射，卫星是不会飞起来的。</a:t>
            </a: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而真实发射，卫星会真的飞起来。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卫星底下有</a:t>
            </a:r>
            <a:r>
              <a:rPr lang="en-US" altLang="zh-CN" sz="1400" dirty="0">
                <a:latin typeface="+mn-ea"/>
              </a:rPr>
              <a:t>36</a:t>
            </a:r>
            <a:r>
              <a:rPr lang="zh-CN" altLang="en-US" sz="1400" dirty="0">
                <a:latin typeface="+mn-ea"/>
              </a:rPr>
              <a:t>个燃料喷口，然后飞到厂房房顶，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再然后就掉了下来，爆炸了！</a:t>
            </a: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造成了大量人员伤亡！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E246697-40CB-DBC1-3962-4D62AD2AD202}"/>
              </a:ext>
            </a:extLst>
          </p:cNvPr>
          <p:cNvSpPr txBox="1">
            <a:spLocks/>
          </p:cNvSpPr>
          <p:nvPr/>
        </p:nvSpPr>
        <p:spPr>
          <a:xfrm>
            <a:off x="5288911" y="3430732"/>
            <a:ext cx="11155680" cy="1744630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切尔诺贝利核电事故，死亡</a:t>
            </a:r>
            <a:r>
              <a:rPr lang="en-US" altLang="zh-CN" sz="1400" dirty="0">
                <a:latin typeface="+mn-ea"/>
              </a:rPr>
              <a:t>60</a:t>
            </a:r>
            <a:r>
              <a:rPr lang="zh-CN" altLang="en-US" sz="1400" dirty="0">
                <a:latin typeface="+mn-ea"/>
              </a:rPr>
              <a:t>万人。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这个事故也是工程人员操作失误造成的。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苏联派了几十万人的军队，用水泥把核泄露的核电站封住。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靠人来阻止了事故进一步恶化，但所有参加的军人都罹患了癌症。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所以注意力不集中，会造成多么严重的后果。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如果一个人注意力不好，这一辈子什么都干不了。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一定要好好地保护自己的注意力。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877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00A4-D458-7E53-1C5D-AAF5CBB42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FDDFE-7372-B9C7-703D-6B241F1C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揭开手机游戏减压骗局（</a:t>
            </a:r>
            <a:r>
              <a:rPr lang="en-US" altLang="zh-CN" sz="4400" dirty="0"/>
              <a:t>3</a:t>
            </a:r>
            <a:r>
              <a:rPr lang="zh-CN" altLang="en-US" sz="4400" dirty="0"/>
              <a:t>）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7A8E735-3E05-C5EE-E0C4-143E7A75A28C}"/>
              </a:ext>
            </a:extLst>
          </p:cNvPr>
          <p:cNvSpPr txBox="1">
            <a:spLocks/>
          </p:cNvSpPr>
          <p:nvPr/>
        </p:nvSpPr>
        <p:spPr>
          <a:xfrm>
            <a:off x="521208" y="1599391"/>
            <a:ext cx="11155680" cy="2184333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如何提高专注力水平？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运动、冥想、听歌。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你很专注地去做任何一个简单的活动，都可以训练专注力。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但是，只有手机游戏和短视频是专注力杀手，是消耗专注力的。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世界研究得出结论，人的平均注意力水平大概在</a:t>
            </a:r>
            <a:r>
              <a:rPr lang="en-US" altLang="zh-CN" sz="1400" dirty="0">
                <a:latin typeface="+mn-ea"/>
              </a:rPr>
              <a:t>5</a:t>
            </a:r>
            <a:r>
              <a:rPr lang="zh-CN" altLang="en-US" sz="1400" dirty="0">
                <a:latin typeface="+mn-ea"/>
              </a:rPr>
              <a:t>分钟。</a:t>
            </a: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这个研究是谁得出来的？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是科学家吗？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是联合国吗？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大学？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都不是，而是保险公司！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而且是世界上最著名的保险公司，对全球做的测试研究。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7B001F3-004B-8C3D-EAFD-3E0BA232DB55}"/>
              </a:ext>
            </a:extLst>
          </p:cNvPr>
          <p:cNvSpPr txBox="1">
            <a:spLocks/>
          </p:cNvSpPr>
          <p:nvPr/>
        </p:nvSpPr>
        <p:spPr>
          <a:xfrm>
            <a:off x="6220022" y="1599390"/>
            <a:ext cx="11155680" cy="1744630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为什么是保险公司呢？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因为保险公司害怕人的注意力水平不行，就会导致更多的事故发生。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所以他们就要提高保险金额。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保险公司每年都会根据人们现在注意力的水平来决定你每年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应该花多少钱去参加保险。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世界上著名的保险公司，现在在研究现在的人们受到手机游戏和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短视频影响他的注意力水平是多少。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平时工作、学习压力大累，不是用手机游戏和短视频来减压。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最简单的方法，就是听音乐。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ADC985-008D-D1BF-F189-07474A871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710" y="4902631"/>
            <a:ext cx="1828761" cy="1813479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062350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 lIns="109728" tIns="109728" rIns="109728" bIns="91440" anchor="t"/>
          <a:lstStyle/>
          <a:p>
            <a:r>
              <a:rPr lang="zh-CN" altLang="en-US" sz="4400" dirty="0"/>
              <a:t>从大脑成瘾机制看为什么要回归自然（</a:t>
            </a:r>
            <a:r>
              <a:rPr lang="en-US" altLang="zh-CN" sz="4400" dirty="0"/>
              <a:t>1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06204"/>
            <a:ext cx="7495955" cy="857911"/>
          </a:xfrm>
        </p:spPr>
        <p:txBody>
          <a:bodyPr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大脑为什么会成瘾？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大脑有个地方叫做蓝斑，是蓝色的。蓝斑连接到伏隔核。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伏隔核就是负责你们玩电子游戏的大脑的一个区域。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我完成了一个活动，电子游戏给我一个奖励。电子游戏整个设计，都是按照大脑的工作原理去设计的。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蓝斑发出命令给了伏隔核，伏隔核专门负责玩电子游戏。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同时伏隔核会给大脑发送信号，使大脑处理觉醒状态。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一旦不玩游戏了，大脑就变得迟钝，人就会打哈欠，无精打采。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这套机制就叫大脑成瘾机制。人们对于无意外的刺激，没有新奇感，就会失去兴趣。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反之，大脑才能感到快乐活跃。所以玩电子游戏玩久了，也会觉得无聊甚至是空虚。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大脑受不了单一单调的刺激。现在的孩子只有学习和玩手机游戏，生活过于单调。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单调到一定程度，有的人甚至会觉得痛苦都能好过单调刺激。这就非常的危险了。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18CD20-9278-61A0-59EE-9A8FB122E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163" y="1409488"/>
            <a:ext cx="3390900" cy="201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B3A3DD6-60D4-B552-DFC6-3DB90FBA2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225" y="3421422"/>
            <a:ext cx="2587875" cy="16888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554598-B585-524B-67AC-E9D5DD924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703" y="4442546"/>
            <a:ext cx="3246667" cy="21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16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F4FA-C632-CDEC-88AC-F0A27500E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F582C9F-1A21-36A6-466E-2F56036F1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25" y="3421422"/>
            <a:ext cx="2587875" cy="168889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17AF36F-98CB-041B-66B0-ACE3DF831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从大脑成瘾机制看为什么要回归自然（</a:t>
            </a:r>
            <a:r>
              <a:rPr lang="en-US" altLang="zh-CN" sz="4400" dirty="0"/>
              <a:t>2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D969F3-01CD-01A4-6B72-971190C4C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06204"/>
            <a:ext cx="7227130" cy="4999528"/>
          </a:xfrm>
        </p:spPr>
        <p:txBody>
          <a:bodyPr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喝酒能够带来刺激，带来快乐。喝酒的剂量，大概在快接近酒量的时候，是最快乐的。但是快乐持续不了多久。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这时再喝酒的话，很可能会超过剂量。这时不仅不会快乐，反而会更痛苦。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孩子们在学校学习，回到家玩手机游戏。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本来就很单调，同时又可能超过剂量，导致更加痛苦。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根本原因，就是生活太单一。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任何一种成瘾习惯，会导致伏隔核对其他刺激不感兴趣，失去意义感。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因此，当一个人手机游戏成瘾后，他就对其他本应该很有意思的事，变得不再感兴趣。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这就叫，大脑奖赏行为被截胡了。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400" i="1" dirty="0">
              <a:latin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11965C-1CC7-E47D-5AD3-0B387816F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163" y="1409488"/>
            <a:ext cx="3390900" cy="201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37CD81-2B4A-B201-3A85-8169389EC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703" y="4442546"/>
            <a:ext cx="3246667" cy="21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88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EC47F-BD21-E734-61F5-E1ECD229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27F528F-E1CE-36CA-CBB6-011DF4213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25" y="3421422"/>
            <a:ext cx="2587875" cy="168889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C536B83-8473-E041-30F1-9EB952FD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从大脑成瘾机制看为什么要回归自然（</a:t>
            </a:r>
            <a:r>
              <a:rPr lang="en-US" altLang="zh-CN" sz="4400" dirty="0"/>
              <a:t>3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6BC8E6-38DE-8303-0CD2-8C7618832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06204"/>
            <a:ext cx="7227130" cy="4999528"/>
          </a:xfrm>
        </p:spPr>
        <p:txBody>
          <a:bodyPr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一个小婴儿，从小就会去寻找能给他奖励的人或事。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比如妈妈的一个拥抱，比如吃奶，比如给他一个玩具。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这样获得奖励，小婴儿才能正常地生存下去。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现在的孩子多巴胺靠电子游戏来维持。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还有其他可以给我们带来快乐的吗？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玩水玩泥都可以分泌多巴胺</a:t>
            </a:r>
            <a:r>
              <a:rPr lang="en-US" altLang="zh-CN" sz="1400" dirty="0">
                <a:latin typeface="+mn-ea"/>
              </a:rPr>
              <a:t>……</a:t>
            </a:r>
          </a:p>
          <a:p>
            <a:pPr marL="0" indent="0">
              <a:lnSpc>
                <a:spcPts val="2100"/>
              </a:lnSpc>
              <a:buNone/>
            </a:pPr>
            <a:endParaRPr lang="en-US" altLang="zh-CN" sz="14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有一个富二代，</a:t>
            </a:r>
            <a:r>
              <a:rPr lang="en-US" altLang="zh-CN" sz="1400" dirty="0">
                <a:latin typeface="+mn-ea"/>
              </a:rPr>
              <a:t>20</a:t>
            </a:r>
            <a:r>
              <a:rPr lang="zh-CN" altLang="en-US" sz="1400" dirty="0">
                <a:latin typeface="+mn-ea"/>
              </a:rPr>
              <a:t>多岁就不想活了。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原因是他已经把所有的东西都玩过了，他觉得没意思了。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快乐一定要节约着用。过早地消耗掉快乐，就意味着失去了人生意义。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400" dirty="0">
                <a:latin typeface="+mn-ea"/>
              </a:rPr>
              <a:t>对于重度成瘾的人，应该让他先回归到自然，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EFFDFD-B3E5-0173-124E-DA0A07E2E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163" y="1409488"/>
            <a:ext cx="3390900" cy="201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AE95FE-9257-5847-965E-AA4B2DA81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703" y="4442546"/>
            <a:ext cx="3246667" cy="21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22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6558-2DAC-5999-297B-E0B3AE5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9C3E-DF4A-5692-11D9-7759D7A0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一定要告诉孩子，他为什么要学习？（</a:t>
            </a:r>
            <a:r>
              <a:rPr lang="en-US" altLang="zh-CN" sz="4400" dirty="0"/>
              <a:t>1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EA631-E968-3474-CCB7-474210E1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599392"/>
            <a:ext cx="6973103" cy="435944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一个原始人，有一天出门，有两条路。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一条路可以抓到羊，一条路可能会遇到老虎。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人如何才能找到羊，而规避老虎？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人可以通过设置陷阱，或布置脚印和粪便。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这是通过学习的！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人可以学会火，所有的动物都怕火，而人不怕火，因为人是通过学习。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人是碳基生命，是可以被火烧的，所以人天生是怕火的。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但是通过学习，人就可以掌握火的使用方法而为自己所用。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控制更多的东西，所以人总是在不断地学习。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如果不学习，那么被关在动物园内的就是人自己了。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人类不可能不学习，不学习就是毁灭。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F28D0C-2A63-1B49-9D1C-8F4A6E6C0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105" y="1862416"/>
            <a:ext cx="1561905" cy="15619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BD7013-1044-75DB-71CF-2B7EEE141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010" y="1862416"/>
            <a:ext cx="1553179" cy="15619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19D3E3-2DF8-BCA9-F36E-D00357BB0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010" y="3892647"/>
            <a:ext cx="2955697" cy="22167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4550FAD-4DD6-EA13-A9A8-4393EE60DE2C}"/>
              </a:ext>
            </a:extLst>
          </p:cNvPr>
          <p:cNvSpPr txBox="1"/>
          <p:nvPr/>
        </p:nvSpPr>
        <p:spPr>
          <a:xfrm>
            <a:off x="7666010" y="2258645"/>
            <a:ext cx="228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/>
              <a:t>←  ？→</a:t>
            </a:r>
          </a:p>
        </p:txBody>
      </p:sp>
    </p:spTree>
    <p:extLst>
      <p:ext uri="{BB962C8B-B14F-4D97-AF65-F5344CB8AC3E}">
        <p14:creationId xmlns:p14="http://schemas.microsoft.com/office/powerpoint/2010/main" val="1173087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B14C-5C31-C16B-F079-0770D8EA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041CD51F-9640-668E-6571-EAE0A7A0E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901" y="5068797"/>
            <a:ext cx="2197522" cy="149156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8986C34-B985-DE4A-2E2A-6C37FFB9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一定要告诉孩子，他为什么要学习？（</a:t>
            </a:r>
            <a:r>
              <a:rPr lang="en-US" altLang="zh-CN" sz="4400" dirty="0"/>
              <a:t>2</a:t>
            </a:r>
            <a:r>
              <a:rPr lang="zh-CN" altLang="en-US" sz="4400" dirty="0"/>
              <a:t>）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B4858A1-7417-52EF-C57C-828D0807100D}"/>
              </a:ext>
            </a:extLst>
          </p:cNvPr>
          <p:cNvSpPr txBox="1">
            <a:spLocks/>
          </p:cNvSpPr>
          <p:nvPr/>
        </p:nvSpPr>
        <p:spPr>
          <a:xfrm>
            <a:off x="515112" y="1599392"/>
            <a:ext cx="7430709" cy="2596029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从工业革命、圈地运动看为什么孩子要到学校去学习！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中国古代是以什么单位计量时间的？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一天十二个时辰，一个时辰是</a:t>
            </a:r>
            <a:r>
              <a:rPr lang="en-US" altLang="zh-CN" sz="1400" dirty="0">
                <a:latin typeface="+mn-ea"/>
              </a:rPr>
              <a:t>2</a:t>
            </a:r>
            <a:r>
              <a:rPr lang="zh-CN" altLang="en-US" sz="1400" dirty="0">
                <a:latin typeface="+mn-ea"/>
              </a:rPr>
              <a:t>个小时。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为什么没有分秒？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因为古代不需要这么精确的计时，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只要知道节气，符合农作物生长就可以了。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6879993-88C6-9283-E8FB-70DA601AB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12" y="4338586"/>
            <a:ext cx="1667290" cy="2221779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62502C-4EE3-7224-24D8-DA3E18DDC911}"/>
              </a:ext>
            </a:extLst>
          </p:cNvPr>
          <p:cNvSpPr txBox="1">
            <a:spLocks/>
          </p:cNvSpPr>
          <p:nvPr/>
        </p:nvSpPr>
        <p:spPr>
          <a:xfrm>
            <a:off x="5403255" y="1599392"/>
            <a:ext cx="7430709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钟表是从西方发明的，为什么？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最早</a:t>
            </a:r>
            <a:r>
              <a:rPr lang="en-US" altLang="zh-CN" sz="1400" dirty="0">
                <a:latin typeface="+mn-ea"/>
              </a:rPr>
              <a:t>18</a:t>
            </a:r>
            <a:r>
              <a:rPr lang="zh-CN" altLang="en-US" sz="1400" dirty="0">
                <a:latin typeface="+mn-ea"/>
              </a:rPr>
              <a:t>世纪进献给乾隆皇帝的瑞士钟表。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因为工业革命，出现了炼钢厂。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炼钢需要注意什么呢？就是炉温。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炉子点着了，为了更好更多更快地生产钢铁，炉子是不能熄灭的。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因为一旦熄灭，重新再点燃会非常麻烦。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并且炼钢需要很高的温度，重新点燃炉子还需要更长时间等待炉子上升到合适的温度。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还有，炼钢需要精准地把握时间，因此，精确细致的时间就必须要掌握。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炼钢厂一直烧火，人就必须一直看着。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人就需要</a:t>
            </a:r>
            <a:r>
              <a:rPr lang="en-US" altLang="zh-CN" sz="1400" dirty="0">
                <a:latin typeface="+mn-ea"/>
              </a:rPr>
              <a:t>24</a:t>
            </a:r>
            <a:r>
              <a:rPr lang="zh-CN" altLang="en-US" sz="1400" dirty="0">
                <a:latin typeface="+mn-ea"/>
              </a:rPr>
              <a:t>小时上班。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那这时，家里没人了，谁又来管小孩呢？</a:t>
            </a:r>
          </a:p>
        </p:txBody>
      </p:sp>
    </p:spTree>
    <p:extLst>
      <p:ext uri="{BB962C8B-B14F-4D97-AF65-F5344CB8AC3E}">
        <p14:creationId xmlns:p14="http://schemas.microsoft.com/office/powerpoint/2010/main" val="34116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1AFC-E44A-0EA5-FD1D-11230B75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401A5-0DD7-F924-FCAE-EEF51ACFF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一定要告诉孩子，他为什么要学习？（</a:t>
            </a:r>
            <a:r>
              <a:rPr lang="en-US" altLang="zh-CN" sz="4400" dirty="0"/>
              <a:t>3</a:t>
            </a:r>
            <a:r>
              <a:rPr lang="zh-CN" altLang="en-US" sz="4400" dirty="0"/>
              <a:t>）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9EAE5D0-12B6-4A7E-17CF-BF37AB05F6AD}"/>
              </a:ext>
            </a:extLst>
          </p:cNvPr>
          <p:cNvSpPr txBox="1">
            <a:spLocks/>
          </p:cNvSpPr>
          <p:nvPr/>
        </p:nvSpPr>
        <p:spPr>
          <a:xfrm>
            <a:off x="521208" y="1599392"/>
            <a:ext cx="7314254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炼钢厂一直烧火，人就必须一直看着。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人就需要</a:t>
            </a:r>
            <a:r>
              <a:rPr lang="en-US" altLang="zh-CN" sz="1400" dirty="0">
                <a:latin typeface="+mn-ea"/>
              </a:rPr>
              <a:t>24</a:t>
            </a:r>
            <a:r>
              <a:rPr lang="zh-CN" altLang="en-US" sz="1400" dirty="0">
                <a:latin typeface="+mn-ea"/>
              </a:rPr>
              <a:t>小时上班。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那这时，家里没人了，谁又来管小孩呢？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于是，学校就被发明了出来。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孩子们被安排上学，实际上某种意义上讲，是资本主义发展后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工人需要长时间上班，而孩子没有人照顾的结果。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这是上学的第一个原因。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第二个原因。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培养孩子们学习知识，等到</a:t>
            </a:r>
            <a:r>
              <a:rPr lang="en-US" altLang="zh-CN" sz="1400" dirty="0">
                <a:latin typeface="+mn-ea"/>
              </a:rPr>
              <a:t>18</a:t>
            </a:r>
            <a:r>
              <a:rPr lang="zh-CN" altLang="en-US" sz="1400" dirty="0">
                <a:latin typeface="+mn-ea"/>
              </a:rPr>
              <a:t>岁成年后，继续到工厂上班。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圈地运动。（英国贵族圈地养羊→羊毛贸易赚钱→农民失去土地→被迫进城打工，为后来的工业革命提供了大量工人）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工厂需要很多土地。资本家获得了很多土地，而农民失去了土地。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2DE367-174D-362E-8817-59CA78BD3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221" y="4290852"/>
            <a:ext cx="3260529" cy="217242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3A0718-DE5F-E753-3D99-B45D14005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492" y="1599392"/>
            <a:ext cx="3615459" cy="240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29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D72B-FD11-82A8-A592-5604A8F6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EFCD6-82BF-7022-B5BB-54E22BEB7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一定要告诉孩子，他为什么要学习？（</a:t>
            </a:r>
            <a:r>
              <a:rPr lang="en-US" altLang="zh-CN" sz="4400" dirty="0"/>
              <a:t>4</a:t>
            </a:r>
            <a:r>
              <a:rPr lang="zh-CN" altLang="en-US" sz="4400" dirty="0"/>
              <a:t>）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FCD776B-E49B-BEF4-5503-236C7341C24A}"/>
              </a:ext>
            </a:extLst>
          </p:cNvPr>
          <p:cNvSpPr txBox="1">
            <a:spLocks/>
          </p:cNvSpPr>
          <p:nvPr/>
        </p:nvSpPr>
        <p:spPr>
          <a:xfrm>
            <a:off x="515112" y="1599392"/>
            <a:ext cx="5737906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农民用土地拿来做什么？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种庄稼，盖房子，还有祠堂，祖坟。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为什么很多人没有了家谱？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拆迁，搬家，为了建工厂，修路。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中华民族的祖坟在哪里？黄帝陵。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祠堂，祖坟，家谱，这些叫做传统。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我们失去了传统。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现在问孩子们，失去了传统有什么好处，</a:t>
            </a: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有什么坏处？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好处是，摆脱了一些不好的禁锢。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坏处是，失去了文化的根。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任何事，都要看到它的好处，也要看到它的坏处。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BF421CC-DA8C-580E-3597-453C1A3D275F}"/>
              </a:ext>
            </a:extLst>
          </p:cNvPr>
          <p:cNvSpPr txBox="1">
            <a:spLocks/>
          </p:cNvSpPr>
          <p:nvPr/>
        </p:nvSpPr>
        <p:spPr>
          <a:xfrm>
            <a:off x="4139454" y="1599391"/>
            <a:ext cx="3853663" cy="4076194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那么，孩子们有没有平时对父母不尊重呢？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比如，对父母说脏话？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应不应该尊重父母？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传统文化下，可不可以对父母说脏话，不尊重父母呢？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如何与父母相处呢？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孩子与父母相处，如果父母说的对，那么孩子应该接受。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如果父母说的不对，那么孩子应该合理地纠正。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理解父母，但不要盲从。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有些时候，孩子应该坚持自己的想法，因为父母并不一定都对。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4E8F6F4-8D47-269E-F6B2-C3F52E5AC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799" y="4931175"/>
            <a:ext cx="2618099" cy="1744384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FA41B-3F2A-9559-5900-A48FFAF68080}"/>
              </a:ext>
            </a:extLst>
          </p:cNvPr>
          <p:cNvSpPr txBox="1">
            <a:spLocks/>
          </p:cNvSpPr>
          <p:nvPr/>
        </p:nvSpPr>
        <p:spPr>
          <a:xfrm>
            <a:off x="7993117" y="1599392"/>
            <a:ext cx="4018054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我们只有好好学习，才能变得更加成熟！</a:t>
            </a: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孩子只要变得成熟，就可以与父母平等对话。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什么叫成熟？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就是你自己不用别人来告诉你，你就知道一件事是对还是错。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是真正的知道，而不是稀里糊涂的知道。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这个时候，你就变得成熟，就不需要父母再来告诉你是对是错了。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67967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阶层封锁的手段</a:t>
            </a:r>
            <a:r>
              <a:rPr lang="en-US" altLang="zh-CN" sz="4400" dirty="0"/>
              <a:t>——</a:t>
            </a:r>
            <a:r>
              <a:rPr lang="zh-CN" altLang="en-US" sz="4400" dirty="0"/>
              <a:t>手机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68CB0-C8C5-260C-C325-BE4AA6111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4" y="1599392"/>
            <a:ext cx="11161774" cy="14978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现在社会是一个倒丁字形。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人类群体就要分权利。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在上面的人就想阻止下面的人往上爬。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所以就要发明一个东西把下面的人锁死。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发明的什么东西呢？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手机游戏。</a:t>
            </a:r>
            <a:endParaRPr lang="en-US" altLang="zh-CN" sz="1400" dirty="0">
              <a:latin typeface="+mn-ea"/>
            </a:endParaRPr>
          </a:p>
          <a:p>
            <a:pPr marL="0" indent="0">
              <a:buNone/>
            </a:pPr>
            <a:endParaRPr lang="en-US" altLang="zh-CN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秦国时的权力分层，皇帝、贵族和平民。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秦国变法，实际上是把贵族的一部分权力分给了平民。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平民只要立了战功，就可以成为贵族。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权贵不希望孩子们上来，希望你们一直呆在下面。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5D62496-3A4D-37A5-832A-531EFC176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841" y="2238751"/>
            <a:ext cx="4514850" cy="3044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4C26E-DEE0-6033-734D-B44FEFD9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64186-FBBA-46C5-CC32-DDB97ECA0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>
                <a:latin typeface="+mn-ea"/>
              </a:rPr>
              <a:t>如何保护你的自由</a:t>
            </a:r>
            <a:endParaRPr lang="zh-CN" altLang="en-US" sz="44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7452F00-75CC-5BEB-2B9E-84CB77DA593D}"/>
              </a:ext>
            </a:extLst>
          </p:cNvPr>
          <p:cNvSpPr txBox="1">
            <a:spLocks/>
          </p:cNvSpPr>
          <p:nvPr/>
        </p:nvSpPr>
        <p:spPr>
          <a:xfrm>
            <a:off x="515112" y="1599392"/>
            <a:ext cx="4892460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如何保护你的自由。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中国近代史上，鸦片战争，西方列强为了贩卖鸦片的自由，就打开了中国的国门，让中国人失去了其他的自由。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抗战时期，东北人失去了吃大米的自由。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我们现在的孩子们，以为手机游戏是自己找到的，好玩的。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孩子们，应该想一想，鸦片是哪里来的？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鸦片是西方列强为了利益敲开中国国门主动塞给你的。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而手机游戏呢？没错，这也是某些人故意塞给你的。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天底下哪有无缘无故出现的东西啊！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孩子们，应该提高警惕！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当你玩手机游戏玩得很爽的时候，其实你失去了更多的其他自由。这些自由包括，视力、思考自由</a:t>
            </a:r>
            <a:r>
              <a:rPr lang="en-US" altLang="zh-CN" sz="1400" dirty="0">
                <a:latin typeface="+mn-ea"/>
              </a:rPr>
              <a:t>……</a:t>
            </a:r>
            <a:r>
              <a:rPr lang="zh-CN" altLang="en-US" sz="1400" dirty="0">
                <a:latin typeface="+mn-ea"/>
              </a:rPr>
              <a:t>时间自由</a:t>
            </a:r>
            <a:r>
              <a:rPr lang="en-US" altLang="zh-CN" sz="1400" dirty="0">
                <a:latin typeface="+mn-ea"/>
              </a:rPr>
              <a:t>……</a:t>
            </a:r>
            <a:r>
              <a:rPr lang="zh-CN" altLang="en-US" sz="1400" dirty="0">
                <a:latin typeface="+mn-ea"/>
              </a:rPr>
              <a:t>金钱、睡眠</a:t>
            </a:r>
            <a:r>
              <a:rPr lang="en-US" altLang="zh-CN" sz="1400" dirty="0">
                <a:latin typeface="+mn-ea"/>
              </a:rPr>
              <a:t>……</a:t>
            </a: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BD07BE5-1FFA-1612-1F50-CD080DB7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14" y="4433188"/>
            <a:ext cx="2368503" cy="13172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39D8AD5-7105-7FE9-5B90-0B6A257BD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413" y="2793678"/>
            <a:ext cx="2403204" cy="1317228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491C5-A07C-A0FC-DF26-78374729D805}"/>
              </a:ext>
            </a:extLst>
          </p:cNvPr>
          <p:cNvSpPr txBox="1">
            <a:spLocks/>
          </p:cNvSpPr>
          <p:nvPr/>
        </p:nvSpPr>
        <p:spPr>
          <a:xfrm>
            <a:off x="5407572" y="1599393"/>
            <a:ext cx="5123794" cy="67637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美国，吸毒自由，大麻。枪支自由，每年被射杀大概</a:t>
            </a:r>
            <a:r>
              <a:rPr lang="en-US" altLang="zh-CN" sz="1400" dirty="0">
                <a:latin typeface="+mn-ea"/>
              </a:rPr>
              <a:t>10</a:t>
            </a:r>
            <a:r>
              <a:rPr lang="zh-CN" altLang="en-US" sz="1400" dirty="0">
                <a:latin typeface="+mn-ea"/>
              </a:rPr>
              <a:t>万人左右，其中包括很多儿童。性别自由，性别混乱。</a:t>
            </a: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他们的目的，就是倒丁字形，锁死底层人，防止底层人向上竞争。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43A03FA-82A1-08C9-826B-D6EDD3DDAF54}"/>
              </a:ext>
            </a:extLst>
          </p:cNvPr>
          <p:cNvSpPr txBox="1">
            <a:spLocks/>
          </p:cNvSpPr>
          <p:nvPr/>
        </p:nvSpPr>
        <p:spPr>
          <a:xfrm>
            <a:off x="5407572" y="3016342"/>
            <a:ext cx="3610305" cy="1860642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孩子们喜欢吃方便面、喜欢吃肯德基、麦当劳。孩子们认为这是自己选择的，是自己的自由。请问是这样吗？是自己选择的吗？是自己的自由吗？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这是有人刻意设计的，刻意让你看到的、听到的、拿到的啊！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E785F4A-8536-3AEB-B260-357E9B2FC4C9}"/>
              </a:ext>
            </a:extLst>
          </p:cNvPr>
          <p:cNvSpPr txBox="1">
            <a:spLocks/>
          </p:cNvSpPr>
          <p:nvPr/>
        </p:nvSpPr>
        <p:spPr>
          <a:xfrm>
            <a:off x="5407572" y="4951095"/>
            <a:ext cx="6474374" cy="1999334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当有人声称要自由的时候，你就要警惕，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因为这往往会妨碍你的自由。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当有人说，不要禁止孩子们玩手机游戏、不要这个那个，如果你轻信了，那么你一定会失去某些正当合理的自由。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往往是资本家的自由、人权、民主。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3028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自由的代价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119" y="1681475"/>
            <a:ext cx="2568984" cy="407750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自由是从哪里来的？什么是自由？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法律定义，人为定义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孩子们，生活中都有哪些自由？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呼吸自由，看世界的自由，梦想自由。思考的自由。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其实还有吃和穿的自由。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在这个世界上，还有哪些地方的人，是没有吃和穿自由的？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自由和选择有关系。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你有多少选择，你就有多少自由。选择越少，越没有自由。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CAFFEF-B95D-DE27-1957-E8CF0C742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636" y="3576325"/>
            <a:ext cx="1200838" cy="1600200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76B507-877C-946D-6941-907ED5380EF0}"/>
              </a:ext>
            </a:extLst>
          </p:cNvPr>
          <p:cNvSpPr txBox="1">
            <a:spLocks/>
          </p:cNvSpPr>
          <p:nvPr/>
        </p:nvSpPr>
        <p:spPr>
          <a:xfrm>
            <a:off x="3153103" y="1681475"/>
            <a:ext cx="3330734" cy="407750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孩子们喜欢吃零食和方便面。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问题来了，为什么有很多的选择，为什么却喜欢吃零食和方便面呢？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孩子们喜欢吃什么，和喜欢玩什么游戏，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看起来是自己在选择，实际上是被固定的。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被谁定势了？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广告。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广告怎么来的？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资本家操纵的。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工业革命解决了吃和穿的自由。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我们得到了玩电子游戏的自由，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却失去了视力的自由、思考的自由，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时间的自由，金钱、睡眠。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89C900D-54C4-79B3-4509-E42C85A8F106}"/>
              </a:ext>
            </a:extLst>
          </p:cNvPr>
          <p:cNvSpPr txBox="1">
            <a:spLocks/>
          </p:cNvSpPr>
          <p:nvPr/>
        </p:nvSpPr>
        <p:spPr>
          <a:xfrm>
            <a:off x="6522789" y="1681475"/>
            <a:ext cx="2920304" cy="407750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当孩子们玩电子游戏时，资本家的孩子们是不会玩的。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因为我们的孩子们已经被他们定死在底层了。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毫无竞争的可能。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美国人拥有了性别的自由，却获得了性别的混乱。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当有人说给你自由的时候，你就要当心了，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他往往会侵占你的自由。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回到一个问题上。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手机和成绩之间的关系？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这是两个自由，这个自由少了，那个自由就多了。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648B821-8222-D479-DDE0-D67586428BE4}"/>
              </a:ext>
            </a:extLst>
          </p:cNvPr>
          <p:cNvSpPr txBox="1">
            <a:spLocks/>
          </p:cNvSpPr>
          <p:nvPr/>
        </p:nvSpPr>
        <p:spPr>
          <a:xfrm>
            <a:off x="9482045" y="1681475"/>
            <a:ext cx="2125836" cy="407750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摆烂和奋进，两个自由。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性别混乱，艾滋病，猴痘病毒。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得到自由和失去自由的辩证。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必须要衡量，得到的自由是有意义的，还是无意义的，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它会不会让你失去更多更可贵的自由。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自由就是，失去某一些别人不想要的东西，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而你却拥有别人得不到的自由。</a:t>
            </a:r>
          </a:p>
        </p:txBody>
      </p:sp>
    </p:spTree>
    <p:extLst>
      <p:ext uri="{BB962C8B-B14F-4D97-AF65-F5344CB8AC3E}">
        <p14:creationId xmlns:p14="http://schemas.microsoft.com/office/powerpoint/2010/main" val="3831517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自毁摆烂就失去人生更大的自由！</a:t>
            </a:r>
            <a:r>
              <a:rPr lang="en-US" altLang="zh-CN" sz="4400" dirty="0"/>
              <a:t>(1)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3" y="1576784"/>
            <a:ext cx="4201734" cy="4892595"/>
          </a:xfrm>
        </p:spPr>
        <p:txBody>
          <a:bodyPr lIns="109728" tIns="109728" rIns="109728" bIns="91440"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自由的辩证，当你获得了某种自由的同时，你也会失去一些其他的自由。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左右两边各画两个圈，表示获得左边的自由，那么就会失去右边的自由。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英雄大学生吕天昌的案例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如果一个人上大学，他会有每天睡懒觉的自由，有每天玩手机的自由，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但他会失去身体健康的自由。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他还会失去一个自由，就是当兵的自由。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还会失去人生成就的自由。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每当你偷懒的时候，其实也一定会失去某些其他的自由。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我们来看一下，吕天昌是怎么平衡他人生的自由的。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2E08246-2C9A-88BE-56E6-3DA9FF1085E2}"/>
              </a:ext>
            </a:extLst>
          </p:cNvPr>
          <p:cNvSpPr txBox="1">
            <a:spLocks/>
          </p:cNvSpPr>
          <p:nvPr/>
        </p:nvSpPr>
        <p:spPr>
          <a:xfrm>
            <a:off x="4716847" y="1604086"/>
            <a:ext cx="3883466" cy="4892595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当时中印边境发生了冲突惨案。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吕天昌当时正好在边境部队中做翻译。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当兵的人在冒着失去生命的自由，来保障其他人获得国家安定的自由。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他是鲁东大学，是很一般的大学。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在这所大学上学，他的可选择项，或者说他的前景发展可选择其实并不多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他未来规划人生并不多。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那他如何能让自己未来的人生选择更多呢？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他如何做到？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他如何拥有人生更多选择的自由？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8F87032-E155-EA4D-7FFA-F8FE7A669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313" y="4706593"/>
            <a:ext cx="2972377" cy="146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64F394E-A6D6-3B43-66A6-47055915B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313" y="2076052"/>
            <a:ext cx="3076575" cy="162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066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33A32-BF34-A9CA-2E44-8E4C0CAB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2B146-1C17-63CF-39C1-A636D8943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自毁摆烂就失去人生更大的自由！</a:t>
            </a:r>
            <a:r>
              <a:rPr lang="en-US" altLang="zh-CN" sz="4400" dirty="0"/>
              <a:t>(2)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B0EC37-1AE5-CF95-0B0B-EDFC9655D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37" y="1576782"/>
            <a:ext cx="3688462" cy="4892595"/>
          </a:xfrm>
        </p:spPr>
        <p:txBody>
          <a:bodyPr lIns="109728" tIns="109728" rIns="109728" bIns="91440"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（失去一些自由，换来人生规划的自由）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他通过失去了一些自由！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什么自由？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在大学摆烂的自由，玩手机游戏的自由。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他怎么让成就人生的自由变多的呢？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他做了以下这些事。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他每天晚上</a:t>
            </a:r>
            <a:r>
              <a:rPr lang="en-US" altLang="zh-CN" sz="1400" dirty="0">
                <a:latin typeface="+mn-ea"/>
              </a:rPr>
              <a:t>7</a:t>
            </a:r>
            <a:r>
              <a:rPr lang="zh-CN" altLang="en-US" sz="1400" dirty="0">
                <a:latin typeface="+mn-ea"/>
              </a:rPr>
              <a:t>点到</a:t>
            </a:r>
            <a:r>
              <a:rPr lang="en-US" altLang="zh-CN" sz="1400" dirty="0">
                <a:latin typeface="+mn-ea"/>
              </a:rPr>
              <a:t>11</a:t>
            </a:r>
            <a:r>
              <a:rPr lang="zh-CN" altLang="en-US" sz="1400" dirty="0">
                <a:latin typeface="+mn-ea"/>
              </a:rPr>
              <a:t>点跑步。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其他的大学生都不喜欢运动，而他热爱运动，喜欢锻炼身体。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人都喜欢偷懒，所以拥有了舒服的自由，而失去了锻炼身体、强健体魄的自由。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68AF114-6D10-2658-D498-70F63D279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313" y="4706593"/>
            <a:ext cx="2972377" cy="146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295671D-35B4-16A8-AEA0-1DCA31D5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313" y="2076052"/>
            <a:ext cx="3076575" cy="162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E024139-92C1-1C67-F6CC-6B6F553F2E9C}"/>
              </a:ext>
            </a:extLst>
          </p:cNvPr>
          <p:cNvSpPr txBox="1">
            <a:spLocks/>
          </p:cNvSpPr>
          <p:nvPr/>
        </p:nvSpPr>
        <p:spPr>
          <a:xfrm>
            <a:off x="4206622" y="1576783"/>
            <a:ext cx="4390644" cy="4892595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（尝试越多，选择越多）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他积极参加军训。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他热爱生活，喜欢唱歌，喜欢做主持，喜欢摄影。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做主持，锻炼他的口才，表达能力。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尝试多种专业职业，才能知道自己擅长什么。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孩子们在成年之前，都是尝试阶段。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都是上天给予的机会，即使做错了也没关系。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尝试得越多，涉猎的领域越广泛、种类越丰富，那么你就越能知道你喜欢做什么，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越能知道你能擅长做什么。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这也正是很多孩子和家长，对于孩子自身将来职业专业选择的疑惑的最好的回答。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0521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E214D-E5AD-5374-E84B-2439AC3A7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8A108-661A-3CA9-8E66-B7F23BA4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自毁摆烂就失去人生更大的自由！</a:t>
            </a:r>
            <a:r>
              <a:rPr lang="en-US" altLang="zh-CN" sz="4400" dirty="0"/>
              <a:t>(3)</a:t>
            </a:r>
            <a:endParaRPr lang="zh-CN" altLang="en-US" sz="4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75C2960-1295-C5CC-29D2-298E3302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449" y="5423338"/>
            <a:ext cx="2438740" cy="120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D0CB3A3-F73D-B62A-2B3F-790A51C7A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967" y="5383047"/>
            <a:ext cx="2438740" cy="129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9F2278-F2ED-6DD9-F141-657AB13CCDF9}"/>
              </a:ext>
            </a:extLst>
          </p:cNvPr>
          <p:cNvSpPr txBox="1">
            <a:spLocks/>
          </p:cNvSpPr>
          <p:nvPr/>
        </p:nvSpPr>
        <p:spPr>
          <a:xfrm>
            <a:off x="515110" y="1590701"/>
            <a:ext cx="7194227" cy="4892595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选择专业或职业，并不是等到孩子</a:t>
            </a:r>
            <a:r>
              <a:rPr lang="en-US" altLang="zh-CN" sz="1400" dirty="0">
                <a:latin typeface="+mn-ea"/>
              </a:rPr>
              <a:t>18</a:t>
            </a:r>
            <a:r>
              <a:rPr lang="zh-CN" altLang="en-US" sz="1400" dirty="0">
                <a:latin typeface="+mn-ea"/>
              </a:rPr>
              <a:t>岁，或</a:t>
            </a:r>
            <a:r>
              <a:rPr lang="en-US" altLang="zh-CN" sz="1400" dirty="0">
                <a:latin typeface="+mn-ea"/>
              </a:rPr>
              <a:t>24</a:t>
            </a:r>
            <a:r>
              <a:rPr lang="zh-CN" altLang="en-US" sz="1400" dirty="0">
                <a:latin typeface="+mn-ea"/>
              </a:rPr>
              <a:t>岁，大学毕业、研究生毕业后，才去考虑的事情。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而更应该是在此之前，通过不断尝试才能获知的，单单去想还不够，关键还是要多接触、多做、多锻炼、多积累经验才行。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如何果问孩子们，你擅长什么？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很多孩子可能回答不上来，或者是回答很少的或错误的擅长方向。不过，这不要紧，因为孩子现阶段还处于尝试阶段。重要的是，从此开始应该要不断的去发现、不断地去尝试去做。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尝试得越多，将来可选择的也就越多。要告诫孩子们，千万不要等到孩子成年后，才发现自己迷茫了，仍然不知道自己能干什么。</a:t>
            </a: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如果是这样，那么通常家长就会为孩子安排一个工作。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这样就相当于，孩子又一次失去了自己选择职业的自由，其实就是不自由。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78FF188-B187-8493-1112-7E6EA3F770D0}"/>
              </a:ext>
            </a:extLst>
          </p:cNvPr>
          <p:cNvSpPr txBox="1">
            <a:spLocks/>
          </p:cNvSpPr>
          <p:nvPr/>
        </p:nvSpPr>
        <p:spPr>
          <a:xfrm>
            <a:off x="7709338" y="1599393"/>
            <a:ext cx="3967549" cy="3209090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（打基础）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吕天昌大三选择参军入伍，后来进入西藏。在参军之前，他就每天坚持锻炼跑步。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如果没有这样的基础，是不可能符合当兵条件参军入伍的。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因此，我们就可以得出一个结论。在做任何规划时，都应该打好基础。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你在做各方面兴趣也好、职业规划也好的尝试的同时，打好基础是非常重要的。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孩子们，不能想干这个，又想干那个，可是自己却忽略了打下坚实的基础。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9356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2BAC9-116A-F581-6A33-9B073B37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BE60C-ACB2-AE91-09A6-BCAC41A24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自毁摆烂就失去人生更大的自由！</a:t>
            </a:r>
            <a:r>
              <a:rPr lang="en-US" altLang="zh-CN" sz="4400" dirty="0"/>
              <a:t>(4)</a:t>
            </a:r>
            <a:endParaRPr lang="zh-CN" altLang="en-US" sz="4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EAF87B8-99CF-55E7-7B0E-4630A1C35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313" y="4706593"/>
            <a:ext cx="2972377" cy="146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783FC56-7E9D-747E-03C3-199D2406C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313" y="2076052"/>
            <a:ext cx="3076575" cy="162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4DDC0E5-8DFD-4AFE-0538-330CDE7A6EF2}"/>
              </a:ext>
            </a:extLst>
          </p:cNvPr>
          <p:cNvSpPr txBox="1">
            <a:spLocks/>
          </p:cNvSpPr>
          <p:nvPr/>
        </p:nvSpPr>
        <p:spPr>
          <a:xfrm>
            <a:off x="515111" y="1599392"/>
            <a:ext cx="3757343" cy="4892595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（规划人生，选择优化路线，从不与绝大多数人竞争）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他为什么选择去西藏？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我们有不少国家领导人，清华毕业申请去西藏。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因此得到国家组织的重视。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并且的确有才干，也有一番作为。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最后平步青云，取得瞩目的人生成就。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吕天昌也是一样，本身的大学并不起眼，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但通过走一条偏僻却又明晰的规划路线，实现了重大的人生成就。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A6347-1DEB-8D77-C111-D4A42C921650}"/>
              </a:ext>
            </a:extLst>
          </p:cNvPr>
          <p:cNvSpPr txBox="1">
            <a:spLocks/>
          </p:cNvSpPr>
          <p:nvPr/>
        </p:nvSpPr>
        <p:spPr>
          <a:xfrm>
            <a:off x="4272455" y="1599392"/>
            <a:ext cx="4327858" cy="4892595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当中印边境冲突事件被曝光后，全国上下瞩目。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吕天昌也被国家和人民发现。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由于表现突出，后被保送军校继续深造，可谓人生前途一片光明。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这样本来可能是一名普通的大学生，却走出了不一样、不寻常的人生道路。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他如果像大部分人那样，也去投身于大城市，那么他的胜算又有多少呢？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人生规划，一定要找到自身的优势，也要会将自身放到有优势的地方，来发挥自身的优势。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否则自己再厉害，也等于是无用。</a:t>
            </a:r>
          </a:p>
        </p:txBody>
      </p:sp>
    </p:spTree>
    <p:extLst>
      <p:ext uri="{BB962C8B-B14F-4D97-AF65-F5344CB8AC3E}">
        <p14:creationId xmlns:p14="http://schemas.microsoft.com/office/powerpoint/2010/main" val="3630167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906C8-BD47-E841-6E50-F5E7D970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2501A-6458-63C6-21BD-9029DB96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孩子躺平摆烂，</a:t>
            </a:r>
            <a:r>
              <a:rPr lang="en-US" altLang="zh-CN" sz="4400" dirty="0"/>
              <a:t>10</a:t>
            </a:r>
            <a:r>
              <a:rPr lang="zh-CN" altLang="en-US" sz="4400" dirty="0"/>
              <a:t>分钟重新激发动力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A5891-ADA9-69A0-B53C-3E2FD554B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58" y="1576785"/>
            <a:ext cx="3650086" cy="39893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红军第一代把江山打下来，他们顾虑的，是第二代能否继承红色精神。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现在孩子们的父母算是第一代，孩子们算是第二代，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第二代的孩子们能否传承呢？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如果家中发生了变故，比如父母离婚、生重病、或其他的问题，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孩子们能否继承家族的财富和精神呢？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孩子们能舒服几年呢？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3C4FE2-DC4C-CD1D-24ED-6ED1EE6EC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6" y="4816744"/>
            <a:ext cx="2885705" cy="1922700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1EDD387-710C-2A9E-7B3B-B38223059994}"/>
              </a:ext>
            </a:extLst>
          </p:cNvPr>
          <p:cNvSpPr txBox="1">
            <a:spLocks/>
          </p:cNvSpPr>
          <p:nvPr/>
        </p:nvSpPr>
        <p:spPr>
          <a:xfrm>
            <a:off x="8234977" y="1576785"/>
            <a:ext cx="3560105" cy="2502017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遗产税怎么设计的？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dirty="0">
                <a:latin typeface="+mn-ea"/>
              </a:rPr>
              <a:t>45%~65%</a:t>
            </a:r>
            <a:r>
              <a:rPr lang="zh-CN" altLang="en-US" sz="1200" dirty="0">
                <a:latin typeface="+mn-ea"/>
              </a:rPr>
              <a:t>的遗产税，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如果</a:t>
            </a:r>
            <a:r>
              <a:rPr lang="en-US" altLang="zh-CN" sz="1200" dirty="0">
                <a:latin typeface="+mn-ea"/>
              </a:rPr>
              <a:t>2000</a:t>
            </a:r>
            <a:r>
              <a:rPr lang="zh-CN" altLang="en-US" sz="1200" dirty="0">
                <a:latin typeface="+mn-ea"/>
              </a:rPr>
              <a:t>万，那么</a:t>
            </a:r>
            <a:r>
              <a:rPr lang="en-US" altLang="zh-CN" sz="1200" dirty="0">
                <a:latin typeface="+mn-ea"/>
              </a:rPr>
              <a:t>50%</a:t>
            </a:r>
            <a:r>
              <a:rPr lang="zh-CN" altLang="en-US" sz="1200" dirty="0">
                <a:latin typeface="+mn-ea"/>
              </a:rPr>
              <a:t>就是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万。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孩子们，需要挣到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万才行。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所以孩子们应该明白，真的能摆烂吗？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真的可以啃老吗？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鸦片战争前，英国人来中国，拜访中国清朝的皇帝。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中国人因为过得太舒服了，所以近代就落后了。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孩子们现在就是类似的情况。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过得太舒服了，以后就会遇到麻烦。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因此，这个问题就是辩证的。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5E19084-A7BB-851C-447C-BF032D900A2E}"/>
              </a:ext>
            </a:extLst>
          </p:cNvPr>
          <p:cNvSpPr txBox="1">
            <a:spLocks/>
          </p:cNvSpPr>
          <p:nvPr/>
        </p:nvSpPr>
        <p:spPr>
          <a:xfrm>
            <a:off x="4174344" y="1599392"/>
            <a:ext cx="3843314" cy="3989337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孩子们在家里劳不劳动？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为什么劳动少，是你们这代人最大的坑？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你们的父母在接下来几年时间里，如果发生了变故，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孩子们就要自己照顾自己了。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劳动被剥夺，体验被剥夺，最后失去能力。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让孩子们设计一个生物，让这个生物拥有这个星球最高的统治权。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这世界和狮子群是一样的，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弱者是不会受到尊重的，也不会被接受的。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而且现在连强者都不行，现在只要最强者。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9767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88E1-30DF-95AF-3B63-68873D17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B4E4D-940A-7669-85D0-042F5728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建立的生理快感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6471DF-C40C-CE87-31CD-B94663C85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57" y="1599393"/>
            <a:ext cx="6191445" cy="93665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第一，在自然世界中的快感。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自然的原始的快感，可以有效抵抗手机游戏快感。</a:t>
            </a:r>
            <a:endParaRPr lang="en-US" altLang="zh-CN" sz="1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B92EBF-B3AB-8F96-D5A7-3F291A503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161" y="1757580"/>
            <a:ext cx="2331316" cy="15569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E81DAD-20D9-C135-D535-F36CD426F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5587" y="2438635"/>
            <a:ext cx="2526819" cy="15569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E16C585-B95F-8A10-8012-522F875C5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386" y="3625906"/>
            <a:ext cx="2374943" cy="16987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4A60AB2-3A8B-8BDF-F0F9-BB9C1459A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2542" y="5027795"/>
            <a:ext cx="2049864" cy="15125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29603D8-4633-B812-F33F-69542ADF3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977" y="4866863"/>
            <a:ext cx="2436218" cy="1646703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74146A3-D8DC-2BEF-89DE-A691F7278BB4}"/>
              </a:ext>
            </a:extLst>
          </p:cNvPr>
          <p:cNvSpPr txBox="1">
            <a:spLocks/>
          </p:cNvSpPr>
          <p:nvPr/>
        </p:nvSpPr>
        <p:spPr>
          <a:xfrm>
            <a:off x="1053200" y="2541299"/>
            <a:ext cx="5999732" cy="1646704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第二，胃的快感。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 不可能不让他喝奶茶，也不可能不让他吃西餐。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但是可以培养他吃中餐，长年累月地培养他喜欢吃的东西。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胃快感，一旦培养好，无论多大年龄，都会喜欢这套胃快感。</a:t>
            </a:r>
            <a:endParaRPr lang="en-US" altLang="zh-CN" sz="1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 dirty="0">
              <a:latin typeface="+mn-ea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D722051-AF10-B4E1-5C6B-989D8A66E20B}"/>
              </a:ext>
            </a:extLst>
          </p:cNvPr>
          <p:cNvSpPr txBox="1">
            <a:spLocks/>
          </p:cNvSpPr>
          <p:nvPr/>
        </p:nvSpPr>
        <p:spPr>
          <a:xfrm>
            <a:off x="544077" y="4299573"/>
            <a:ext cx="4263823" cy="749313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第三，运动的快感。</a:t>
            </a:r>
            <a:endParaRPr lang="en-US" altLang="zh-CN" sz="14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一定要建立在同伴群体的基础上运动。</a:t>
            </a:r>
            <a:endParaRPr lang="en-US" altLang="zh-CN" sz="1400" dirty="0">
              <a:latin typeface="+mn-ea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E66E1B4-21AC-C246-4DCE-FE40BCD0063A}"/>
              </a:ext>
            </a:extLst>
          </p:cNvPr>
          <p:cNvSpPr txBox="1">
            <a:spLocks/>
          </p:cNvSpPr>
          <p:nvPr/>
        </p:nvSpPr>
        <p:spPr>
          <a:xfrm>
            <a:off x="1053200" y="5253925"/>
            <a:ext cx="5372777" cy="103591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第四，艺术的快感。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+mn-ea"/>
              </a:rPr>
              <a:t>比如说，听歌，沉浸式的，就会很有快感。</a:t>
            </a:r>
            <a:endParaRPr lang="en-US" altLang="zh-CN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8234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1CD7-9FB1-F657-C907-C2508161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1492E-272F-CB51-C162-76EBACDA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pPr algn="ctr"/>
            <a:r>
              <a:rPr lang="zh-CN" altLang="en-US" sz="4400" dirty="0"/>
              <a:t>青少年手机防沉迷</a:t>
            </a:r>
            <a:r>
              <a:rPr lang="zh-CN" altLang="en-US" sz="4400"/>
              <a:t>认知课堂</a:t>
            </a:r>
            <a:br>
              <a:rPr lang="en-US" altLang="zh-CN" sz="4400" dirty="0"/>
            </a:br>
            <a:r>
              <a:rPr lang="zh-CN" altLang="en-US" sz="4400" dirty="0"/>
              <a:t>感谢您的关注！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3A7921E-A193-DF0A-DDCC-CA2CFD1B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5455716"/>
            <a:ext cx="11155680" cy="91352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1400" dirty="0">
                <a:latin typeface="+mn-ea"/>
              </a:rPr>
              <a:t>浥尘伙伴社团 </a:t>
            </a:r>
            <a:r>
              <a:rPr lang="en-US" altLang="zh-CN" sz="1400" dirty="0">
                <a:latin typeface="+mn-ea"/>
              </a:rPr>
              <a:t>/ 2026.1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4A1A7E-F71D-77E4-DC09-0880DD91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428" y="2544613"/>
            <a:ext cx="2457143" cy="2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0727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2900</TotalTime>
  <Words>5189</Words>
  <Application>Microsoft Office PowerPoint</Application>
  <PresentationFormat>宽屏</PresentationFormat>
  <Paragraphs>452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等线</vt:lpstr>
      <vt:lpstr>Microsoft YaHei</vt:lpstr>
      <vt:lpstr>Arial</vt:lpstr>
      <vt:lpstr>Bierstadt</vt:lpstr>
      <vt:lpstr>GestaltVTI</vt:lpstr>
      <vt:lpstr>青少年手机防沉迷认知课堂</vt:lpstr>
      <vt:lpstr>青少年玩电子游戏现状 </vt:lpstr>
      <vt:lpstr>为什么人们会喜欢玩游戏？（1） </vt:lpstr>
      <vt:lpstr>为什么人们会喜欢玩游戏？（2） </vt:lpstr>
      <vt:lpstr>象征游戏和符号载体 </vt:lpstr>
      <vt:lpstr>电子游戏存在偏差 </vt:lpstr>
      <vt:lpstr>真实游戏和虚拟游戏</vt:lpstr>
      <vt:lpstr>揭开手机游戏减压骗局（1）</vt:lpstr>
      <vt:lpstr>揭开手机游戏减压骗局（2）</vt:lpstr>
      <vt:lpstr>揭开手机游戏减压骗局（3）</vt:lpstr>
      <vt:lpstr>从大脑成瘾机制看为什么要回归自然（1）</vt:lpstr>
      <vt:lpstr>从大脑成瘾机制看为什么要回归自然（2）</vt:lpstr>
      <vt:lpstr>从大脑成瘾机制看为什么要回归自然（3）</vt:lpstr>
      <vt:lpstr>一定要告诉孩子，他为什么要学习？（1）</vt:lpstr>
      <vt:lpstr>一定要告诉孩子，他为什么要学习？（2）</vt:lpstr>
      <vt:lpstr>一定要告诉孩子，他为什么要学习？（3）</vt:lpstr>
      <vt:lpstr>一定要告诉孩子，他为什么要学习？（4）</vt:lpstr>
      <vt:lpstr>阶层封锁的手段——手机</vt:lpstr>
      <vt:lpstr>如何保护你的自由</vt:lpstr>
      <vt:lpstr>自由的代价</vt:lpstr>
      <vt:lpstr>自毁摆烂就失去人生更大的自由！(1)</vt:lpstr>
      <vt:lpstr>自毁摆烂就失去人生更大的自由！(2)</vt:lpstr>
      <vt:lpstr>自毁摆烂就失去人生更大的自由！(3)</vt:lpstr>
      <vt:lpstr>自毁摆烂就失去人生更大的自由！(4)</vt:lpstr>
      <vt:lpstr>孩子躺平摆烂，10分钟重新激发动力</vt:lpstr>
      <vt:lpstr>建立的生理快感</vt:lpstr>
      <vt:lpstr>青少年手机防沉迷认知课堂 感谢您的关注！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智慧家长课堂</dc:title>
  <dc:creator>ABC</dc:creator>
  <cp:lastModifiedBy>ABC</cp:lastModifiedBy>
  <cp:revision>853</cp:revision>
  <dcterms:created xsi:type="dcterms:W3CDTF">2025-09-26T07:10:55Z</dcterms:created>
  <dcterms:modified xsi:type="dcterms:W3CDTF">2026-01-30T07:13:23Z</dcterms:modified>
</cp:coreProperties>
</file>