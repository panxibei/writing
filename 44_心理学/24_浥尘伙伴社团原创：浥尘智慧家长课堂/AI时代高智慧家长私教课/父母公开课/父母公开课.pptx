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93" r:id="rId4"/>
    <p:sldId id="294" r:id="rId5"/>
    <p:sldId id="295" r:id="rId6"/>
    <p:sldId id="297" r:id="rId7"/>
    <p:sldId id="29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261" r:id="rId16"/>
    <p:sldId id="264" r:id="rId17"/>
    <p:sldId id="262" r:id="rId18"/>
    <p:sldId id="269" r:id="rId19"/>
    <p:sldId id="288" r:id="rId20"/>
    <p:sldId id="258" r:id="rId21"/>
    <p:sldId id="265" r:id="rId22"/>
    <p:sldId id="266" r:id="rId23"/>
    <p:sldId id="267" r:id="rId24"/>
    <p:sldId id="268" r:id="rId25"/>
    <p:sldId id="285" r:id="rId26"/>
    <p:sldId id="270" r:id="rId27"/>
    <p:sldId id="259" r:id="rId28"/>
    <p:sldId id="271" r:id="rId29"/>
    <p:sldId id="272" r:id="rId30"/>
    <p:sldId id="273" r:id="rId31"/>
    <p:sldId id="274" r:id="rId32"/>
    <p:sldId id="260" r:id="rId33"/>
    <p:sldId id="289" r:id="rId34"/>
    <p:sldId id="278" r:id="rId35"/>
    <p:sldId id="286" r:id="rId36"/>
    <p:sldId id="287" r:id="rId37"/>
    <p:sldId id="291" r:id="rId38"/>
    <p:sldId id="290" r:id="rId39"/>
    <p:sldId id="279" r:id="rId40"/>
    <p:sldId id="280" r:id="rId41"/>
    <p:sldId id="281" r:id="rId42"/>
    <p:sldId id="282" r:id="rId43"/>
    <p:sldId id="292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57" b="110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926846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CN" sz="5400" dirty="0"/>
              <a:t>AI</a:t>
            </a:r>
            <a:r>
              <a:rPr lang="zh-CN" altLang="en-US" sz="5400" dirty="0"/>
              <a:t>时代父母公开课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zh-CN" altLang="en-US" sz="1900" dirty="0"/>
              <a:t>浥尘伙伴社团</a:t>
            </a:r>
            <a:endParaRPr lang="en-US" altLang="zh-CN" sz="1900" dirty="0"/>
          </a:p>
          <a:p>
            <a:pPr algn="r"/>
            <a:r>
              <a:rPr lang="en-US" altLang="zh-CN" sz="1900" dirty="0"/>
              <a:t>2026</a:t>
            </a:r>
            <a:r>
              <a:rPr lang="zh-CN" altLang="en-US" sz="1900" dirty="0"/>
              <a:t>年</a:t>
            </a:r>
            <a:r>
              <a:rPr lang="en-US" altLang="zh-CN" sz="1900" dirty="0"/>
              <a:t>2</a:t>
            </a:r>
            <a:r>
              <a:rPr lang="zh-CN" altLang="en-US" sz="1900"/>
              <a:t>月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培养孩子是面向未来，而非面向现在（一）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未来多久？至少</a:t>
            </a:r>
            <a:r>
              <a:rPr lang="en-US" altLang="zh-CN" dirty="0"/>
              <a:t>10</a:t>
            </a:r>
            <a:r>
              <a:rPr lang="zh-CN" altLang="en-US" dirty="0"/>
              <a:t>年以上。本科</a:t>
            </a:r>
            <a:r>
              <a:rPr lang="en-US" altLang="zh-CN" dirty="0"/>
              <a:t>4</a:t>
            </a:r>
            <a:r>
              <a:rPr lang="zh-CN" altLang="en-US" dirty="0"/>
              <a:t>年，研究生</a:t>
            </a:r>
            <a:r>
              <a:rPr lang="en-US" altLang="zh-CN" dirty="0"/>
              <a:t>3</a:t>
            </a:r>
            <a:r>
              <a:rPr lang="zh-CN" altLang="en-US" dirty="0"/>
              <a:t>年，工作</a:t>
            </a:r>
            <a:r>
              <a:rPr lang="en-US" altLang="zh-CN" dirty="0"/>
              <a:t>3</a:t>
            </a:r>
            <a:r>
              <a:rPr lang="zh-CN" altLang="en-US" dirty="0"/>
              <a:t>年。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据说现在考公务员，要研究生学历，并且还要有至少两年以上的工作经历才能报考。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美国，学了理科，或者说计算机专业，搞</a:t>
            </a:r>
            <a:r>
              <a:rPr lang="en-US" altLang="zh-CN" dirty="0"/>
              <a:t>AI</a:t>
            </a:r>
            <a:r>
              <a:rPr lang="zh-CN" altLang="en-US" dirty="0"/>
              <a:t>的，在毕业之后就没有工作了。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30</a:t>
            </a:r>
            <a:r>
              <a:rPr lang="zh-CN" altLang="en-US" dirty="0"/>
              <a:t>岁左右就要对专业方向或者说职业发展方向，要有一个清晰的定位。</a:t>
            </a:r>
          </a:p>
          <a:p>
            <a:pPr marL="0" indent="0">
              <a:buNone/>
            </a:pPr>
            <a:r>
              <a:rPr lang="zh-CN" altLang="en-US" dirty="0"/>
              <a:t>因为现在这个时代，专业方向是非常固化的，想要跨专业、跨领域是几乎不可能的事。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教育部，有一个很重要的改革</a:t>
            </a:r>
          </a:p>
          <a:p>
            <a:pPr marL="0" indent="0">
              <a:buNone/>
            </a:pPr>
            <a:r>
              <a:rPr lang="zh-CN" altLang="en-US" dirty="0"/>
              <a:t>就改革不是新建了多少大学，而是说是要在全国建</a:t>
            </a:r>
            <a:r>
              <a:rPr lang="en-US" altLang="zh-CN" dirty="0"/>
              <a:t>9000</a:t>
            </a:r>
            <a:r>
              <a:rPr lang="zh-CN" altLang="en-US" dirty="0"/>
              <a:t>所，两年建成</a:t>
            </a:r>
            <a:r>
              <a:rPr lang="en-US" altLang="zh-CN" dirty="0"/>
              <a:t>1.8</a:t>
            </a:r>
            <a:r>
              <a:rPr lang="zh-CN" altLang="en-US" dirty="0"/>
              <a:t>万所学校。</a:t>
            </a:r>
          </a:p>
          <a:p>
            <a:pPr marL="0" indent="0">
              <a:buNone/>
            </a:pPr>
            <a:r>
              <a:rPr lang="zh-CN" altLang="en-US" dirty="0"/>
              <a:t>这些学校不是用来学知识的，而是用来玩的，重要在体育、劳动和其他技能方面的培养。</a:t>
            </a: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F6DB-EBC6-99DF-C0C1-E7A58263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96539-6500-F81A-95E0-F5C3AC14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FD454-F9F4-D0BD-AC17-672E75E40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面向互联网时代的孩子才能够找到工作的教育。</a:t>
            </a:r>
          </a:p>
          <a:p>
            <a:pPr marL="0" indent="0">
              <a:buNone/>
            </a:pPr>
            <a:r>
              <a:rPr lang="zh-CN" altLang="en-US" dirty="0"/>
              <a:t>这个第三代儿童教育目前大概只在极少数国家中试点。</a:t>
            </a:r>
          </a:p>
          <a:p>
            <a:pPr marL="0" indent="0">
              <a:buNone/>
            </a:pPr>
            <a:r>
              <a:rPr lang="zh-CN" altLang="en-US" dirty="0"/>
              <a:t>中国已经有在做试点，国外最典型的国家就是芬兰。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20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9690-102A-63DF-F71D-87EBC67A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4DF9A-C61A-96B0-EE5A-C9E9B757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A63F5-0EFD-A0F9-3DE3-B0E6355F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中国现在非常缺孩子，但是中国现在不缺大学生。</a:t>
            </a:r>
          </a:p>
          <a:p>
            <a:pPr marL="0" indent="0">
              <a:buNone/>
            </a:pPr>
            <a:r>
              <a:rPr lang="zh-CN" altLang="en-US" dirty="0"/>
              <a:t>这句话看似矛盾，实际是对一种发展变化的担忧。</a:t>
            </a:r>
          </a:p>
          <a:p>
            <a:pPr marL="0" indent="0">
              <a:buNone/>
            </a:pPr>
            <a:r>
              <a:rPr lang="zh-CN" altLang="en-US" dirty="0"/>
              <a:t>最近一年的考研人数数据，比以往要少了</a:t>
            </a:r>
            <a:r>
              <a:rPr lang="en-US" altLang="zh-CN" dirty="0"/>
              <a:t>46</a:t>
            </a:r>
            <a:r>
              <a:rPr lang="zh-CN" altLang="en-US" dirty="0"/>
              <a:t>万人左右。</a:t>
            </a:r>
          </a:p>
          <a:p>
            <a:pPr marL="0" indent="0">
              <a:buNone/>
            </a:pPr>
            <a:r>
              <a:rPr lang="zh-CN" altLang="en-US" dirty="0"/>
              <a:t>当我们的孩子们到了</a:t>
            </a:r>
            <a:r>
              <a:rPr lang="en-US" altLang="zh-CN" dirty="0"/>
              <a:t>20</a:t>
            </a:r>
            <a:r>
              <a:rPr lang="zh-CN" altLang="en-US" dirty="0"/>
              <a:t>多岁的时候，这些孩子们他们早已经认知到了这个问题了。</a:t>
            </a:r>
          </a:p>
          <a:p>
            <a:pPr marL="0" indent="0">
              <a:buNone/>
            </a:pPr>
            <a:r>
              <a:rPr lang="zh-CN" altLang="en-US" dirty="0"/>
              <a:t>他们早就知道他们的前途已经和文凭学历没有多少关系了。</a:t>
            </a:r>
          </a:p>
        </p:txBody>
      </p:sp>
    </p:spTree>
    <p:extLst>
      <p:ext uri="{BB962C8B-B14F-4D97-AF65-F5344CB8AC3E}">
        <p14:creationId xmlns:p14="http://schemas.microsoft.com/office/powerpoint/2010/main" val="309648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DF96-FBD6-0AFB-72FC-44BB129C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CDA2B-758B-0870-C014-48CB0243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198426-783E-07F5-22FB-8945255D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我们看一下北上广深大城市的外卖骑手，有多少人？</a:t>
            </a:r>
          </a:p>
          <a:p>
            <a:pPr marL="0" indent="0">
              <a:buNone/>
            </a:pPr>
            <a:r>
              <a:rPr lang="zh-CN" altLang="en-US" dirty="0"/>
              <a:t>有多少大学学历的？</a:t>
            </a:r>
          </a:p>
          <a:p>
            <a:pPr marL="0" indent="0">
              <a:buNone/>
            </a:pPr>
            <a:r>
              <a:rPr lang="zh-CN" altLang="en-US" dirty="0"/>
              <a:t>有一年春晚，有一个节目是很多外卖骑手在舞台上一起跳舞。</a:t>
            </a:r>
          </a:p>
          <a:p>
            <a:pPr marL="0" indent="0">
              <a:buNone/>
            </a:pPr>
            <a:r>
              <a:rPr lang="zh-CN" altLang="en-US" dirty="0"/>
              <a:t>黄渤还曾登台一起表演。</a:t>
            </a:r>
          </a:p>
          <a:p>
            <a:pPr marL="0" indent="0">
              <a:buNone/>
            </a:pPr>
            <a:r>
              <a:rPr lang="zh-CN" altLang="en-US" dirty="0"/>
              <a:t>大家知道为什么会有这样的节目吗？</a:t>
            </a:r>
          </a:p>
        </p:txBody>
      </p:sp>
    </p:spTree>
    <p:extLst>
      <p:ext uri="{BB962C8B-B14F-4D97-AF65-F5344CB8AC3E}">
        <p14:creationId xmlns:p14="http://schemas.microsoft.com/office/powerpoint/2010/main" val="277999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56D3-25C3-1286-928E-22D7578C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C0A66-FFA1-CEE6-64C4-1C307064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584A7-2368-B992-4229-B973DAAA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某东可能会在</a:t>
            </a:r>
            <a:r>
              <a:rPr lang="en-US" altLang="zh-CN" dirty="0"/>
              <a:t>2026</a:t>
            </a:r>
            <a:r>
              <a:rPr lang="zh-CN" altLang="en-US" dirty="0"/>
              <a:t>年开始正式布局无人快递车，现在某些大小城市道路上我们都能看到不少这样的车了。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有人会说，这是不是发展得太快了，大家都没有活干了？</a:t>
            </a:r>
          </a:p>
          <a:p>
            <a:pPr marL="0" indent="0">
              <a:buNone/>
            </a:pPr>
            <a:r>
              <a:rPr lang="zh-CN" altLang="en-US" dirty="0"/>
              <a:t>不是我们发展得太快，而是我们不得不这样做！</a:t>
            </a:r>
          </a:p>
          <a:p>
            <a:pPr marL="0" indent="0">
              <a:buNone/>
            </a:pPr>
            <a:r>
              <a:rPr lang="zh-CN" altLang="en-US" dirty="0"/>
              <a:t>美国的部分城市已经布局无人驾驶车，并且一个城市就有三家公司在运营。</a:t>
            </a:r>
          </a:p>
          <a:p>
            <a:pPr marL="0" indent="0">
              <a:buNone/>
            </a:pPr>
            <a:r>
              <a:rPr lang="zh-CN" altLang="en-US" dirty="0"/>
              <a:t>而中国只有个别城市中，并且只有一家在运营。</a:t>
            </a:r>
          </a:p>
          <a:p>
            <a:pPr marL="0" indent="0">
              <a:buNone/>
            </a:pPr>
            <a:r>
              <a:rPr lang="zh-CN" altLang="en-US" dirty="0"/>
              <a:t>国家也不想这么快，因为也担心这么巨大的就业人口突然就没工作了。</a:t>
            </a:r>
          </a:p>
          <a:p>
            <a:pPr marL="0" indent="0">
              <a:buNone/>
            </a:pPr>
            <a:r>
              <a:rPr lang="zh-CN" altLang="en-US" dirty="0"/>
              <a:t>就会产生很多社会问题。</a:t>
            </a:r>
          </a:p>
        </p:txBody>
      </p:sp>
    </p:spTree>
    <p:extLst>
      <p:ext uri="{BB962C8B-B14F-4D97-AF65-F5344CB8AC3E}">
        <p14:creationId xmlns:p14="http://schemas.microsoft.com/office/powerpoint/2010/main" val="40815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ADD6-0447-6686-8BC5-1A6435CF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24916-D869-7550-93FB-1030179A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34E03-B67F-DB41-F26A-4E1C2282E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大量的年轻人没有工作，这样的情况并不是现在才有的。</a:t>
            </a:r>
          </a:p>
          <a:p>
            <a:pPr marL="0" indent="0">
              <a:buNone/>
            </a:pPr>
            <a:r>
              <a:rPr lang="zh-CN" altLang="en-US" dirty="0"/>
              <a:t>中国第一次出现类似问题是在上个世纪</a:t>
            </a:r>
            <a:r>
              <a:rPr lang="en-US" altLang="zh-CN" dirty="0"/>
              <a:t>60</a:t>
            </a:r>
            <a:r>
              <a:rPr lang="zh-CN" altLang="en-US" dirty="0"/>
              <a:t>年代。</a:t>
            </a:r>
          </a:p>
          <a:p>
            <a:pPr marL="0" indent="0">
              <a:buNone/>
            </a:pPr>
            <a:r>
              <a:rPr lang="zh-CN" altLang="en-US" dirty="0"/>
              <a:t>当时有</a:t>
            </a:r>
            <a:r>
              <a:rPr lang="en-US" altLang="zh-CN" dirty="0"/>
              <a:t>1500</a:t>
            </a:r>
            <a:r>
              <a:rPr lang="zh-CN" altLang="en-US" dirty="0"/>
              <a:t>万待业青年，其中有叫做老三届学生。</a:t>
            </a:r>
          </a:p>
          <a:p>
            <a:pPr marL="0" indent="0">
              <a:buNone/>
            </a:pPr>
            <a:r>
              <a:rPr lang="zh-CN" altLang="en-US" dirty="0"/>
              <a:t>国家想到的办法就是上山下乡。</a:t>
            </a:r>
          </a:p>
          <a:p>
            <a:pPr marL="0" indent="0">
              <a:buNone/>
            </a:pPr>
            <a:r>
              <a:rPr lang="zh-CN" altLang="en-US" dirty="0"/>
              <a:t>归根结底就是就业问题。</a:t>
            </a:r>
          </a:p>
        </p:txBody>
      </p:sp>
    </p:spTree>
    <p:extLst>
      <p:ext uri="{BB962C8B-B14F-4D97-AF65-F5344CB8AC3E}">
        <p14:creationId xmlns:p14="http://schemas.microsoft.com/office/powerpoint/2010/main" val="339016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23CA-432F-2783-C573-5F6BCAAC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F6D74-032C-F4F8-C1E8-F2380923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D1996-A1D5-2F8B-5E44-6953B1BB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44700"/>
            <a:ext cx="11155680" cy="43012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那为什么美国要发展那么快呢？</a:t>
            </a:r>
          </a:p>
          <a:p>
            <a:pPr marL="0" indent="0">
              <a:buNone/>
            </a:pPr>
            <a:r>
              <a:rPr lang="zh-CN" altLang="en-US" dirty="0"/>
              <a:t>这是由美国这个国家的特点决定的，因为它要做全世界的灯塔。</a:t>
            </a:r>
          </a:p>
          <a:p>
            <a:pPr marL="0" indent="0">
              <a:buNone/>
            </a:pPr>
            <a:r>
              <a:rPr lang="zh-CN" altLang="en-US" dirty="0"/>
              <a:t>它如果没有在科技上引领全世界的话，这个国家就会垮掉。</a:t>
            </a:r>
          </a:p>
          <a:p>
            <a:pPr marL="0" indent="0">
              <a:buNone/>
            </a:pPr>
            <a:r>
              <a:rPr lang="zh-CN" altLang="en-US" dirty="0"/>
              <a:t>美国就是靠编织一个美国梦来达到吸引全球资本的目的。</a:t>
            </a:r>
          </a:p>
          <a:p>
            <a:pPr marL="0" indent="0">
              <a:buNone/>
            </a:pPr>
            <a:r>
              <a:rPr lang="zh-CN" altLang="en-US" dirty="0"/>
              <a:t>吸引全球的金融、全球的人才，这样它才能撑下去。</a:t>
            </a:r>
          </a:p>
          <a:p>
            <a:pPr marL="0" indent="0">
              <a:buNone/>
            </a:pPr>
            <a:r>
              <a:rPr lang="zh-CN" altLang="en-US" dirty="0"/>
              <a:t>所以它会不断地拼命地发展它的科技，特别是发展</a:t>
            </a:r>
            <a:r>
              <a:rPr lang="en-US" altLang="zh-CN" dirty="0"/>
              <a:t>AI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AGI</a:t>
            </a:r>
            <a:r>
              <a:rPr lang="zh-CN" altLang="en-US" dirty="0"/>
              <a:t>发展需要多久呢？</a:t>
            </a:r>
          </a:p>
          <a:p>
            <a:pPr marL="0" indent="0">
              <a:buNone/>
            </a:pPr>
            <a:r>
              <a:rPr lang="zh-CN" altLang="en-US" dirty="0"/>
              <a:t>根据美国各行业内估算，快需要</a:t>
            </a:r>
            <a:r>
              <a:rPr lang="en-US" altLang="zh-CN" dirty="0"/>
              <a:t>2</a:t>
            </a:r>
            <a:r>
              <a:rPr lang="zh-CN" altLang="en-US" dirty="0"/>
              <a:t>年，慢则需要</a:t>
            </a:r>
            <a:r>
              <a:rPr lang="en-US" altLang="zh-CN" dirty="0"/>
              <a:t>10</a:t>
            </a:r>
            <a:r>
              <a:rPr lang="zh-CN" altLang="en-US" dirty="0"/>
              <a:t>年。</a:t>
            </a:r>
          </a:p>
          <a:p>
            <a:pPr marL="0" indent="0">
              <a:buNone/>
            </a:pPr>
            <a:r>
              <a:rPr lang="zh-CN" altLang="en-US" dirty="0"/>
              <a:t>你看看，你的孩子在</a:t>
            </a:r>
            <a:r>
              <a:rPr lang="en-US" altLang="zh-CN" dirty="0"/>
              <a:t>10</a:t>
            </a:r>
            <a:r>
              <a:rPr lang="zh-CN" altLang="en-US" dirty="0"/>
              <a:t>年之后还会有白领的工作吗？</a:t>
            </a:r>
          </a:p>
        </p:txBody>
      </p:sp>
    </p:spTree>
    <p:extLst>
      <p:ext uri="{BB962C8B-B14F-4D97-AF65-F5344CB8AC3E}">
        <p14:creationId xmlns:p14="http://schemas.microsoft.com/office/powerpoint/2010/main" val="3079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7270-8863-B67A-1608-AD40773F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2A1A4-820E-DA6F-0D16-BBE7F23C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79987-83C5-F973-0A79-77E03050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马克思看到了资本主义的本质。</a:t>
            </a:r>
          </a:p>
          <a:p>
            <a:pPr marL="0" indent="0">
              <a:buNone/>
            </a:pPr>
            <a:r>
              <a:rPr lang="zh-CN" altLang="en-US" dirty="0"/>
              <a:t>贷款、生产、消费闭环，但每</a:t>
            </a:r>
            <a:r>
              <a:rPr lang="en-US" altLang="zh-CN" dirty="0"/>
              <a:t>10</a:t>
            </a:r>
            <a:r>
              <a:rPr lang="zh-CN" altLang="en-US" dirty="0"/>
              <a:t>年发生经济危机</a:t>
            </a:r>
          </a:p>
          <a:p>
            <a:pPr marL="0" indent="0">
              <a:buNone/>
            </a:pPr>
            <a:r>
              <a:rPr lang="zh-CN" altLang="en-US" dirty="0"/>
              <a:t>但是为什么现实中没有那么频繁呢？</a:t>
            </a:r>
          </a:p>
          <a:p>
            <a:pPr marL="0" indent="0">
              <a:buNone/>
            </a:pPr>
            <a:r>
              <a:rPr lang="zh-CN" altLang="en-US" dirty="0"/>
              <a:t>不是马克思错了，而是中国成为新商品的倾销市场，缓解了资本主义矛盾。</a:t>
            </a:r>
          </a:p>
          <a:p>
            <a:pPr marL="0" indent="0">
              <a:buNone/>
            </a:pPr>
            <a:r>
              <a:rPr lang="zh-CN" altLang="en-US" dirty="0"/>
              <a:t>日本的彩电、日本的冰箱、外国的汽车</a:t>
            </a:r>
          </a:p>
        </p:txBody>
      </p:sp>
    </p:spTree>
    <p:extLst>
      <p:ext uri="{BB962C8B-B14F-4D97-AF65-F5344CB8AC3E}">
        <p14:creationId xmlns:p14="http://schemas.microsoft.com/office/powerpoint/2010/main" val="249060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7E0AD-6F5A-4348-5DBB-64DEE36B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928CC-8A2D-4FC5-9A75-254AA37D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88CA9-0604-FD70-23D0-B6B6B1492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马克思只考虑到了生产过剩，但是他没有想到，人才也会过剩。</a:t>
            </a:r>
          </a:p>
          <a:p>
            <a:pPr marL="0" indent="0">
              <a:buNone/>
            </a:pPr>
            <a:r>
              <a:rPr lang="zh-CN" altLang="en-US" dirty="0"/>
              <a:t>因为当时人类的教育是第二代教育，第二代教育还没有到达极限。</a:t>
            </a:r>
          </a:p>
          <a:p>
            <a:pPr marL="0" indent="0">
              <a:buNone/>
            </a:pPr>
            <a:r>
              <a:rPr lang="zh-CN" altLang="en-US" dirty="0"/>
              <a:t>但是现在这种极限已经显现了！</a:t>
            </a:r>
          </a:p>
          <a:p>
            <a:pPr marL="0" indent="0">
              <a:buNone/>
            </a:pPr>
            <a:r>
              <a:rPr lang="zh-CN" altLang="en-US" dirty="0"/>
              <a:t>这并不是说大家不应该接受基本的教育，而是</a:t>
            </a:r>
            <a:r>
              <a:rPr lang="en-US" altLang="zh-CN" dirty="0"/>
              <a:t>AI</a:t>
            </a:r>
            <a:r>
              <a:rPr lang="zh-CN" altLang="en-US" dirty="0"/>
              <a:t>出现了。</a:t>
            </a:r>
          </a:p>
          <a:p>
            <a:pPr marL="0" indent="0">
              <a:buNone/>
            </a:pPr>
            <a:r>
              <a:rPr lang="zh-CN" altLang="en-US" dirty="0"/>
              <a:t>当</a:t>
            </a:r>
            <a:r>
              <a:rPr lang="en-US" altLang="zh-CN" dirty="0"/>
              <a:t>AI</a:t>
            </a:r>
            <a:r>
              <a:rPr lang="zh-CN" altLang="en-US" dirty="0"/>
              <a:t>出现时，传统培养的人才就显得过多、无用了！</a:t>
            </a:r>
          </a:p>
        </p:txBody>
      </p:sp>
    </p:spTree>
    <p:extLst>
      <p:ext uri="{BB962C8B-B14F-4D97-AF65-F5344CB8AC3E}">
        <p14:creationId xmlns:p14="http://schemas.microsoft.com/office/powerpoint/2010/main" val="19490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B3A3-2FA0-35F9-508D-61FB1F42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F5A0C-04D1-80F0-83B0-D63B210F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</a:t>
            </a:r>
            <a:r>
              <a:rPr lang="en-US" altLang="zh-CN" sz="4400" dirty="0"/>
              <a:t>9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10031E-C4C8-268C-115A-A1BC51B8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第一代教育，全世界都一样，私塾式或学徒制。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969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2402-7A2D-D763-2405-E713E0C0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29746-4300-50D5-98D1-F3C614AF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</a:t>
            </a:r>
            <a:r>
              <a:rPr lang="en-US" altLang="zh-CN" sz="4400" dirty="0"/>
              <a:t>10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45398-4545-43D0-742A-CF957AEF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第二代教育就是我们现在学校的这种模式。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为什么我们看到很多学校的制度很奇葩？</a:t>
            </a:r>
          </a:p>
        </p:txBody>
      </p:sp>
    </p:spTree>
    <p:extLst>
      <p:ext uri="{BB962C8B-B14F-4D97-AF65-F5344CB8AC3E}">
        <p14:creationId xmlns:p14="http://schemas.microsoft.com/office/powerpoint/2010/main" val="186758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5D8D-D60B-CFE6-2F63-2307AE3E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FFC40-E375-3FAD-206A-BB7FE96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</a:t>
            </a:r>
            <a:r>
              <a:rPr lang="en-US" altLang="zh-CN" sz="4400" dirty="0"/>
              <a:t>11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E1667-19F7-5FDC-BAFE-10B40D26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学历文凭证书的本质问题。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然而资本主义的死循环出现问题了。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就业就开始萎缩，但是学校还是在拼命制造过剩的人才。</a:t>
            </a:r>
          </a:p>
        </p:txBody>
      </p:sp>
    </p:spTree>
    <p:extLst>
      <p:ext uri="{BB962C8B-B14F-4D97-AF65-F5344CB8AC3E}">
        <p14:creationId xmlns:p14="http://schemas.microsoft.com/office/powerpoint/2010/main" val="363550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22FE-41BD-C93E-B6AD-B1B12DDE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C97BB-7547-E5BB-21D9-2FBBDFD3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第三代儿童教育就是面向未来的教育（</a:t>
            </a:r>
            <a:r>
              <a:rPr lang="en-US" altLang="zh-CN" sz="4400" dirty="0"/>
              <a:t>12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59B45-9747-61B5-101C-B4319AFC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第三代儿童教育模式。</a:t>
            </a:r>
          </a:p>
          <a:p>
            <a:pPr marL="0" indent="0">
              <a:buNone/>
            </a:pPr>
            <a:r>
              <a:rPr lang="zh-CN" altLang="en-US" dirty="0"/>
              <a:t>这种模式是面向互联网</a:t>
            </a:r>
            <a:r>
              <a:rPr lang="en-US" altLang="zh-CN" dirty="0"/>
              <a:t>AI</a:t>
            </a:r>
            <a:r>
              <a:rPr lang="zh-CN" altLang="en-US" dirty="0"/>
              <a:t>时代的、能够具备独特创意和思维的，还有可以提供情绪价值的。</a:t>
            </a:r>
          </a:p>
          <a:p>
            <a:pPr marL="0" indent="0">
              <a:buNone/>
            </a:pPr>
            <a:r>
              <a:rPr lang="zh-CN" altLang="en-US" dirty="0"/>
              <a:t>全世界能够从事研究</a:t>
            </a:r>
            <a:r>
              <a:rPr lang="en-US" altLang="zh-CN" dirty="0"/>
              <a:t>AI</a:t>
            </a:r>
            <a:r>
              <a:rPr lang="zh-CN" altLang="en-US" dirty="0"/>
              <a:t>工作的顶尖的人才，不会超过</a:t>
            </a:r>
            <a:r>
              <a:rPr lang="en-US" altLang="zh-CN" dirty="0"/>
              <a:t>100</a:t>
            </a:r>
            <a:r>
              <a:rPr lang="zh-CN" altLang="en-US" dirty="0"/>
              <a:t>个人。</a:t>
            </a:r>
          </a:p>
          <a:p>
            <a:pPr marL="0" indent="0">
              <a:buNone/>
            </a:pPr>
            <a:r>
              <a:rPr lang="zh-CN" altLang="en-US"/>
              <a:t>现在</a:t>
            </a:r>
            <a:r>
              <a:rPr lang="zh-CN" altLang="en-US" dirty="0"/>
              <a:t>大家能够感受到，国家对于教育的改革力度很大，政策出台非常密集。</a:t>
            </a:r>
          </a:p>
          <a:p>
            <a:pPr marL="0" indent="0">
              <a:buNone/>
            </a:pPr>
            <a:r>
              <a:rPr lang="zh-CN" altLang="en-US"/>
              <a:t>我们</a:t>
            </a:r>
            <a:r>
              <a:rPr lang="zh-CN" altLang="en-US" dirty="0"/>
              <a:t>说一件事情如果上升到国家层面，也就是说国家开始重视了，就说明这件事已经非常严重了！</a:t>
            </a:r>
          </a:p>
        </p:txBody>
      </p:sp>
    </p:spTree>
    <p:extLst>
      <p:ext uri="{BB962C8B-B14F-4D97-AF65-F5344CB8AC3E}">
        <p14:creationId xmlns:p14="http://schemas.microsoft.com/office/powerpoint/2010/main" val="189215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38B2-215C-B133-E415-26BB5A0C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6B343-CD74-ED13-0C99-2857EF5F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A103E-2D53-8E44-196E-0FD8059B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7399"/>
            <a:ext cx="11155680" cy="46577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改革开放之前，</a:t>
            </a:r>
            <a:r>
              <a:rPr lang="en-US" altLang="zh-CN" dirty="0"/>
              <a:t>80</a:t>
            </a:r>
            <a:r>
              <a:rPr lang="zh-CN" altLang="en-US" dirty="0"/>
              <a:t>年代之前，我们以集体生活，国营厂办单位为主。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r>
              <a:rPr lang="zh-CN" altLang="en-US" dirty="0"/>
              <a:t>在上个世纪</a:t>
            </a:r>
            <a:r>
              <a:rPr lang="en-US" altLang="zh-CN" dirty="0"/>
              <a:t>90</a:t>
            </a:r>
            <a:r>
              <a:rPr lang="zh-CN" altLang="en-US" dirty="0"/>
              <a:t>年代，防自杀热线开设（自杀率上升与高危群体扩大）。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20</a:t>
            </a:r>
            <a:r>
              <a:rPr lang="zh-CN" altLang="en-US" dirty="0"/>
              <a:t>世纪末，中国自杀率一度高达十万分之二十三，成为</a:t>
            </a:r>
            <a:r>
              <a:rPr lang="en-US" altLang="zh-CN" dirty="0"/>
              <a:t>15-34</a:t>
            </a:r>
            <a:r>
              <a:rPr lang="zh-CN" altLang="en-US" dirty="0"/>
              <a:t>岁人群的首要死因。农村自杀率显著高于城市，女性自杀率虽呈下降趋势但仍高于男性。经济压力、婚姻家庭矛盾、精神疾病等成为主要诱因。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创始人专家自己自杀了。后被迫停办。</a:t>
            </a:r>
          </a:p>
        </p:txBody>
      </p:sp>
    </p:spTree>
    <p:extLst>
      <p:ext uri="{BB962C8B-B14F-4D97-AF65-F5344CB8AC3E}">
        <p14:creationId xmlns:p14="http://schemas.microsoft.com/office/powerpoint/2010/main" val="4233342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365-2299-B2AA-5924-DEE98017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94D40-A61A-DF0D-1BA2-53D6E9D6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FE186-0B6B-82CB-FCA6-9F09E55C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当时非常流行的日本影视作品，有很多是描写自杀、校园霸凌、婆媳关系等等。</a:t>
            </a:r>
          </a:p>
        </p:txBody>
      </p:sp>
    </p:spTree>
    <p:extLst>
      <p:ext uri="{BB962C8B-B14F-4D97-AF65-F5344CB8AC3E}">
        <p14:creationId xmlns:p14="http://schemas.microsoft.com/office/powerpoint/2010/main" val="2056164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647B-66A0-660F-BBF8-5044AEFB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49644-A754-9445-E6E2-20A3BD35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13F73-0C0C-1295-A54B-CCE12118F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现在的心理咨询，正规靠谱科学的，基本上不采用共情这种传统精神分析的方式。</a:t>
            </a:r>
          </a:p>
          <a:p>
            <a:pPr marL="0" indent="0">
              <a:buNone/>
            </a:pPr>
            <a:r>
              <a:rPr lang="zh-CN" altLang="en-US" dirty="0"/>
              <a:t>不是靠与来访者建立关系的做法。</a:t>
            </a:r>
          </a:p>
          <a:p>
            <a:pPr marL="0" indent="0">
              <a:buNone/>
            </a:pPr>
            <a:r>
              <a:rPr lang="zh-CN" altLang="en-US" dirty="0"/>
              <a:t>而是通过来访者自我赋意的方式来达到心灵解惑开释。</a:t>
            </a:r>
          </a:p>
          <a:p>
            <a:pPr marL="0" indent="0">
              <a:buNone/>
            </a:pPr>
            <a:r>
              <a:rPr lang="zh-CN" altLang="en-US" dirty="0"/>
              <a:t>注意，不是咨询师给出解释或建议，那叫作野蛮赋意。</a:t>
            </a:r>
          </a:p>
          <a:p>
            <a:pPr marL="0" indent="0">
              <a:buNone/>
            </a:pPr>
            <a:r>
              <a:rPr lang="zh-CN" altLang="en-US" dirty="0"/>
              <a:t>如果是这样的，那么可以判定为假冒伪劣。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于是就是在这个背景之下，我们看到了现在的这个心理咨询市场的现状。</a:t>
            </a:r>
          </a:p>
          <a:p>
            <a:pPr marL="0" indent="0">
              <a:buNone/>
            </a:pPr>
            <a:r>
              <a:rPr lang="zh-CN" altLang="en-US" dirty="0"/>
              <a:t>可谓是鱼龙混杂，真假难辨。</a:t>
            </a:r>
          </a:p>
        </p:txBody>
      </p:sp>
    </p:spTree>
    <p:extLst>
      <p:ext uri="{BB962C8B-B14F-4D97-AF65-F5344CB8AC3E}">
        <p14:creationId xmlns:p14="http://schemas.microsoft.com/office/powerpoint/2010/main" val="986969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78F9-20D8-CA27-FE2B-B345473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3A5C-FC02-A7F5-2C06-AB808CC5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教育历史变化及当下教育真相（一）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F6FA06-FEC3-805E-886B-446CA6B33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723333"/>
            <a:ext cx="1133741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学校是如何发明出来的？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普鲁士，最后一课。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工业文明将传统的家庭解构，大人要上班，孩子必须想办法解决照顾问题。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并且，孩子们在学校学习，将来还可以继续成为工人为工业时代服务。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大家有没有想过一个问题，为什么孩子们在8点上学，为什么我们要8点上班？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10点上学，下午2上班行不行？不去上学，不去上班行不行？让孩子在教室里坐上40分钟不动，行不行？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这是反人性的，对不对？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换作成年人，可能40分钟可以坐得住，但是让你干一天的活，你是不是就受不了了呢？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0083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EF4-5EC3-0BAB-A7F0-3DF98C25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95B3-CFFA-7323-89BA-8488F0C0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教育历史变化及当下教育真相（二）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3070BE-BDD1-9794-2508-A2DC8481B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877221"/>
            <a:ext cx="1133741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我们说，什么是精神疾病？怎么算精神病？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其实很简单，就是不符合我们人类社会正常行为之外的异常行为举止。比如，吃垃圾。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但是谁规定垃圾不能吃？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你见过哪个动物东西掉地上它就不吃了？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所以，孩子坐在教室里不让动，是不是很奇怪的一件事呢？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怎么就不让动呢，明明是活泼好动的孩子，不是吗？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但是孩子们好动，甚至违反课堂纪律，就会被认为是一种与我们社会规则相反的行为。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所以，你看，到底谁才是有精神疾病呢？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其实我们每个人，都是被社会规则驯化的，被阉割过的。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从某种角度上讲，我们才是精神病，孩子们反而不是精神病。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4008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8F0FA-0924-BB50-886C-D6E25EDD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4F5E1-DB2A-1CFC-3962-B577B80D9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在改革开放之前，我们国家基本上是比较封闭的。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70</a:t>
            </a:r>
            <a:r>
              <a:rPr lang="zh-CN" altLang="en-US" dirty="0"/>
              <a:t>年代末，中国与美国建交之后开始，改革开放进程才正式开启。</a:t>
            </a:r>
          </a:p>
          <a:p>
            <a:pPr marL="0" indent="0">
              <a:buNone/>
            </a:pPr>
            <a:r>
              <a:rPr lang="zh-CN" altLang="en-US" dirty="0"/>
              <a:t>当时，美国对中国的帮助太大了，经济方面支持就不用说了。</a:t>
            </a:r>
          </a:p>
          <a:p>
            <a:pPr marL="0" indent="0">
              <a:buNone/>
            </a:pPr>
            <a:r>
              <a:rPr lang="zh-CN" altLang="en-US" dirty="0"/>
              <a:t>不过有一件事大家要知道，美国对中国说，我对你援助可以，但是你也得有人去做事才行，对吧？</a:t>
            </a:r>
          </a:p>
          <a:p>
            <a:pPr marL="0" indent="0">
              <a:buNone/>
            </a:pPr>
            <a:r>
              <a:rPr lang="zh-CN" altLang="en-US" dirty="0"/>
              <a:t>中国说好，转头就开了个研究会。</a:t>
            </a:r>
          </a:p>
          <a:p>
            <a:pPr marL="0" indent="0">
              <a:buNone/>
            </a:pPr>
            <a:r>
              <a:rPr lang="zh-CN" altLang="en-US" dirty="0"/>
              <a:t>会上决定，恢复高考，我们现在真的急需人才。</a:t>
            </a:r>
          </a:p>
          <a:p>
            <a:pPr marL="0" indent="0">
              <a:buNone/>
            </a:pPr>
            <a:r>
              <a:rPr lang="zh-CN" altLang="en-US" dirty="0"/>
              <a:t>于是我们趁着这个大好的机会，拼命学习，拼命读书。</a:t>
            </a:r>
          </a:p>
          <a:p>
            <a:pPr marL="0" indent="0">
              <a:buNone/>
            </a:pPr>
            <a:r>
              <a:rPr lang="zh-CN" altLang="en-US" dirty="0"/>
              <a:t>所以，在那个时候开始，直到后面的</a:t>
            </a:r>
            <a:r>
              <a:rPr lang="en-US" altLang="zh-CN" dirty="0"/>
              <a:t>30</a:t>
            </a:r>
            <a:r>
              <a:rPr lang="zh-CN" altLang="en-US" dirty="0"/>
              <a:t>年，学历文凭还是很值钱的。</a:t>
            </a:r>
          </a:p>
        </p:txBody>
      </p:sp>
    </p:spTree>
    <p:extLst>
      <p:ext uri="{BB962C8B-B14F-4D97-AF65-F5344CB8AC3E}">
        <p14:creationId xmlns:p14="http://schemas.microsoft.com/office/powerpoint/2010/main" val="176920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C90B-B5DF-0883-6E95-300E319E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B021-98AD-2CC6-FE3C-AD82A86B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BE38-54EF-A3CA-89ED-82601B26E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4500"/>
            <a:ext cx="11155680" cy="51434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好，我们怎么学呢？</a:t>
            </a:r>
          </a:p>
          <a:p>
            <a:pPr marL="0" indent="0">
              <a:buNone/>
            </a:pPr>
            <a:r>
              <a:rPr lang="zh-CN" altLang="en-US" sz="1800" dirty="0"/>
              <a:t>当时世界上至少有两种教育理念。一个是前苏联社会学家维果斯基提出的“最近发展区”理论。另一个是西方提出的“自然成熟说”。</a:t>
            </a:r>
          </a:p>
          <a:p>
            <a:pPr marL="0" indent="0">
              <a:buNone/>
            </a:pPr>
            <a:r>
              <a:rPr lang="zh-CN" altLang="en-US" sz="1800" dirty="0"/>
              <a:t>“最近发展区”是什么意思呢？</a:t>
            </a:r>
          </a:p>
          <a:p>
            <a:pPr marL="0" indent="0">
              <a:buNone/>
            </a:pPr>
            <a:r>
              <a:rPr lang="zh-CN" altLang="en-US" sz="1800" dirty="0"/>
              <a:t>其实简单地讲，就是在儿童通常某个年龄情况下，将正常的学习难度提高一点。</a:t>
            </a:r>
          </a:p>
          <a:p>
            <a:pPr marL="0" indent="0">
              <a:buNone/>
            </a:pPr>
            <a:r>
              <a:rPr lang="zh-CN" altLang="en-US" sz="1800" dirty="0"/>
              <a:t>比如说，一个孩子</a:t>
            </a:r>
            <a:r>
              <a:rPr lang="en-US" altLang="zh-CN" sz="1800" dirty="0"/>
              <a:t>7</a:t>
            </a:r>
            <a:r>
              <a:rPr lang="zh-CN" altLang="en-US" sz="1800" dirty="0"/>
              <a:t>岁，他应该会</a:t>
            </a:r>
            <a:r>
              <a:rPr lang="en-US" altLang="zh-CN" sz="1800" dirty="0"/>
              <a:t>10</a:t>
            </a:r>
            <a:r>
              <a:rPr lang="zh-CN" altLang="en-US" sz="1800" dirty="0"/>
              <a:t>以内的加减法，那么就将学习难度提高到，让他去学</a:t>
            </a:r>
            <a:r>
              <a:rPr lang="en-US" altLang="zh-CN" sz="1800" dirty="0"/>
              <a:t>20</a:t>
            </a:r>
            <a:r>
              <a:rPr lang="zh-CN" altLang="en-US" sz="1800" dirty="0"/>
              <a:t>以内的加减法。这样提高一些难度的教育方法，有它一定的好处，从某种角度上讲，可以提高孩子学习的积极性。</a:t>
            </a:r>
          </a:p>
          <a:p>
            <a:pPr marL="0" indent="0">
              <a:buNone/>
            </a:pPr>
            <a:r>
              <a:rPr lang="zh-CN" altLang="en-US" sz="1800" dirty="0"/>
              <a:t>人总是喜欢挑战一些适当难度的问题，对不对？</a:t>
            </a:r>
          </a:p>
          <a:p>
            <a:pPr marL="0" indent="0">
              <a:buNone/>
            </a:pPr>
            <a:r>
              <a:rPr lang="zh-CN" altLang="en-US" sz="1800" dirty="0"/>
              <a:t>我们国家就是采用的这个学说。</a:t>
            </a:r>
          </a:p>
          <a:p>
            <a:pPr marL="0" indent="0">
              <a:buNone/>
            </a:pPr>
            <a:r>
              <a:rPr lang="zh-CN" altLang="en-US" sz="1800" dirty="0"/>
              <a:t>至于另一个西方的“自然成熟说”理论，也有其道理，他们认为要让孩子的大脑成熟到一定程度，才适合学习相应难度的东西。</a:t>
            </a:r>
          </a:p>
        </p:txBody>
      </p:sp>
    </p:spTree>
    <p:extLst>
      <p:ext uri="{BB962C8B-B14F-4D97-AF65-F5344CB8AC3E}">
        <p14:creationId xmlns:p14="http://schemas.microsoft.com/office/powerpoint/2010/main" val="116582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A584-2B92-7ABF-B79F-F210BB8C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A7BE-D398-D7F6-98A7-4A128F4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C810A-8008-AED6-6082-9A74846E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3599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这两种理论无关谁对谁错，关键要看你怎么用。</a:t>
            </a:r>
          </a:p>
          <a:p>
            <a:pPr marL="0" indent="0">
              <a:buNone/>
            </a:pPr>
            <a:r>
              <a:rPr lang="zh-CN" altLang="en-US" sz="1800" dirty="0"/>
              <a:t>因为前者是建立在群体集体的角度去看问题的，而后者是个体角度。</a:t>
            </a:r>
          </a:p>
          <a:p>
            <a:pPr marL="0" indent="0">
              <a:buNone/>
            </a:pPr>
            <a:r>
              <a:rPr lang="zh-CN" altLang="en-US" sz="1800" dirty="0"/>
              <a:t>我们国家就是采用前者的教育理念。所以大家就应该明白，为什么所有的小朋友都要学习一样的东西，而且难度大家都一样。如果谁没跟上，那么只能说某个个体成长得慢了一些。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不过这是以前，最初我们的中小学教育还算可以。大家都是那个时候过来的，应该有所体会。但是现在问题起了变化。</a:t>
            </a:r>
          </a:p>
          <a:p>
            <a:pPr marL="0" indent="0">
              <a:buNone/>
            </a:pPr>
            <a:r>
              <a:rPr lang="zh-CN" altLang="en-US" sz="1800" dirty="0"/>
              <a:t>每年的中小学课程难度增加得很多，大部分孩子已经不适合学习了，变得自信也被打击。</a:t>
            </a:r>
          </a:p>
          <a:p>
            <a:pPr marL="0" indent="0">
              <a:buNone/>
            </a:pPr>
            <a:r>
              <a:rPr lang="zh-CN" altLang="en-US" sz="1800" dirty="0"/>
              <a:t>为什么会这样呢？为什么会大幅增加难度呢？大家都学好不行吗？</a:t>
            </a:r>
          </a:p>
          <a:p>
            <a:pPr marL="0" indent="0">
              <a:buNone/>
            </a:pPr>
            <a:r>
              <a:rPr lang="zh-CN" altLang="en-US" sz="1800" dirty="0"/>
              <a:t>为了解释这个问题，除了我们要知道前面说的“最近发展区”理论之外，我们还要结合当下时代发展的背景。</a:t>
            </a:r>
          </a:p>
        </p:txBody>
      </p:sp>
    </p:spTree>
    <p:extLst>
      <p:ext uri="{BB962C8B-B14F-4D97-AF65-F5344CB8AC3E}">
        <p14:creationId xmlns:p14="http://schemas.microsoft.com/office/powerpoint/2010/main" val="1688765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7E17-0C8F-B187-F28D-D0D6E2A4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27952-518A-FB34-9F34-EBB45287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2A0C-8083-5C10-1057-F2782FA1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28789"/>
            <a:ext cx="11155680" cy="4986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**好，我们将时间线，再拉回到改革开放初期。**</a:t>
            </a:r>
          </a:p>
          <a:p>
            <a:pPr marL="0" indent="0">
              <a:buNone/>
            </a:pPr>
            <a:r>
              <a:rPr lang="zh-CN" altLang="en-US" sz="1800" dirty="0"/>
              <a:t>就是我们当时学的是什么的问题。我们学的是什么？</a:t>
            </a:r>
          </a:p>
          <a:p>
            <a:pPr marL="0" indent="0">
              <a:buNone/>
            </a:pPr>
            <a:r>
              <a:rPr lang="zh-CN" altLang="en-US" sz="1800" dirty="0"/>
              <a:t>有一句话：学好数理化，走遍开下都不怕。</a:t>
            </a:r>
          </a:p>
          <a:p>
            <a:pPr marL="0" indent="0">
              <a:buNone/>
            </a:pPr>
            <a:r>
              <a:rPr lang="zh-CN" altLang="en-US" sz="1800" dirty="0"/>
              <a:t>没错，就是我们最缺的工业文明的知识。我们从那时起，就渴望着知识，实际上是这些工业知识。</a:t>
            </a:r>
          </a:p>
          <a:p>
            <a:pPr marL="0" indent="0">
              <a:buNone/>
            </a:pPr>
            <a:r>
              <a:rPr lang="zh-CN" altLang="en-US" sz="1800" dirty="0"/>
              <a:t>这些知识的特点就是，都是西方资本主义国家现成的，</a:t>
            </a:r>
            <a:r>
              <a:rPr lang="en-US" altLang="zh-CN" sz="1800" dirty="0"/>
              <a:t>200</a:t>
            </a:r>
            <a:r>
              <a:rPr lang="zh-CN" altLang="en-US" sz="1800" dirty="0"/>
              <a:t>多年的历史，有的你学了。</a:t>
            </a:r>
          </a:p>
          <a:p>
            <a:pPr marL="0" indent="0">
              <a:buNone/>
            </a:pPr>
            <a:r>
              <a:rPr lang="zh-CN" altLang="en-US" sz="1800" dirty="0"/>
              <a:t>怎么学呢？</a:t>
            </a:r>
          </a:p>
          <a:p>
            <a:pPr marL="0" indent="0">
              <a:buNone/>
            </a:pPr>
            <a:r>
              <a:rPr lang="zh-CN" altLang="en-US" sz="1800" dirty="0"/>
              <a:t>直接抄直接背，最后直接拿来用，对不对？</a:t>
            </a:r>
          </a:p>
          <a:p>
            <a:pPr marL="0" indent="0">
              <a:buNone/>
            </a:pPr>
            <a:r>
              <a:rPr lang="zh-CN" altLang="en-US" sz="1800" dirty="0"/>
              <a:t>非常好使，中国人又聪明，用了</a:t>
            </a:r>
            <a:r>
              <a:rPr lang="en-US" altLang="zh-CN" sz="1800" dirty="0"/>
              <a:t>20</a:t>
            </a:r>
            <a:r>
              <a:rPr lang="zh-CN" altLang="en-US" sz="1800" dirty="0"/>
              <a:t>年的时间，基本已经学完了，抄完了。</a:t>
            </a:r>
          </a:p>
          <a:p>
            <a:pPr marL="0" indent="0">
              <a:buNone/>
            </a:pPr>
            <a:r>
              <a:rPr lang="zh-CN" altLang="en-US" sz="1800" dirty="0"/>
              <a:t>我称之为创造“复制型”人才，就是小镇做题家形的人才。过去，你学个什么都行，文凭学历或技术随便拿，你就有口饭吃，日子过得还不错。</a:t>
            </a:r>
          </a:p>
          <a:p>
            <a:pPr marL="0" indent="0">
              <a:buNone/>
            </a:pPr>
            <a:r>
              <a:rPr lang="zh-CN" altLang="en-US" sz="1800" dirty="0"/>
              <a:t>因为国家大量的需要你这样的人才。</a:t>
            </a:r>
          </a:p>
        </p:txBody>
      </p:sp>
    </p:spTree>
    <p:extLst>
      <p:ext uri="{BB962C8B-B14F-4D97-AF65-F5344CB8AC3E}">
        <p14:creationId xmlns:p14="http://schemas.microsoft.com/office/powerpoint/2010/main" val="3346054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BF7D-3465-5246-AD2F-CEAE8F1F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3EBCE-D296-4342-8C53-50127BC5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E9686-BC21-8378-6211-F8780A6D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43100"/>
            <a:ext cx="11155680" cy="47005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然后，你再看现在，我们还学什么？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基本上没有太多的东西让我们学了，因为很多领域我们都已经超过了西方。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进入后工业时代，只能是我们自己创造新的知识了。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所以我们大家就应该知道一个事实，我们现在孩子们学的东西，不管是小学中学还是大学，</a:t>
            </a:r>
            <a:r>
              <a:rPr lang="en-US" altLang="zh-CN" dirty="0"/>
              <a:t>90%</a:t>
            </a:r>
            <a:r>
              <a:rPr lang="zh-CN" altLang="en-US" dirty="0"/>
              <a:t>以上都是前工业时代的陈旧知识，在新的</a:t>
            </a:r>
            <a:r>
              <a:rPr lang="en-US" altLang="zh-CN" dirty="0"/>
              <a:t>AI</a:t>
            </a:r>
            <a:r>
              <a:rPr lang="zh-CN" altLang="en-US" dirty="0"/>
              <a:t>时代，是没有价值的。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278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6C8-EC5E-4C39-C987-5302732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E6D88-1303-4D2E-E284-B11D803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B239B-F1DC-CD79-35A3-44A301C6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8291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为什么我们家长会疑惑，现在考个大学，学那么多东西，越来越没用了呢？</a:t>
            </a:r>
          </a:p>
          <a:p>
            <a:pPr marL="0" indent="0">
              <a:buNone/>
            </a:pPr>
            <a:r>
              <a:rPr lang="zh-CN" altLang="en-US" sz="1800" dirty="0"/>
              <a:t>因为过去是“复制型”人才的培养模式，而现在，不是了。</a:t>
            </a:r>
          </a:p>
          <a:p>
            <a:pPr marL="0" indent="0">
              <a:buNone/>
            </a:pPr>
            <a:r>
              <a:rPr lang="zh-CN" altLang="en-US" sz="1800" dirty="0"/>
              <a:t>国家希望找到那个真正聪明的，有创新能力的人才。怎么办呢？增加高考难度，增加考题的灵活性。</a:t>
            </a:r>
          </a:p>
          <a:p>
            <a:pPr marL="0" indent="0">
              <a:buNone/>
            </a:pPr>
            <a:r>
              <a:rPr lang="zh-CN" altLang="en-US" sz="1800" dirty="0"/>
              <a:t>所以你会发现，为什么现在孩子们学的东西都是非常灵活的，不再是过去的死知识。</a:t>
            </a:r>
          </a:p>
          <a:p>
            <a:pPr marL="0" indent="0">
              <a:buNone/>
            </a:pPr>
            <a:r>
              <a:rPr lang="zh-CN" altLang="en-US" sz="1800" dirty="0"/>
              <a:t>所以网上那些叫嚷着要恢复</a:t>
            </a:r>
            <a:r>
              <a:rPr lang="en-US" altLang="zh-CN" sz="1800" dirty="0"/>
              <a:t>80</a:t>
            </a:r>
            <a:r>
              <a:rPr lang="zh-CN" altLang="en-US" sz="1800" dirty="0"/>
              <a:t>后的教材的视频，你们还觉得对吗？</a:t>
            </a:r>
          </a:p>
          <a:p>
            <a:pPr marL="0" indent="0">
              <a:buNone/>
            </a:pPr>
            <a:r>
              <a:rPr lang="zh-CN" altLang="en-US" sz="1800" dirty="0"/>
              <a:t>这些自媒体只是迎合了大众的心理，炒流量罢了，没人会真的懂这里面的本质，更不会有人告诉你真相。所以国家为什么要双减？因为绝大多数的孩子，不是他不聪明，更不是他笨，不是智商低，你别误会了你的孩子。而是在这种选拔机制下，国家要的是那极少的真正人才。</a:t>
            </a:r>
          </a:p>
          <a:p>
            <a:pPr marL="0" indent="0">
              <a:buNone/>
            </a:pPr>
            <a:r>
              <a:rPr lang="zh-CN" altLang="en-US" sz="1800" dirty="0"/>
              <a:t>作为普通的娃来说，没必要卷。因为再卷，国家也不好筛选人才，你还累，没有意义。</a:t>
            </a:r>
          </a:p>
          <a:p>
            <a:pPr marL="0" indent="0">
              <a:buNone/>
            </a:pPr>
            <a:r>
              <a:rPr lang="zh-CN" altLang="en-US" sz="1800" dirty="0"/>
              <a:t>所以现在的教育改革主流方向，就是让孩子们更轻松些，但学习难度却上了层次。</a:t>
            </a:r>
          </a:p>
          <a:p>
            <a:pPr marL="0" indent="0">
              <a:buNone/>
            </a:pPr>
            <a:r>
              <a:rPr lang="zh-CN" altLang="en-US" sz="1800" dirty="0"/>
              <a:t>这才是真相，你现在明白了吗？如果还执意要卷，那么大概率会导致孩子的心理健康问题。</a:t>
            </a:r>
          </a:p>
        </p:txBody>
      </p:sp>
    </p:spTree>
    <p:extLst>
      <p:ext uri="{BB962C8B-B14F-4D97-AF65-F5344CB8AC3E}">
        <p14:creationId xmlns:p14="http://schemas.microsoft.com/office/powerpoint/2010/main" val="322973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0962-7BA6-B5AE-1309-7996B76C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89DF6-B589-8138-8F97-EBB94EFF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教育历史变化及当下教育真相（九）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64FB12-5BF2-8BD1-DB99-E555CA62F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61670"/>
            <a:ext cx="111495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怎么办呢？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增加高考难度，增加考题的灵活性。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所以你会发现，为什么现在孩子们学的东西都是非常灵活的，不再是过去的死知识。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所以网上那些叫嚷着要恢复80后的教材的视频，你们还觉得对吗？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这些自媒体只是迎合了大众的心理，炒流量罢了，没人会真的懂这里面的本质，更不会有人告诉你真相。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所以国家为什么要双减？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因为绝大多数的孩子，不是他不聪明，更不是他笨，不是智商低，你别误会了你的孩子。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而是在这种选拔机制下，国家要的是那极少的真正人才。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作为普通的娃来说，没必要卷。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因为再卷，国家也不好筛选人才，你还累，没有意义。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所以现在的教育改革主流方向，就是让孩子们更轻松些，但学习难度却上了层次。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这才是真相，你现在明白了吗？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如果还执意要卷，那么大概率会导致孩子的心理健康问题。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3400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1BA68-6B1B-AF59-B23D-0416B40C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007E6-79D0-4B2B-91D3-13F2A848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客体关系流派和自体心理学。</a:t>
            </a:r>
          </a:p>
          <a:p>
            <a:pPr marL="0" indent="0">
              <a:buNone/>
            </a:pPr>
            <a:r>
              <a:rPr lang="zh-CN" altLang="en-US" sz="1800" dirty="0"/>
              <a:t>客体关系是指母婴关系，研究人员发现没有处理母婴关系，比如母亲对婴儿的照料不够等等，会导致婴儿出现问题，比如说自卑。</a:t>
            </a:r>
          </a:p>
          <a:p>
            <a:pPr marL="0" indent="0">
              <a:buNone/>
            </a:pPr>
            <a:r>
              <a:rPr lang="zh-CN" altLang="en-US" sz="1800" dirty="0"/>
              <a:t>自体心理学也有类似的发现，只不过是指婴儿自已，就像照镜子一样看自已，如果过度自卑，或过度自恋，都会产生问题。</a:t>
            </a:r>
          </a:p>
          <a:p>
            <a:pPr marL="0" indent="0">
              <a:buNone/>
            </a:pPr>
            <a:r>
              <a:rPr lang="zh-CN" altLang="en-US" sz="1800" dirty="0"/>
              <a:t>但是不管是前者，还是后者，研究对象都是在</a:t>
            </a:r>
            <a:r>
              <a:rPr lang="en-US" altLang="zh-CN" sz="1800" dirty="0"/>
              <a:t>3</a:t>
            </a:r>
            <a:r>
              <a:rPr lang="zh-CN" altLang="en-US" sz="1800" dirty="0"/>
              <a:t>岁以内的，有些书上可能写</a:t>
            </a:r>
            <a:r>
              <a:rPr lang="en-US" altLang="zh-CN" sz="1800" dirty="0"/>
              <a:t>5</a:t>
            </a:r>
            <a:r>
              <a:rPr lang="zh-CN" altLang="en-US" sz="1800" dirty="0"/>
              <a:t>岁，最多</a:t>
            </a:r>
            <a:r>
              <a:rPr lang="en-US" altLang="zh-CN" sz="1800" dirty="0"/>
              <a:t>7</a:t>
            </a:r>
            <a:r>
              <a:rPr lang="zh-CN" altLang="en-US" sz="1800" dirty="0"/>
              <a:t>岁之前。</a:t>
            </a:r>
          </a:p>
          <a:p>
            <a:pPr marL="0" indent="0">
              <a:buNone/>
            </a:pPr>
            <a:r>
              <a:rPr lang="zh-CN" altLang="en-US" sz="1800" dirty="0"/>
              <a:t>实际上这些都是指孩子非常小的时候，需要母亲照顾的时候。</a:t>
            </a:r>
          </a:p>
          <a:p>
            <a:pPr marL="0" indent="0">
              <a:buNone/>
            </a:pPr>
            <a:r>
              <a:rPr lang="zh-CN" altLang="en-US" sz="1800" dirty="0"/>
              <a:t>这个母亲，并不一定是生理上的母亲，也可以是其他任何监护人，这里指的是母亲角色。</a:t>
            </a:r>
          </a:p>
          <a:p>
            <a:pPr marL="0" indent="0">
              <a:buNone/>
            </a:pPr>
            <a:r>
              <a:rPr lang="zh-CN" altLang="en-US" sz="1800" dirty="0"/>
              <a:t>比如有的孩子是奶奶照顾的，奶奶就是担任这个孩子的母亲角色。</a:t>
            </a:r>
          </a:p>
          <a:p>
            <a:pPr marL="0" indent="0">
              <a:buNone/>
            </a:pPr>
            <a:r>
              <a:rPr lang="zh-CN" altLang="en-US" sz="1800" dirty="0"/>
              <a:t>因此我们说，市面上讲的什么原生家庭之类的理论，或是其他的说法，他们都是照搬这些理论，但是却没有告诉你，其实那是指孩子</a:t>
            </a:r>
            <a:r>
              <a:rPr lang="en-US" altLang="zh-CN" sz="1800" dirty="0"/>
              <a:t>3</a:t>
            </a:r>
            <a:r>
              <a:rPr lang="zh-CN" altLang="en-US" sz="1800" dirty="0"/>
              <a:t>岁之前的事。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5007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DF46-CA7C-99C2-4819-18D8272A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A3D58-5032-1763-F049-420B95E8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728F5-5D84-4F35-07F2-10B25CD6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那么有人就说了，给孩子爱总没有错吧？</a:t>
            </a:r>
          </a:p>
          <a:p>
            <a:pPr marL="0" indent="0">
              <a:buNone/>
            </a:pPr>
            <a:r>
              <a:rPr lang="zh-CN" altLang="en-US" dirty="0"/>
              <a:t>实际上前面也说了，在孩子</a:t>
            </a:r>
            <a:r>
              <a:rPr lang="en-US" altLang="zh-CN" dirty="0"/>
              <a:t>3</a:t>
            </a:r>
            <a:r>
              <a:rPr lang="zh-CN" altLang="en-US" dirty="0"/>
              <a:t>岁之前，要确保对孩子的照料要到位，给的爱只要保证其拥有一定的安全感即可。</a:t>
            </a:r>
          </a:p>
          <a:p>
            <a:pPr marL="0" indent="0">
              <a:buNone/>
            </a:pPr>
            <a:r>
              <a:rPr lang="zh-CN" altLang="en-US" dirty="0"/>
              <a:t>但是</a:t>
            </a:r>
            <a:r>
              <a:rPr lang="en-US" altLang="zh-CN" dirty="0"/>
              <a:t>3</a:t>
            </a:r>
            <a:r>
              <a:rPr lang="zh-CN" altLang="en-US" dirty="0"/>
              <a:t>岁之后，我们就不能再谈爱了。</a:t>
            </a:r>
          </a:p>
          <a:p>
            <a:pPr marL="0" indent="0">
              <a:buNone/>
            </a:pPr>
            <a:r>
              <a:rPr lang="zh-CN" altLang="en-US" dirty="0"/>
              <a:t>并不是说不给孩子爱，而是要适当地给爱，甚至可以不给爱。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为什么呢？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4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C5D8-DB12-0778-E1BB-D079B831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99F55-9BBF-7666-2DAD-9D971049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99739-E115-5B61-02BE-D218DA78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9149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我们要知道，人是一种社群生物。人类是以社会群体这样的形式生存在这个世界上的。</a:t>
            </a:r>
          </a:p>
          <a:p>
            <a:pPr marL="0" indent="0">
              <a:buNone/>
            </a:pPr>
            <a:r>
              <a:rPr lang="zh-CN" altLang="en-US" sz="1800" dirty="0"/>
              <a:t>因此，人最终是要进入社会的。</a:t>
            </a:r>
          </a:p>
          <a:p>
            <a:pPr marL="0" indent="0">
              <a:buNone/>
            </a:pPr>
            <a:r>
              <a:rPr lang="zh-CN" altLang="en-US" sz="1800" dirty="0"/>
              <a:t>孩子在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岁之后，就已经开始进入社会了。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岁之后，孩子会上幼儿园，这时他就会接触到家庭以外的人，老师和其他小朋友。</a:t>
            </a:r>
          </a:p>
          <a:p>
            <a:pPr marL="0" indent="0">
              <a:buNone/>
            </a:pPr>
            <a:r>
              <a:rPr lang="zh-CN" altLang="en-US" sz="1800" dirty="0"/>
              <a:t>这个时候，对于孩子来说，家庭父母的影响就会慢慢减少，家庭外的人对他的影响就会慢慢变大。</a:t>
            </a:r>
          </a:p>
          <a:p>
            <a:pPr marL="0" indent="0">
              <a:buNone/>
            </a:pPr>
            <a:r>
              <a:rPr lang="zh-CN" altLang="en-US" sz="1800" dirty="0"/>
              <a:t>在解决好安全感问题之后，孩子就会尝试走向家庭外。</a:t>
            </a:r>
          </a:p>
          <a:p>
            <a:pPr marL="0" indent="0">
              <a:buNone/>
            </a:pPr>
            <a:r>
              <a:rPr lang="zh-CN" altLang="en-US" sz="1800" dirty="0"/>
              <a:t>在这个过程中，越是在家庭中讲爱，越可能会给孩子帮倒忙。</a:t>
            </a:r>
          </a:p>
          <a:p>
            <a:pPr marL="0" indent="0">
              <a:buNone/>
            </a:pPr>
            <a:r>
              <a:rPr lang="zh-CN" altLang="en-US" sz="1800" dirty="0"/>
              <a:t>我们当家长的都有一个体会，就会孩子越大越不听自已的了。</a:t>
            </a:r>
          </a:p>
          <a:p>
            <a:pPr marL="0" indent="0">
              <a:buNone/>
            </a:pPr>
            <a:r>
              <a:rPr lang="zh-CN" altLang="en-US" sz="1800" dirty="0"/>
              <a:t>其实就是这个原因。</a:t>
            </a:r>
          </a:p>
          <a:p>
            <a:pPr marL="0" indent="0">
              <a:buNone/>
            </a:pPr>
            <a:r>
              <a:rPr lang="zh-CN" altLang="en-US" sz="1800" dirty="0"/>
              <a:t>因为人只会听群体的，不会听一个已经确认是安全环境下的人的话的。</a:t>
            </a:r>
          </a:p>
          <a:p>
            <a:pPr marL="0" indent="0">
              <a:buNone/>
            </a:pPr>
            <a:r>
              <a:rPr lang="zh-CN" altLang="en-US" sz="1800" dirty="0"/>
              <a:t>请记住，任何的社群生物，他都只会听从那个不安全环境下群体的话。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17100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EEA2-1726-44EB-37CE-24B2F5BF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5A53B-F16F-A4B5-5791-ED3BF6F3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AA319-B42F-1272-F357-507B15C2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你父母给孩子爱，爱得越多，越容易娇生惯养。</a:t>
            </a:r>
          </a:p>
          <a:p>
            <a:pPr marL="0" indent="0">
              <a:buNone/>
            </a:pPr>
            <a:r>
              <a:rPr lang="zh-CN" altLang="en-US" dirty="0"/>
              <a:t>道德经讲，反者道之动，弱者道之用。</a:t>
            </a:r>
          </a:p>
          <a:p>
            <a:pPr marL="0" indent="0">
              <a:buNone/>
            </a:pPr>
            <a:r>
              <a:rPr lang="zh-CN" altLang="en-US" dirty="0"/>
              <a:t>任何事物都是向其反方向发展的。</a:t>
            </a:r>
          </a:p>
          <a:p>
            <a:pPr marL="0" indent="0">
              <a:buNone/>
            </a:pPr>
            <a:r>
              <a:rPr lang="zh-CN" altLang="en-US" dirty="0"/>
              <a:t>你给孩子爱，只要一过度，那么他就会朝着反方向发展。</a:t>
            </a:r>
          </a:p>
          <a:p>
            <a:pPr marL="0" indent="0">
              <a:buNone/>
            </a:pPr>
            <a:r>
              <a:rPr lang="zh-CN" altLang="en-US" dirty="0"/>
              <a:t>古代就有恩生于害，害生于恩的老话。</a:t>
            </a:r>
          </a:p>
          <a:p>
            <a:pPr marL="0" indent="0">
              <a:buNone/>
            </a:pPr>
            <a:r>
              <a:rPr lang="zh-CN" altLang="en-US" dirty="0"/>
              <a:t>所以我们家长一定要懂这里的道理，一定要看清网络上说的，给孩子爱，孩子的爱不够，要完全接纳孩子，这类的谎言。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134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9177-37D5-90A6-EC1A-946CA906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C51C-D4D7-FD3D-2639-0D33BF9B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F3C73-F789-327A-E144-E3556A37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0250"/>
            <a:ext cx="11155680" cy="43456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原生家庭的概念，它是一个不严谨不专业的词，在世界任何一本大学教材中都不存在。</a:t>
            </a:r>
          </a:p>
          <a:p>
            <a:pPr marL="0" indent="0">
              <a:buNone/>
            </a:pPr>
            <a:r>
              <a:rPr lang="zh-CN" altLang="en-US" dirty="0"/>
              <a:t>其实网络上流传的原生家庭概念，实际是指父母对待孩子的教养方式。</a:t>
            </a:r>
          </a:p>
          <a:p>
            <a:pPr marL="0" indent="0">
              <a:buNone/>
            </a:pPr>
            <a:r>
              <a:rPr lang="zh-CN" altLang="en-US" dirty="0"/>
              <a:t>当然后来又混合杂糅了家庭经济条件都乱七八糟的东西。</a:t>
            </a:r>
          </a:p>
          <a:p>
            <a:pPr marL="0" indent="0">
              <a:buNone/>
            </a:pPr>
            <a:r>
              <a:rPr lang="zh-CN" altLang="en-US" dirty="0"/>
              <a:t>实际上父母的教养方式，并不是我们必须刻意要关注的东西。</a:t>
            </a:r>
          </a:p>
          <a:p>
            <a:pPr marL="0" indent="0">
              <a:buNone/>
            </a:pPr>
            <a:r>
              <a:rPr lang="zh-CN" altLang="en-US" dirty="0"/>
              <a:t>什么意思呢？</a:t>
            </a:r>
          </a:p>
          <a:p>
            <a:pPr marL="0" indent="0">
              <a:buNone/>
            </a:pPr>
            <a:r>
              <a:rPr lang="zh-CN" altLang="en-US" dirty="0"/>
              <a:t>就是说，父母是采取打骂，还是温柔对待，都不是关键问题。</a:t>
            </a:r>
          </a:p>
          <a:p>
            <a:pPr marL="0" indent="0">
              <a:buNone/>
            </a:pPr>
            <a:r>
              <a:rPr lang="zh-CN" altLang="en-US" dirty="0"/>
              <a:t>这些形式不决定孩子一定会有所改变，或将来会按照你设想的方向发展。</a:t>
            </a:r>
          </a:p>
          <a:p>
            <a:pPr marL="0" indent="0">
              <a:buNone/>
            </a:pPr>
            <a:r>
              <a:rPr lang="zh-CN" altLang="en-US" dirty="0"/>
              <a:t>因为关键决定因素不是这些，而是另一个东西。</a:t>
            </a:r>
          </a:p>
          <a:p>
            <a:pPr marL="0" indent="0">
              <a:buNone/>
            </a:pPr>
            <a:r>
              <a:rPr lang="zh-CN" altLang="en-US" dirty="0"/>
              <a:t>这个东西，叫作社会环境影响。</a:t>
            </a:r>
          </a:p>
        </p:txBody>
      </p:sp>
    </p:spTree>
    <p:extLst>
      <p:ext uri="{BB962C8B-B14F-4D97-AF65-F5344CB8AC3E}">
        <p14:creationId xmlns:p14="http://schemas.microsoft.com/office/powerpoint/2010/main" val="2390253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6CEE7-6DEE-802E-9EB8-874101F5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1E4F8-725F-2E33-C2EA-0F24968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71651"/>
            <a:ext cx="11155680" cy="45742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我来给大家讲一些正规、严谨、科学、靠谱的教育和心理学知识。大家在网上是看不到的。网上</a:t>
            </a:r>
            <a:r>
              <a:rPr lang="en-US" altLang="zh-CN" dirty="0"/>
              <a:t>99%</a:t>
            </a:r>
            <a:r>
              <a:rPr lang="zh-CN" altLang="en-US" dirty="0"/>
              <a:t>都是假的。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上个世纪</a:t>
            </a:r>
            <a:r>
              <a:rPr lang="en-US" altLang="zh-CN" dirty="0"/>
              <a:t>60</a:t>
            </a:r>
            <a:r>
              <a:rPr lang="zh-CN" altLang="en-US" dirty="0"/>
              <a:t>年代，由于二战结束，世界各地产生了大量的孤儿。因此研究人员就有机会获得了大量的现成的实验样本。</a:t>
            </a:r>
          </a:p>
          <a:p>
            <a:pPr marL="0" indent="0">
              <a:buNone/>
            </a:pPr>
            <a:r>
              <a:rPr lang="zh-CN" altLang="en-US" dirty="0"/>
              <a:t>这些由战争产生的遗孤，有很多都是双胞胎，其中有不少同卵双胞胎。研究人员就研究观察这此孩子，看看这些孩子的成长到底是由什么因素影响。</a:t>
            </a:r>
          </a:p>
          <a:p>
            <a:pPr marL="0" indent="0">
              <a:buNone/>
            </a:pPr>
            <a:r>
              <a:rPr lang="zh-CN" altLang="en-US" dirty="0"/>
              <a:t>这些孩子数量巨大，有上百万之众，样本数量足够说明问题。这些孩子被分别寄养到不同的家庭中。数十年过去了，最终研究人员得出了惊人的结论。</a:t>
            </a:r>
          </a:p>
          <a:p>
            <a:pPr marL="0" indent="0">
              <a:buNone/>
            </a:pPr>
            <a:r>
              <a:rPr lang="zh-CN" altLang="en-US" dirty="0"/>
              <a:t>一个人，受到哪些因素影响呢？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一个是遗传基因，占</a:t>
            </a:r>
            <a:r>
              <a:rPr lang="en-US" altLang="zh-CN" dirty="0"/>
              <a:t>60%</a:t>
            </a:r>
            <a:r>
              <a:rPr lang="zh-CN" altLang="en-US" dirty="0"/>
              <a:t>，年纪大了后甚至占</a:t>
            </a:r>
            <a:r>
              <a:rPr lang="en-US" altLang="zh-CN" dirty="0"/>
              <a:t>80%</a:t>
            </a:r>
            <a:r>
              <a:rPr lang="zh-CN" altLang="en-US" dirty="0"/>
              <a:t>以上。二个是环境影响，占</a:t>
            </a:r>
            <a:r>
              <a:rPr lang="en-US" altLang="zh-CN" dirty="0"/>
              <a:t>35%</a:t>
            </a:r>
            <a:r>
              <a:rPr lang="zh-CN" altLang="en-US" dirty="0"/>
              <a:t>。剩下不到</a:t>
            </a:r>
            <a:r>
              <a:rPr lang="en-US" altLang="zh-CN" dirty="0"/>
              <a:t>5%</a:t>
            </a:r>
            <a:r>
              <a:rPr lang="zh-CN" altLang="en-US" dirty="0"/>
              <a:t>，是其他影响。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198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217-8C65-5EEE-CDB0-34BF9987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F6739-EB1B-2D28-BF5C-AF11FC58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E7B50-E775-E8D6-4912-2E2A1725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即便是同卵双胞胎，在分别放到不同的家庭中，最后也会表现出非常相似非常接近的习惯和行为。</a:t>
            </a:r>
          </a:p>
          <a:p>
            <a:pPr marL="0" indent="0">
              <a:buNone/>
            </a:pPr>
            <a:r>
              <a:rPr lang="zh-CN" altLang="en-US" dirty="0"/>
              <a:t>大家可以去网上查资料，这是真实的科学实验，全世界都有报道过。大家也可以去看一本书</a:t>
            </a:r>
            <a:r>
              <a:rPr lang="en-US" altLang="zh-CN" dirty="0"/>
              <a:t>《</a:t>
            </a:r>
            <a:r>
              <a:rPr lang="zh-CN" altLang="en-US" dirty="0"/>
              <a:t>基因蓝图</a:t>
            </a:r>
            <a:r>
              <a:rPr lang="en-US" altLang="zh-CN" dirty="0"/>
              <a:t>》</a:t>
            </a:r>
            <a:r>
              <a:rPr lang="zh-CN" altLang="en-US" dirty="0"/>
              <a:t>，里面写得非常清楚。</a:t>
            </a:r>
          </a:p>
          <a:p>
            <a:pPr marL="0" indent="0">
              <a:buNone/>
            </a:pPr>
            <a:r>
              <a:rPr lang="zh-CN" altLang="en-US" dirty="0"/>
              <a:t>这里面已经澄清家庭教养方式对孩子来说并不存在决定性。</a:t>
            </a:r>
          </a:p>
          <a:p>
            <a:pPr marL="0" indent="0">
              <a:buNone/>
            </a:pPr>
            <a:r>
              <a:rPr lang="zh-CN" altLang="en-US" dirty="0"/>
              <a:t>前面说的，除了基因影响之外，环境影响主要是指家庭外的社会环境影响。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（即便是家庭条件的好坏，也不是必然，庞众望）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453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1147-9D0F-8A46-5EA7-0D4B9309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AD1D1-61AA-88B9-9D16-D66A1A43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A4D9A-A5A3-6676-3199-06DB2DCD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**家庭的历史变迁**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在农耕时代，我们是生活在一个什么环境中的呢？</a:t>
            </a:r>
          </a:p>
          <a:p>
            <a:pPr marL="0" indent="0">
              <a:buNone/>
            </a:pPr>
            <a:r>
              <a:rPr lang="zh-CN" altLang="en-US" dirty="0"/>
              <a:t>七大姑八大姨，汉语中有非常多的亲戚的称呼，就说明我们生活在一个大的家族体系中。</a:t>
            </a:r>
          </a:p>
          <a:p>
            <a:pPr marL="0" indent="0">
              <a:buNone/>
            </a:pPr>
            <a:r>
              <a:rPr lang="zh-CN" altLang="en-US" dirty="0"/>
              <a:t>即便你家的亲戚不多，大家也生活在一个村里，八竿子打不着的远房亲戚多少也有几个。</a:t>
            </a:r>
          </a:p>
          <a:p>
            <a:pPr marL="0" indent="0">
              <a:buNone/>
            </a:pPr>
            <a:r>
              <a:rPr lang="zh-CN" altLang="en-US" dirty="0"/>
              <a:t>这种家族式的群居生活，是源自农业耕作需要，因为人多力量大嘛！</a:t>
            </a:r>
          </a:p>
          <a:p>
            <a:pPr marL="0" indent="0">
              <a:buNone/>
            </a:pPr>
            <a:r>
              <a:rPr lang="zh-CN" altLang="en-US" dirty="0"/>
              <a:t>大家都团结在一起，除此之外，还有祖坟、祠堂、家谱等等。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范仲淹创立的家族田地制度以“范氏义庄”。</a:t>
            </a:r>
          </a:p>
          <a:p>
            <a:pPr marL="0" indent="0">
              <a:buNone/>
            </a:pPr>
            <a:r>
              <a:rPr lang="zh-CN" altLang="en-US" dirty="0"/>
              <a:t>以前的孩子们，就是在这样的环境中成长起来的。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775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C410-38A1-B7E4-9198-8B09CE81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2359-2C55-8EEF-49AD-C9715B86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9F286-7A05-FEBB-BF1F-3C56AB38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好，接下来到了上个世纪</a:t>
            </a:r>
            <a:r>
              <a:rPr lang="en-US" altLang="zh-CN" dirty="0"/>
              <a:t>80</a:t>
            </a:r>
            <a:r>
              <a:rPr lang="zh-CN" altLang="en-US" dirty="0"/>
              <a:t>年代之前。</a:t>
            </a:r>
          </a:p>
          <a:p>
            <a:pPr marL="0" indent="0">
              <a:buNone/>
            </a:pPr>
            <a:r>
              <a:rPr lang="zh-CN" altLang="en-US" dirty="0"/>
              <a:t>当时的生活环境是怎么样的呢？</a:t>
            </a:r>
          </a:p>
          <a:p>
            <a:pPr marL="0" indent="0">
              <a:buNone/>
            </a:pPr>
            <a:r>
              <a:rPr lang="zh-CN" altLang="en-US" dirty="0"/>
              <a:t>首先想到的是，家属院，厂办学校，厂办医院，厂办食堂。</a:t>
            </a:r>
          </a:p>
          <a:p>
            <a:pPr marL="0" indent="0">
              <a:buNone/>
            </a:pPr>
            <a:r>
              <a:rPr lang="zh-CN" altLang="en-US" dirty="0"/>
              <a:t>大家都生活在一个集体中。什么都是公家的，自己也是公家的人。</a:t>
            </a:r>
          </a:p>
          <a:p>
            <a:pPr marL="0" indent="0">
              <a:buNone/>
            </a:pPr>
            <a:r>
              <a:rPr lang="zh-CN" altLang="en-US" dirty="0"/>
              <a:t>所以说那一辈子爱占小便宜，其实并不是品行不好，而是他们习惯了生活在公家这种环境中。</a:t>
            </a:r>
          </a:p>
          <a:p>
            <a:pPr marL="0" indent="0">
              <a:buNone/>
            </a:pPr>
            <a:r>
              <a:rPr lang="zh-CN" altLang="en-US" dirty="0"/>
              <a:t>谁会说，拿自已家里的东西还不好意思的呢？</a:t>
            </a:r>
          </a:p>
          <a:p>
            <a:pPr marL="0" indent="0">
              <a:buNone/>
            </a:pPr>
            <a:r>
              <a:rPr lang="zh-CN" altLang="en-US" dirty="0"/>
              <a:t>这是那时候养成的习惯，因为就没有个人私人的概念。</a:t>
            </a:r>
          </a:p>
          <a:p>
            <a:pPr marL="0" indent="0">
              <a:buNone/>
            </a:pPr>
            <a:r>
              <a:rPr lang="zh-CN" altLang="en-US" dirty="0"/>
              <a:t>当时的孩子们，就生活在这样的环境中，长辈们可能都是同事或领导，小伙伴们可能都是周围差不多都是一个单位组织的孩子。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955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C398-1315-DF2D-35EE-E5511A18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CBE0A-855C-EC55-9A69-37DDAC0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E65FB-183F-1676-8591-2EEC11A7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好，现在到了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72</a:t>
            </a:r>
            <a:r>
              <a:rPr lang="zh-CN" altLang="en-US" dirty="0"/>
              <a:t>年尼克松访华，</a:t>
            </a:r>
            <a:r>
              <a:rPr lang="en-US" altLang="zh-CN" dirty="0"/>
              <a:t>79</a:t>
            </a:r>
            <a:r>
              <a:rPr lang="zh-CN" altLang="en-US" dirty="0"/>
              <a:t>年中美正式建交。中美蜜月期，关系好得跟穿一条裤子似的。</a:t>
            </a:r>
          </a:p>
          <a:p>
            <a:pPr marL="0" indent="0">
              <a:buNone/>
            </a:pPr>
            <a:r>
              <a:rPr lang="zh-CN" altLang="en-US" dirty="0"/>
              <a:t>好到什么程度呢？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美国把当时最好的武器都开放售卖给了中国。当然，它是为了联合中国去对付苏联。当时的越南一看情况有变，你个浓眉大眼的中国也叛变西方帝国主义了，就开始挑事。邓公当时说，小朋友不听话，就要打屁股，于是就和美国打了招呼，说我要开始教训小朋友了。于是越战爆发，时间点就是</a:t>
            </a:r>
            <a:r>
              <a:rPr lang="en-US" altLang="zh-CN" dirty="0"/>
              <a:t>80</a:t>
            </a:r>
            <a:r>
              <a:rPr lang="zh-CN" altLang="en-US" dirty="0"/>
              <a:t>年代。当然这些都是政治话题，我们不多说。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550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644A-34BB-DEE4-DE22-01761047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2653F-979B-1CF5-187E-30A7E17A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296AF-BF38-7C2E-537D-5E0A003CE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我们只说，中美关系当时是非常好的，美国也用最大的力量帮助中国发展经济。</a:t>
            </a:r>
          </a:p>
          <a:p>
            <a:pPr marL="0" indent="0">
              <a:buNone/>
            </a:pPr>
            <a:r>
              <a:rPr lang="zh-CN" altLang="en-US" dirty="0"/>
              <a:t>于是中国的经济开始飞速发展了，但同时西方的部分思潮也跟着进来了。当时就面临着国有企业转型的问题，大量的国有资产转成了私营。</a:t>
            </a:r>
            <a:r>
              <a:rPr lang="en-US" altLang="zh-CN" dirty="0"/>
              <a:t>94</a:t>
            </a:r>
            <a:r>
              <a:rPr lang="zh-CN" altLang="en-US" dirty="0"/>
              <a:t>年国家出台的分税制改革，让地方政府出现了财政上的困难。</a:t>
            </a:r>
          </a:p>
          <a:p>
            <a:pPr marL="0" indent="0">
              <a:buNone/>
            </a:pPr>
            <a:r>
              <a:rPr lang="zh-CN" altLang="en-US" dirty="0"/>
              <a:t>各种状况频频出现，导致了全国性的大下岗。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到了</a:t>
            </a:r>
            <a:r>
              <a:rPr lang="en-US" altLang="zh-CN" dirty="0"/>
              <a:t>90</a:t>
            </a:r>
            <a:r>
              <a:rPr lang="zh-CN" altLang="en-US" dirty="0"/>
              <a:t>年代末期，已经有很多工人失业。</a:t>
            </a:r>
          </a:p>
          <a:p>
            <a:pPr marL="0" indent="0">
              <a:buNone/>
            </a:pPr>
            <a:r>
              <a:rPr lang="zh-CN" altLang="en-US" dirty="0"/>
              <a:t>失业到什么程度呢？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据说广东和四川多了很多洗脚城。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855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F347-B00B-C510-9BE4-D004D8E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D3D3-73DA-451B-4BDF-C06E7386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01C4B-A8DF-D358-0FD4-1D12CA98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当时，在</a:t>
            </a:r>
            <a:r>
              <a:rPr lang="en-US" altLang="zh-CN" dirty="0"/>
              <a:t>90</a:t>
            </a:r>
            <a:r>
              <a:rPr lang="zh-CN" altLang="en-US" dirty="0"/>
              <a:t>年代初，大概</a:t>
            </a:r>
            <a:r>
              <a:rPr lang="en-US" altLang="zh-CN" dirty="0"/>
              <a:t>91</a:t>
            </a:r>
            <a:r>
              <a:rPr lang="zh-CN" altLang="en-US" dirty="0"/>
              <a:t>年还是</a:t>
            </a:r>
            <a:r>
              <a:rPr lang="en-US" altLang="zh-CN" dirty="0"/>
              <a:t>92</a:t>
            </a:r>
            <a:r>
              <a:rPr lang="zh-CN" altLang="en-US" dirty="0"/>
              <a:t>年，曾仕强曾预言中国将来会成为世界第二大经济体，科技水平会超过西方，压根就没人信。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直到</a:t>
            </a:r>
            <a:r>
              <a:rPr lang="en-US" altLang="zh-CN" dirty="0"/>
              <a:t>2000</a:t>
            </a:r>
            <a:r>
              <a:rPr lang="zh-CN" altLang="en-US" dirty="0"/>
              <a:t>年初，发生了根本性的改变。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当时中国加入了</a:t>
            </a:r>
            <a:r>
              <a:rPr lang="en-US" altLang="zh-CN" dirty="0"/>
              <a:t>WTO</a:t>
            </a:r>
            <a:r>
              <a:rPr lang="zh-CN" altLang="en-US" dirty="0"/>
              <a:t>，并且还有一个重要因素，就是网络的兴起。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大量的农民工进城。进城干什么呢？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当然是打工赚钱了！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随着房地产开发以及经济的恢复，城市建设起来了，大家的日子也慢慢好起来了。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31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BC09-F0DD-360B-8A19-9353D5E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3166-9D97-5873-B961-106C8E32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1B5FE-225D-2F08-596A-5A16C009B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好，说了这么说，大家发现没有。 </a:t>
            </a:r>
          </a:p>
          <a:p>
            <a:pPr marL="0" indent="0">
              <a:buNone/>
            </a:pPr>
            <a:r>
              <a:rPr lang="zh-CN" altLang="en-US" dirty="0"/>
              <a:t>孩子们生活的环境发生了怎样的变化呢？</a:t>
            </a:r>
          </a:p>
          <a:p>
            <a:pPr marL="0" indent="0">
              <a:buNone/>
            </a:pPr>
            <a:r>
              <a:rPr lang="zh-CN" altLang="en-US" dirty="0"/>
              <a:t>过去不管是家族式群居生活也好，还是公家国营集体生活也好，都已经不复存在了。</a:t>
            </a:r>
          </a:p>
          <a:p>
            <a:pPr marL="0" indent="0">
              <a:buNone/>
            </a:pPr>
            <a:r>
              <a:rPr lang="zh-CN" altLang="en-US" dirty="0"/>
              <a:t>取而代之的是，孩子们住在钢筋混凝土的楼房里，大量的留守儿童。</a:t>
            </a:r>
          </a:p>
          <a:p>
            <a:pPr marL="0" indent="0">
              <a:buNone/>
            </a:pPr>
            <a:r>
              <a:rPr lang="zh-CN" altLang="en-US" dirty="0"/>
              <a:t>以前的居住环境已经变成了各自独立生活。</a:t>
            </a:r>
          </a:p>
          <a:p>
            <a:pPr marL="0" indent="0">
              <a:buNone/>
            </a:pPr>
            <a:r>
              <a:rPr lang="zh-CN" altLang="en-US" dirty="0"/>
              <a:t>我们如果能够正确看待这段发展历史，就会立刻发现，过去传统的家庭环境早已土崩瓦解。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610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70EB-AE95-4D76-8053-420ED30D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80155-4F53-E2DE-EDF0-83A1B119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儿童青少年教育关键（九）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4A539-EB63-8B8A-46C7-874A12BB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8"/>
            <a:ext cx="11155680" cy="45028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现在一家三口人，爸爸妈妈孩子。</a:t>
            </a:r>
          </a:p>
          <a:p>
            <a:pPr marL="0" indent="0">
              <a:buNone/>
            </a:pPr>
            <a:r>
              <a:rPr lang="zh-CN" altLang="en-US" dirty="0"/>
              <a:t>开一亮，吃完早饭，爸爸到城东上班，妈妈到城西工作，孩子到城南上学。</a:t>
            </a:r>
          </a:p>
          <a:p>
            <a:pPr marL="0" indent="0">
              <a:buNone/>
            </a:pPr>
            <a:r>
              <a:rPr lang="zh-CN" altLang="en-US" dirty="0"/>
              <a:t>晚上很晚才能回到家。</a:t>
            </a:r>
          </a:p>
          <a:p>
            <a:pPr marL="0" indent="0">
              <a:buNone/>
            </a:pPr>
            <a:r>
              <a:rPr lang="zh-CN" altLang="en-US" dirty="0"/>
              <a:t>现在连一家人在一起吃个晚饭都可能是一件奢侈的事情，更别说要加班，还要补课，还要做其他的事情。</a:t>
            </a:r>
          </a:p>
          <a:p>
            <a:pPr marL="0" indent="0">
              <a:buNone/>
            </a:pPr>
            <a:r>
              <a:rPr lang="zh-CN" altLang="en-US" dirty="0"/>
              <a:t>请问，这是一个家吗？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关于婚恋纠纷问题的心理咨询，是紧紧排在心理咨询的第二位的，第一位的是儿童青少年心理问题。</a:t>
            </a:r>
          </a:p>
          <a:p>
            <a:pPr marL="0" indent="0">
              <a:buNone/>
            </a:pPr>
            <a:r>
              <a:rPr lang="zh-CN" altLang="en-US" dirty="0"/>
              <a:t>所以你说，为什么会这样？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811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A869-2166-1346-B558-3079F7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0AF07-937D-7518-BBE6-7A6E9DC4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1907-C60C-51C7-24C2-BCEE78EB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4525"/>
            <a:ext cx="11155680" cy="44314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随着工业文明的发展，资本主义通过解构传统的人的生活方式，导致了人与人之间是一种分裂式的生活方式。</a:t>
            </a:r>
          </a:p>
          <a:p>
            <a:pPr marL="0" indent="0">
              <a:buNone/>
            </a:pPr>
            <a:r>
              <a:rPr lang="zh-CN" altLang="en-US" dirty="0"/>
              <a:t>我们说的家庭，实质并不是过去的那种家庭。</a:t>
            </a:r>
          </a:p>
          <a:p>
            <a:pPr marL="0" indent="0">
              <a:buNone/>
            </a:pPr>
            <a:r>
              <a:rPr lang="zh-CN" altLang="en-US" dirty="0"/>
              <a:t>过去的家庭，也不是我们理解的由父母和孩子这么简单的组成。</a:t>
            </a:r>
          </a:p>
          <a:p>
            <a:pPr marL="0" indent="0">
              <a:buNone/>
            </a:pPr>
            <a:r>
              <a:rPr lang="zh-CN" altLang="en-US" dirty="0"/>
              <a:t>其本质，实际上反而是一种社会环境，即大家族，由很多人组成的。</a:t>
            </a:r>
          </a:p>
          <a:p>
            <a:pPr marL="0" indent="0">
              <a:buNone/>
            </a:pPr>
            <a:r>
              <a:rPr lang="zh-CN" altLang="en-US" dirty="0"/>
              <a:t>现在的家族充其量也就六个人组成，六个人能给孩子带来什么有效的影响呢？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707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1A6C-2FCD-0610-7596-56F7D6A0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983B1-520A-F982-D467-DDD0837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53229-6282-58C3-B58B-6F1D8827B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有人说了，我感觉家庭对孩子还是有影响的。</a:t>
            </a:r>
          </a:p>
          <a:p>
            <a:pPr marL="0" indent="0">
              <a:buNone/>
            </a:pPr>
            <a:r>
              <a:rPr lang="zh-CN" altLang="en-US" dirty="0"/>
              <a:t>其实你还是没有理解，孟母三迁，你想想是在说家庭父母对孩子的影响吗？</a:t>
            </a:r>
          </a:p>
          <a:p>
            <a:pPr marL="0" indent="0">
              <a:buNone/>
            </a:pPr>
            <a:r>
              <a:rPr lang="zh-CN" altLang="en-US" dirty="0"/>
              <a:t>那分明是在说环境对孩子的影响。</a:t>
            </a:r>
          </a:p>
          <a:p>
            <a:pPr marL="0" indent="0">
              <a:buNone/>
            </a:pPr>
            <a:r>
              <a:rPr lang="zh-CN" altLang="en-US" dirty="0"/>
              <a:t>过去就是家族这种小社会对孩子的影响。</a:t>
            </a:r>
          </a:p>
          <a:p>
            <a:pPr marL="0" indent="0">
              <a:buNone/>
            </a:pPr>
            <a:r>
              <a:rPr lang="zh-CN" altLang="en-US" dirty="0"/>
              <a:t>所以你就应该知道，什么家风、家教，那是过去那种环境下的东西，现在的小家庭，哪里来的什么家风家教？</a:t>
            </a:r>
          </a:p>
          <a:p>
            <a:pPr marL="0" indent="0">
              <a:buNone/>
            </a:pPr>
            <a:r>
              <a:rPr lang="zh-CN" altLang="en-US" dirty="0"/>
              <a:t>几个人对孩子的影响实在是太有限了。</a:t>
            </a:r>
          </a:p>
        </p:txBody>
      </p:sp>
    </p:spTree>
    <p:extLst>
      <p:ext uri="{BB962C8B-B14F-4D97-AF65-F5344CB8AC3E}">
        <p14:creationId xmlns:p14="http://schemas.microsoft.com/office/powerpoint/2010/main" val="35138119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12E6-3538-49C6-893B-A4C7A969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D9A9-ADEE-656C-0BE9-C938F7BA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</a:t>
            </a:r>
            <a:r>
              <a:rPr lang="zh-CN" altLang="en-US" sz="4400"/>
              <a:t>（十二）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026127-1329-BAD7-062A-FD21D26E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我们说，为什么孩子越大越不听话。</a:t>
            </a:r>
          </a:p>
          <a:p>
            <a:pPr marL="0" indent="0">
              <a:buNone/>
            </a:pPr>
            <a:r>
              <a:rPr lang="zh-CN" altLang="en-US" dirty="0"/>
              <a:t>其实就是家庭外部环境对孩子的影响，大过于家庭父母对他的影响。</a:t>
            </a:r>
          </a:p>
          <a:p>
            <a:pPr marL="0" indent="0">
              <a:buNone/>
            </a:pPr>
            <a:r>
              <a:rPr lang="zh-CN" altLang="en-US" dirty="0"/>
              <a:t>一个人，他对社会群体的认同，始终是要大大大过父母对他的影响的，这是铁律。</a:t>
            </a:r>
          </a:p>
          <a:p>
            <a:pPr marL="0" indent="0">
              <a:buNone/>
            </a:pPr>
            <a:r>
              <a:rPr lang="zh-CN" altLang="en-US" dirty="0"/>
              <a:t>如果你还看不懂这一点，还在抱着原生家庭那套假冒伪劣，那么你是看不懂，也搞不好孩子的教育问题的。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6465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5397</Words>
  <Application>Microsoft Office PowerPoint</Application>
  <PresentationFormat>宽屏</PresentationFormat>
  <Paragraphs>340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8" baseType="lpstr">
      <vt:lpstr>微软雅黑</vt:lpstr>
      <vt:lpstr>Arial</vt:lpstr>
      <vt:lpstr>Bierstadt</vt:lpstr>
      <vt:lpstr>Open Sans</vt:lpstr>
      <vt:lpstr>GestaltVTI</vt:lpstr>
      <vt:lpstr>AI时代父母公开课</vt:lpstr>
      <vt:lpstr>培养孩子是面向未来，而非面向现在（一）</vt:lpstr>
      <vt:lpstr>第三代儿童教育就是面向未来的教育（一）</vt:lpstr>
      <vt:lpstr>第三代儿童教育就是面向未来的教育（二）</vt:lpstr>
      <vt:lpstr>第三代儿童教育就是面向未来的教育（三）</vt:lpstr>
      <vt:lpstr>第三代儿童教育就是面向未来的教育（四）</vt:lpstr>
      <vt:lpstr>第三代儿童教育就是面向未来的教育（五）</vt:lpstr>
      <vt:lpstr>第三代儿童教育就是面向未来的教育（六）</vt:lpstr>
      <vt:lpstr>第三代儿童教育就是面向未来的教育（七）</vt:lpstr>
      <vt:lpstr>第三代儿童教育就是面向未来的教育（八）</vt:lpstr>
      <vt:lpstr>第三代儿童教育就是面向未来的教育（9）</vt:lpstr>
      <vt:lpstr>第三代儿童教育就是面向未来的教育（10）</vt:lpstr>
      <vt:lpstr>第三代儿童教育就是面向未来的教育（11）</vt:lpstr>
      <vt:lpstr>第三代儿童教育就是面向未来的教育（12）</vt:lpstr>
      <vt:lpstr>现代心理学的历史发展脉络（二）</vt:lpstr>
      <vt:lpstr>现代心理学的历史发展脉络（三）</vt:lpstr>
      <vt:lpstr>现代心理学的历史发展脉络（四）</vt:lpstr>
      <vt:lpstr>教育历史变化及当下教育真相（一）</vt:lpstr>
      <vt:lpstr>教育历史变化及当下教育真相（二）</vt:lpstr>
      <vt:lpstr>教育历史变化及当下教育真相（三）</vt:lpstr>
      <vt:lpstr>教育历史变化及当下教育真相（四）</vt:lpstr>
      <vt:lpstr>教育历史变化及当下教育真相（五）</vt:lpstr>
      <vt:lpstr>教育历史变化及当下教育真相（六）</vt:lpstr>
      <vt:lpstr>教育历史变化及当下教育真相（七）</vt:lpstr>
      <vt:lpstr>教育历史变化及当下教育真相（八）</vt:lpstr>
      <vt:lpstr>教育历史变化及当下教育真相（九）</vt:lpstr>
      <vt:lpstr>爱和原生家庭之谬误（一）</vt:lpstr>
      <vt:lpstr>爱和原生家庭之谬误（二）</vt:lpstr>
      <vt:lpstr>爱和原生家庭之谬误（三）</vt:lpstr>
      <vt:lpstr>爱和原生家庭之谬误（四）</vt:lpstr>
      <vt:lpstr>爱和原生家庭之谬误（五）</vt:lpstr>
      <vt:lpstr>儿童青少年教育关键（一）</vt:lpstr>
      <vt:lpstr>儿童青少年教育关键（二）</vt:lpstr>
      <vt:lpstr>儿童青少年教育关键（三）</vt:lpstr>
      <vt:lpstr>儿童青少年教育关键（四）</vt:lpstr>
      <vt:lpstr>儿童青少年教育关键（五）</vt:lpstr>
      <vt:lpstr>儿童青少年教育关键（六）</vt:lpstr>
      <vt:lpstr>儿童青少年教育关键（七）</vt:lpstr>
      <vt:lpstr>儿童青少年教育关键（八）</vt:lpstr>
      <vt:lpstr>儿童青少年教育关键（九）</vt:lpstr>
      <vt:lpstr>儿童青少年教育关键（十）</vt:lpstr>
      <vt:lpstr>儿童青少年教育关键（十一）</vt:lpstr>
      <vt:lpstr>儿童青少年教育关键（十二）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109</cp:revision>
  <dcterms:created xsi:type="dcterms:W3CDTF">2025-09-26T07:10:55Z</dcterms:created>
  <dcterms:modified xsi:type="dcterms:W3CDTF">2026-02-26T07:29:45Z</dcterms:modified>
</cp:coreProperties>
</file>