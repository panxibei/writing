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355" r:id="rId4"/>
    <p:sldId id="356" r:id="rId5"/>
    <p:sldId id="293" r:id="rId6"/>
    <p:sldId id="294" r:id="rId7"/>
    <p:sldId id="295" r:id="rId8"/>
    <p:sldId id="297" r:id="rId9"/>
    <p:sldId id="296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7" r:id="rId18"/>
    <p:sldId id="308" r:id="rId19"/>
    <p:sldId id="309" r:id="rId20"/>
    <p:sldId id="310" r:id="rId21"/>
    <p:sldId id="353" r:id="rId22"/>
    <p:sldId id="354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2" r:id="rId54"/>
    <p:sldId id="343" r:id="rId55"/>
    <p:sldId id="344" r:id="rId56"/>
    <p:sldId id="345" r:id="rId57"/>
    <p:sldId id="346" r:id="rId58"/>
    <p:sldId id="347" r:id="rId59"/>
    <p:sldId id="348" r:id="rId60"/>
    <p:sldId id="349" r:id="rId61"/>
    <p:sldId id="350" r:id="rId62"/>
    <p:sldId id="351" r:id="rId63"/>
    <p:sldId id="352" r:id="rId64"/>
    <p:sldId id="292" r:id="rId6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26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b"/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280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0553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8767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0444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127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85692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885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917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4442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6371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49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lIns="109728" tIns="109728" rIns="109728" bIns="91440"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lIns="109728" tIns="109728" rIns="109728" bIns="9144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l">
              <a:defRPr sz="1000" spc="18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lIns="109728" tIns="109728" rIns="109728" bIns="9144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232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b="1" kern="1200" spc="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5000"/>
        </a:lnSpc>
        <a:spcBef>
          <a:spcPts val="1000"/>
        </a:spcBef>
        <a:buFont typeface="Arial" panose="020B0604020202020204" pitchFamily="34" charset="0"/>
        <a:buChar char="•"/>
        <a:defRPr sz="2000" kern="1200" spc="16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800" kern="1200" spc="16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5000"/>
        </a:lnSpc>
        <a:spcBef>
          <a:spcPts val="500"/>
        </a:spcBef>
        <a:buFont typeface="Arial" panose="020B0604020202020204" pitchFamily="34" charset="0"/>
        <a:buChar char="•"/>
        <a:defRPr sz="1600" kern="1200" spc="16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EECA69B-4C2A-7F31-8019-E90DB3BD49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pic>
        <p:nvPicPr>
          <p:cNvPr id="4" name="Picture 3" descr="抽象遗传概念">
            <a:extLst>
              <a:ext uri="{FF2B5EF4-FFF2-40B4-BE49-F238E27FC236}">
                <a16:creationId xmlns:a16="http://schemas.microsoft.com/office/drawing/2014/main" id="{99060100-A8AA-6674-2EEF-E313A8EA5A0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657" b="1109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857DEAC1-B3AA-6569-0A44-A191DF2F3C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7840"/>
            <a:ext cx="12191999" cy="12801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rstadt"/>
              <a:ea typeface="+mn-ea"/>
              <a:cs typeface="+mn-cs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62077292-5498-36F7-C035-FCC8AE3838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39" y="5739969"/>
            <a:ext cx="1112266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lang="en-US" altLang="zh-CN" sz="5400" dirty="0"/>
              <a:t>AI</a:t>
            </a:r>
            <a:r>
              <a:rPr lang="zh-CN" altLang="en-US" sz="5400" dirty="0"/>
              <a:t>时代高智慧家长私教课第一季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673B8A1-D398-BE75-6533-FFFB3C95EA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94375" y="5739969"/>
            <a:ext cx="3355309" cy="960120"/>
          </a:xfrm>
        </p:spPr>
        <p:txBody>
          <a:bodyPr anchor="ctr">
            <a:normAutofit fontScale="92500" lnSpcReduction="10000"/>
          </a:bodyPr>
          <a:lstStyle/>
          <a:p>
            <a:pPr algn="r"/>
            <a:r>
              <a:rPr lang="zh-CN" altLang="en-US" sz="1900" dirty="0"/>
              <a:t>浥尘伙伴社团</a:t>
            </a:r>
            <a:endParaRPr lang="en-US" altLang="zh-CN" sz="1900" dirty="0"/>
          </a:p>
          <a:p>
            <a:pPr algn="r"/>
            <a:r>
              <a:rPr lang="en-US" altLang="zh-CN" sz="1900" dirty="0"/>
              <a:t>2026</a:t>
            </a:r>
            <a:r>
              <a:rPr lang="zh-CN" altLang="en-US" sz="1900" dirty="0"/>
              <a:t>年</a:t>
            </a:r>
            <a:r>
              <a:rPr lang="en-US" altLang="zh-CN" sz="1900" dirty="0"/>
              <a:t>3</a:t>
            </a:r>
            <a:r>
              <a:rPr lang="zh-CN" altLang="en-US" sz="1900" dirty="0"/>
              <a:t>月</a:t>
            </a:r>
          </a:p>
        </p:txBody>
      </p:sp>
    </p:spTree>
    <p:extLst>
      <p:ext uri="{BB962C8B-B14F-4D97-AF65-F5344CB8AC3E}">
        <p14:creationId xmlns:p14="http://schemas.microsoft.com/office/powerpoint/2010/main" val="2289282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1E1E6-6BB0-22D9-BC45-494D62AE4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zh-CN" altLang="en-US" sz="4400" dirty="0"/>
              <a:t>教育面向未来，而非面向现在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C68CB0-C8C5-260C-C325-BE4AA61114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59000"/>
            <a:ext cx="11155680" cy="41869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未来多久？至少</a:t>
            </a:r>
            <a:r>
              <a:rPr lang="en-US" altLang="zh-CN" dirty="0"/>
              <a:t>10</a:t>
            </a:r>
            <a:r>
              <a:rPr lang="zh-CN" altLang="en-US" dirty="0"/>
              <a:t>年以上。本科</a:t>
            </a:r>
            <a:r>
              <a:rPr lang="en-US" altLang="zh-CN" dirty="0"/>
              <a:t>4</a:t>
            </a:r>
            <a:r>
              <a:rPr lang="zh-CN" altLang="en-US" dirty="0"/>
              <a:t>年，研究生</a:t>
            </a:r>
            <a:r>
              <a:rPr lang="en-US" altLang="zh-CN" dirty="0"/>
              <a:t>3</a:t>
            </a:r>
            <a:r>
              <a:rPr lang="zh-CN" altLang="en-US" dirty="0"/>
              <a:t>年，工作</a:t>
            </a:r>
            <a:r>
              <a:rPr lang="en-US" altLang="zh-CN" dirty="0"/>
              <a:t>3</a:t>
            </a:r>
            <a:r>
              <a:rPr lang="zh-CN" altLang="en-US" dirty="0"/>
              <a:t>年。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据说现在考公务员，要研究生学历，并且还要有至少两年以上的工作经历才能报考。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856905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04B3B-C3EB-BC73-67AF-B4FCE663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139ED7-4F75-9DD3-D417-A3CE2FEBE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zh-CN" altLang="en-US" sz="4400" dirty="0"/>
              <a:t>职业方向定位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E9677FE-B023-B2A5-3A25-FDA1305773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59000"/>
            <a:ext cx="11155680" cy="41869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美国，学了理科，或者说计算机专业，搞</a:t>
            </a:r>
            <a:r>
              <a:rPr lang="en-US" altLang="zh-CN" dirty="0"/>
              <a:t>AI</a:t>
            </a:r>
            <a:r>
              <a:rPr lang="zh-CN" altLang="en-US" dirty="0"/>
              <a:t>的，在毕业之后就没有工作了。</a:t>
            </a:r>
          </a:p>
          <a:p>
            <a:pPr marL="0" indent="0">
              <a:buNone/>
            </a:pPr>
            <a:r>
              <a:rPr lang="zh-CN" altLang="en-US" dirty="0"/>
              <a:t>在</a:t>
            </a:r>
            <a:r>
              <a:rPr lang="en-US" altLang="zh-CN" dirty="0"/>
              <a:t>30</a:t>
            </a:r>
            <a:r>
              <a:rPr lang="zh-CN" altLang="en-US" dirty="0"/>
              <a:t>岁左右就要对专业方向或者说职业发展方向，要有一个清晰的定位。</a:t>
            </a:r>
          </a:p>
          <a:p>
            <a:pPr marL="0" indent="0">
              <a:buNone/>
            </a:pPr>
            <a:r>
              <a:rPr lang="zh-CN" altLang="en-US" dirty="0"/>
              <a:t>因为现在这个时代，专业方向是非常固化的，想要跨专业、跨领域是几乎不可能的事。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8893778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24328-C25F-1E24-C8DA-90E935F7CF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95D723-B020-6815-7DD3-FCEF92E3C9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zh-CN" altLang="en-US" sz="4400" dirty="0"/>
              <a:t>教育改革密集进行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8FF81C-E2B8-B9D6-2AD8-CB39D54CA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159000"/>
            <a:ext cx="11155680" cy="41869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教育部，有一个很重要的改革</a:t>
            </a:r>
          </a:p>
          <a:p>
            <a:pPr marL="0" indent="0">
              <a:buNone/>
            </a:pPr>
            <a:r>
              <a:rPr lang="zh-CN" altLang="en-US" dirty="0"/>
              <a:t>就改革不是新建了多少大学，而是说是要在全国建</a:t>
            </a:r>
            <a:r>
              <a:rPr lang="en-US" altLang="zh-CN" dirty="0"/>
              <a:t>9000</a:t>
            </a:r>
            <a:r>
              <a:rPr lang="zh-CN" altLang="en-US" dirty="0"/>
              <a:t>所，两年建成</a:t>
            </a:r>
            <a:r>
              <a:rPr lang="en-US" altLang="zh-CN" dirty="0"/>
              <a:t>1.8</a:t>
            </a:r>
            <a:r>
              <a:rPr lang="zh-CN" altLang="en-US" dirty="0"/>
              <a:t>万所学校。</a:t>
            </a:r>
          </a:p>
          <a:p>
            <a:pPr marL="0" indent="0">
              <a:buNone/>
            </a:pPr>
            <a:r>
              <a:rPr lang="zh-CN" altLang="en-US" dirty="0"/>
              <a:t>这些学校不是用来学知识的，而是用来玩的，重要在体育、劳动和其他技能方面的培养。</a:t>
            </a:r>
          </a:p>
        </p:txBody>
      </p:sp>
    </p:spTree>
    <p:extLst>
      <p:ext uri="{BB962C8B-B14F-4D97-AF65-F5344CB8AC3E}">
        <p14:creationId xmlns:p14="http://schemas.microsoft.com/office/powerpoint/2010/main" val="11442517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94F6DB-EBC6-99DF-C0C1-E7A582639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196539-6500-F81A-95E0-F5C3AC1482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50392"/>
          </a:xfrm>
        </p:spPr>
        <p:txBody>
          <a:bodyPr/>
          <a:lstStyle/>
          <a:p>
            <a:r>
              <a:rPr lang="zh-CN" altLang="en-US" sz="4400" dirty="0"/>
              <a:t>第三代儿童教育就是面向未来</a:t>
            </a:r>
            <a:r>
              <a:rPr lang="zh-CN" altLang="en-US" sz="4400"/>
              <a:t>的教育</a:t>
            </a:r>
            <a:endParaRPr lang="zh-CN" altLang="en-US" sz="4400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B3FD454-F9F4-D0BD-AC17-672E75E40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70100"/>
            <a:ext cx="11155680" cy="42758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面向互联网时代的孩子才能够找到工作的教育。</a:t>
            </a:r>
          </a:p>
          <a:p>
            <a:pPr marL="0" indent="0">
              <a:buNone/>
            </a:pPr>
            <a:r>
              <a:rPr lang="zh-CN" altLang="en-US" dirty="0"/>
              <a:t>这个第三代儿童教育目前大概只在极少数国家中试点。</a:t>
            </a:r>
          </a:p>
          <a:p>
            <a:pPr marL="0" indent="0">
              <a:buNone/>
            </a:pPr>
            <a:r>
              <a:rPr lang="zh-CN" altLang="en-US" dirty="0"/>
              <a:t>中国已经有在做试点，国外最典型的国家就是芬兰。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58203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9690-102A-63DF-F71D-87EBC67A6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B4DF9A-C61A-96B0-EE5A-C9E9B7571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6592"/>
          </a:xfrm>
        </p:spPr>
        <p:txBody>
          <a:bodyPr/>
          <a:lstStyle/>
          <a:p>
            <a:r>
              <a:rPr lang="zh-CN" altLang="en-US" sz="4400" dirty="0"/>
              <a:t>中国未来缺人，但不缺大学生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6A63F5-0EFD-A0F9-3DE3-B0E6355F3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中国现在非常缺孩子，但是中国现在不缺大学生。</a:t>
            </a:r>
          </a:p>
          <a:p>
            <a:pPr marL="0" indent="0">
              <a:buNone/>
            </a:pPr>
            <a:r>
              <a:rPr lang="zh-CN" altLang="en-US" dirty="0"/>
              <a:t>这句话看似矛盾，实际是对一种发展变化的担忧。</a:t>
            </a:r>
          </a:p>
          <a:p>
            <a:pPr marL="0" indent="0">
              <a:buNone/>
            </a:pPr>
            <a:r>
              <a:rPr lang="zh-CN" altLang="en-US" dirty="0"/>
              <a:t>最近一年的考研人数数据，比以往要少了</a:t>
            </a:r>
            <a:r>
              <a:rPr lang="en-US" altLang="zh-CN" dirty="0"/>
              <a:t>46</a:t>
            </a:r>
            <a:r>
              <a:rPr lang="zh-CN" altLang="en-US" dirty="0"/>
              <a:t>万人左右。</a:t>
            </a:r>
          </a:p>
          <a:p>
            <a:pPr marL="0" indent="0">
              <a:buNone/>
            </a:pPr>
            <a:r>
              <a:rPr lang="zh-CN" altLang="en-US" dirty="0"/>
              <a:t>当我们的孩子们到了</a:t>
            </a:r>
            <a:r>
              <a:rPr lang="en-US" altLang="zh-CN" dirty="0"/>
              <a:t>20</a:t>
            </a:r>
            <a:r>
              <a:rPr lang="zh-CN" altLang="en-US" dirty="0"/>
              <a:t>多岁的时候，这些孩子们他们早已经认知到了这个问题了。</a:t>
            </a:r>
          </a:p>
          <a:p>
            <a:pPr marL="0" indent="0">
              <a:buNone/>
            </a:pPr>
            <a:r>
              <a:rPr lang="zh-CN" altLang="en-US" dirty="0"/>
              <a:t>他们早就知道他们的前途已经和文凭学历没有多少关系了。</a:t>
            </a:r>
          </a:p>
        </p:txBody>
      </p:sp>
    </p:spTree>
    <p:extLst>
      <p:ext uri="{BB962C8B-B14F-4D97-AF65-F5344CB8AC3E}">
        <p14:creationId xmlns:p14="http://schemas.microsoft.com/office/powerpoint/2010/main" val="3096483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DF96-FBD6-0AFB-72FC-44BB129CE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ACDA2B-758B-0870-C014-48CB02439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90092"/>
          </a:xfrm>
        </p:spPr>
        <p:txBody>
          <a:bodyPr/>
          <a:lstStyle/>
          <a:p>
            <a:r>
              <a:rPr lang="zh-CN" altLang="en-US" sz="4400" dirty="0"/>
              <a:t>外卖骑手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198426-783E-07F5-22FB-8945255D45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我们看一下北上广深大城市的外卖骑手，有多少人？</a:t>
            </a:r>
          </a:p>
          <a:p>
            <a:pPr marL="0" indent="0">
              <a:buNone/>
            </a:pPr>
            <a:r>
              <a:rPr lang="zh-CN" altLang="en-US" dirty="0"/>
              <a:t>有多少大学学历的？</a:t>
            </a:r>
          </a:p>
          <a:p>
            <a:pPr marL="0" indent="0">
              <a:buNone/>
            </a:pPr>
            <a:r>
              <a:rPr lang="zh-CN" altLang="en-US" dirty="0"/>
              <a:t>有一年春晚，有一个节目是很多外卖骑手在舞台上一起跳舞。</a:t>
            </a:r>
          </a:p>
          <a:p>
            <a:pPr marL="0" indent="0">
              <a:buNone/>
            </a:pPr>
            <a:r>
              <a:rPr lang="zh-CN" altLang="en-US" dirty="0"/>
              <a:t>黄渤还曾登台一起表演。</a:t>
            </a:r>
          </a:p>
          <a:p>
            <a:pPr marL="0" indent="0">
              <a:buNone/>
            </a:pPr>
            <a:r>
              <a:rPr lang="zh-CN" altLang="en-US" dirty="0"/>
              <a:t>大家知道为什么会有这样的节目吗？</a:t>
            </a:r>
          </a:p>
        </p:txBody>
      </p:sp>
    </p:spTree>
    <p:extLst>
      <p:ext uri="{BB962C8B-B14F-4D97-AF65-F5344CB8AC3E}">
        <p14:creationId xmlns:p14="http://schemas.microsoft.com/office/powerpoint/2010/main" val="2779998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156D3-25C3-1286-928E-22D7578C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DC0A66-FFA1-CEE6-64C4-1C307064E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6592"/>
          </a:xfrm>
        </p:spPr>
        <p:txBody>
          <a:bodyPr/>
          <a:lstStyle/>
          <a:p>
            <a:r>
              <a:rPr lang="zh-CN" altLang="en-US" sz="4400" dirty="0"/>
              <a:t>无人驾驶车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B5584A7-2368-B992-4229-B973DAAA2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某东可能会在</a:t>
            </a:r>
            <a:r>
              <a:rPr lang="en-US" altLang="zh-CN" dirty="0"/>
              <a:t>2026</a:t>
            </a:r>
            <a:r>
              <a:rPr lang="zh-CN" altLang="en-US" dirty="0"/>
              <a:t>年开始正式布局无人快递车，现在某些大小城市道路上我们都能看到不少这样的车了。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有人会说，这是不是发展得太快了，大家都没有活干了？</a:t>
            </a:r>
          </a:p>
          <a:p>
            <a:pPr marL="0" indent="0">
              <a:buNone/>
            </a:pPr>
            <a:r>
              <a:rPr lang="zh-CN" altLang="en-US" dirty="0"/>
              <a:t>不是我们发展得太快，而是我们不得不这样做！</a:t>
            </a:r>
          </a:p>
          <a:p>
            <a:pPr marL="0" indent="0">
              <a:buNone/>
            </a:pPr>
            <a:r>
              <a:rPr lang="zh-CN" altLang="en-US" dirty="0"/>
              <a:t>美国的部分城市已经布局无人驾驶车，并且一个城市就有三家公司在运营。</a:t>
            </a:r>
          </a:p>
          <a:p>
            <a:pPr marL="0" indent="0">
              <a:buNone/>
            </a:pPr>
            <a:r>
              <a:rPr lang="zh-CN" altLang="en-US" dirty="0"/>
              <a:t>而中国只有个别城市中，并且只有一家在运营。</a:t>
            </a:r>
          </a:p>
          <a:p>
            <a:pPr marL="0" indent="0">
              <a:buNone/>
            </a:pPr>
            <a:r>
              <a:rPr lang="zh-CN" altLang="en-US" dirty="0"/>
              <a:t>国家也不想这么快，因为也担心这么巨大的就业人口突然就没工作了。</a:t>
            </a:r>
          </a:p>
          <a:p>
            <a:pPr marL="0" indent="0">
              <a:buNone/>
            </a:pPr>
            <a:r>
              <a:rPr lang="zh-CN" altLang="en-US" dirty="0"/>
              <a:t>就会产生很多社会问题。</a:t>
            </a:r>
          </a:p>
        </p:txBody>
      </p:sp>
    </p:spTree>
    <p:extLst>
      <p:ext uri="{BB962C8B-B14F-4D97-AF65-F5344CB8AC3E}">
        <p14:creationId xmlns:p14="http://schemas.microsoft.com/office/powerpoint/2010/main" val="4081510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ADD6-0447-6686-8BC5-1A6435CFA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24916-D869-7550-93FB-1030179A1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上山下乡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034E03-B67F-DB41-F26A-4E1C2282E2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大量的年轻人没有工作，这样的情况并不是现在才有的。</a:t>
            </a:r>
          </a:p>
          <a:p>
            <a:pPr marL="0" indent="0">
              <a:buNone/>
            </a:pPr>
            <a:r>
              <a:rPr lang="zh-CN" altLang="en-US" dirty="0"/>
              <a:t>中国第一次出现类似问题是在上个世纪</a:t>
            </a:r>
            <a:r>
              <a:rPr lang="en-US" altLang="zh-CN" dirty="0"/>
              <a:t>60</a:t>
            </a:r>
            <a:r>
              <a:rPr lang="zh-CN" altLang="en-US" dirty="0"/>
              <a:t>年代。</a:t>
            </a:r>
          </a:p>
          <a:p>
            <a:pPr marL="0" indent="0">
              <a:buNone/>
            </a:pPr>
            <a:r>
              <a:rPr lang="zh-CN" altLang="en-US" dirty="0"/>
              <a:t>当时有</a:t>
            </a:r>
            <a:r>
              <a:rPr lang="en-US" altLang="zh-CN" dirty="0"/>
              <a:t>1500</a:t>
            </a:r>
            <a:r>
              <a:rPr lang="zh-CN" altLang="en-US" dirty="0"/>
              <a:t>万待业青年，其中有叫做老三届学生。</a:t>
            </a:r>
          </a:p>
          <a:p>
            <a:pPr marL="0" indent="0">
              <a:buNone/>
            </a:pPr>
            <a:r>
              <a:rPr lang="zh-CN" altLang="en-US" dirty="0"/>
              <a:t>国家想到的办法就是上山下乡。</a:t>
            </a:r>
          </a:p>
          <a:p>
            <a:pPr marL="0" indent="0">
              <a:buNone/>
            </a:pPr>
            <a:r>
              <a:rPr lang="zh-CN" altLang="en-US" dirty="0"/>
              <a:t>归根结底就是就业问题。</a:t>
            </a:r>
          </a:p>
        </p:txBody>
      </p:sp>
    </p:spTree>
    <p:extLst>
      <p:ext uri="{BB962C8B-B14F-4D97-AF65-F5344CB8AC3E}">
        <p14:creationId xmlns:p14="http://schemas.microsoft.com/office/powerpoint/2010/main" val="33901603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923CA-432F-2783-C573-5F6BCAAC1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F6D74-032C-F4F8-C1E8-F23809234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中美竞争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E2D1996-A1D5-2F8B-5E44-6953B1BBA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8" y="2044700"/>
            <a:ext cx="11155680" cy="4301236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/>
              <a:t>那为什么美国要发展那么快呢？</a:t>
            </a:r>
          </a:p>
          <a:p>
            <a:pPr marL="0" indent="0">
              <a:buNone/>
            </a:pPr>
            <a:r>
              <a:rPr lang="zh-CN" altLang="en-US" dirty="0"/>
              <a:t>这是由美国这个国家的特点决定的，因为它要做全世界的灯塔。</a:t>
            </a:r>
          </a:p>
          <a:p>
            <a:pPr marL="0" indent="0">
              <a:buNone/>
            </a:pPr>
            <a:r>
              <a:rPr lang="zh-CN" altLang="en-US" dirty="0"/>
              <a:t>它如果没有在科技上引领全世界的话，这个国家就会垮掉。</a:t>
            </a:r>
          </a:p>
          <a:p>
            <a:pPr marL="0" indent="0">
              <a:buNone/>
            </a:pPr>
            <a:r>
              <a:rPr lang="zh-CN" altLang="en-US" dirty="0"/>
              <a:t>美国就是靠编织一个美国梦来达到吸引全球资本的目的。</a:t>
            </a:r>
          </a:p>
          <a:p>
            <a:pPr marL="0" indent="0">
              <a:buNone/>
            </a:pPr>
            <a:r>
              <a:rPr lang="zh-CN" altLang="en-US" dirty="0"/>
              <a:t>吸引全球的金融、全球的人才，这样它才能撑下去。</a:t>
            </a:r>
          </a:p>
          <a:p>
            <a:pPr marL="0" indent="0">
              <a:buNone/>
            </a:pPr>
            <a:r>
              <a:rPr lang="zh-CN" altLang="en-US" dirty="0"/>
              <a:t>所以它会不断地拼命地发展它的科技，特别是发展</a:t>
            </a:r>
            <a:r>
              <a:rPr lang="en-US" altLang="zh-CN" dirty="0"/>
              <a:t>AI</a:t>
            </a:r>
            <a:r>
              <a:rPr lang="zh-CN" altLang="en-US" dirty="0"/>
              <a:t>。</a:t>
            </a:r>
          </a:p>
          <a:p>
            <a:pPr marL="0" indent="0">
              <a:buNone/>
            </a:pPr>
            <a:r>
              <a:rPr lang="en-US" altLang="zh-CN" dirty="0"/>
              <a:t>AGI</a:t>
            </a:r>
            <a:r>
              <a:rPr lang="zh-CN" altLang="en-US" dirty="0"/>
              <a:t>发展需要多久呢？</a:t>
            </a:r>
          </a:p>
          <a:p>
            <a:pPr marL="0" indent="0">
              <a:buNone/>
            </a:pPr>
            <a:r>
              <a:rPr lang="zh-CN" altLang="en-US" dirty="0"/>
              <a:t>根据美国各行业内估算，快需要</a:t>
            </a:r>
            <a:r>
              <a:rPr lang="en-US" altLang="zh-CN" dirty="0"/>
              <a:t>2</a:t>
            </a:r>
            <a:r>
              <a:rPr lang="zh-CN" altLang="en-US" dirty="0"/>
              <a:t>年，慢则需要</a:t>
            </a:r>
            <a:r>
              <a:rPr lang="en-US" altLang="zh-CN" dirty="0"/>
              <a:t>10</a:t>
            </a:r>
            <a:r>
              <a:rPr lang="zh-CN" altLang="en-US" dirty="0"/>
              <a:t>年。</a:t>
            </a:r>
          </a:p>
          <a:p>
            <a:pPr marL="0" indent="0">
              <a:buNone/>
            </a:pPr>
            <a:r>
              <a:rPr lang="zh-CN" altLang="en-US" dirty="0"/>
              <a:t>你看看，你的孩子在</a:t>
            </a:r>
            <a:r>
              <a:rPr lang="en-US" altLang="zh-CN" dirty="0"/>
              <a:t>10</a:t>
            </a:r>
            <a:r>
              <a:rPr lang="zh-CN" altLang="en-US" dirty="0"/>
              <a:t>年之后还会有白领的工作吗？</a:t>
            </a:r>
          </a:p>
        </p:txBody>
      </p:sp>
    </p:spTree>
    <p:extLst>
      <p:ext uri="{BB962C8B-B14F-4D97-AF65-F5344CB8AC3E}">
        <p14:creationId xmlns:p14="http://schemas.microsoft.com/office/powerpoint/2010/main" val="307921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47270-8863-B67A-1608-AD40773F7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62A1A4-820E-DA6F-0D16-BBE7F23CB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1992"/>
          </a:xfrm>
        </p:spPr>
        <p:txBody>
          <a:bodyPr/>
          <a:lstStyle/>
          <a:p>
            <a:r>
              <a:rPr lang="zh-CN" altLang="en-US" sz="4400" dirty="0"/>
              <a:t>资本主义的闭环逻辑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B79987-83C5-F973-0A79-77E03050F6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马克思看到了资本主义的本质。</a:t>
            </a:r>
          </a:p>
          <a:p>
            <a:pPr marL="0" indent="0">
              <a:buNone/>
            </a:pPr>
            <a:r>
              <a:rPr lang="zh-CN" altLang="en-US" dirty="0"/>
              <a:t>贷款、生产、消费闭环，但每</a:t>
            </a:r>
            <a:r>
              <a:rPr lang="en-US" altLang="zh-CN" dirty="0"/>
              <a:t>10</a:t>
            </a:r>
            <a:r>
              <a:rPr lang="zh-CN" altLang="en-US" dirty="0"/>
              <a:t>年发生经济危机</a:t>
            </a:r>
          </a:p>
          <a:p>
            <a:pPr marL="0" indent="0">
              <a:buNone/>
            </a:pPr>
            <a:r>
              <a:rPr lang="zh-CN" altLang="en-US" dirty="0"/>
              <a:t>但是为什么现实中没有那么频繁呢？</a:t>
            </a:r>
          </a:p>
          <a:p>
            <a:pPr marL="0" indent="0">
              <a:buNone/>
            </a:pPr>
            <a:r>
              <a:rPr lang="zh-CN" altLang="en-US" dirty="0"/>
              <a:t>不是马克思错了，而是中国成为新商品的倾销市场，缓解了资本主义矛盾。</a:t>
            </a:r>
          </a:p>
          <a:p>
            <a:pPr marL="0" indent="0">
              <a:buNone/>
            </a:pPr>
            <a:r>
              <a:rPr lang="zh-CN" altLang="en-US" dirty="0"/>
              <a:t>日本的彩电、日本的冰箱、外国的汽车</a:t>
            </a:r>
          </a:p>
        </p:txBody>
      </p:sp>
    </p:spTree>
    <p:extLst>
      <p:ext uri="{BB962C8B-B14F-4D97-AF65-F5344CB8AC3E}">
        <p14:creationId xmlns:p14="http://schemas.microsoft.com/office/powerpoint/2010/main" val="24906072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7E0AD-6F5A-4348-5DBB-64DEE36B5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1928CC-8A2D-4FC5-9A75-254AA37D5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人才过剩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88CA9-0604-FD70-23D0-B6B6B1492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马克思只考虑到了生产过剩，但是他没有想到，人才也会过剩。</a:t>
            </a:r>
          </a:p>
          <a:p>
            <a:pPr marL="0" indent="0">
              <a:buNone/>
            </a:pPr>
            <a:r>
              <a:rPr lang="zh-CN" altLang="en-US" dirty="0"/>
              <a:t>因为当时人类的教育是第二代教育，第二代教育还没有到达极限。</a:t>
            </a:r>
          </a:p>
          <a:p>
            <a:pPr marL="0" indent="0">
              <a:buNone/>
            </a:pPr>
            <a:r>
              <a:rPr lang="zh-CN" altLang="en-US" dirty="0"/>
              <a:t>但是现在这种极限已经显现了！</a:t>
            </a:r>
          </a:p>
          <a:p>
            <a:pPr marL="0" indent="0">
              <a:buNone/>
            </a:pPr>
            <a:r>
              <a:rPr lang="zh-CN" altLang="en-US" dirty="0"/>
              <a:t>这并不是说大家不应该接受基本的教育，而是</a:t>
            </a:r>
            <a:r>
              <a:rPr lang="en-US" altLang="zh-CN" dirty="0"/>
              <a:t>AI</a:t>
            </a:r>
            <a:r>
              <a:rPr lang="zh-CN" altLang="en-US" dirty="0"/>
              <a:t>出现了。</a:t>
            </a:r>
          </a:p>
          <a:p>
            <a:pPr marL="0" indent="0">
              <a:buNone/>
            </a:pPr>
            <a:r>
              <a:rPr lang="zh-CN" altLang="en-US" dirty="0"/>
              <a:t>当</a:t>
            </a:r>
            <a:r>
              <a:rPr lang="en-US" altLang="zh-CN" dirty="0"/>
              <a:t>AI</a:t>
            </a:r>
            <a:r>
              <a:rPr lang="zh-CN" altLang="en-US" dirty="0"/>
              <a:t>出现时，传统培养的人才就显得过多、无用了！</a:t>
            </a:r>
          </a:p>
        </p:txBody>
      </p:sp>
    </p:spTree>
    <p:extLst>
      <p:ext uri="{BB962C8B-B14F-4D97-AF65-F5344CB8AC3E}">
        <p14:creationId xmlns:p14="http://schemas.microsoft.com/office/powerpoint/2010/main" val="194902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6B3A3-2FA0-35F9-508D-61FB1F42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EF5A0C-04D1-80F0-83B0-D63B210F7F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01192"/>
          </a:xfrm>
        </p:spPr>
        <p:txBody>
          <a:bodyPr/>
          <a:lstStyle/>
          <a:p>
            <a:r>
              <a:rPr lang="zh-CN" altLang="en-US" sz="4400" dirty="0"/>
              <a:t>第一代教育模式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10031E-C4C8-268C-115A-A1BC51B81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第一代教育，全世界都一样，私塾式或学徒制。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49698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82402-7A2D-D763-2405-E713E0C0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529746-4300-50D5-98D1-F3C614AF4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90092"/>
          </a:xfrm>
        </p:spPr>
        <p:txBody>
          <a:bodyPr/>
          <a:lstStyle/>
          <a:p>
            <a:r>
              <a:rPr lang="zh-CN" altLang="en-US" sz="4400" dirty="0"/>
              <a:t>第二代教育模式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745398-4545-43D0-742A-CF957AEFFF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第二代教育就是我们现在学校的这种模式。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为什么我们看到很多学校的制度很奇葩？</a:t>
            </a:r>
          </a:p>
        </p:txBody>
      </p:sp>
    </p:spTree>
    <p:extLst>
      <p:ext uri="{BB962C8B-B14F-4D97-AF65-F5344CB8AC3E}">
        <p14:creationId xmlns:p14="http://schemas.microsoft.com/office/powerpoint/2010/main" val="18675883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795D8D-D60B-CFE6-2F63-2307AE3E7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5FFC40-E375-3FAD-206A-BB7FE96EE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第二代教育模式的弊端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B5E1667-19F7-5FDC-BAFE-10B40D2606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学历文凭证书的本质问题。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然而资本主义的死循环出现问题了。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就业就开始萎缩，但是学校还是在拼命制造过剩的人才。</a:t>
            </a:r>
          </a:p>
        </p:txBody>
      </p:sp>
    </p:spTree>
    <p:extLst>
      <p:ext uri="{BB962C8B-B14F-4D97-AF65-F5344CB8AC3E}">
        <p14:creationId xmlns:p14="http://schemas.microsoft.com/office/powerpoint/2010/main" val="363550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9822FE-41BD-C93E-B6AD-B1B12DDE5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DC97BB-7547-E5BB-21D9-2FBBDFD34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躺平问题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959B45-9747-61B5-101C-B4319AFC93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现在有一个非常严重的问题，但是很多家长却没有引起高度重视。</a:t>
            </a:r>
          </a:p>
          <a:p>
            <a:pPr marL="0" indent="0">
              <a:buNone/>
            </a:pPr>
            <a:r>
              <a:rPr lang="zh-CN" altLang="en-US" dirty="0"/>
              <a:t>就是很多孩子可以完成高考，并且可以上完大学，但是他们进入不了职场。</a:t>
            </a:r>
          </a:p>
          <a:p>
            <a:pPr marL="0" indent="0">
              <a:buNone/>
            </a:pPr>
            <a:r>
              <a:rPr lang="zh-CN" altLang="en-US" dirty="0"/>
              <a:t>什么意思呢？</a:t>
            </a:r>
          </a:p>
          <a:p>
            <a:pPr marL="0" indent="0">
              <a:buNone/>
            </a:pPr>
            <a:r>
              <a:rPr lang="zh-CN" altLang="en-US" dirty="0"/>
              <a:t>就是在家躺平，不找工作、不结婚，什么也不干，天天打游戏，要么就是考研考公。</a:t>
            </a:r>
          </a:p>
        </p:txBody>
      </p:sp>
    </p:spTree>
    <p:extLst>
      <p:ext uri="{BB962C8B-B14F-4D97-AF65-F5344CB8AC3E}">
        <p14:creationId xmlns:p14="http://schemas.microsoft.com/office/powerpoint/2010/main" val="18921569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42E572-A4AC-2A09-00FA-C37AD9208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5C965E8-FB04-D493-C8F8-01C3272AEE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躺平问题的案例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B2DFA2-72FF-2159-7EE9-B3DB1438D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有个案例，夫妻两个都是电视台的领导高层，他们的孩子呢也是就读常青藤名校。</a:t>
            </a:r>
          </a:p>
          <a:p>
            <a:pPr marL="0" indent="0">
              <a:buNone/>
            </a:pPr>
            <a:r>
              <a:rPr lang="zh-CN" altLang="en-US" dirty="0"/>
              <a:t>毕业之后也去了最好的公司，就是投资公司，在西方是非常好的公司。</a:t>
            </a:r>
          </a:p>
          <a:p>
            <a:pPr marL="0" indent="0">
              <a:buNone/>
            </a:pPr>
            <a:r>
              <a:rPr lang="zh-CN" altLang="en-US" dirty="0"/>
              <a:t>然后干了半年后回来了，回来干什么呢？</a:t>
            </a:r>
          </a:p>
          <a:p>
            <a:pPr marL="0" indent="0">
              <a:buNone/>
            </a:pPr>
            <a:r>
              <a:rPr lang="zh-CN" altLang="en-US" dirty="0"/>
              <a:t>在家天天念经，从此不再去上班。</a:t>
            </a:r>
          </a:p>
        </p:txBody>
      </p:sp>
    </p:spTree>
    <p:extLst>
      <p:ext uri="{BB962C8B-B14F-4D97-AF65-F5344CB8AC3E}">
        <p14:creationId xmlns:p14="http://schemas.microsoft.com/office/powerpoint/2010/main" val="39405647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4BE56-EF89-8422-E601-2E7A571DF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537AC-354A-C2A6-095F-64336C85D4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躺平问题的本质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7CE78E4-4465-6F4E-101C-80AB1A205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还有很多类似的案例，当然现在已经变得非常普遍了。</a:t>
            </a:r>
          </a:p>
          <a:p>
            <a:pPr marL="0" indent="0">
              <a:buNone/>
            </a:pPr>
            <a:r>
              <a:rPr lang="zh-CN" altLang="en-US" dirty="0"/>
              <a:t>其实是什么原因呢？</a:t>
            </a:r>
          </a:p>
          <a:p>
            <a:pPr marL="0" indent="0">
              <a:buNone/>
            </a:pPr>
            <a:r>
              <a:rPr lang="zh-CN" altLang="en-US" dirty="0"/>
              <a:t>就是系统性的出问题了，所以网上说父母把孩子逼成抑郁的都是乱说。</a:t>
            </a:r>
          </a:p>
          <a:p>
            <a:pPr marL="0" indent="0">
              <a:buNone/>
            </a:pPr>
            <a:r>
              <a:rPr lang="zh-CN" altLang="en-US" dirty="0"/>
              <a:t>这明显是非常普遍的、系统性的变化，非要说是父母家长导致的，这很可笑。</a:t>
            </a:r>
          </a:p>
          <a:p>
            <a:pPr marL="0" indent="0">
              <a:buNone/>
            </a:pPr>
            <a:r>
              <a:rPr lang="zh-CN" altLang="en-US" dirty="0"/>
              <a:t>那么这些案例给了我们家长什么警示呢？</a:t>
            </a:r>
          </a:p>
          <a:p>
            <a:pPr marL="0" indent="0">
              <a:buNone/>
            </a:pPr>
            <a:r>
              <a:rPr lang="zh-CN" altLang="en-US" dirty="0"/>
              <a:t>就是说，我们家长培养孩子培养了半天，结果他毕业后什么也不想干、什么也干不了。</a:t>
            </a:r>
          </a:p>
          <a:p>
            <a:pPr marL="0" indent="0">
              <a:buNone/>
            </a:pPr>
            <a:r>
              <a:rPr lang="zh-CN" altLang="en-US" dirty="0"/>
              <a:t>那么你说这样的教育培养有什么用？</a:t>
            </a:r>
          </a:p>
        </p:txBody>
      </p:sp>
    </p:spTree>
    <p:extLst>
      <p:ext uri="{BB962C8B-B14F-4D97-AF65-F5344CB8AC3E}">
        <p14:creationId xmlns:p14="http://schemas.microsoft.com/office/powerpoint/2010/main" val="5420436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D19A-7B13-1402-0705-7ED14B1F2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B91597-164F-2F04-B666-47BC4195D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教育失败是大概率事件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3B8B6-0BC3-3869-F07E-B8388FB18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因此我们说，现在这代孩子的教育，失败是大概率事件！</a:t>
            </a:r>
          </a:p>
          <a:p>
            <a:pPr marL="0" indent="0">
              <a:buNone/>
            </a:pPr>
            <a:r>
              <a:rPr lang="zh-CN" altLang="en-US" dirty="0"/>
              <a:t>一，就业端无限挤压，不给机会，太过残酷</a:t>
            </a:r>
          </a:p>
          <a:p>
            <a:pPr marL="0" indent="0">
              <a:buNone/>
            </a:pPr>
            <a:r>
              <a:rPr lang="zh-CN" altLang="en-US" dirty="0"/>
              <a:t>二、教育培养出来的人才过剩，未来不确定性太大了。</a:t>
            </a:r>
          </a:p>
          <a:p>
            <a:pPr marL="0" indent="0">
              <a:buNone/>
            </a:pPr>
            <a:r>
              <a:rPr lang="zh-CN" altLang="en-US" dirty="0"/>
              <a:t>现在的不确定性主要来自中美两国的竞争。</a:t>
            </a:r>
          </a:p>
          <a:p>
            <a:pPr marL="0" indent="0">
              <a:buNone/>
            </a:pPr>
            <a:r>
              <a:rPr lang="zh-CN" altLang="en-US" dirty="0"/>
              <a:t>其他国家如欧洲日本已经没有资格参与</a:t>
            </a:r>
            <a:r>
              <a:rPr lang="en-US" altLang="zh-CN" dirty="0"/>
              <a:t>AI</a:t>
            </a:r>
            <a:r>
              <a:rPr lang="zh-CN" altLang="en-US" dirty="0"/>
              <a:t>竞争了。</a:t>
            </a:r>
          </a:p>
          <a:p>
            <a:pPr marL="0" indent="0">
              <a:buNone/>
            </a:pPr>
            <a:r>
              <a:rPr lang="zh-CN" altLang="en-US" dirty="0"/>
              <a:t>所以孩子将来的就业机会，取决于中美竞争的结果。</a:t>
            </a:r>
          </a:p>
        </p:txBody>
      </p:sp>
    </p:spTree>
    <p:extLst>
      <p:ext uri="{BB962C8B-B14F-4D97-AF65-F5344CB8AC3E}">
        <p14:creationId xmlns:p14="http://schemas.microsoft.com/office/powerpoint/2010/main" val="1930393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E30A33-23BB-DCDE-B7B4-0F4EEBDD2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A90453-9E14-AC5C-EB56-DEB9CD543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为什么学习如此艰难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A0C15A-BAF5-9A06-4FD7-3C7AF8BA6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“最近发展区”和“自然成熟说”</a:t>
            </a:r>
          </a:p>
        </p:txBody>
      </p:sp>
    </p:spTree>
    <p:extLst>
      <p:ext uri="{BB962C8B-B14F-4D97-AF65-F5344CB8AC3E}">
        <p14:creationId xmlns:p14="http://schemas.microsoft.com/office/powerpoint/2010/main" val="10545331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14C8F-8178-9648-E8CA-4D58F91D28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EAFF0D-D09E-8CB2-B465-68B97C907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1992"/>
          </a:xfrm>
        </p:spPr>
        <p:txBody>
          <a:bodyPr/>
          <a:lstStyle/>
          <a:p>
            <a:r>
              <a:rPr lang="zh-CN" altLang="en-US" sz="4400" dirty="0"/>
              <a:t>学校是怎么发明出来的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B8AD46-9AB2-4700-BA1F-ABEFEF85C2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学校被发明出来。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改革开放和复制型人才。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恢复</a:t>
            </a:r>
            <a:r>
              <a:rPr lang="en-US" altLang="zh-CN" dirty="0"/>
              <a:t>80</a:t>
            </a:r>
            <a:r>
              <a:rPr lang="zh-CN" altLang="en-US" dirty="0"/>
              <a:t>后教材的错误言论。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国家为什么要“双减”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777293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D8EA5-FA52-3A9D-79C0-D28571EE5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07AD7D-0005-AF57-8F30-5577BA05B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教育变化的根源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966C30-9DC8-42B7-D915-BA03CFA9AF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那么现在的孩子为什么学习如此艰难呢？</a:t>
            </a:r>
          </a:p>
          <a:p>
            <a:pPr marL="0" indent="0">
              <a:buNone/>
            </a:pPr>
            <a:r>
              <a:rPr lang="zh-CN" altLang="en-US" dirty="0"/>
              <a:t>因为它已经变了，变的不再是以教育本身为目的，而是筛选为目的。</a:t>
            </a:r>
          </a:p>
          <a:p>
            <a:pPr marL="0" indent="0">
              <a:buNone/>
            </a:pPr>
            <a:r>
              <a:rPr lang="zh-CN" altLang="en-US" dirty="0"/>
              <a:t>他就是要搞最难的东西。</a:t>
            </a:r>
          </a:p>
          <a:p>
            <a:pPr marL="0" indent="0">
              <a:buNone/>
            </a:pPr>
            <a:r>
              <a:rPr lang="zh-CN" altLang="en-US" dirty="0"/>
              <a:t>为什么？</a:t>
            </a:r>
          </a:p>
          <a:p>
            <a:pPr marL="0" indent="0">
              <a:buNone/>
            </a:pPr>
            <a:r>
              <a:rPr lang="zh-CN" altLang="en-US" dirty="0"/>
              <a:t>还是因为竞争，主要是靠头部顶尖的那群孩子。</a:t>
            </a:r>
          </a:p>
        </p:txBody>
      </p:sp>
    </p:spTree>
    <p:extLst>
      <p:ext uri="{BB962C8B-B14F-4D97-AF65-F5344CB8AC3E}">
        <p14:creationId xmlns:p14="http://schemas.microsoft.com/office/powerpoint/2010/main" val="322402440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99FB9-0D95-E9AA-A2F1-440B09B37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9799B9-9F60-E894-EF4F-DFF923CD6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普娃怎么办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97E35C-45CA-33F8-14B1-3F2C5B627A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要想不被淘汰，但是是个普通娃，我们应该怎么办呢？</a:t>
            </a:r>
          </a:p>
          <a:p>
            <a:pPr marL="0" indent="0">
              <a:buNone/>
            </a:pPr>
            <a:r>
              <a:rPr lang="zh-CN" altLang="en-US" dirty="0"/>
              <a:t>我们说现在的孩子都是生活成长在虚拟世界中的。</a:t>
            </a:r>
          </a:p>
          <a:p>
            <a:pPr marL="0" indent="0">
              <a:buNone/>
            </a:pPr>
            <a:r>
              <a:rPr lang="zh-CN" altLang="en-US" dirty="0"/>
              <a:t>你看孩子们从小就接触电子产品，打电子游戏、看电视、看平板、玩手机。</a:t>
            </a:r>
          </a:p>
          <a:p>
            <a:pPr marL="0" indent="0">
              <a:buNone/>
            </a:pPr>
            <a:r>
              <a:rPr lang="zh-CN" altLang="en-US" dirty="0"/>
              <a:t>我们小时候没有这些东西，是生活在真实的世界中的。</a:t>
            </a:r>
          </a:p>
          <a:p>
            <a:pPr marL="0" indent="0">
              <a:buNone/>
            </a:pPr>
            <a:r>
              <a:rPr lang="zh-CN" altLang="en-US" dirty="0"/>
              <a:t>水、火、泥、沙都玩过。</a:t>
            </a:r>
          </a:p>
        </p:txBody>
      </p:sp>
    </p:spTree>
    <p:extLst>
      <p:ext uri="{BB962C8B-B14F-4D97-AF65-F5344CB8AC3E}">
        <p14:creationId xmlns:p14="http://schemas.microsoft.com/office/powerpoint/2010/main" val="13642680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BC308-A0FF-FD0E-6B05-E06608E420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0578D7-27E0-1AA1-B9E4-632214D34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51992"/>
          </a:xfrm>
        </p:spPr>
        <p:txBody>
          <a:bodyPr/>
          <a:lstStyle/>
          <a:p>
            <a:r>
              <a:rPr lang="zh-CN" altLang="en-US" sz="4400" dirty="0"/>
              <a:t>教育王道：体验真实世界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CB92387-6888-D6DC-15E2-244574DB4C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真正正确的做法，是让孩子大量地接触自然，去体验真实世界！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我以前举过一个“夹生饭”的例子。</a:t>
            </a:r>
          </a:p>
        </p:txBody>
      </p:sp>
    </p:spTree>
    <p:extLst>
      <p:ext uri="{BB962C8B-B14F-4D97-AF65-F5344CB8AC3E}">
        <p14:creationId xmlns:p14="http://schemas.microsoft.com/office/powerpoint/2010/main" val="36773491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403927-F923-F9C0-E28A-46C292E945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849F8-5BC1-7A26-72AC-05E6F8078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手机游戏的本质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E1CB043-BB5B-D8BC-F10C-7F02DF996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有的家长会问，国家为什么不禁止手机游戏。</a:t>
            </a:r>
          </a:p>
          <a:p>
            <a:pPr marL="0" indent="0">
              <a:buNone/>
            </a:pPr>
            <a:r>
              <a:rPr lang="zh-CN" altLang="en-US" dirty="0"/>
              <a:t>这仍然涉及到中美竞争的问题。</a:t>
            </a:r>
          </a:p>
          <a:p>
            <a:pPr marL="0" indent="0">
              <a:buNone/>
            </a:pPr>
            <a:r>
              <a:rPr lang="zh-CN" altLang="en-US" dirty="0"/>
              <a:t>深度思考</a:t>
            </a:r>
          </a:p>
          <a:p>
            <a:pPr marL="0" indent="0">
              <a:buNone/>
            </a:pPr>
            <a:r>
              <a:rPr lang="zh-CN" altLang="en-US" dirty="0"/>
              <a:t>注意力问题</a:t>
            </a:r>
          </a:p>
        </p:txBody>
      </p:sp>
    </p:spTree>
    <p:extLst>
      <p:ext uri="{BB962C8B-B14F-4D97-AF65-F5344CB8AC3E}">
        <p14:creationId xmlns:p14="http://schemas.microsoft.com/office/powerpoint/2010/main" val="9969227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2491D-FE5D-258B-3204-B94773C53D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CAE318-B87A-3392-CB96-3E70F2E4D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常见错误教育方式</a:t>
            </a:r>
            <a:r>
              <a:rPr lang="en-US" altLang="zh-CN" sz="4400" dirty="0"/>
              <a:t>——</a:t>
            </a:r>
            <a:r>
              <a:rPr lang="zh-CN" altLang="en-US" sz="4400" dirty="0"/>
              <a:t>放任发展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FFF174D-9366-0AEE-FFCF-B3D7C1F20D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常见的错误教育方式。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第一个就是放任孩子发展。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导致孩子游戏成瘾。</a:t>
            </a:r>
          </a:p>
        </p:txBody>
      </p:sp>
    </p:spTree>
    <p:extLst>
      <p:ext uri="{BB962C8B-B14F-4D97-AF65-F5344CB8AC3E}">
        <p14:creationId xmlns:p14="http://schemas.microsoft.com/office/powerpoint/2010/main" val="28994672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B6CF7-B4AB-F918-E692-81427BCBD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0B656E4-0AE5-7121-3167-B5362A955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常见错误教育方式</a:t>
            </a:r>
            <a:r>
              <a:rPr lang="en-US" altLang="zh-CN" sz="4400" dirty="0"/>
              <a:t>——</a:t>
            </a:r>
            <a:r>
              <a:rPr lang="zh-CN" altLang="en-US" sz="4400" dirty="0"/>
              <a:t>过度管理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DDD0BB-7777-20DA-14C8-1056FA8283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第二个就是过度管理孩子。</a:t>
            </a:r>
          </a:p>
          <a:p>
            <a:pPr marL="0" indent="0">
              <a:buNone/>
            </a:pPr>
            <a:r>
              <a:rPr lang="zh-CN" altLang="en-US" dirty="0"/>
              <a:t>导致孩子没有欲望。</a:t>
            </a:r>
          </a:p>
          <a:p>
            <a:pPr marL="0" indent="0">
              <a:buNone/>
            </a:pPr>
            <a:r>
              <a:rPr lang="zh-CN" altLang="en-US" dirty="0"/>
              <a:t>这两种合起来更糟糕，一方面允许孩子玩手机，另一方面又不允许孩子做运动活动，只让孩子学习。</a:t>
            </a:r>
          </a:p>
          <a:p>
            <a:pPr marL="0" indent="0">
              <a:buNone/>
            </a:pPr>
            <a:r>
              <a:rPr lang="zh-CN" altLang="en-US"/>
              <a:t>这种</a:t>
            </a:r>
            <a:r>
              <a:rPr lang="zh-CN" altLang="en-US" dirty="0"/>
              <a:t>情况，孩子很快就会躺平。</a:t>
            </a:r>
          </a:p>
        </p:txBody>
      </p:sp>
    </p:spTree>
    <p:extLst>
      <p:ext uri="{BB962C8B-B14F-4D97-AF65-F5344CB8AC3E}">
        <p14:creationId xmlns:p14="http://schemas.microsoft.com/office/powerpoint/2010/main" val="5009851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65026-928F-595F-D294-2BCC004D5F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1D2A9-9669-32A5-9EF9-35102FD8A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37692"/>
          </a:xfrm>
        </p:spPr>
        <p:txBody>
          <a:bodyPr/>
          <a:lstStyle/>
          <a:p>
            <a:r>
              <a:rPr lang="zh-CN" altLang="en-US" sz="4400" dirty="0"/>
              <a:t>常见错误教育方式</a:t>
            </a:r>
            <a:r>
              <a:rPr lang="en-US" altLang="zh-CN" sz="4400" dirty="0"/>
              <a:t>——</a:t>
            </a:r>
            <a:r>
              <a:rPr lang="zh-CN" altLang="en-US" sz="4400" dirty="0"/>
              <a:t>放纵学校教育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9CADA8-9BAF-AD48-2461-7F0EFE4E6C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第三个就是放纵学校的教育。</a:t>
            </a:r>
          </a:p>
          <a:p>
            <a:pPr marL="0" indent="0">
              <a:buNone/>
            </a:pPr>
            <a:r>
              <a:rPr lang="zh-CN" altLang="en-US" dirty="0"/>
              <a:t>就是孩子在学校你不管了，把孩子都交给学校。</a:t>
            </a:r>
          </a:p>
          <a:p>
            <a:pPr marL="0" indent="0">
              <a:buNone/>
            </a:pPr>
            <a:r>
              <a:rPr lang="zh-CN" altLang="en-US" dirty="0"/>
              <a:t>最终孩子在学校里获得的无能感。</a:t>
            </a:r>
          </a:p>
          <a:p>
            <a:pPr marL="0" indent="0">
              <a:buNone/>
            </a:pPr>
            <a:r>
              <a:rPr lang="zh-CN" altLang="en-US" dirty="0"/>
              <a:t>学不动，学不好。</a:t>
            </a:r>
          </a:p>
        </p:txBody>
      </p:sp>
    </p:spTree>
    <p:extLst>
      <p:ext uri="{BB962C8B-B14F-4D97-AF65-F5344CB8AC3E}">
        <p14:creationId xmlns:p14="http://schemas.microsoft.com/office/powerpoint/2010/main" val="30925489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8069D-16FC-1F4D-7E8F-204ED7CD4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D1A7AF-CD87-580D-9F91-8C052A4E0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39292"/>
          </a:xfrm>
        </p:spPr>
        <p:txBody>
          <a:bodyPr/>
          <a:lstStyle/>
          <a:p>
            <a:r>
              <a:rPr lang="zh-CN" altLang="en-US" sz="4400" dirty="0"/>
              <a:t>同伴环境缺失，导致被边缘化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A5BAB62-9FDF-F154-40F8-5A841DF017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缺乏同伴环境。</a:t>
            </a:r>
          </a:p>
          <a:p>
            <a:pPr marL="0" indent="0">
              <a:buNone/>
            </a:pPr>
            <a:r>
              <a:rPr lang="zh-CN" altLang="en-US" dirty="0"/>
              <a:t>像</a:t>
            </a:r>
            <a:r>
              <a:rPr lang="en-US" altLang="zh-CN" dirty="0"/>
              <a:t>《</a:t>
            </a:r>
            <a:r>
              <a:rPr lang="zh-CN" altLang="en-US" dirty="0"/>
              <a:t>哪吒</a:t>
            </a:r>
            <a:r>
              <a:rPr lang="en-US" altLang="zh-CN" dirty="0"/>
              <a:t>》</a:t>
            </a:r>
            <a:r>
              <a:rPr lang="zh-CN" altLang="en-US" dirty="0"/>
              <a:t>这部电影里面的情况是一样的，这一代孩子的现状就是这样，没有朋友没有同伴。</a:t>
            </a:r>
          </a:p>
          <a:p>
            <a:pPr marL="0" indent="0">
              <a:buNone/>
            </a:pPr>
            <a:r>
              <a:rPr lang="zh-CN" altLang="en-US" dirty="0"/>
              <a:t>孩子被边缘化。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马加爵事件</a:t>
            </a:r>
          </a:p>
        </p:txBody>
      </p:sp>
    </p:spTree>
    <p:extLst>
      <p:ext uri="{BB962C8B-B14F-4D97-AF65-F5344CB8AC3E}">
        <p14:creationId xmlns:p14="http://schemas.microsoft.com/office/powerpoint/2010/main" val="192577460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25568-6A89-8EE1-F968-FF0495CB4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923017-4F0A-5C0D-CA8C-8B3B8C275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88492"/>
          </a:xfrm>
        </p:spPr>
        <p:txBody>
          <a:bodyPr/>
          <a:lstStyle/>
          <a:p>
            <a:r>
              <a:rPr lang="zh-CN" altLang="en-US" sz="4400" dirty="0"/>
              <a:t>学霸照样会培养失败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E4D9D69-88DA-A3F8-CC1E-49660F426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为什么我们说，不管是学霸还是学渣，大概率都会培养失败呢？</a:t>
            </a:r>
          </a:p>
          <a:p>
            <a:pPr marL="0" indent="0">
              <a:buNone/>
            </a:pPr>
            <a:r>
              <a:rPr lang="zh-CN" altLang="en-US" dirty="0"/>
              <a:t>很多家长会说，我家孩子是学霸，怎么会培养失败呢？</a:t>
            </a:r>
          </a:p>
          <a:p>
            <a:pPr marL="0" indent="0">
              <a:buNone/>
            </a:pPr>
            <a:r>
              <a:rPr lang="zh-CN" altLang="en-US" dirty="0"/>
              <a:t>我们就不用说那些去常青藤名校的了，包括</a:t>
            </a:r>
            <a:r>
              <a:rPr lang="en-US" altLang="zh-CN" dirty="0"/>
              <a:t>985</a:t>
            </a:r>
            <a:r>
              <a:rPr lang="zh-CN" altLang="en-US" dirty="0"/>
              <a:t>，清华北大，大家可以去查一下退学率。</a:t>
            </a:r>
          </a:p>
        </p:txBody>
      </p:sp>
    </p:spTree>
    <p:extLst>
      <p:ext uri="{BB962C8B-B14F-4D97-AF65-F5344CB8AC3E}">
        <p14:creationId xmlns:p14="http://schemas.microsoft.com/office/powerpoint/2010/main" val="42557214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EADFF-962A-59D4-D95B-AACAE785C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AC0F86-14AD-0ACE-7687-94EC4ABA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863092"/>
          </a:xfrm>
        </p:spPr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只要学习好就行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287ED5-22B3-AFAD-5194-6D458AC610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常见的教育思维误区。</a:t>
            </a:r>
          </a:p>
          <a:p>
            <a:pPr marL="0" indent="0">
              <a:buNone/>
            </a:pPr>
            <a:r>
              <a:rPr lang="zh-CN" altLang="en-US" dirty="0"/>
              <a:t>第一个，很多父母认为孩子</a:t>
            </a:r>
            <a:r>
              <a:rPr lang="en-US" altLang="zh-CN" dirty="0"/>
              <a:t>7</a:t>
            </a:r>
            <a:r>
              <a:rPr lang="zh-CN" altLang="en-US" dirty="0"/>
              <a:t>岁之后，只需要辅导作业就可以了。</a:t>
            </a:r>
          </a:p>
          <a:p>
            <a:pPr marL="0" indent="0">
              <a:buNone/>
            </a:pPr>
            <a:r>
              <a:rPr lang="zh-CN" altLang="en-US" dirty="0"/>
              <a:t>认为只要学习好，其他都可以让步。</a:t>
            </a:r>
          </a:p>
        </p:txBody>
      </p:sp>
    </p:spTree>
    <p:extLst>
      <p:ext uri="{BB962C8B-B14F-4D97-AF65-F5344CB8AC3E}">
        <p14:creationId xmlns:p14="http://schemas.microsoft.com/office/powerpoint/2010/main" val="36713470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EFD34-3CC3-C676-7C09-B0B94BF07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41EA79F-0EC1-8279-1CDC-439A63D04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忽视校外活动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6340C6-4A63-076A-5B72-19552CF14F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第二个，忽视校外活动</a:t>
            </a:r>
          </a:p>
          <a:p>
            <a:pPr marL="0" indent="0">
              <a:buNone/>
            </a:pPr>
            <a:r>
              <a:rPr lang="zh-CN" altLang="en-US" dirty="0"/>
              <a:t>我告诉大家，</a:t>
            </a:r>
            <a:r>
              <a:rPr lang="en-US" altLang="zh-CN" dirty="0"/>
              <a:t>7-12</a:t>
            </a:r>
            <a:r>
              <a:rPr lang="zh-CN" altLang="en-US" dirty="0"/>
              <a:t>岁是培养孩子多巴胺模型的关键窗口期。</a:t>
            </a:r>
          </a:p>
          <a:p>
            <a:pPr marL="0" indent="0">
              <a:buNone/>
            </a:pPr>
            <a:r>
              <a:rPr lang="zh-CN" altLang="en-US" dirty="0"/>
              <a:t>什么叫多巴胺模型呢？</a:t>
            </a:r>
          </a:p>
          <a:p>
            <a:pPr marL="0" indent="0">
              <a:buNone/>
            </a:pPr>
            <a:r>
              <a:rPr lang="zh-CN" altLang="en-US" dirty="0"/>
              <a:t>说白了就是快感模型。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734608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81603-7057-91BD-2B19-8F725D00B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B7E826-1FA0-587C-5B74-68D53CEF1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926592"/>
          </a:xfrm>
        </p:spPr>
        <p:txBody>
          <a:bodyPr/>
          <a:lstStyle/>
          <a:p>
            <a:r>
              <a:rPr lang="zh-CN" altLang="en-US" sz="4400" dirty="0"/>
              <a:t>吃大饼的故事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C2C91C-0ED1-0C9C-B229-7EBEC44C7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过去我们小时候常听到父母给我们讲一个故事。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有个孩子非常懒，父母出门前怕他饿，就烙了个大饼，套他脖子上。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结果等回来一看，饼前面的吃了，脖子后面的没吃，就饿死了。</a:t>
            </a:r>
          </a:p>
        </p:txBody>
      </p:sp>
    </p:spTree>
    <p:extLst>
      <p:ext uri="{BB962C8B-B14F-4D97-AF65-F5344CB8AC3E}">
        <p14:creationId xmlns:p14="http://schemas.microsoft.com/office/powerpoint/2010/main" val="2877700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A1332-C94D-65CD-00A9-13D6040748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B02363-8257-8C4C-650F-275418698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缺乏心理韧性和品行培养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6FB48D-1FF8-1190-F4E6-9161302A3E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第三个问题，对孩子的心理韧性和品行培养不在意。</a:t>
            </a:r>
          </a:p>
          <a:p>
            <a:pPr marL="0" indent="0">
              <a:buNone/>
            </a:pPr>
            <a:r>
              <a:rPr lang="zh-CN" altLang="en-US" dirty="0"/>
              <a:t>要么没有这方面的意识，要么觉得没有用，不在意。</a:t>
            </a:r>
          </a:p>
          <a:p>
            <a:pPr marL="0" indent="0">
              <a:buNone/>
            </a:pPr>
            <a:r>
              <a:rPr lang="zh-CN" altLang="en-US" dirty="0"/>
              <a:t>这些也是社会适应性方面非常重要的组成部分。</a:t>
            </a:r>
          </a:p>
        </p:txBody>
      </p:sp>
    </p:spTree>
    <p:extLst>
      <p:ext uri="{BB962C8B-B14F-4D97-AF65-F5344CB8AC3E}">
        <p14:creationId xmlns:p14="http://schemas.microsoft.com/office/powerpoint/2010/main" val="15401672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3F7A3-9DFB-A22F-4504-19BE21BBA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FB951E-F759-B197-AA31-BF8E3956B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纵容手机游戏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F3F940-98BB-4DA4-6EEE-3BA4E29DC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你看网上有很多这种情况，父母不让孩子玩手机，孩子就把家给砸了。</a:t>
            </a:r>
          </a:p>
          <a:p>
            <a:pPr marL="0" indent="0">
              <a:buNone/>
            </a:pPr>
            <a:r>
              <a:rPr lang="zh-CN" altLang="en-US" dirty="0"/>
              <a:t>很多人会觉得不可思议，是吧？</a:t>
            </a:r>
          </a:p>
          <a:p>
            <a:pPr marL="0" indent="0">
              <a:buNone/>
            </a:pPr>
            <a:r>
              <a:rPr lang="zh-CN" altLang="en-US" dirty="0"/>
              <a:t>从全世界的医学论文中，有些论文库是公开的，我们可以查到一些资料。</a:t>
            </a:r>
          </a:p>
          <a:p>
            <a:pPr marL="0" indent="0">
              <a:buNone/>
            </a:pPr>
            <a:r>
              <a:rPr lang="zh-CN" altLang="en-US" dirty="0"/>
              <a:t>就是手机游戏成瘾的大脑和吸毒大脑的对比研究，在核磁共振检测结果上是一样的。</a:t>
            </a:r>
          </a:p>
          <a:p>
            <a:pPr marL="0" indent="0">
              <a:buNone/>
            </a:pPr>
            <a:r>
              <a:rPr lang="zh-CN" altLang="en-US" dirty="0"/>
              <a:t>所以你不要认为孩子玩游戏是个简单单纯的现象。</a:t>
            </a:r>
          </a:p>
        </p:txBody>
      </p:sp>
    </p:spTree>
    <p:extLst>
      <p:ext uri="{BB962C8B-B14F-4D97-AF65-F5344CB8AC3E}">
        <p14:creationId xmlns:p14="http://schemas.microsoft.com/office/powerpoint/2010/main" val="390529961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5FC25-F32C-D1AB-5E48-F55C5A01D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92BB972-7E9E-EE76-C772-199E1358C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手机游戏危害科普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9B7F9C-A5FD-6776-8D2D-89005F9CE2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大家有没有想过一个问题。</a:t>
            </a:r>
          </a:p>
          <a:p>
            <a:pPr marL="0" indent="0">
              <a:buNone/>
            </a:pPr>
            <a:r>
              <a:rPr lang="zh-CN" altLang="en-US" dirty="0"/>
              <a:t>这个世界上好玩的东西太多了，为什么全国几乎所有的孩子都会一致统一地去玩手机呢？</a:t>
            </a:r>
          </a:p>
          <a:p>
            <a:pPr marL="0" indent="0">
              <a:buNone/>
            </a:pPr>
            <a:r>
              <a:rPr lang="zh-CN" altLang="en-US" dirty="0"/>
              <a:t>正常情况下，不应该是一部分孩子玩这个，一部分孩子玩那个吗？</a:t>
            </a:r>
          </a:p>
          <a:p>
            <a:pPr marL="0" indent="0">
              <a:buNone/>
            </a:pPr>
            <a:r>
              <a:rPr lang="zh-CN" altLang="en-US" dirty="0"/>
              <a:t>即使是正态分布概率下，也不可能</a:t>
            </a:r>
            <a:r>
              <a:rPr lang="en-US" altLang="zh-CN" dirty="0"/>
              <a:t>99%</a:t>
            </a:r>
            <a:r>
              <a:rPr lang="zh-CN" altLang="en-US" dirty="0"/>
              <a:t>的孩子都去玩手机吧？</a:t>
            </a:r>
          </a:p>
          <a:p>
            <a:pPr marL="0" indent="0">
              <a:buNone/>
            </a:pPr>
            <a:r>
              <a:rPr lang="zh-CN" altLang="en-US" dirty="0"/>
              <a:t>关于孩子玩手机的问题，我也有一个专题课有专门说明，大家有兴趣可以关注一下。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83424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5F12-D1E0-8590-AA2D-83822BD05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6160FD-BF9F-0ABC-5146-971A0150F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手机游戏危害案例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66658F-162E-1F97-C6FF-713DA4463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北航大家都知道，非常好的大学，是吧？</a:t>
            </a:r>
          </a:p>
          <a:p>
            <a:pPr marL="0" indent="0">
              <a:buNone/>
            </a:pPr>
            <a:r>
              <a:rPr lang="zh-CN" altLang="en-US" dirty="0"/>
              <a:t>一次性退学了</a:t>
            </a:r>
            <a:r>
              <a:rPr lang="en-US" altLang="zh-CN" dirty="0"/>
              <a:t>404</a:t>
            </a:r>
            <a:r>
              <a:rPr lang="zh-CN" altLang="en-US" dirty="0"/>
              <a:t>个学生，大家可以上网查一下这个消息。</a:t>
            </a:r>
          </a:p>
        </p:txBody>
      </p:sp>
    </p:spTree>
    <p:extLst>
      <p:ext uri="{BB962C8B-B14F-4D97-AF65-F5344CB8AC3E}">
        <p14:creationId xmlns:p14="http://schemas.microsoft.com/office/powerpoint/2010/main" val="5182109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B30A-2902-FA30-8B68-3FC6B8739E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1914E59-B7BC-F6F5-0291-1809EA360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物质交换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CACA72-D5F8-7964-0ABA-BA58C01FB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第四种错误教育方法。</a:t>
            </a:r>
          </a:p>
          <a:p>
            <a:pPr marL="0" indent="0">
              <a:buNone/>
            </a:pPr>
            <a:r>
              <a:rPr lang="zh-CN" altLang="en-US" dirty="0"/>
              <a:t>为了让孩子学习，拿物质做交换。</a:t>
            </a:r>
          </a:p>
          <a:p>
            <a:pPr marL="0" indent="0">
              <a:buNone/>
            </a:pPr>
            <a:r>
              <a:rPr lang="zh-CN" altLang="en-US" dirty="0"/>
              <a:t>只要你学习，我就给你买什么东西。</a:t>
            </a:r>
          </a:p>
        </p:txBody>
      </p:sp>
    </p:spTree>
    <p:extLst>
      <p:ext uri="{BB962C8B-B14F-4D97-AF65-F5344CB8AC3E}">
        <p14:creationId xmlns:p14="http://schemas.microsoft.com/office/powerpoint/2010/main" val="223698908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83630F-FB9E-3D68-3456-005DF01E43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BEBBD1-AD47-4C3F-5771-0C8736AF6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家庭安乐窝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18FB41-E73F-7B6D-B860-D7DB914E9D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还有一种，就是安乐窝。</a:t>
            </a:r>
          </a:p>
          <a:p>
            <a:pPr marL="0" indent="0">
              <a:buNone/>
            </a:pPr>
            <a:r>
              <a:rPr lang="zh-CN" altLang="en-US" dirty="0"/>
              <a:t>只要你学习，在家里什么都不用干。</a:t>
            </a:r>
          </a:p>
          <a:p>
            <a:pPr marL="0" indent="0">
              <a:buNone/>
            </a:pPr>
            <a:r>
              <a:rPr lang="zh-CN" altLang="en-US" dirty="0"/>
              <a:t>在家里不用承担任何责任。</a:t>
            </a:r>
          </a:p>
        </p:txBody>
      </p:sp>
    </p:spTree>
    <p:extLst>
      <p:ext uri="{BB962C8B-B14F-4D97-AF65-F5344CB8AC3E}">
        <p14:creationId xmlns:p14="http://schemas.microsoft.com/office/powerpoint/2010/main" val="41158871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39EA2-0553-7FAA-DD5C-4F8607648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FB0DFD-729F-DECC-D541-ECF0A8B11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常见教育思维误区</a:t>
            </a:r>
            <a:r>
              <a:rPr lang="en-US" altLang="zh-CN" sz="4400" dirty="0"/>
              <a:t>——</a:t>
            </a:r>
            <a:r>
              <a:rPr lang="zh-CN" altLang="en-US" sz="4400" dirty="0"/>
              <a:t>谎言教育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1A60C8E-521C-14D0-BA98-FA9EDAEB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还有，就是谎言教育。</a:t>
            </a:r>
          </a:p>
          <a:p>
            <a:pPr marL="0" indent="0">
              <a:buNone/>
            </a:pPr>
            <a:r>
              <a:rPr lang="zh-CN" altLang="en-US" dirty="0"/>
              <a:t>只要你考上大学，你的前途就有了。</a:t>
            </a:r>
          </a:p>
        </p:txBody>
      </p:sp>
    </p:spTree>
    <p:extLst>
      <p:ext uri="{BB962C8B-B14F-4D97-AF65-F5344CB8AC3E}">
        <p14:creationId xmlns:p14="http://schemas.microsoft.com/office/powerpoint/2010/main" val="33655458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26910-1B80-344C-2AA9-0AD1E2B04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34FAEF-29F7-1CDD-D2C3-32E005DFC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虚拟世界：二次元、电子游戏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D0B381-3AE5-26D8-6A90-0406C5AAC8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孩子面对这些错误的教育方式，他们会怎么样呢？</a:t>
            </a:r>
          </a:p>
          <a:p>
            <a:pPr marL="0" indent="0">
              <a:buNone/>
            </a:pPr>
            <a:r>
              <a:rPr lang="zh-CN" altLang="en-US" dirty="0"/>
              <a:t>一种，就是进入二次元。</a:t>
            </a:r>
          </a:p>
          <a:p>
            <a:pPr marL="0" indent="0">
              <a:buNone/>
            </a:pPr>
            <a:r>
              <a:rPr lang="zh-CN" altLang="en-US" dirty="0"/>
              <a:t>还有就是进入虚拟世界，游戏、短视频。</a:t>
            </a:r>
          </a:p>
          <a:p>
            <a:pPr marL="0" indent="0">
              <a:buNone/>
            </a:pPr>
            <a:r>
              <a:rPr lang="zh-CN" altLang="en-US" dirty="0"/>
              <a:t>举例</a:t>
            </a:r>
          </a:p>
          <a:p>
            <a:pPr marL="0" indent="0">
              <a:buNone/>
            </a:pPr>
            <a:r>
              <a:rPr lang="zh-CN" altLang="en-US" dirty="0"/>
              <a:t>有些孩子严重到什么程度呢？</a:t>
            </a:r>
          </a:p>
          <a:p>
            <a:pPr marL="0" indent="0">
              <a:buNone/>
            </a:pPr>
            <a:r>
              <a:rPr lang="zh-CN" altLang="en-US" dirty="0"/>
              <a:t>比如有个孩子说过这样的话。</a:t>
            </a:r>
          </a:p>
          <a:p>
            <a:pPr marL="0" indent="0">
              <a:buNone/>
            </a:pPr>
            <a:r>
              <a:rPr lang="zh-CN" altLang="en-US" dirty="0"/>
              <a:t>他说他不敢见到太阳。</a:t>
            </a:r>
          </a:p>
          <a:p>
            <a:pPr marL="0" indent="0">
              <a:buNone/>
            </a:pPr>
            <a:r>
              <a:rPr lang="zh-CN" altLang="en-US" dirty="0"/>
              <a:t>太阳会伤害我。</a:t>
            </a:r>
          </a:p>
          <a:p>
            <a:pPr marL="0" indent="0">
              <a:buNone/>
            </a:pPr>
            <a:r>
              <a:rPr lang="zh-CN" altLang="en-US" dirty="0"/>
              <a:t>大家想一想，哪里没有太阳？</a:t>
            </a:r>
          </a:p>
          <a:p>
            <a:pPr marL="0" indent="0">
              <a:buNone/>
            </a:pPr>
            <a:r>
              <a:rPr lang="zh-CN" altLang="en-US" dirty="0"/>
              <a:t>只有地下没有太阳，难道他只能生活在地下吗？</a:t>
            </a:r>
          </a:p>
        </p:txBody>
      </p:sp>
    </p:spTree>
    <p:extLst>
      <p:ext uri="{BB962C8B-B14F-4D97-AF65-F5344CB8AC3E}">
        <p14:creationId xmlns:p14="http://schemas.microsoft.com/office/powerpoint/2010/main" val="20139892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AA2D6-49F1-058F-9C82-1EA33B6D77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C6474-117C-B73A-F95A-841F6F4324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低欲望综合症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C534AB-D540-56BB-F4B8-9A5C721B4C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低欲望综合症</a:t>
            </a:r>
          </a:p>
          <a:p>
            <a:pPr marL="0" indent="0">
              <a:buNone/>
            </a:pPr>
            <a:r>
              <a:rPr lang="zh-CN" altLang="en-US" dirty="0"/>
              <a:t>是丧失了欲望的问题。</a:t>
            </a:r>
          </a:p>
          <a:p>
            <a:pPr marL="0" indent="0">
              <a:buNone/>
            </a:pPr>
            <a:r>
              <a:rPr lang="zh-CN" altLang="en-US" dirty="0"/>
              <a:t>网上很多搞心理学的，他们学的都是弗洛伊德时代的心理学，当时弗洛伊德主要是治疗欲望过强的问题。</a:t>
            </a:r>
          </a:p>
          <a:p>
            <a:pPr marL="0" indent="0">
              <a:buNone/>
            </a:pPr>
            <a:r>
              <a:rPr lang="zh-CN" altLang="en-US" dirty="0"/>
              <a:t>而现在是完全相反的，他们用错误的理论去看待现在的问题，必然得出错误的结论。</a:t>
            </a:r>
          </a:p>
          <a:p>
            <a:pPr marL="0" indent="0">
              <a:buNone/>
            </a:pPr>
            <a:r>
              <a:rPr lang="zh-CN" altLang="en-US" dirty="0"/>
              <a:t>因为低欲望是不好搞的，一个人失去了欲望，你怎么处理都将无效，没有那么简单。</a:t>
            </a:r>
          </a:p>
        </p:txBody>
      </p:sp>
    </p:spTree>
    <p:extLst>
      <p:ext uri="{BB962C8B-B14F-4D97-AF65-F5344CB8AC3E}">
        <p14:creationId xmlns:p14="http://schemas.microsoft.com/office/powerpoint/2010/main" val="5047031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BCFF-63FB-DC1C-9E02-57A425657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7BDF0C-D6D4-1FCA-DF44-19737BA3F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低欲望综合症的表现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496116-EBCD-132E-4CEE-6B7444A11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这种低欲望在孩子们中传播，现在越来越广泛、越来越严重。</a:t>
            </a:r>
          </a:p>
          <a:p>
            <a:pPr marL="0" indent="0">
              <a:buNone/>
            </a:pPr>
            <a:r>
              <a:rPr lang="zh-CN" altLang="en-US" dirty="0"/>
              <a:t>当然，低欲望也分等级。</a:t>
            </a:r>
          </a:p>
          <a:p>
            <a:pPr marL="0" indent="0">
              <a:buNone/>
            </a:pPr>
            <a:r>
              <a:rPr lang="zh-CN" altLang="en-US" dirty="0"/>
              <a:t>最严重的，是你问他吃什么，他对吃什么都没有任何兴趣。</a:t>
            </a:r>
          </a:p>
          <a:p>
            <a:pPr marL="0" indent="0">
              <a:buNone/>
            </a:pPr>
            <a:r>
              <a:rPr lang="zh-CN" altLang="en-US" dirty="0"/>
              <a:t>一般严重的至少还对吃有那么一点兴趣。</a:t>
            </a:r>
          </a:p>
          <a:p>
            <a:pPr marL="0" indent="0">
              <a:buNone/>
            </a:pPr>
            <a:r>
              <a:rPr lang="zh-CN" altLang="en-US" dirty="0"/>
              <a:t>你看现在的年轻人，只知道吃方便面、外卖、奶茶。</a:t>
            </a:r>
          </a:p>
        </p:txBody>
      </p:sp>
    </p:spTree>
    <p:extLst>
      <p:ext uri="{BB962C8B-B14F-4D97-AF65-F5344CB8AC3E}">
        <p14:creationId xmlns:p14="http://schemas.microsoft.com/office/powerpoint/2010/main" val="417067279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9FEF6-1E28-1DD9-CBB6-A2FA01B61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EF93AB-78BB-28BB-03BD-B28EF35DA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教育重点不再是学习成绩和方法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8015CB-CA8B-8826-1585-C542D28E9B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这些低欲望的问题，导致了孩子进入社会后对工作对职业没有任何兴趣和动力。</a:t>
            </a:r>
          </a:p>
          <a:p>
            <a:pPr marL="0" indent="0">
              <a:buNone/>
            </a:pPr>
            <a:r>
              <a:rPr lang="zh-CN" altLang="en-US" dirty="0"/>
              <a:t>而家长们却只看到了表面，没有真正搞清楚问题的本源。</a:t>
            </a:r>
          </a:p>
          <a:p>
            <a:pPr marL="0" indent="0">
              <a:buNone/>
            </a:pPr>
            <a:r>
              <a:rPr lang="zh-CN" altLang="en-US" dirty="0"/>
              <a:t>所以你看，很多家长来听课，只会问一些如何提高孩子学习成绩和学习方法的问题。</a:t>
            </a:r>
          </a:p>
          <a:p>
            <a:pPr marL="0" indent="0">
              <a:buNone/>
            </a:pPr>
            <a:r>
              <a:rPr lang="zh-CN" altLang="en-US" dirty="0"/>
              <a:t>然而真正的问题，最严重的问题，都被大家忽略了！</a:t>
            </a:r>
          </a:p>
        </p:txBody>
      </p:sp>
    </p:spTree>
    <p:extLst>
      <p:ext uri="{BB962C8B-B14F-4D97-AF65-F5344CB8AC3E}">
        <p14:creationId xmlns:p14="http://schemas.microsoft.com/office/powerpoint/2010/main" val="240851418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24E28-1D4D-69C6-D85C-1801894FC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95CC02-347E-D1CC-ED8A-06475280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多巴胺模型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4815AA-919D-4537-6F5D-C486F32AC8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就是这个孩子在青春期的时候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三大模型：多巴胺模型、血清素模型、压力激素模型。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多巴胺模型讲过了。</a:t>
            </a:r>
          </a:p>
        </p:txBody>
      </p:sp>
    </p:spTree>
    <p:extLst>
      <p:ext uri="{BB962C8B-B14F-4D97-AF65-F5344CB8AC3E}">
        <p14:creationId xmlns:p14="http://schemas.microsoft.com/office/powerpoint/2010/main" val="31447035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96926-917C-1BAB-2C87-151875079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158EB0-3B57-6230-C086-89FFCEF43D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血清素模型、压力激素模型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88C0F3-2085-2211-7B23-9697E2D1B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血清素是什么呢</a:t>
            </a:r>
          </a:p>
          <a:p>
            <a:pPr marL="0" indent="0">
              <a:buNone/>
            </a:pPr>
            <a:r>
              <a:rPr lang="zh-CN" altLang="en-US" dirty="0"/>
              <a:t>就是让我们得到安抚的一种激素</a:t>
            </a:r>
          </a:p>
          <a:p>
            <a:pPr marL="0" indent="0">
              <a:buNone/>
            </a:pPr>
            <a:r>
              <a:rPr lang="zh-CN" altLang="en-US" dirty="0"/>
              <a:t>比如说我感到压力了啊</a:t>
            </a:r>
          </a:p>
          <a:p>
            <a:pPr marL="0" indent="0">
              <a:buNone/>
            </a:pPr>
            <a:r>
              <a:rPr lang="zh-CN" altLang="en-US" dirty="0"/>
              <a:t>我觉得需要一种情绪获得满足了</a:t>
            </a:r>
          </a:p>
          <a:p>
            <a:pPr marL="0" indent="0">
              <a:buNone/>
            </a:pPr>
            <a:r>
              <a:rPr lang="zh-CN" altLang="en-US" dirty="0"/>
              <a:t>你就需要血清素安抚我自己</a:t>
            </a:r>
          </a:p>
        </p:txBody>
      </p:sp>
    </p:spTree>
    <p:extLst>
      <p:ext uri="{BB962C8B-B14F-4D97-AF65-F5344CB8AC3E}">
        <p14:creationId xmlns:p14="http://schemas.microsoft.com/office/powerpoint/2010/main" val="321630350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11EBA-BFE6-35B8-DA28-A385F03C63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455C79-761D-A311-F539-EF2C9A03B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性驱力模型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E6B7CDF-AAB7-6D46-DE81-A316F6CBB3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其实还有一个模型，都不好意思跟你们说，就是性驱力模型</a:t>
            </a:r>
          </a:p>
          <a:p>
            <a:pPr marL="0" indent="0">
              <a:buNone/>
            </a:pPr>
            <a:r>
              <a:rPr lang="zh-CN" altLang="en-US" dirty="0"/>
              <a:t>现在这些孩子们</a:t>
            </a:r>
          </a:p>
          <a:p>
            <a:pPr marL="0" indent="0">
              <a:buNone/>
            </a:pPr>
            <a:r>
              <a:rPr lang="zh-CN" altLang="en-US" dirty="0"/>
              <a:t>他们不能交往</a:t>
            </a:r>
          </a:p>
          <a:p>
            <a:pPr marL="0" indent="0">
              <a:buNone/>
            </a:pPr>
            <a:r>
              <a:rPr lang="zh-CN" altLang="en-US" dirty="0"/>
              <a:t>没有男女朋友关系</a:t>
            </a:r>
          </a:p>
          <a:p>
            <a:pPr marL="0" indent="0">
              <a:buNone/>
            </a:pPr>
            <a:r>
              <a:rPr lang="zh-CN" altLang="en-US" dirty="0"/>
              <a:t>没有运动、没有艺术</a:t>
            </a:r>
          </a:p>
          <a:p>
            <a:pPr marL="0" indent="0">
              <a:buNone/>
            </a:pPr>
            <a:r>
              <a:rPr lang="zh-CN" altLang="en-US" dirty="0"/>
              <a:t>然后呢，他们在青春期的时候</a:t>
            </a:r>
          </a:p>
          <a:p>
            <a:pPr marL="0" indent="0">
              <a:buNone/>
            </a:pPr>
            <a:r>
              <a:rPr lang="zh-CN" altLang="en-US" dirty="0"/>
              <a:t>他们其实是很痛苦的</a:t>
            </a:r>
          </a:p>
        </p:txBody>
      </p:sp>
    </p:spTree>
    <p:extLst>
      <p:ext uri="{BB962C8B-B14F-4D97-AF65-F5344CB8AC3E}">
        <p14:creationId xmlns:p14="http://schemas.microsoft.com/office/powerpoint/2010/main" val="270171897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8B92A-EC36-B734-49FB-44CDD919D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855CE3-BF31-732B-8C43-ADB1D52EF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正常性驱力模型缺失的严重后果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6FB6EC-55E6-995D-1D88-14A099BD0F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他们上暗网</a:t>
            </a:r>
          </a:p>
          <a:p>
            <a:pPr marL="0" indent="0">
              <a:buNone/>
            </a:pPr>
            <a:r>
              <a:rPr lang="zh-CN" altLang="en-US" dirty="0"/>
              <a:t>在暗网上下载什么呢</a:t>
            </a:r>
          </a:p>
          <a:p>
            <a:pPr marL="0" indent="0">
              <a:buNone/>
            </a:pPr>
            <a:r>
              <a:rPr lang="zh-CN" altLang="en-US" dirty="0"/>
              <a:t>下载各种各样的扭曲变态的性视频、短视频</a:t>
            </a:r>
          </a:p>
          <a:p>
            <a:pPr marL="0" indent="0">
              <a:buNone/>
            </a:pPr>
            <a:r>
              <a:rPr lang="zh-CN" altLang="en-US" dirty="0"/>
              <a:t>然后把这俩孩子培养成一种非常奇葩的性模型</a:t>
            </a:r>
          </a:p>
          <a:p>
            <a:pPr marL="0" indent="0">
              <a:buNone/>
            </a:pPr>
            <a:r>
              <a:rPr lang="zh-CN" altLang="en-US" dirty="0"/>
              <a:t>他们喜欢恋尸癖</a:t>
            </a:r>
          </a:p>
          <a:p>
            <a:pPr marL="0" indent="0">
              <a:buNone/>
            </a:pPr>
            <a:r>
              <a:rPr lang="zh-CN" altLang="en-US" dirty="0"/>
              <a:t>对眼睛的是身上长着绿毛的尸体的视频</a:t>
            </a:r>
          </a:p>
        </p:txBody>
      </p:sp>
    </p:spTree>
    <p:extLst>
      <p:ext uri="{BB962C8B-B14F-4D97-AF65-F5344CB8AC3E}">
        <p14:creationId xmlns:p14="http://schemas.microsoft.com/office/powerpoint/2010/main" val="249629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1DBEFC-0FF9-A3DD-EFFC-3391DADD8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F14A9A-7D8C-6599-6630-8E99CE24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运动和人际互动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15B74D-194C-6CA3-E1B7-EE354E1DE7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血清素是他需求爆棚的时候</a:t>
            </a:r>
          </a:p>
          <a:p>
            <a:pPr marL="0" indent="0">
              <a:buNone/>
            </a:pPr>
            <a:r>
              <a:rPr lang="zh-CN" altLang="en-US" dirty="0"/>
              <a:t>你必须要来运动</a:t>
            </a:r>
          </a:p>
          <a:p>
            <a:pPr marL="0" indent="0">
              <a:buNone/>
            </a:pPr>
            <a:r>
              <a:rPr lang="zh-CN" altLang="en-US" dirty="0"/>
              <a:t>你让他人际交往</a:t>
            </a:r>
          </a:p>
          <a:p>
            <a:pPr marL="0" indent="0">
              <a:buNone/>
            </a:pPr>
            <a:r>
              <a:rPr lang="zh-CN" altLang="en-US" dirty="0"/>
              <a:t>否则你把这孩子整个生理上都给弄坏了</a:t>
            </a:r>
          </a:p>
          <a:p>
            <a:pPr marL="0" indent="0">
              <a:buNone/>
            </a:pPr>
            <a:r>
              <a:rPr lang="zh-CN" altLang="en-US" dirty="0"/>
              <a:t>他有压力的时候</a:t>
            </a:r>
          </a:p>
          <a:p>
            <a:pPr marL="0" indent="0">
              <a:buNone/>
            </a:pPr>
            <a:r>
              <a:rPr lang="zh-CN" altLang="en-US" dirty="0"/>
              <a:t>他必须要去通过这个方式来缓解</a:t>
            </a:r>
          </a:p>
          <a:p>
            <a:pPr marL="0" indent="0">
              <a:buNone/>
            </a:pPr>
            <a:r>
              <a:rPr lang="zh-CN" altLang="en-US" dirty="0"/>
              <a:t>孩子们就游戏成瘾</a:t>
            </a:r>
          </a:p>
        </p:txBody>
      </p:sp>
    </p:spTree>
    <p:extLst>
      <p:ext uri="{BB962C8B-B14F-4D97-AF65-F5344CB8AC3E}">
        <p14:creationId xmlns:p14="http://schemas.microsoft.com/office/powerpoint/2010/main" val="42927713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16D9F-EC44-AC37-3F9B-A4970927F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27E8E85-553B-BF4C-3DCF-471F6D6E2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亲子关系的谬误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ED26EB-A0A8-77B5-641C-03433723A8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第二个就是亲子关系破坏。</a:t>
            </a:r>
          </a:p>
          <a:p>
            <a:pPr marL="0" indent="0">
              <a:buNone/>
            </a:pPr>
            <a:r>
              <a:rPr lang="zh-CN" altLang="en-US" dirty="0"/>
              <a:t>他很痛苦呀</a:t>
            </a:r>
          </a:p>
          <a:p>
            <a:pPr marL="0" indent="0">
              <a:buNone/>
            </a:pPr>
            <a:r>
              <a:rPr lang="zh-CN" altLang="en-US" dirty="0"/>
              <a:t>痛苦之后他必然就会怎么样发火呀</a:t>
            </a:r>
          </a:p>
          <a:p>
            <a:pPr marL="0" indent="0">
              <a:buNone/>
            </a:pPr>
            <a:r>
              <a:rPr lang="zh-CN" altLang="en-US" dirty="0"/>
              <a:t>他会对父母关系不好呀</a:t>
            </a:r>
          </a:p>
          <a:p>
            <a:pPr marL="0" indent="0">
              <a:buNone/>
            </a:pPr>
            <a:r>
              <a:rPr lang="zh-CN" altLang="en-US" dirty="0"/>
              <a:t>然后你们认为是亲子关系不好</a:t>
            </a:r>
          </a:p>
        </p:txBody>
      </p:sp>
    </p:spTree>
    <p:extLst>
      <p:ext uri="{BB962C8B-B14F-4D97-AF65-F5344CB8AC3E}">
        <p14:creationId xmlns:p14="http://schemas.microsoft.com/office/powerpoint/2010/main" val="13728130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6AE2E-DD93-B3AC-4557-E7516113F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373A8-E74B-8357-5324-1F6C01643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芬太尼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0B4457-F4AE-8775-4679-380106C86B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中国的孩子现在问题很严重。</a:t>
            </a:r>
          </a:p>
          <a:p>
            <a:pPr marL="0" indent="0">
              <a:buNone/>
            </a:pPr>
            <a:r>
              <a:rPr lang="zh-CN" altLang="en-US" dirty="0"/>
              <a:t>同样西方的孩子也是一样的。</a:t>
            </a:r>
          </a:p>
          <a:p>
            <a:pPr marL="0" indent="0">
              <a:buNone/>
            </a:pPr>
            <a:r>
              <a:rPr lang="zh-CN" altLang="en-US" dirty="0"/>
              <a:t>美国把芬太尼作为美国最大的问题。</a:t>
            </a:r>
          </a:p>
          <a:p>
            <a:pPr marL="0" indent="0">
              <a:buNone/>
            </a:pPr>
            <a:r>
              <a:rPr lang="zh-CN" altLang="en-US" dirty="0"/>
              <a:t>每个青年人都在普遍吃芬太尼</a:t>
            </a:r>
          </a:p>
          <a:p>
            <a:pPr marL="0" indent="0">
              <a:buNone/>
            </a:pPr>
            <a:r>
              <a:rPr lang="zh-CN" altLang="en-US" dirty="0"/>
              <a:t>用芬太尼在干嘛，缓解压</a:t>
            </a:r>
          </a:p>
          <a:p>
            <a:pPr marL="0" indent="0">
              <a:buNone/>
            </a:pPr>
            <a:r>
              <a:rPr lang="zh-CN" altLang="en-US" dirty="0"/>
              <a:t>中国生产芬兰尼生产给美国了</a:t>
            </a:r>
          </a:p>
          <a:p>
            <a:pPr marL="0" indent="0">
              <a:buNone/>
            </a:pPr>
            <a:r>
              <a:rPr lang="zh-CN" altLang="en-US" dirty="0"/>
              <a:t>所以美国就很生气</a:t>
            </a:r>
          </a:p>
        </p:txBody>
      </p:sp>
    </p:spTree>
    <p:extLst>
      <p:ext uri="{BB962C8B-B14F-4D97-AF65-F5344CB8AC3E}">
        <p14:creationId xmlns:p14="http://schemas.microsoft.com/office/powerpoint/2010/main" val="32194353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B9D1B2-A286-24BA-870D-763B77981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6564CB-34A2-4FE3-26F7-82FA388FD1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孩子错误的减压方式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7E1A27-E427-1E87-71A2-6193382A3C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中国孩子在 </a:t>
            </a:r>
            <a:r>
              <a:rPr lang="en-US" altLang="zh-CN" dirty="0"/>
              <a:t>QQ </a:t>
            </a:r>
            <a:r>
              <a:rPr lang="zh-CN" altLang="en-US" dirty="0"/>
              <a:t>群里面</a:t>
            </a:r>
          </a:p>
          <a:p>
            <a:pPr marL="0" indent="0">
              <a:buNone/>
            </a:pPr>
            <a:r>
              <a:rPr lang="zh-CN" altLang="en-US" dirty="0"/>
              <a:t>跟科学院通过私下一些联系</a:t>
            </a:r>
          </a:p>
          <a:p>
            <a:pPr marL="0" indent="0">
              <a:buNone/>
            </a:pPr>
            <a:r>
              <a:rPr lang="zh-CN" altLang="en-US" dirty="0"/>
              <a:t>他们互相传播去吃什么样的感冒药</a:t>
            </a:r>
          </a:p>
          <a:p>
            <a:pPr marL="0" indent="0">
              <a:buNone/>
            </a:pPr>
            <a:r>
              <a:rPr lang="zh-CN" altLang="en-US" dirty="0"/>
              <a:t>吃什么样就那种带镇静的药物</a:t>
            </a:r>
          </a:p>
          <a:p>
            <a:pPr marL="0" indent="0">
              <a:buNone/>
            </a:pPr>
            <a:r>
              <a:rPr lang="zh-CN" altLang="en-US" dirty="0"/>
              <a:t>能达到类似的减压效果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给他一个正确的解压方法</a:t>
            </a:r>
          </a:p>
          <a:p>
            <a:pPr marL="0" indent="0">
              <a:buNone/>
            </a:pPr>
            <a:r>
              <a:rPr lang="zh-CN" altLang="en-US" dirty="0"/>
              <a:t>而不是搞什么亲子关系问题</a:t>
            </a: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4829029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D8A02-8CEA-F469-F3A9-9D050ADA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27C411-46B2-0C2B-6AFD-112CAF40E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人际沟通能力缺失的严峻性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38B2A2-B144-64A4-EC4D-F404316262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零零后啊，或者一零后这些啊</a:t>
            </a:r>
          </a:p>
          <a:p>
            <a:pPr marL="0" indent="0">
              <a:buNone/>
            </a:pPr>
            <a:r>
              <a:rPr lang="zh-CN" altLang="en-US" dirty="0"/>
              <a:t>年纪小点的那些啊</a:t>
            </a:r>
          </a:p>
          <a:p>
            <a:pPr marL="0" indent="0">
              <a:buNone/>
            </a:pPr>
            <a:r>
              <a:rPr lang="zh-CN" altLang="en-US" dirty="0"/>
              <a:t>看那些刚刚参加工作的年轻</a:t>
            </a:r>
            <a:r>
              <a:rPr lang="en-US" altLang="zh-CN" dirty="0"/>
              <a:t>18</a:t>
            </a:r>
            <a:r>
              <a:rPr lang="zh-CN" altLang="en-US" dirty="0"/>
              <a:t>岁左右</a:t>
            </a:r>
          </a:p>
          <a:p>
            <a:pPr marL="0" indent="0">
              <a:buNone/>
            </a:pPr>
            <a:r>
              <a:rPr lang="zh-CN" altLang="en-US" dirty="0"/>
              <a:t>他连打电话都不会打</a:t>
            </a:r>
          </a:p>
          <a:p>
            <a:pPr marL="0" indent="0">
              <a:buNone/>
            </a:pPr>
            <a:r>
              <a:rPr lang="zh-CN" altLang="en-US" dirty="0"/>
              <a:t>因为他不知道怎么说话</a:t>
            </a:r>
          </a:p>
          <a:p>
            <a:pPr marL="0" indent="0">
              <a:buNone/>
            </a:pPr>
            <a:r>
              <a:rPr lang="zh-CN" altLang="en-US" dirty="0"/>
              <a:t>他们只擅长发表情包</a:t>
            </a:r>
          </a:p>
          <a:p>
            <a:pPr marL="0" indent="0">
              <a:buNone/>
            </a:pPr>
            <a:r>
              <a:rPr lang="zh-CN" altLang="en-US" dirty="0"/>
              <a:t>因为他们不具备语言表达和沟通的能力。（他都不会甚至不知道去请教别人）</a:t>
            </a:r>
          </a:p>
          <a:p>
            <a:pPr marL="0" indent="0">
              <a:buNone/>
            </a:pPr>
            <a:r>
              <a:rPr lang="zh-CN" altLang="en-US" dirty="0"/>
              <a:t>这些都是有研究的，不要以为是简单的现象。</a:t>
            </a:r>
          </a:p>
        </p:txBody>
      </p:sp>
    </p:spTree>
    <p:extLst>
      <p:ext uri="{BB962C8B-B14F-4D97-AF65-F5344CB8AC3E}">
        <p14:creationId xmlns:p14="http://schemas.microsoft.com/office/powerpoint/2010/main" val="35628370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08602D-0153-22D9-8574-88FCE5EDA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31D6E-AAE8-8DE2-8310-E8AC8067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嬉皮士运动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A72EABE-F174-884A-570C-66C2F65AF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像现在我们看到的这种现象，其实不是中国独有的，也不是现在才有的。</a:t>
            </a:r>
          </a:p>
          <a:p>
            <a:pPr marL="0" indent="0">
              <a:buNone/>
            </a:pPr>
            <a:r>
              <a:rPr lang="zh-CN" altLang="en-US" dirty="0"/>
              <a:t>早在上个世纪</a:t>
            </a:r>
            <a:r>
              <a:rPr lang="en-US" altLang="zh-CN" dirty="0"/>
              <a:t>60</a:t>
            </a:r>
            <a:r>
              <a:rPr lang="zh-CN" altLang="en-US" dirty="0"/>
              <a:t>年代，全球就出现过这样的问题。</a:t>
            </a:r>
          </a:p>
          <a:p>
            <a:pPr marL="0" indent="0">
              <a:buNone/>
            </a:pPr>
            <a:r>
              <a:rPr lang="zh-CN" altLang="en-US" dirty="0"/>
              <a:t>在美国出现了嬉皮士运动。</a:t>
            </a:r>
          </a:p>
          <a:p>
            <a:pPr marL="0" indent="0">
              <a:buNone/>
            </a:pPr>
            <a:r>
              <a:rPr lang="zh-CN" altLang="en-US" dirty="0"/>
              <a:t>第二代会退化，会垮掉。</a:t>
            </a:r>
          </a:p>
          <a:p>
            <a:pPr marL="0" indent="0">
              <a:buNone/>
            </a:pPr>
            <a:r>
              <a:rPr lang="zh-CN" altLang="en-US" dirty="0"/>
              <a:t>美国当时的解密文件中写道，希望中国的第二代也垮掉。</a:t>
            </a:r>
          </a:p>
          <a:p>
            <a:pPr marL="0" indent="0">
              <a:buNone/>
            </a:pPr>
            <a:r>
              <a:rPr lang="zh-CN" altLang="en-US" dirty="0"/>
              <a:t>这样就不会竞争失败了。</a:t>
            </a:r>
          </a:p>
          <a:p>
            <a:pPr marL="0" indent="0">
              <a:buNone/>
            </a:pPr>
            <a:r>
              <a:rPr lang="zh-CN" altLang="en-US" dirty="0"/>
              <a:t>中国的第二代，就是通过上山下乡，解决了这个问题。</a:t>
            </a:r>
          </a:p>
        </p:txBody>
      </p:sp>
    </p:spTree>
    <p:extLst>
      <p:ext uri="{BB962C8B-B14F-4D97-AF65-F5344CB8AC3E}">
        <p14:creationId xmlns:p14="http://schemas.microsoft.com/office/powerpoint/2010/main" val="296606499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D66C6F-4DEB-660E-6969-34C5FBA0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E5E903-5C82-CF32-4B6B-B8397780A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z="4400" dirty="0"/>
              <a:t>25</a:t>
            </a:r>
            <a:r>
              <a:rPr lang="zh-CN" altLang="en-US" sz="4400" dirty="0"/>
              <a:t>号宇宙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89A6F3-5632-C937-67E3-A48767242A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25</a:t>
            </a:r>
            <a:r>
              <a:rPr lang="zh-CN" altLang="en-US" dirty="0"/>
              <a:t>号宇宙的老鼠实验。</a:t>
            </a:r>
          </a:p>
          <a:p>
            <a:pPr marL="0" indent="0">
              <a:buNone/>
            </a:pPr>
            <a:r>
              <a:rPr lang="zh-CN" altLang="en-US" dirty="0"/>
              <a:t>结论：</a:t>
            </a:r>
          </a:p>
          <a:p>
            <a:pPr marL="0" indent="0">
              <a:buNone/>
            </a:pPr>
            <a:r>
              <a:rPr lang="zh-CN" altLang="en-US" dirty="0"/>
              <a:t>第一，父母不喜欢孩子，互相攻击</a:t>
            </a:r>
          </a:p>
          <a:p>
            <a:pPr marL="0" indent="0">
              <a:buNone/>
            </a:pPr>
            <a:r>
              <a:rPr lang="zh-CN" altLang="en-US" dirty="0"/>
              <a:t>第二，雄性女性化，雌性开始增强，要求女性权利</a:t>
            </a:r>
          </a:p>
          <a:p>
            <a:pPr marL="0" indent="0">
              <a:buNone/>
            </a:pPr>
            <a:r>
              <a:rPr lang="zh-CN" altLang="en-US" dirty="0"/>
              <a:t>不求偶，不繁殖。</a:t>
            </a:r>
          </a:p>
          <a:p>
            <a:pPr marL="0" indent="0">
              <a:buNone/>
            </a:pPr>
            <a:r>
              <a:rPr lang="zh-CN" altLang="en-US" dirty="0"/>
              <a:t>目前生孩子的主力是在</a:t>
            </a:r>
            <a:r>
              <a:rPr lang="en-US" altLang="zh-CN" dirty="0"/>
              <a:t>40</a:t>
            </a:r>
            <a:r>
              <a:rPr lang="zh-CN" altLang="en-US" dirty="0"/>
              <a:t>多岁的人，而年轻人几乎都不怎么生孩子。</a:t>
            </a:r>
          </a:p>
          <a:p>
            <a:pPr marL="0" indent="0">
              <a:buNone/>
            </a:pPr>
            <a:r>
              <a:rPr lang="zh-CN" altLang="en-US" dirty="0"/>
              <a:t>日本是经历过这一切的。</a:t>
            </a:r>
          </a:p>
          <a:p>
            <a:pPr marL="0" indent="0">
              <a:buNone/>
            </a:pPr>
            <a:r>
              <a:rPr lang="zh-CN" altLang="en-US" dirty="0"/>
              <a:t>在上个世纪日本就已经开始宅文化。</a:t>
            </a:r>
          </a:p>
        </p:txBody>
      </p:sp>
    </p:spTree>
    <p:extLst>
      <p:ext uri="{BB962C8B-B14F-4D97-AF65-F5344CB8AC3E}">
        <p14:creationId xmlns:p14="http://schemas.microsoft.com/office/powerpoint/2010/main" val="33089652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C50539-6176-A14B-E66E-1D5FD9BDE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4BD122-590E-8953-EA42-CCCC741A8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国家鼓励生育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E04C2E-04B7-77CE-3ACC-FCE18A243D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国家对于安全套开始收税了。</a:t>
            </a:r>
          </a:p>
          <a:p>
            <a:pPr marL="0" indent="0">
              <a:buNone/>
            </a:pPr>
            <a:r>
              <a:rPr lang="zh-CN" altLang="en-US" dirty="0"/>
              <a:t>下一步可能会限售或禁售。</a:t>
            </a:r>
          </a:p>
        </p:txBody>
      </p:sp>
    </p:spTree>
    <p:extLst>
      <p:ext uri="{BB962C8B-B14F-4D97-AF65-F5344CB8AC3E}">
        <p14:creationId xmlns:p14="http://schemas.microsoft.com/office/powerpoint/2010/main" val="22539265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E9A946-0908-B1E2-BCF4-EEEE7246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759986E-909F-FF70-71F5-4C2D40D8A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年轻人竞争的标准变了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4C6530A-A3CD-DD5C-2E1A-30C060FCC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你看现在的年轻人，不愿意花时间社交，浑身疲惫感。</a:t>
            </a:r>
          </a:p>
          <a:p>
            <a:pPr marL="0" indent="0">
              <a:buNone/>
            </a:pPr>
            <a:r>
              <a:rPr lang="zh-CN" altLang="en-US" dirty="0"/>
              <a:t>这样的人难以立志、没有理想。</a:t>
            </a:r>
          </a:p>
          <a:p>
            <a:pPr marL="0" indent="0">
              <a:buNone/>
            </a:pPr>
            <a:r>
              <a:rPr lang="zh-CN" altLang="en-US" dirty="0"/>
              <a:t>实际上我们说的儿童青少年教育到底比的是什么？</a:t>
            </a:r>
          </a:p>
          <a:p>
            <a:pPr marL="0" indent="0">
              <a:buNone/>
            </a:pPr>
            <a:r>
              <a:rPr lang="zh-CN" altLang="en-US" dirty="0"/>
              <a:t>像跳高一样，其实比的就是谁最后失败。</a:t>
            </a:r>
          </a:p>
          <a:p>
            <a:pPr marL="0" indent="0">
              <a:buNone/>
            </a:pPr>
            <a:r>
              <a:rPr lang="zh-CN" altLang="en-US" dirty="0"/>
              <a:t>大家都失败了，但是你坚持到最后才失败，其实就是你胜了！</a:t>
            </a:r>
          </a:p>
          <a:p>
            <a:pPr marL="0" indent="0">
              <a:buNone/>
            </a:pPr>
            <a:r>
              <a:rPr lang="zh-CN" altLang="en-US" dirty="0"/>
              <a:t>很多孩子，不是小学躺平，就是初中躺平，不是初中就是高中，不是高中就是大学，不是大学就是工作后。</a:t>
            </a:r>
          </a:p>
          <a:p>
            <a:pPr marL="0" indent="0">
              <a:buNone/>
            </a:pPr>
            <a:r>
              <a:rPr lang="zh-CN" altLang="en-US" dirty="0"/>
              <a:t>越晚倒下，机会越多。</a:t>
            </a:r>
          </a:p>
          <a:p>
            <a:pPr marL="0" indent="0">
              <a:buNone/>
            </a:pPr>
            <a:r>
              <a:rPr lang="zh-CN" altLang="en-US" dirty="0"/>
              <a:t>关键在哪里呢？</a:t>
            </a:r>
          </a:p>
          <a:p>
            <a:pPr marL="0" indent="0">
              <a:buNone/>
            </a:pPr>
            <a:r>
              <a:rPr lang="zh-CN" altLang="en-US" dirty="0"/>
              <a:t>关键就在于欲望的保持！</a:t>
            </a:r>
          </a:p>
        </p:txBody>
      </p:sp>
    </p:spTree>
    <p:extLst>
      <p:ext uri="{BB962C8B-B14F-4D97-AF65-F5344CB8AC3E}">
        <p14:creationId xmlns:p14="http://schemas.microsoft.com/office/powerpoint/2010/main" val="225944464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AEA13-F54F-9D21-DA5C-684C7D497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23939F-BD1E-9756-8F9E-CEC6A1627F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怎么做</a:t>
            </a:r>
            <a:r>
              <a:rPr lang="en-US" altLang="zh-CN" sz="4400" dirty="0"/>
              <a:t>——</a:t>
            </a:r>
            <a:r>
              <a:rPr lang="zh-CN" altLang="en-US" sz="4400" dirty="0"/>
              <a:t>接触自然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16AD339-025C-EDD0-03A4-2F402FF8B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怎么做呢？</a:t>
            </a:r>
          </a:p>
          <a:p>
            <a:pPr marL="0" indent="0">
              <a:buNone/>
            </a:pPr>
            <a:r>
              <a:rPr lang="zh-CN" altLang="en-US" dirty="0"/>
              <a:t>四个方法。</a:t>
            </a:r>
          </a:p>
          <a:p>
            <a:pPr marL="0" indent="0">
              <a:buNone/>
            </a:pPr>
            <a:r>
              <a:rPr lang="zh-CN" altLang="en-US" dirty="0"/>
              <a:t>第一，一定要让孩子接触自然</a:t>
            </a:r>
          </a:p>
          <a:p>
            <a:pPr marL="0" indent="0">
              <a:buNone/>
            </a:pPr>
            <a:r>
              <a:rPr lang="zh-CN" altLang="en-US" dirty="0"/>
              <a:t>自然能给人带来欲望</a:t>
            </a:r>
          </a:p>
        </p:txBody>
      </p:sp>
    </p:spTree>
    <p:extLst>
      <p:ext uri="{BB962C8B-B14F-4D97-AF65-F5344CB8AC3E}">
        <p14:creationId xmlns:p14="http://schemas.microsoft.com/office/powerpoint/2010/main" val="1438312463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28BB-0FB1-9A1F-CC0B-FDC52C0675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7F81AFF-3549-6A70-6908-D8EB8CAE3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dirty="0"/>
              <a:t>怎么做</a:t>
            </a:r>
            <a:r>
              <a:rPr lang="en-US" altLang="zh-CN" sz="4400" dirty="0"/>
              <a:t>——</a:t>
            </a:r>
            <a:r>
              <a:rPr lang="zh-CN" altLang="en-US" sz="4400" dirty="0"/>
              <a:t>同伴社交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EA50B06-7147-1246-16E5-A51DE4F457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第二是要让孩子有社交</a:t>
            </a:r>
          </a:p>
          <a:p>
            <a:pPr marL="0" indent="0">
              <a:buNone/>
            </a:pPr>
            <a:endParaRPr lang="zh-CN" altLang="en-US" dirty="0"/>
          </a:p>
          <a:p>
            <a:pPr marL="0" indent="0">
              <a:buNone/>
            </a:pPr>
            <a:r>
              <a:rPr lang="zh-CN" altLang="en-US" dirty="0"/>
              <a:t>一样有同伴</a:t>
            </a:r>
          </a:p>
        </p:txBody>
      </p:sp>
    </p:spTree>
    <p:extLst>
      <p:ext uri="{BB962C8B-B14F-4D97-AF65-F5344CB8AC3E}">
        <p14:creationId xmlns:p14="http://schemas.microsoft.com/office/powerpoint/2010/main" val="211771039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8BA382-090E-4411-667A-599E2CEB7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E5F6C-38AA-EAF0-686F-FFFE1B06B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900" dirty="0"/>
              <a:t>怎么做</a:t>
            </a:r>
            <a:r>
              <a:rPr lang="en-US" altLang="zh-CN" sz="900" dirty="0"/>
              <a:t>——</a:t>
            </a:r>
            <a:r>
              <a:rPr lang="zh-CN" altLang="en-US" sz="900" dirty="0"/>
              <a:t>运动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B423D2F-6492-7AFB-C92A-3B92905EB8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第三是运动</a:t>
            </a:r>
          </a:p>
          <a:p>
            <a:pPr marL="0" indent="0">
              <a:buNone/>
            </a:pPr>
            <a:r>
              <a:rPr lang="zh-CN" altLang="en-US" dirty="0"/>
              <a:t>运动可能带来多巴胺</a:t>
            </a:r>
          </a:p>
          <a:p>
            <a:pPr marL="0" indent="0">
              <a:buNone/>
            </a:pPr>
            <a:r>
              <a:rPr lang="zh-CN" altLang="en-US" dirty="0"/>
              <a:t>艺术活动也能带来多巴胺艺术</a:t>
            </a:r>
          </a:p>
          <a:p>
            <a:pPr marL="0" indent="0">
              <a:buNone/>
            </a:pPr>
            <a:r>
              <a:rPr lang="zh-CN" altLang="en-US" dirty="0"/>
              <a:t>还有我们说的血清素安抚的效果</a:t>
            </a:r>
          </a:p>
        </p:txBody>
      </p:sp>
    </p:spTree>
    <p:extLst>
      <p:ext uri="{BB962C8B-B14F-4D97-AF65-F5344CB8AC3E}">
        <p14:creationId xmlns:p14="http://schemas.microsoft.com/office/powerpoint/2010/main" val="200279708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9DEAB4-1521-C2BB-2902-306637345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C4D6F0-7D17-7693-E971-044C9360D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900" dirty="0"/>
              <a:t>怎么做</a:t>
            </a:r>
            <a:r>
              <a:rPr lang="en-US" altLang="zh-CN" sz="900" dirty="0"/>
              <a:t>——</a:t>
            </a:r>
            <a:r>
              <a:rPr lang="zh-CN" altLang="en-US" sz="900" dirty="0"/>
              <a:t>艺术活动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8411DB9-AD2D-FD01-F7B1-F110188135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第四个艺术</a:t>
            </a:r>
          </a:p>
          <a:p>
            <a:pPr marL="0" indent="0">
              <a:buNone/>
            </a:pPr>
            <a:r>
              <a:rPr lang="zh-CN" altLang="en-US" dirty="0"/>
              <a:t>通过艺术手段来缓解压力和增强心理加工能力</a:t>
            </a:r>
          </a:p>
        </p:txBody>
      </p:sp>
    </p:spTree>
    <p:extLst>
      <p:ext uri="{BB962C8B-B14F-4D97-AF65-F5344CB8AC3E}">
        <p14:creationId xmlns:p14="http://schemas.microsoft.com/office/powerpoint/2010/main" val="32339467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D19F4F-EA34-9DC1-187E-D1C95DFCE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B71B4F-3E9D-CF49-6EAC-B93200EFB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900" dirty="0"/>
              <a:t>童子军运动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049009-2F95-BDA5-445A-04CE44E4A3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童子军运动</a:t>
            </a:r>
          </a:p>
          <a:p>
            <a:pPr marL="0" indent="0">
              <a:buNone/>
            </a:pPr>
            <a:r>
              <a:rPr lang="zh-CN" altLang="en-US" dirty="0"/>
              <a:t>最早发现这类问题并不是我们国家，实际上是英国。</a:t>
            </a:r>
          </a:p>
          <a:p>
            <a:pPr marL="0" indent="0">
              <a:buNone/>
            </a:pPr>
            <a:r>
              <a:rPr lang="zh-CN" altLang="en-US" dirty="0"/>
              <a:t>因为英国最早进行工业革命</a:t>
            </a:r>
          </a:p>
          <a:p>
            <a:pPr marL="0" indent="0">
              <a:buNone/>
            </a:pPr>
            <a:r>
              <a:rPr lang="zh-CN" altLang="en-US" dirty="0"/>
              <a:t>所以英国的孩子最早这种情况</a:t>
            </a:r>
          </a:p>
          <a:p>
            <a:pPr marL="0" indent="0">
              <a:buNone/>
            </a:pPr>
            <a:r>
              <a:rPr lang="zh-CN" altLang="en-US" dirty="0"/>
              <a:t>当时英国有一个就是军官</a:t>
            </a:r>
          </a:p>
          <a:p>
            <a:pPr marL="0" indent="0">
              <a:buNone/>
            </a:pPr>
            <a:r>
              <a:rPr lang="zh-CN" altLang="en-US" dirty="0"/>
              <a:t>他发现他的孩子跟他完全不一样</a:t>
            </a:r>
          </a:p>
          <a:p>
            <a:pPr marL="0" indent="0">
              <a:buNone/>
            </a:pPr>
            <a:r>
              <a:rPr lang="zh-CN" altLang="en-US" dirty="0"/>
              <a:t>弱小无能，不爱社交，没有任何欲望</a:t>
            </a:r>
          </a:p>
          <a:p>
            <a:pPr marL="0" indent="0">
              <a:buNone/>
            </a:pPr>
            <a:r>
              <a:rPr lang="zh-CN" altLang="en-US" dirty="0"/>
              <a:t>然后他就说这样怎么能行呢</a:t>
            </a:r>
          </a:p>
          <a:p>
            <a:pPr marL="0" indent="0">
              <a:buNone/>
            </a:pPr>
            <a:r>
              <a:rPr lang="zh-CN" altLang="en-US" dirty="0"/>
              <a:t>怎么继承他的家业呢</a:t>
            </a:r>
          </a:p>
          <a:p>
            <a:pPr marL="0" indent="0">
              <a:buNone/>
            </a:pPr>
            <a:r>
              <a:rPr lang="zh-CN" altLang="en-US" dirty="0"/>
              <a:t>然后他就发起了一个运动，叫做童子军运动</a:t>
            </a:r>
          </a:p>
        </p:txBody>
      </p:sp>
    </p:spTree>
    <p:extLst>
      <p:ext uri="{BB962C8B-B14F-4D97-AF65-F5344CB8AC3E}">
        <p14:creationId xmlns:p14="http://schemas.microsoft.com/office/powerpoint/2010/main" val="2314384360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543D-B8F8-7F02-DEAF-9BF5F68A6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D4F95A4-8828-2FA2-44B1-375F7EAB4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900" dirty="0"/>
              <a:t>未来教育：自然、社交、体育、艺术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7F27BE-D644-8DE6-30A6-A486157E7D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zh-CN" altLang="en-US" dirty="0"/>
              <a:t>你看这是西方的孩子每年需要进行通运动</a:t>
            </a:r>
          </a:p>
          <a:p>
            <a:pPr marL="0" indent="0">
              <a:buNone/>
            </a:pPr>
            <a:r>
              <a:rPr lang="zh-CN" altLang="en-US" dirty="0"/>
              <a:t>这才能保证西方孩子能维持他的欲望</a:t>
            </a:r>
          </a:p>
          <a:p>
            <a:pPr marL="0" indent="0">
              <a:buNone/>
            </a:pPr>
            <a:r>
              <a:rPr lang="zh-CN" altLang="en-US" dirty="0"/>
              <a:t>常青藤名校的前身叫体育生联盟</a:t>
            </a:r>
          </a:p>
          <a:p>
            <a:pPr marL="0" indent="0">
              <a:buNone/>
            </a:pPr>
            <a:r>
              <a:rPr lang="zh-CN" altLang="en-US" dirty="0"/>
              <a:t>就说明他在上大学之前</a:t>
            </a:r>
          </a:p>
          <a:p>
            <a:pPr marL="0" indent="0">
              <a:buNone/>
            </a:pPr>
            <a:r>
              <a:rPr lang="zh-CN" altLang="en-US" dirty="0"/>
              <a:t>获得过很多很多的什么活动</a:t>
            </a:r>
          </a:p>
          <a:p>
            <a:pPr marL="0" indent="0">
              <a:buNone/>
            </a:pPr>
            <a:r>
              <a:rPr lang="zh-CN" altLang="en-US" dirty="0"/>
              <a:t>比如说考古勋章、影视勋章、东京文化勋章、城市勋章、远足勋章</a:t>
            </a:r>
          </a:p>
          <a:p>
            <a:pPr marL="0" indent="0">
              <a:buNone/>
            </a:pPr>
            <a:r>
              <a:rPr lang="zh-CN" altLang="en-US" dirty="0"/>
              <a:t>大学他就给他开门</a:t>
            </a:r>
          </a:p>
        </p:txBody>
      </p:sp>
    </p:spTree>
    <p:extLst>
      <p:ext uri="{BB962C8B-B14F-4D97-AF65-F5344CB8AC3E}">
        <p14:creationId xmlns:p14="http://schemas.microsoft.com/office/powerpoint/2010/main" val="255036769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741CD7-9FB1-F657-C907-C25081611D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A21492E-272F-CB51-C162-76EBACDA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662740"/>
            <a:ext cx="11155680" cy="936652"/>
          </a:xfrm>
        </p:spPr>
        <p:txBody>
          <a:bodyPr/>
          <a:lstStyle/>
          <a:p>
            <a:pPr algn="ctr"/>
            <a:r>
              <a:rPr lang="en-US" altLang="zh-CN" sz="4400" dirty="0"/>
              <a:t>AI</a:t>
            </a:r>
            <a:r>
              <a:rPr lang="zh-CN" altLang="en-US" sz="4400" dirty="0"/>
              <a:t>时代高智慧家长私教课第一季</a:t>
            </a:r>
            <a:br>
              <a:rPr lang="en-US" altLang="zh-CN" sz="4400" dirty="0"/>
            </a:br>
            <a:r>
              <a:rPr lang="zh-CN" altLang="en-US" sz="4400" dirty="0"/>
              <a:t>感谢您的关注！</a:t>
            </a:r>
          </a:p>
        </p:txBody>
      </p:sp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13A7921E-A193-DF0A-DDCC-CA2CFD1B8C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207" y="5455716"/>
            <a:ext cx="11155680" cy="913524"/>
          </a:xfrm>
        </p:spPr>
        <p:txBody>
          <a:bodyPr/>
          <a:lstStyle/>
          <a:p>
            <a:pPr marL="0" indent="0" algn="ctr">
              <a:buNone/>
            </a:pPr>
            <a:r>
              <a:rPr lang="zh-CN" altLang="en-US" sz="1400" dirty="0">
                <a:latin typeface="+mn-ea"/>
              </a:rPr>
              <a:t>浥尘伙伴社团 </a:t>
            </a:r>
            <a:r>
              <a:rPr lang="en-US" altLang="zh-CN" sz="1400" dirty="0">
                <a:latin typeface="+mn-ea"/>
              </a:rPr>
              <a:t>/ 2026.3</a:t>
            </a:r>
            <a:endParaRPr lang="zh-CN" altLang="en-US" sz="1400" dirty="0">
              <a:latin typeface="+mn-ea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D4A1A7E-F71D-77E4-DC09-0880DD9172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7428" y="2544613"/>
            <a:ext cx="2457143" cy="2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010727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495</TotalTime>
  <Words>3635</Words>
  <Application>Microsoft Office PowerPoint</Application>
  <PresentationFormat>宽屏</PresentationFormat>
  <Paragraphs>365</Paragraphs>
  <Slides>64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68" baseType="lpstr">
      <vt:lpstr>Microsoft YaHei</vt:lpstr>
      <vt:lpstr>Arial</vt:lpstr>
      <vt:lpstr>Bierstadt</vt:lpstr>
      <vt:lpstr>GestaltVTI</vt:lpstr>
      <vt:lpstr>AI时代高智慧家长私教课第一季</vt:lpstr>
      <vt:lpstr>教育面向未来，而非面向现在</vt:lpstr>
      <vt:lpstr>职业方向定位</vt:lpstr>
      <vt:lpstr>教育改革密集进行</vt:lpstr>
      <vt:lpstr>第三代儿童教育就是面向未来的教育</vt:lpstr>
      <vt:lpstr>中国未来缺人，但不缺大学生</vt:lpstr>
      <vt:lpstr>外卖骑手</vt:lpstr>
      <vt:lpstr>无人驾驶车</vt:lpstr>
      <vt:lpstr>上山下乡</vt:lpstr>
      <vt:lpstr>中美竞争</vt:lpstr>
      <vt:lpstr>资本主义的闭环逻辑</vt:lpstr>
      <vt:lpstr>人才过剩</vt:lpstr>
      <vt:lpstr>第一代教育模式</vt:lpstr>
      <vt:lpstr>第二代教育模式</vt:lpstr>
      <vt:lpstr>第二代教育模式的弊端</vt:lpstr>
      <vt:lpstr>躺平问题</vt:lpstr>
      <vt:lpstr>躺平问题的案例</vt:lpstr>
      <vt:lpstr>躺平问题的本质</vt:lpstr>
      <vt:lpstr>教育失败是大概率事件</vt:lpstr>
      <vt:lpstr>为什么学习如此艰难</vt:lpstr>
      <vt:lpstr>学校是怎么发明出来的</vt:lpstr>
      <vt:lpstr>教育变化的根源</vt:lpstr>
      <vt:lpstr>普娃怎么办</vt:lpstr>
      <vt:lpstr>教育王道：体验真实世界</vt:lpstr>
      <vt:lpstr>手机游戏的本质</vt:lpstr>
      <vt:lpstr>常见错误教育方式——放任发展</vt:lpstr>
      <vt:lpstr>常见错误教育方式——过度管理</vt:lpstr>
      <vt:lpstr>常见错误教育方式——放纵学校教育</vt:lpstr>
      <vt:lpstr>同伴环境缺失，导致被边缘化</vt:lpstr>
      <vt:lpstr>学霸照样会培养失败</vt:lpstr>
      <vt:lpstr>常见教育思维误区——只要学习好就行</vt:lpstr>
      <vt:lpstr>常见教育思维误区——忽视校外活动</vt:lpstr>
      <vt:lpstr>吃大饼的故事</vt:lpstr>
      <vt:lpstr>常见教育思维误区——缺乏心理韧性和品行培养</vt:lpstr>
      <vt:lpstr>常见教育思维误区——纵容手机游戏</vt:lpstr>
      <vt:lpstr>手机游戏危害科普</vt:lpstr>
      <vt:lpstr>手机游戏危害案例</vt:lpstr>
      <vt:lpstr>常见教育思维误区——物质交换</vt:lpstr>
      <vt:lpstr>常见教育思维误区——家庭安乐窝</vt:lpstr>
      <vt:lpstr>常见教育思维误区——谎言教育</vt:lpstr>
      <vt:lpstr>虚拟世界：二次元、电子游戏</vt:lpstr>
      <vt:lpstr>低欲望综合症</vt:lpstr>
      <vt:lpstr>低欲望综合症的表现</vt:lpstr>
      <vt:lpstr>教育重点不再是学习成绩和方法</vt:lpstr>
      <vt:lpstr>多巴胺模型</vt:lpstr>
      <vt:lpstr>血清素模型、压力激素模型</vt:lpstr>
      <vt:lpstr>性驱力模型</vt:lpstr>
      <vt:lpstr>正常性驱力模型缺失的严重后果</vt:lpstr>
      <vt:lpstr>运动和人际互动</vt:lpstr>
      <vt:lpstr>亲子关系的谬误</vt:lpstr>
      <vt:lpstr>芬太尼</vt:lpstr>
      <vt:lpstr>孩子错误的减压方式</vt:lpstr>
      <vt:lpstr>人际沟通能力缺失的严峻性</vt:lpstr>
      <vt:lpstr>嬉皮士运动</vt:lpstr>
      <vt:lpstr>25号宇宙</vt:lpstr>
      <vt:lpstr>国家鼓励生育</vt:lpstr>
      <vt:lpstr>年轻人竞争的标准变了</vt:lpstr>
      <vt:lpstr>怎么做——接触自然</vt:lpstr>
      <vt:lpstr>怎么做——同伴社交</vt:lpstr>
      <vt:lpstr>怎么做——运动</vt:lpstr>
      <vt:lpstr>怎么做——艺术活动</vt:lpstr>
      <vt:lpstr>童子军运动</vt:lpstr>
      <vt:lpstr>未来教育：自然、社交、体育、艺术</vt:lpstr>
      <vt:lpstr>AI时代高智慧家长私教课第一季 感谢您的关注！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智慧家长课堂</dc:title>
  <dc:creator>ABC</dc:creator>
  <cp:lastModifiedBy>ABC</cp:lastModifiedBy>
  <cp:revision>245</cp:revision>
  <dcterms:created xsi:type="dcterms:W3CDTF">2025-09-26T07:10:55Z</dcterms:created>
  <dcterms:modified xsi:type="dcterms:W3CDTF">2026-02-27T03:14:07Z</dcterms:modified>
</cp:coreProperties>
</file>