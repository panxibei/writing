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355" r:id="rId4"/>
    <p:sldId id="356" r:id="rId5"/>
    <p:sldId id="293" r:id="rId6"/>
    <p:sldId id="294" r:id="rId7"/>
    <p:sldId id="295" r:id="rId8"/>
    <p:sldId id="297" r:id="rId9"/>
    <p:sldId id="296" r:id="rId10"/>
    <p:sldId id="298" r:id="rId11"/>
    <p:sldId id="299" r:id="rId12"/>
    <p:sldId id="300" r:id="rId13"/>
    <p:sldId id="301" r:id="rId14"/>
    <p:sldId id="302" r:id="rId15"/>
    <p:sldId id="303" r:id="rId16"/>
    <p:sldId id="304" r:id="rId17"/>
    <p:sldId id="307" r:id="rId18"/>
    <p:sldId id="308" r:id="rId19"/>
    <p:sldId id="309" r:id="rId20"/>
    <p:sldId id="310" r:id="rId21"/>
    <p:sldId id="353" r:id="rId22"/>
    <p:sldId id="35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2" r:id="rId35"/>
    <p:sldId id="323" r:id="rId36"/>
    <p:sldId id="324" r:id="rId37"/>
    <p:sldId id="325" r:id="rId38"/>
    <p:sldId id="326" r:id="rId39"/>
    <p:sldId id="327" r:id="rId40"/>
    <p:sldId id="328" r:id="rId41"/>
    <p:sldId id="329" r:id="rId42"/>
    <p:sldId id="330" r:id="rId43"/>
    <p:sldId id="331" r:id="rId44"/>
    <p:sldId id="332" r:id="rId45"/>
    <p:sldId id="333" r:id="rId46"/>
    <p:sldId id="334" r:id="rId47"/>
    <p:sldId id="335" r:id="rId48"/>
    <p:sldId id="336" r:id="rId49"/>
    <p:sldId id="337" r:id="rId50"/>
    <p:sldId id="338" r:id="rId51"/>
    <p:sldId id="339" r:id="rId52"/>
    <p:sldId id="340" r:id="rId53"/>
    <p:sldId id="342" r:id="rId54"/>
    <p:sldId id="343" r:id="rId55"/>
    <p:sldId id="344" r:id="rId56"/>
    <p:sldId id="345" r:id="rId57"/>
    <p:sldId id="346" r:id="rId58"/>
    <p:sldId id="347" r:id="rId59"/>
    <p:sldId id="348" r:id="rId60"/>
    <p:sldId id="349" r:id="rId61"/>
    <p:sldId id="350" r:id="rId62"/>
    <p:sldId id="351" r:id="rId63"/>
    <p:sldId id="352" r:id="rId64"/>
    <p:sldId id="292" r:id="rId6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0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" y="5739969"/>
            <a:ext cx="1112266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en-US" altLang="zh-CN" sz="5400" dirty="0"/>
              <a:t>AI</a:t>
            </a:r>
            <a:r>
              <a:rPr lang="zh-CN" altLang="en-US" sz="5400" dirty="0"/>
              <a:t>时代高智慧家长私教课第一季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94375" y="5739969"/>
            <a:ext cx="3355309" cy="96012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zh-CN" altLang="en-US" sz="1900" dirty="0"/>
              <a:t>浥尘伙伴社团</a:t>
            </a:r>
            <a:endParaRPr lang="en-US" altLang="zh-CN" sz="1900" dirty="0"/>
          </a:p>
          <a:p>
            <a:pPr algn="r"/>
            <a:r>
              <a:rPr lang="en-US" altLang="zh-CN" sz="1900" dirty="0"/>
              <a:t>2026</a:t>
            </a:r>
            <a:r>
              <a:rPr lang="zh-CN" altLang="en-US" sz="1900" dirty="0"/>
              <a:t>年</a:t>
            </a:r>
            <a:r>
              <a:rPr lang="en-US" altLang="zh-CN" sz="1900" dirty="0"/>
              <a:t>3</a:t>
            </a:r>
            <a:r>
              <a:rPr lang="zh-CN" altLang="en-US" sz="1900" dirty="0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/>
          <a:lstStyle/>
          <a:p>
            <a:r>
              <a:rPr lang="zh-CN" altLang="en-US" sz="4400" dirty="0"/>
              <a:t>教育面向未来，而非面向现在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59000"/>
            <a:ext cx="11155680" cy="41869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未来多久？至少</a:t>
            </a:r>
            <a:r>
              <a:rPr lang="en-US" altLang="zh-CN" dirty="0"/>
              <a:t>10</a:t>
            </a:r>
            <a:r>
              <a:rPr lang="zh-CN" altLang="en-US" dirty="0"/>
              <a:t>年以上。本科</a:t>
            </a:r>
            <a:r>
              <a:rPr lang="en-US" altLang="zh-CN" dirty="0"/>
              <a:t>4</a:t>
            </a:r>
            <a:r>
              <a:rPr lang="zh-CN" altLang="en-US" dirty="0"/>
              <a:t>年，研究生</a:t>
            </a:r>
            <a:r>
              <a:rPr lang="en-US" altLang="zh-CN" dirty="0"/>
              <a:t>3</a:t>
            </a:r>
            <a:r>
              <a:rPr lang="zh-CN" altLang="en-US" dirty="0"/>
              <a:t>年，工作</a:t>
            </a:r>
            <a:r>
              <a:rPr lang="en-US" altLang="zh-CN" dirty="0"/>
              <a:t>3</a:t>
            </a:r>
            <a:r>
              <a:rPr lang="zh-CN" altLang="en-US" dirty="0"/>
              <a:t>年。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4B3B-C3EB-BC73-67AF-B4FCE6632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139ED7-4F75-9DD3-D417-A3CE2FEB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/>
          <a:lstStyle/>
          <a:p>
            <a:r>
              <a:rPr lang="zh-CN" altLang="en-US" sz="4400" dirty="0"/>
              <a:t>职业方向定位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9677FE-B023-B2A5-3A25-FDA1305773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59000"/>
            <a:ext cx="11155680" cy="17907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美国名校毕业生没有工作。</a:t>
            </a:r>
          </a:p>
          <a:p>
            <a:pPr marL="0" indent="0">
              <a:buNone/>
            </a:pPr>
            <a:r>
              <a:rPr lang="en-US" altLang="zh-CN" dirty="0"/>
              <a:t>2025</a:t>
            </a:r>
            <a:r>
              <a:rPr lang="zh-CN" altLang="en-US" dirty="0"/>
              <a:t>年美国计算机专业应届生失业率</a:t>
            </a:r>
            <a:r>
              <a:rPr lang="en-US" altLang="zh-CN" dirty="0"/>
              <a:t>6.1%–7.5%</a:t>
            </a:r>
            <a:r>
              <a:rPr lang="zh-CN" altLang="en-US" dirty="0"/>
              <a:t>，是艺术史</a:t>
            </a:r>
            <a:r>
              <a:rPr lang="en-US" altLang="zh-CN" dirty="0"/>
              <a:t>/</a:t>
            </a:r>
            <a:r>
              <a:rPr lang="zh-CN" altLang="en-US" dirty="0"/>
              <a:t>生物专业的</a:t>
            </a:r>
            <a:r>
              <a:rPr lang="en-US" altLang="zh-CN" dirty="0"/>
              <a:t>2</a:t>
            </a:r>
            <a:r>
              <a:rPr lang="zh-CN" altLang="en-US" dirty="0"/>
              <a:t>倍。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IT</a:t>
            </a:r>
            <a:r>
              <a:rPr lang="zh-CN" altLang="en-US" dirty="0"/>
              <a:t>市场过去两年减少</a:t>
            </a:r>
            <a:r>
              <a:rPr lang="en-US" altLang="zh-CN" dirty="0"/>
              <a:t>20</a:t>
            </a:r>
            <a:r>
              <a:rPr lang="zh-CN" altLang="en-US" dirty="0"/>
              <a:t>万</a:t>
            </a:r>
            <a:r>
              <a:rPr lang="en-US" altLang="zh-CN" dirty="0"/>
              <a:t>+</a:t>
            </a:r>
            <a:r>
              <a:rPr lang="zh-CN" altLang="en-US" dirty="0"/>
              <a:t>岗位，入门岗竞争比达</a:t>
            </a:r>
            <a:r>
              <a:rPr lang="en-US" altLang="zh-CN" dirty="0"/>
              <a:t>5:1~8:1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2302FE6-3676-2FFC-8DD1-5B3CAD11EF22}"/>
              </a:ext>
            </a:extLst>
          </p:cNvPr>
          <p:cNvSpPr txBox="1">
            <a:spLocks/>
          </p:cNvSpPr>
          <p:nvPr/>
        </p:nvSpPr>
        <p:spPr>
          <a:xfrm>
            <a:off x="518160" y="4318000"/>
            <a:ext cx="11155680" cy="179070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在</a:t>
            </a:r>
            <a:r>
              <a:rPr lang="en-US" altLang="zh-CN" dirty="0"/>
              <a:t>30</a:t>
            </a:r>
            <a:r>
              <a:rPr lang="zh-CN" altLang="en-US" dirty="0"/>
              <a:t>岁左右，对专业方向或者说职业发展方向，要有一个清晰的定位。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因为现在这个时代，专业方向是非常固化的，想要跨专业、跨领域是几乎不可能的事。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89377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24328-C25F-1E24-C8DA-90E935F7C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95D723-B020-6815-7DD3-FCEF92E3C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/>
          <a:lstStyle/>
          <a:p>
            <a:r>
              <a:rPr lang="zh-CN" altLang="en-US" sz="4400" dirty="0"/>
              <a:t>教育改革密集进行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8FF81C-E2B8-B9D6-2AD8-CB39D54C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59000"/>
            <a:ext cx="11155680" cy="41869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教育部有一个很重要的改革。</a:t>
            </a:r>
          </a:p>
          <a:p>
            <a:pPr marL="0" indent="0">
              <a:buNone/>
            </a:pPr>
            <a:r>
              <a:rPr lang="en-US" altLang="zh-CN" dirty="0"/>
              <a:t>2025</a:t>
            </a:r>
            <a:r>
              <a:rPr lang="zh-CN" altLang="en-US" dirty="0"/>
              <a:t>年全国新建</a:t>
            </a:r>
            <a:r>
              <a:rPr lang="en-US" altLang="zh-CN" dirty="0"/>
              <a:t>9000</a:t>
            </a:r>
            <a:r>
              <a:rPr lang="zh-CN" altLang="en-US" dirty="0"/>
              <a:t>所，两年左右建成</a:t>
            </a:r>
            <a:r>
              <a:rPr lang="en-US" altLang="zh-CN" dirty="0"/>
              <a:t>1.8</a:t>
            </a:r>
            <a:r>
              <a:rPr lang="zh-CN" altLang="en-US" dirty="0"/>
              <a:t>万所特色学校。</a:t>
            </a:r>
          </a:p>
          <a:p>
            <a:pPr marL="0" indent="0">
              <a:buNone/>
            </a:pPr>
            <a:r>
              <a:rPr lang="zh-CN" altLang="en-US" dirty="0"/>
              <a:t>这些学校不是用来学知识的，而是用来玩的，重在体育、劳动和其他技能方面的培养。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注意，这些学校是新建出来的，还不包括大量改建的学校。</a:t>
            </a:r>
          </a:p>
        </p:txBody>
      </p:sp>
    </p:spTree>
    <p:extLst>
      <p:ext uri="{BB962C8B-B14F-4D97-AF65-F5344CB8AC3E}">
        <p14:creationId xmlns:p14="http://schemas.microsoft.com/office/powerpoint/2010/main" val="1144251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F6DB-EBC6-99DF-C0C1-E7A582639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196539-6500-F81A-95E0-F5C3AC148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/>
          <a:lstStyle/>
          <a:p>
            <a:r>
              <a:rPr lang="zh-CN" altLang="en-US" sz="4400" dirty="0"/>
              <a:t>第三代儿童教育就是面向未来</a:t>
            </a:r>
            <a:r>
              <a:rPr lang="zh-CN" altLang="en-US" sz="4400"/>
              <a:t>的教育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3FD454-F9F4-D0BD-AC17-672E75E40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70100"/>
            <a:ext cx="11155680" cy="42758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面向互联网时代的教育才是能够找到工作的教育。</a:t>
            </a:r>
          </a:p>
          <a:p>
            <a:pPr marL="0" indent="0">
              <a:buNone/>
            </a:pPr>
            <a:r>
              <a:rPr lang="zh-CN" altLang="en-US" dirty="0"/>
              <a:t>这个第三代儿童教育目前大概只在极少数国家中试点。</a:t>
            </a:r>
          </a:p>
          <a:p>
            <a:pPr marL="0" indent="0">
              <a:buNone/>
            </a:pPr>
            <a:r>
              <a:rPr lang="zh-CN" altLang="en-US" dirty="0"/>
              <a:t>中国已经有在做试点，国外最典型的国家就是芬兰。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8203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9690-102A-63DF-F71D-87EBC67A6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B4DF9A-C61A-96B0-EE5A-C9E9B7571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26592"/>
          </a:xfrm>
        </p:spPr>
        <p:txBody>
          <a:bodyPr/>
          <a:lstStyle/>
          <a:p>
            <a:r>
              <a:rPr lang="zh-CN" altLang="en-US" sz="4400" dirty="0"/>
              <a:t>中国未来缺人，但不缺大学生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6A63F5-0EFD-A0F9-3DE3-B0E6355F3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05000"/>
            <a:ext cx="11155680" cy="44409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这句话看似矛盾，实际是对未来发展变化的担忧。</a:t>
            </a:r>
          </a:p>
          <a:p>
            <a:pPr marL="0" indent="0">
              <a:buNone/>
            </a:pPr>
            <a:r>
              <a:rPr lang="en-US" altLang="zh-CN" dirty="0"/>
              <a:t>2024</a:t>
            </a:r>
            <a:r>
              <a:rPr lang="zh-CN" altLang="en-US" dirty="0"/>
              <a:t>年开始考研报考人数回落，最近一年比以往少了</a:t>
            </a:r>
            <a:r>
              <a:rPr lang="en-US" altLang="zh-CN" dirty="0"/>
              <a:t>45</a:t>
            </a:r>
            <a:r>
              <a:rPr lang="zh-CN" altLang="en-US" dirty="0"/>
              <a:t>万人左右。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当我们的孩子们到了</a:t>
            </a:r>
            <a:r>
              <a:rPr lang="en-US" altLang="zh-CN" dirty="0"/>
              <a:t>20</a:t>
            </a:r>
            <a:r>
              <a:rPr lang="zh-CN" altLang="en-US" dirty="0"/>
              <a:t>多岁的时候，他们的前途和学历文凭已经没有多大关系了。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他们其实早已经认识到了这个问题。</a:t>
            </a:r>
          </a:p>
        </p:txBody>
      </p:sp>
    </p:spTree>
    <p:extLst>
      <p:ext uri="{BB962C8B-B14F-4D97-AF65-F5344CB8AC3E}">
        <p14:creationId xmlns:p14="http://schemas.microsoft.com/office/powerpoint/2010/main" val="3096483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DDF96-FBD6-0AFB-72FC-44BB129C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CDA2B-758B-0870-C014-48CB02439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90092"/>
          </a:xfrm>
        </p:spPr>
        <p:txBody>
          <a:bodyPr/>
          <a:lstStyle/>
          <a:p>
            <a:r>
              <a:rPr lang="zh-CN" altLang="en-US" sz="4400" dirty="0"/>
              <a:t>外卖骑手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198426-783E-07F5-22FB-8945255D4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70100"/>
            <a:ext cx="11155680" cy="42758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大家可以看一下全国的外卖骑手，有多少人？（</a:t>
            </a:r>
            <a:r>
              <a:rPr lang="en-US" altLang="zh-CN" dirty="0"/>
              <a:t>1300-1400</a:t>
            </a:r>
            <a:r>
              <a:rPr lang="zh-CN" altLang="en-US" dirty="0"/>
              <a:t>万人）</a:t>
            </a:r>
          </a:p>
          <a:p>
            <a:pPr marL="0" indent="0">
              <a:buNone/>
            </a:pPr>
            <a:r>
              <a:rPr lang="zh-CN" altLang="en-US" dirty="0"/>
              <a:t>其中拥有大学学历的人有多少？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2023</a:t>
            </a:r>
            <a:r>
              <a:rPr lang="zh-CN" altLang="en-US" dirty="0"/>
              <a:t>年央视春晚的歌曲</a:t>
            </a:r>
            <a:r>
              <a:rPr lang="en-US" altLang="zh-CN" dirty="0"/>
              <a:t>《</a:t>
            </a:r>
            <a:r>
              <a:rPr lang="zh-CN" altLang="en-US" dirty="0"/>
              <a:t>小哥</a:t>
            </a:r>
            <a:r>
              <a:rPr lang="en-US" altLang="zh-CN" dirty="0"/>
              <a:t>》</a:t>
            </a:r>
            <a:r>
              <a:rPr lang="zh-CN" altLang="en-US" dirty="0"/>
              <a:t>，黄渤演唱，舞台上特别邀请了包括外卖骑手、快递员在内的一线劳动者代表共同参与表演。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大家知道为什么会有这样的节目吗？</a:t>
            </a:r>
          </a:p>
        </p:txBody>
      </p:sp>
    </p:spTree>
    <p:extLst>
      <p:ext uri="{BB962C8B-B14F-4D97-AF65-F5344CB8AC3E}">
        <p14:creationId xmlns:p14="http://schemas.microsoft.com/office/powerpoint/2010/main" val="2779998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56D3-25C3-1286-928E-22D7578C3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DC0A66-FFA1-CEE6-64C4-1C307064E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26592"/>
          </a:xfrm>
        </p:spPr>
        <p:txBody>
          <a:bodyPr/>
          <a:lstStyle/>
          <a:p>
            <a:r>
              <a:rPr lang="zh-CN" altLang="en-US" sz="4400" dirty="0"/>
              <a:t>无人驾驶车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5584A7-2368-B992-4229-B973DAAA2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05000"/>
            <a:ext cx="11155680" cy="44409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京东无人车在</a:t>
            </a:r>
            <a:r>
              <a:rPr lang="en-US" altLang="zh-CN" dirty="0"/>
              <a:t>2026</a:t>
            </a:r>
            <a:r>
              <a:rPr lang="zh-CN" altLang="en-US" dirty="0"/>
              <a:t>年正从试点验证转向规模化商用，核心是“百万无人车</a:t>
            </a:r>
            <a:r>
              <a:rPr lang="en-US" altLang="zh-CN" dirty="0"/>
              <a:t>+</a:t>
            </a:r>
            <a:r>
              <a:rPr lang="zh-CN" altLang="en-US" dirty="0"/>
              <a:t>全链路覆盖</a:t>
            </a:r>
            <a:r>
              <a:rPr lang="en-US" altLang="zh-CN" dirty="0"/>
              <a:t>+</a:t>
            </a:r>
            <a:r>
              <a:rPr lang="zh-CN" altLang="en-US" dirty="0"/>
              <a:t>全域落地”，并在年内完成关键里程碑。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有人会说，这是不是发展得太快了，大家都没有活干了？</a:t>
            </a:r>
          </a:p>
          <a:p>
            <a:pPr marL="0" indent="0">
              <a:buNone/>
            </a:pPr>
            <a:r>
              <a:rPr lang="zh-CN" altLang="en-US" dirty="0"/>
              <a:t>不是我们发展得太快，而是我们不得不这样做！</a:t>
            </a:r>
          </a:p>
          <a:p>
            <a:pPr marL="0" indent="0">
              <a:buNone/>
            </a:pPr>
            <a:r>
              <a:rPr lang="zh-CN" altLang="en-US" dirty="0"/>
              <a:t>美国的部分城市已经布局无人驾驶车，并且一个城市就有三家公司在运营竞争。</a:t>
            </a:r>
          </a:p>
          <a:p>
            <a:pPr marL="0" indent="0">
              <a:buNone/>
            </a:pPr>
            <a:r>
              <a:rPr lang="zh-CN" altLang="en-US" dirty="0"/>
              <a:t>而中国只有个别城市，并且只有一家公司在运营。</a:t>
            </a:r>
          </a:p>
          <a:p>
            <a:pPr marL="0" indent="0">
              <a:buNone/>
            </a:pPr>
            <a:r>
              <a:rPr lang="zh-CN" altLang="en-US" dirty="0"/>
              <a:t>国家也不想这么快，因为也担心这么巨大的就业人口突然就没工作了。</a:t>
            </a:r>
          </a:p>
          <a:p>
            <a:pPr marL="0" indent="0">
              <a:buNone/>
            </a:pPr>
            <a:r>
              <a:rPr lang="zh-CN" altLang="en-US" dirty="0"/>
              <a:t>就会产生很多社会问题。</a:t>
            </a:r>
          </a:p>
        </p:txBody>
      </p:sp>
    </p:spTree>
    <p:extLst>
      <p:ext uri="{BB962C8B-B14F-4D97-AF65-F5344CB8AC3E}">
        <p14:creationId xmlns:p14="http://schemas.microsoft.com/office/powerpoint/2010/main" val="408151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ADD6-0447-6686-8BC5-1A6435CFA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C24916-D869-7550-93FB-1030179A1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上山下乡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034E03-B67F-DB41-F26A-4E1C2282E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43100"/>
            <a:ext cx="11155680" cy="44028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大量的年轻人没有工作，这样的情况并不是现在才有的。</a:t>
            </a:r>
          </a:p>
          <a:p>
            <a:pPr marL="0" indent="0">
              <a:buNone/>
            </a:pPr>
            <a:r>
              <a:rPr lang="zh-CN" altLang="en-US" dirty="0"/>
              <a:t>中国第一次出现类似问题是在上个世纪</a:t>
            </a:r>
            <a:r>
              <a:rPr lang="en-US" altLang="zh-CN" dirty="0"/>
              <a:t>60</a:t>
            </a:r>
            <a:r>
              <a:rPr lang="zh-CN" altLang="en-US" dirty="0"/>
              <a:t>年代。</a:t>
            </a:r>
          </a:p>
          <a:p>
            <a:pPr marL="0" indent="0">
              <a:buNone/>
            </a:pPr>
            <a:r>
              <a:rPr lang="zh-CN" altLang="en-US" dirty="0"/>
              <a:t>当时有</a:t>
            </a:r>
            <a:r>
              <a:rPr lang="en-US" altLang="zh-CN" dirty="0"/>
              <a:t>1500</a:t>
            </a:r>
            <a:r>
              <a:rPr lang="zh-CN" altLang="en-US" dirty="0"/>
              <a:t>万待业青年，其中有叫做老三届学生。</a:t>
            </a:r>
          </a:p>
          <a:p>
            <a:pPr marL="0" indent="0">
              <a:buNone/>
            </a:pPr>
            <a:r>
              <a:rPr lang="zh-CN" altLang="en-US" dirty="0"/>
              <a:t>国家想到的办法就是上山下乡。</a:t>
            </a:r>
          </a:p>
          <a:p>
            <a:pPr marL="0" indent="0">
              <a:buNone/>
            </a:pPr>
            <a:r>
              <a:rPr lang="zh-CN" altLang="en-US" dirty="0"/>
              <a:t>归根结底就是就业问题。</a:t>
            </a:r>
          </a:p>
        </p:txBody>
      </p:sp>
    </p:spTree>
    <p:extLst>
      <p:ext uri="{BB962C8B-B14F-4D97-AF65-F5344CB8AC3E}">
        <p14:creationId xmlns:p14="http://schemas.microsoft.com/office/powerpoint/2010/main" val="3390160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923CA-432F-2783-C573-5F6BCAAC1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F6D74-032C-F4F8-C1E8-F23809234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中美竞争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2D1996-A1D5-2F8B-5E44-6953B1BBA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44700"/>
            <a:ext cx="5568696" cy="3141254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那为什么美国要发展那么快呢？</a:t>
            </a:r>
          </a:p>
          <a:p>
            <a:pPr marL="0" indent="0">
              <a:buNone/>
            </a:pPr>
            <a:r>
              <a:rPr lang="zh-CN" altLang="en-US" dirty="0"/>
              <a:t>这是由美国这个国家的特点决定的，因为它要做全世界的灯塔。</a:t>
            </a:r>
          </a:p>
          <a:p>
            <a:pPr marL="0" indent="0">
              <a:buNone/>
            </a:pPr>
            <a:r>
              <a:rPr lang="zh-CN" altLang="en-US" dirty="0"/>
              <a:t>它如果没有在科技上引领全世界的话，这个国家就会垮掉。</a:t>
            </a:r>
          </a:p>
          <a:p>
            <a:pPr marL="0" indent="0">
              <a:buNone/>
            </a:pPr>
            <a:r>
              <a:rPr lang="zh-CN" altLang="en-US" dirty="0"/>
              <a:t>美国就是靠编织一个个美国梦来达到吸引全球资本的目的，吸引全球的金融、全球的人才，这样它才能撑下去。</a:t>
            </a:r>
          </a:p>
          <a:p>
            <a:pPr marL="0" indent="0">
              <a:buNone/>
            </a:pPr>
            <a:r>
              <a:rPr lang="zh-CN" altLang="en-US" dirty="0"/>
              <a:t>所以它会不断地拼命地发展它的科技，特别是发展</a:t>
            </a:r>
            <a:r>
              <a:rPr lang="en-US" altLang="zh-CN" dirty="0"/>
              <a:t>AI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4203CDB-A345-20A8-E8D9-1B8DE22C6207}"/>
              </a:ext>
            </a:extLst>
          </p:cNvPr>
          <p:cNvSpPr txBox="1">
            <a:spLocks/>
          </p:cNvSpPr>
          <p:nvPr/>
        </p:nvSpPr>
        <p:spPr>
          <a:xfrm>
            <a:off x="6096000" y="2044700"/>
            <a:ext cx="5574792" cy="2091363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AGI</a:t>
            </a:r>
            <a:r>
              <a:rPr lang="zh-CN" altLang="en-US" dirty="0"/>
              <a:t>发展需要多久呢？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根据美国各行业内估算，快需要</a:t>
            </a:r>
            <a:r>
              <a:rPr lang="en-US" altLang="zh-CN" dirty="0"/>
              <a:t>2</a:t>
            </a:r>
            <a:r>
              <a:rPr lang="zh-CN" altLang="en-US" dirty="0"/>
              <a:t>年，慢则需要</a:t>
            </a:r>
            <a:r>
              <a:rPr lang="en-US" altLang="zh-CN" dirty="0"/>
              <a:t>10</a:t>
            </a:r>
            <a:r>
              <a:rPr lang="zh-CN" altLang="en-US" dirty="0"/>
              <a:t>年。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你看看，你的孩子在</a:t>
            </a:r>
            <a:r>
              <a:rPr lang="en-US" altLang="zh-CN" dirty="0"/>
              <a:t>10</a:t>
            </a:r>
            <a:r>
              <a:rPr lang="zh-CN" altLang="en-US" dirty="0"/>
              <a:t>年之后还会有白领的工作吗？</a:t>
            </a:r>
          </a:p>
        </p:txBody>
      </p:sp>
    </p:spTree>
    <p:extLst>
      <p:ext uri="{BB962C8B-B14F-4D97-AF65-F5344CB8AC3E}">
        <p14:creationId xmlns:p14="http://schemas.microsoft.com/office/powerpoint/2010/main" val="30792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47270-8863-B67A-1608-AD40773F7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62A1A4-820E-DA6F-0D16-BBE7F23CB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1992"/>
          </a:xfrm>
        </p:spPr>
        <p:txBody>
          <a:bodyPr/>
          <a:lstStyle/>
          <a:p>
            <a:r>
              <a:rPr lang="zh-CN" altLang="en-US" sz="4400" dirty="0"/>
              <a:t>资本主义的闭环逻辑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B79987-83C5-F973-0A79-77E03050F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03120"/>
            <a:ext cx="11155680" cy="424281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马克思看到了资本主义的本质。</a:t>
            </a:r>
          </a:p>
          <a:p>
            <a:pPr marL="0" indent="0">
              <a:buNone/>
            </a:pPr>
            <a:r>
              <a:rPr lang="zh-CN" altLang="en-US" dirty="0"/>
              <a:t>贷款、生产、消费闭环，但每</a:t>
            </a:r>
            <a:r>
              <a:rPr lang="en-US" altLang="zh-CN" dirty="0"/>
              <a:t>10</a:t>
            </a:r>
            <a:r>
              <a:rPr lang="zh-CN" altLang="en-US" dirty="0"/>
              <a:t>年左右发生经济危机。</a:t>
            </a:r>
          </a:p>
          <a:p>
            <a:pPr marL="0" indent="0">
              <a:buNone/>
            </a:pPr>
            <a:r>
              <a:rPr lang="zh-CN" altLang="en-US" dirty="0"/>
              <a:t>然而为什么现实中没有那么频繁呢？</a:t>
            </a:r>
          </a:p>
          <a:p>
            <a:pPr marL="0" indent="0">
              <a:buNone/>
            </a:pPr>
            <a:r>
              <a:rPr lang="zh-CN" altLang="en-US" dirty="0"/>
              <a:t>不是马克思错了，而是中国成为新的商品倾销市场，缓解了资本主义矛盾。</a:t>
            </a:r>
          </a:p>
          <a:p>
            <a:pPr marL="0" indent="0">
              <a:buNone/>
            </a:pPr>
            <a:r>
              <a:rPr lang="zh-CN" altLang="en-US" dirty="0"/>
              <a:t>过去</a:t>
            </a:r>
            <a:r>
              <a:rPr lang="en-US" altLang="zh-CN" dirty="0"/>
              <a:t>80</a:t>
            </a:r>
            <a:r>
              <a:rPr lang="zh-CN" altLang="en-US" dirty="0"/>
              <a:t>、</a:t>
            </a:r>
            <a:r>
              <a:rPr lang="en-US" altLang="zh-CN" dirty="0"/>
              <a:t>90</a:t>
            </a:r>
            <a:r>
              <a:rPr lang="zh-CN" altLang="en-US" dirty="0"/>
              <a:t>年代，日本的彩电、日本的冰箱、外国的汽车</a:t>
            </a:r>
            <a:r>
              <a:rPr lang="en-US" altLang="zh-CN" dirty="0"/>
              <a:t>……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现在这个闭环逻辑出问题了！</a:t>
            </a:r>
          </a:p>
        </p:txBody>
      </p:sp>
    </p:spTree>
    <p:extLst>
      <p:ext uri="{BB962C8B-B14F-4D97-AF65-F5344CB8AC3E}">
        <p14:creationId xmlns:p14="http://schemas.microsoft.com/office/powerpoint/2010/main" val="2490607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7E0AD-6F5A-4348-5DBB-64DEE36B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928CC-8A2D-4FC5-9A75-254AA37D5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人才过剩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88CA9-0604-FD70-23D0-B6B6B1492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70100"/>
            <a:ext cx="11155680" cy="42758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马克思只考虑到了生产过剩，但是他没有想到，人才也会过剩。</a:t>
            </a:r>
          </a:p>
          <a:p>
            <a:pPr marL="0" indent="0">
              <a:buNone/>
            </a:pPr>
            <a:r>
              <a:rPr lang="zh-CN" altLang="en-US" dirty="0"/>
              <a:t>因为当时人类的教育是第二代教育，第二代教育还没有到达极限。</a:t>
            </a:r>
          </a:p>
          <a:p>
            <a:pPr marL="0" indent="0">
              <a:buNone/>
            </a:pPr>
            <a:r>
              <a:rPr lang="zh-CN" altLang="en-US" dirty="0"/>
              <a:t>但是现在这种极限已经显现了！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这并不是说大家不应该接受基本的教育，而是</a:t>
            </a:r>
            <a:r>
              <a:rPr lang="en-US" altLang="zh-CN" dirty="0"/>
              <a:t>AI</a:t>
            </a:r>
            <a:r>
              <a:rPr lang="zh-CN" altLang="en-US" dirty="0"/>
              <a:t>出现了。</a:t>
            </a:r>
          </a:p>
          <a:p>
            <a:pPr marL="0" indent="0">
              <a:buNone/>
            </a:pPr>
            <a:r>
              <a:rPr lang="zh-CN" altLang="en-US" dirty="0"/>
              <a:t>当</a:t>
            </a:r>
            <a:r>
              <a:rPr lang="en-US" altLang="zh-CN" dirty="0"/>
              <a:t>AI</a:t>
            </a:r>
            <a:r>
              <a:rPr lang="zh-CN" altLang="en-US" dirty="0"/>
              <a:t>出现时，传统培养的人才就显得过多、无用了！</a:t>
            </a:r>
          </a:p>
        </p:txBody>
      </p:sp>
    </p:spTree>
    <p:extLst>
      <p:ext uri="{BB962C8B-B14F-4D97-AF65-F5344CB8AC3E}">
        <p14:creationId xmlns:p14="http://schemas.microsoft.com/office/powerpoint/2010/main" val="194902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6B3A3-2FA0-35F9-508D-61FB1F42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EF5A0C-04D1-80F0-83B0-D63B210F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zh-CN" altLang="en-US" sz="4400" dirty="0"/>
              <a:t>第一代教育模式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10031E-C4C8-268C-115A-A1BC51B81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第一代教育，全世界都一样，私塾式或学徒制。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9698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2402-7A2D-D763-2405-E713E0C0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29746-4300-50D5-98D1-F3C614AF4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90092"/>
          </a:xfrm>
        </p:spPr>
        <p:txBody>
          <a:bodyPr/>
          <a:lstStyle/>
          <a:p>
            <a:r>
              <a:rPr lang="zh-CN" altLang="en-US" sz="4400" dirty="0"/>
              <a:t>第二代教育模式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745398-4545-43D0-742A-CF957AEFF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第二代教育就是我们现在学校的这种模式。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为什么我们看到很多学校的制度很奇葩？</a:t>
            </a:r>
          </a:p>
        </p:txBody>
      </p:sp>
    </p:spTree>
    <p:extLst>
      <p:ext uri="{BB962C8B-B14F-4D97-AF65-F5344CB8AC3E}">
        <p14:creationId xmlns:p14="http://schemas.microsoft.com/office/powerpoint/2010/main" val="1867588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5D8D-D60B-CFE6-2F63-2307AE3E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5FFC40-E375-3FAD-206A-BB7FE96EE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第二代教育模式的弊端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5E1667-19F7-5FDC-BAFE-10B40D260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学历文凭证书的本质问题。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然而资本主义的死循环出现问题了。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就业就开始萎缩，但是学校还是在拼命制造过剩的人才。</a:t>
            </a:r>
          </a:p>
        </p:txBody>
      </p:sp>
    </p:spTree>
    <p:extLst>
      <p:ext uri="{BB962C8B-B14F-4D97-AF65-F5344CB8AC3E}">
        <p14:creationId xmlns:p14="http://schemas.microsoft.com/office/powerpoint/2010/main" val="363550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22FE-41BD-C93E-B6AD-B1B12DDE5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C97BB-7547-E5BB-21D9-2FBBDFD34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959B45-9747-61B5-101C-B4319AFC9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46300"/>
            <a:ext cx="11155680" cy="41996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现在有一个非常严重的问题，但是很多家长却没有引起高度重视。</a:t>
            </a:r>
          </a:p>
          <a:p>
            <a:pPr marL="0" indent="0">
              <a:buNone/>
            </a:pPr>
            <a:r>
              <a:rPr lang="zh-CN" altLang="en-US" dirty="0"/>
              <a:t>很多孩子可以完成高考，并且可以上完大学，但是他们进入不了职场。</a:t>
            </a:r>
          </a:p>
          <a:p>
            <a:pPr marL="0" indent="0">
              <a:buNone/>
            </a:pPr>
            <a:r>
              <a:rPr lang="zh-CN" altLang="en-US" dirty="0"/>
              <a:t>什么意思呢？</a:t>
            </a:r>
          </a:p>
          <a:p>
            <a:pPr marL="0" indent="0">
              <a:buNone/>
            </a:pPr>
            <a:r>
              <a:rPr lang="zh-CN" altLang="en-US" dirty="0"/>
              <a:t>就是在家躺平，不找工作、不结婚，什么也不干，天天打游戏，要么就是幻想考研考公。</a:t>
            </a:r>
          </a:p>
        </p:txBody>
      </p:sp>
    </p:spTree>
    <p:extLst>
      <p:ext uri="{BB962C8B-B14F-4D97-AF65-F5344CB8AC3E}">
        <p14:creationId xmlns:p14="http://schemas.microsoft.com/office/powerpoint/2010/main" val="1892156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2E572-A4AC-2A09-00FA-C37AD920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965E8-FB04-D493-C8F8-01C3272AE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躺平问题的案例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2DFA2-72FF-2159-7EE9-B3DB1438D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0900"/>
            <a:ext cx="11155680" cy="21209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有一个案例，夫妻两个人都是某电视台的高层领导，他们的孩子呢也是就读常青藤名校。</a:t>
            </a:r>
          </a:p>
          <a:p>
            <a:pPr marL="0" indent="0">
              <a:buNone/>
            </a:pPr>
            <a:r>
              <a:rPr lang="zh-CN" altLang="en-US" dirty="0"/>
              <a:t>这个孩子毕业之后也去了最好的公司，就是投资公司，在西方是非常好的公司。</a:t>
            </a:r>
          </a:p>
          <a:p>
            <a:pPr marL="0" indent="0">
              <a:buNone/>
            </a:pPr>
            <a:r>
              <a:rPr lang="zh-CN" altLang="en-US" dirty="0"/>
              <a:t>然后干了半年后回来了，回来干什么呢？</a:t>
            </a:r>
          </a:p>
          <a:p>
            <a:pPr marL="0" indent="0">
              <a:buNone/>
            </a:pPr>
            <a:r>
              <a:rPr lang="zh-CN" altLang="en-US" dirty="0"/>
              <a:t>在家天天念经，从此不再去上班。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95EB5A-731F-BDBB-F005-025B8D423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6572" y="3784905"/>
            <a:ext cx="2438095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64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4BE56-EF89-8422-E601-2E7A571DF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537AC-354A-C2A6-095F-64336C85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躺平问题的本质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CE78E4-4465-6F4E-101C-80AB1A205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95500"/>
            <a:ext cx="11155680" cy="42504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还有很多类似的案例，当然现在已经变得非常普遍了。</a:t>
            </a:r>
          </a:p>
          <a:p>
            <a:pPr marL="0" indent="0">
              <a:buNone/>
            </a:pPr>
            <a:r>
              <a:rPr lang="zh-CN" altLang="en-US" dirty="0"/>
              <a:t>其实是什么原因呢？</a:t>
            </a:r>
          </a:p>
          <a:p>
            <a:pPr marL="0" indent="0">
              <a:buNone/>
            </a:pPr>
            <a:r>
              <a:rPr lang="zh-CN" altLang="en-US" dirty="0"/>
              <a:t>就是系统性的出问题了，所以网上说父母把孩子逼成抑郁的都是乱说。</a:t>
            </a:r>
          </a:p>
          <a:p>
            <a:pPr marL="0" indent="0">
              <a:buNone/>
            </a:pPr>
            <a:r>
              <a:rPr lang="zh-CN" altLang="en-US" dirty="0"/>
              <a:t>这明显是非常普遍的、系统性的变化，非要说是父母家长导致的，这很可笑。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那么这些案例给了我们家长什么警示呢？</a:t>
            </a:r>
          </a:p>
          <a:p>
            <a:pPr marL="0" indent="0">
              <a:buNone/>
            </a:pPr>
            <a:r>
              <a:rPr lang="zh-CN" altLang="en-US" dirty="0"/>
              <a:t>就是说，我们家长培养孩子培养了半天，结果他毕业后什么也不想干、什么也干不了。</a:t>
            </a:r>
          </a:p>
          <a:p>
            <a:pPr marL="0" indent="0">
              <a:buNone/>
            </a:pPr>
            <a:r>
              <a:rPr lang="zh-CN" altLang="en-US" dirty="0"/>
              <a:t>那么你说这样的教育培养有什么用？</a:t>
            </a:r>
          </a:p>
        </p:txBody>
      </p:sp>
    </p:spTree>
    <p:extLst>
      <p:ext uri="{BB962C8B-B14F-4D97-AF65-F5344CB8AC3E}">
        <p14:creationId xmlns:p14="http://schemas.microsoft.com/office/powerpoint/2010/main" val="542043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D19A-7B13-1402-0705-7ED14B1F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B91597-164F-2F04-B666-47BC4195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教育失败是大概率事件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13B8B6-0BC3-3869-F07E-B8388FB18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84400"/>
            <a:ext cx="11155680" cy="41615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因此我们说，现在这代孩子的教育，失败是大概率事件！</a:t>
            </a:r>
          </a:p>
          <a:p>
            <a:pPr marL="0" indent="0">
              <a:buNone/>
            </a:pPr>
            <a:r>
              <a:rPr lang="zh-CN" altLang="en-US" dirty="0"/>
              <a:t>一、就业端无限挤压，不给机会，太过残酷</a:t>
            </a:r>
          </a:p>
          <a:p>
            <a:pPr marL="0" indent="0">
              <a:buNone/>
            </a:pPr>
            <a:r>
              <a:rPr lang="zh-CN" altLang="en-US" dirty="0"/>
              <a:t>二、教育培养出来的人才过剩，未来不确定性太大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现在的不确定性主要来自中美两国的竞争。</a:t>
            </a:r>
          </a:p>
          <a:p>
            <a:pPr marL="0" indent="0">
              <a:buNone/>
            </a:pPr>
            <a:r>
              <a:rPr lang="zh-CN" altLang="en-US" dirty="0"/>
              <a:t>其他国家如欧洲日本已经没有资格参与</a:t>
            </a:r>
            <a:r>
              <a:rPr lang="en-US" altLang="zh-CN" dirty="0"/>
              <a:t>AI</a:t>
            </a:r>
            <a:r>
              <a:rPr lang="zh-CN" altLang="en-US" dirty="0"/>
              <a:t>竞争了。</a:t>
            </a:r>
          </a:p>
          <a:p>
            <a:pPr marL="0" indent="0">
              <a:buNone/>
            </a:pPr>
            <a:r>
              <a:rPr lang="zh-CN" altLang="en-US" dirty="0"/>
              <a:t>所以孩子将来的就业机会，取决于中美竞争的结果。</a:t>
            </a:r>
          </a:p>
        </p:txBody>
      </p:sp>
    </p:spTree>
    <p:extLst>
      <p:ext uri="{BB962C8B-B14F-4D97-AF65-F5344CB8AC3E}">
        <p14:creationId xmlns:p14="http://schemas.microsoft.com/office/powerpoint/2010/main" val="19303938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30A33-23BB-DCDE-B7B4-0F4EEBDD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A90453-9E14-AC5C-EB56-DEB9CD543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为什么学习如此艰难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0C15A-BAF5-9A06-4FD7-3C7AF8BA6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“最近发展区”理论和“自然成熟说”理论。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E183B6B-FCC5-DFCB-60E0-63171AF10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283" y="3617023"/>
            <a:ext cx="4095751" cy="272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33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4C8F-8178-9648-E8CA-4D58F91D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EAFF0D-D09E-8CB2-B465-68B97C907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1992"/>
          </a:xfrm>
        </p:spPr>
        <p:txBody>
          <a:bodyPr/>
          <a:lstStyle/>
          <a:p>
            <a:r>
              <a:rPr lang="zh-CN" altLang="en-US" sz="4400" dirty="0"/>
              <a:t>学校是怎么发明出来的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B8AD46-9AB2-4700-BA1F-ABEFEF85C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学校被发明出来。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改革开放和“复制型”人才。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恢复</a:t>
            </a:r>
            <a:r>
              <a:rPr lang="en-US" altLang="zh-CN" dirty="0"/>
              <a:t>80</a:t>
            </a:r>
            <a:r>
              <a:rPr lang="zh-CN" altLang="en-US" dirty="0"/>
              <a:t>后教材的错误言论。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国家为什么要“双减”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B36FB21-BD9C-EB84-F5CB-99B3ADAF2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170" y="2404364"/>
            <a:ext cx="5654279" cy="376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729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D8EA5-FA52-3A9D-79C0-D28571EE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07AD7D-0005-AF57-8F30-5577BA05B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教育变化的根源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966C30-9DC8-42B7-D915-BA03CFA9A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5574792" cy="3767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那么现在的孩子为什么学习如此艰难呢？</a:t>
            </a:r>
          </a:p>
          <a:p>
            <a:pPr marL="0" indent="0">
              <a:buNone/>
            </a:pPr>
            <a:r>
              <a:rPr lang="zh-CN" altLang="en-US" dirty="0"/>
              <a:t>因为它已经变了，变的不再是以教育本身为目的，而是筛选为目的。</a:t>
            </a:r>
          </a:p>
          <a:p>
            <a:pPr marL="0" indent="0">
              <a:buNone/>
            </a:pPr>
            <a:r>
              <a:rPr lang="zh-CN" altLang="en-US" dirty="0"/>
              <a:t>他就是要搞最难的东西。</a:t>
            </a:r>
          </a:p>
          <a:p>
            <a:pPr marL="0" indent="0">
              <a:buNone/>
            </a:pPr>
            <a:r>
              <a:rPr lang="zh-CN" altLang="en-US" dirty="0"/>
              <a:t>为什么？</a:t>
            </a:r>
          </a:p>
          <a:p>
            <a:pPr marL="0" indent="0">
              <a:buNone/>
            </a:pPr>
            <a:r>
              <a:rPr lang="zh-CN" altLang="en-US" dirty="0"/>
              <a:t>还是因为竞争，主要是靠头部顶尖的那群孩子。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C02CD0-B3D6-9B84-D73F-94E664292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41448"/>
            <a:ext cx="5574792" cy="371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024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99FB9-0D95-E9AA-A2F1-440B09B37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9799B9-9F60-E894-EF4F-DFF923CD6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普娃怎么办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7E35C-45CA-33F8-14B1-3F2C5B627A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19300"/>
            <a:ext cx="6070092" cy="39624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要想不被淘汰，但孩子是个普通娃，我们应该怎么办呢？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我们说现在的孩子都是生活成长在虚拟世界中的。</a:t>
            </a:r>
          </a:p>
          <a:p>
            <a:pPr marL="0" indent="0">
              <a:buNone/>
            </a:pPr>
            <a:r>
              <a:rPr lang="zh-CN" altLang="en-US" dirty="0"/>
              <a:t>你看孩子们从小就接触电子产品，打电子游戏、看电视、看平板、玩手机。</a:t>
            </a:r>
          </a:p>
          <a:p>
            <a:pPr marL="0" indent="0">
              <a:buNone/>
            </a:pPr>
            <a:r>
              <a:rPr lang="zh-CN" altLang="en-US" dirty="0"/>
              <a:t>我们小时候没有这些东西，是生活在真实的世界中的。</a:t>
            </a:r>
          </a:p>
          <a:p>
            <a:pPr marL="0" indent="0">
              <a:buNone/>
            </a:pPr>
            <a:r>
              <a:rPr lang="zh-CN" altLang="en-US" dirty="0"/>
              <a:t>水、火、泥、沙都玩过。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D73A7BA-8511-021C-26C1-20974DAED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227" y="2441448"/>
            <a:ext cx="5025455" cy="334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2680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BC308-A0FF-FD0E-6B05-E06608E42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0578D7-27E0-1AA1-B9E4-632214D34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1992"/>
          </a:xfrm>
        </p:spPr>
        <p:txBody>
          <a:bodyPr/>
          <a:lstStyle/>
          <a:p>
            <a:r>
              <a:rPr lang="zh-CN" altLang="en-US" sz="4400" dirty="0"/>
              <a:t>教育王道：体验真实世界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B92387-6888-D6DC-15E2-244574DB4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100" y="2616200"/>
            <a:ext cx="7695692" cy="34249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真正正确的做法，是让孩子大量地接触自然，去体验真实世界！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我以前举过一个“夹生饭”的例子。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C121C9-3A92-67C5-F59B-6FFB74B4F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2103719"/>
            <a:ext cx="3114286" cy="4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349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3927-F923-F9C0-E28A-46C292E9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849F8-5BC1-7A26-72AC-05E6F807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手机游戏的本质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1CB043-BB5B-D8BC-F10C-7F02DF996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5968492" cy="3767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有的家长会问，国家为什么不禁止手机游戏。</a:t>
            </a:r>
          </a:p>
          <a:p>
            <a:pPr marL="0" indent="0">
              <a:buNone/>
            </a:pPr>
            <a:r>
              <a:rPr lang="zh-CN" altLang="en-US" dirty="0"/>
              <a:t>这仍然涉及到中美竞争的问题。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两个未来重要能力：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1</a:t>
            </a:r>
            <a:r>
              <a:rPr lang="zh-CN" altLang="en-US" dirty="0"/>
              <a:t>、深度思考</a:t>
            </a:r>
          </a:p>
          <a:p>
            <a:pPr marL="0" indent="0">
              <a:buNone/>
            </a:pPr>
            <a:r>
              <a:rPr lang="en-US" altLang="zh-CN" dirty="0"/>
              <a:t>2</a:t>
            </a:r>
            <a:r>
              <a:rPr lang="zh-CN" altLang="en-US" dirty="0"/>
              <a:t>、注意力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FD1E4A7-2CF2-8FB4-7774-1C41626AA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806" y="1716257"/>
            <a:ext cx="3312685" cy="4629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227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2491D-FE5D-258B-3204-B94773C53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CAE318-B87A-3392-CB96-3E70F2E4D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常见错误教育方式</a:t>
            </a:r>
            <a:r>
              <a:rPr lang="en-US" altLang="zh-CN" sz="4400" dirty="0"/>
              <a:t>——</a:t>
            </a:r>
            <a:r>
              <a:rPr lang="zh-CN" altLang="en-US" sz="4400" dirty="0"/>
              <a:t>放任发展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FF174D-9366-0AEE-FFCF-B3D7C1F20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常见的错误教育方式。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第一个就是放任孩子发展。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导致孩子游戏成瘾。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FA6A578-4B91-10F0-8A18-7DD682061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06180"/>
            <a:ext cx="4762887" cy="317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467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6CF7-B4AB-F918-E692-81427BCB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B656E4-0AE5-7121-3167-B5362A955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常见错误教育方式</a:t>
            </a:r>
            <a:r>
              <a:rPr lang="en-US" altLang="zh-CN" sz="4400" dirty="0"/>
              <a:t>——</a:t>
            </a:r>
            <a:r>
              <a:rPr lang="zh-CN" altLang="en-US" sz="4400" dirty="0"/>
              <a:t>过度管理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DDD0BB-7777-20DA-14C8-1056FA828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552692" cy="3767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第二个就是过度管理孩子。</a:t>
            </a:r>
          </a:p>
          <a:p>
            <a:pPr marL="0" indent="0">
              <a:buNone/>
            </a:pPr>
            <a:r>
              <a:rPr lang="zh-CN" altLang="en-US" dirty="0"/>
              <a:t>导致孩子没有欲望。</a:t>
            </a:r>
          </a:p>
          <a:p>
            <a:pPr marL="0" indent="0">
              <a:buNone/>
            </a:pPr>
            <a:r>
              <a:rPr lang="zh-CN" altLang="en-US" dirty="0"/>
              <a:t>这两种合起来更糟糕，一方面允许孩子玩手机，另一方面又不允许孩子做运动活动，只让孩子学习。</a:t>
            </a:r>
          </a:p>
          <a:p>
            <a:pPr marL="0" indent="0">
              <a:buNone/>
            </a:pPr>
            <a:r>
              <a:rPr lang="zh-CN" altLang="en-US" dirty="0"/>
              <a:t>这种情况，孩子很快就会躺平。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CC036BD-6F1E-E26E-C015-C0747C382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2857" y="2069746"/>
            <a:ext cx="3380952" cy="4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9851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65026-928F-595F-D294-2BCC004D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A1D2A9-9669-32A5-9EF9-35102FD8A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7692"/>
          </a:xfrm>
        </p:spPr>
        <p:txBody>
          <a:bodyPr/>
          <a:lstStyle/>
          <a:p>
            <a:r>
              <a:rPr lang="zh-CN" altLang="en-US" sz="4400" dirty="0"/>
              <a:t>常见错误教育方式</a:t>
            </a:r>
            <a:r>
              <a:rPr lang="en-US" altLang="zh-CN" sz="4400" dirty="0"/>
              <a:t>——</a:t>
            </a:r>
            <a:r>
              <a:rPr lang="zh-CN" altLang="en-US" sz="4400" dirty="0"/>
              <a:t>放纵学校教育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9CADA8-9BAF-AD48-2461-7F0EFE4E6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第三个就是放纵学校的教育。</a:t>
            </a:r>
          </a:p>
          <a:p>
            <a:pPr marL="0" indent="0">
              <a:buNone/>
            </a:pPr>
            <a:r>
              <a:rPr lang="zh-CN" altLang="en-US" dirty="0"/>
              <a:t>就是孩子在学校你不管了，把孩子都交给学校。</a:t>
            </a:r>
          </a:p>
          <a:p>
            <a:pPr marL="0" indent="0">
              <a:buNone/>
            </a:pPr>
            <a:r>
              <a:rPr lang="zh-CN" altLang="en-US" dirty="0"/>
              <a:t>最终孩子在学校里获得的无能感。</a:t>
            </a:r>
          </a:p>
          <a:p>
            <a:pPr marL="0" indent="0">
              <a:buNone/>
            </a:pPr>
            <a:r>
              <a:rPr lang="zh-CN" altLang="en-US" dirty="0"/>
              <a:t>学不动，学不好。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973BAD0-11DA-D63F-D580-3C523B72E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758" y="1957565"/>
            <a:ext cx="3380952" cy="4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48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69D-16FC-1F4D-7E8F-204ED7CD4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D1A7AF-CD87-580D-9F91-8C052A4E0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9292"/>
          </a:xfrm>
        </p:spPr>
        <p:txBody>
          <a:bodyPr/>
          <a:lstStyle/>
          <a:p>
            <a:r>
              <a:rPr lang="zh-CN" altLang="en-US" sz="4400" dirty="0"/>
              <a:t>同伴环境缺失，导致被边缘化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5BAB62-9FDF-F154-40F8-5A841DF01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2578608"/>
            <a:ext cx="11155679" cy="3767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缺乏同伴环境。</a:t>
            </a:r>
          </a:p>
          <a:p>
            <a:pPr marL="0" indent="0">
              <a:buNone/>
            </a:pPr>
            <a:r>
              <a:rPr lang="zh-CN" altLang="en-US" dirty="0"/>
              <a:t>像</a:t>
            </a:r>
            <a:r>
              <a:rPr lang="en-US" altLang="zh-CN" dirty="0"/>
              <a:t>《</a:t>
            </a:r>
            <a:r>
              <a:rPr lang="zh-CN" altLang="en-US" dirty="0"/>
              <a:t>哪吒</a:t>
            </a:r>
            <a:r>
              <a:rPr lang="en-US" altLang="zh-CN" dirty="0"/>
              <a:t>》</a:t>
            </a:r>
            <a:r>
              <a:rPr lang="zh-CN" altLang="en-US" dirty="0"/>
              <a:t>这部电影里面的情况是一样的，这一代孩子的现状就是这样，没有朋友没有同伴。</a:t>
            </a:r>
          </a:p>
          <a:p>
            <a:pPr marL="0" indent="0">
              <a:buNone/>
            </a:pPr>
            <a:r>
              <a:rPr lang="zh-CN" altLang="en-US" dirty="0"/>
              <a:t>孩子被边缘化。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马加爵事件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7857117-C619-7155-0C5F-F8DBD308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747640"/>
            <a:ext cx="3809524" cy="2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74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5568-6A89-8EE1-F968-FF0495CB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23017-4F0A-5C0D-CA8C-8B3B8C275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8492"/>
          </a:xfrm>
        </p:spPr>
        <p:txBody>
          <a:bodyPr/>
          <a:lstStyle/>
          <a:p>
            <a:r>
              <a:rPr lang="zh-CN" altLang="en-US" sz="4400" dirty="0"/>
              <a:t>学霸照样会培养失败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4D9D69-88DA-A3F8-CC1E-49660F426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为什么我们说，不管是学霸还是学渣，大概率都会培养失败呢？</a:t>
            </a:r>
          </a:p>
          <a:p>
            <a:pPr marL="0" indent="0">
              <a:buNone/>
            </a:pPr>
            <a:r>
              <a:rPr lang="zh-CN" altLang="en-US" dirty="0"/>
              <a:t>很多家长会说，我家孩子是学霸，怎么会培养失败呢？</a:t>
            </a:r>
          </a:p>
          <a:p>
            <a:pPr marL="0" indent="0">
              <a:buNone/>
            </a:pPr>
            <a:r>
              <a:rPr lang="zh-CN" altLang="en-US" dirty="0"/>
              <a:t>我们就不用说那些去常青藤名校的了，包括</a:t>
            </a:r>
            <a:r>
              <a:rPr lang="en-US" altLang="zh-CN" dirty="0"/>
              <a:t>985</a:t>
            </a:r>
            <a:r>
              <a:rPr lang="zh-CN" altLang="en-US" dirty="0"/>
              <a:t>，清华北大，大家可以去查一下退学率。</a:t>
            </a:r>
          </a:p>
        </p:txBody>
      </p:sp>
    </p:spTree>
    <p:extLst>
      <p:ext uri="{BB962C8B-B14F-4D97-AF65-F5344CB8AC3E}">
        <p14:creationId xmlns:p14="http://schemas.microsoft.com/office/powerpoint/2010/main" val="42557214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EADFF-962A-59D4-D95B-AACAE785C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C0F86-14AD-0ACE-7687-94EC4ABA3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3092"/>
          </a:xfrm>
        </p:spPr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只要学习好就行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287ED5-22B3-AFAD-5194-6D458AC61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常见的教育思维误区。</a:t>
            </a:r>
          </a:p>
          <a:p>
            <a:pPr marL="0" indent="0">
              <a:buNone/>
            </a:pPr>
            <a:r>
              <a:rPr lang="zh-CN" altLang="en-US" dirty="0"/>
              <a:t>第一个，很多父母认为孩子</a:t>
            </a:r>
            <a:r>
              <a:rPr lang="en-US" altLang="zh-CN" dirty="0"/>
              <a:t>7</a:t>
            </a:r>
            <a:r>
              <a:rPr lang="zh-CN" altLang="en-US" dirty="0"/>
              <a:t>岁之后，只需要辅导作业就可以了。</a:t>
            </a:r>
          </a:p>
          <a:p>
            <a:pPr marL="0" indent="0">
              <a:buNone/>
            </a:pPr>
            <a:r>
              <a:rPr lang="zh-CN" altLang="en-US" dirty="0"/>
              <a:t>认为只要学习好，其他都可以让步。</a:t>
            </a:r>
          </a:p>
        </p:txBody>
      </p:sp>
    </p:spTree>
    <p:extLst>
      <p:ext uri="{BB962C8B-B14F-4D97-AF65-F5344CB8AC3E}">
        <p14:creationId xmlns:p14="http://schemas.microsoft.com/office/powerpoint/2010/main" val="36713470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EFD34-3CC3-C676-7C09-B0B94BF07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1EA79F-0EC1-8279-1CDC-439A63D04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忽视校外活动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6340C6-4A63-076A-5B72-19552CF14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第二个，忽视校外活动</a:t>
            </a:r>
          </a:p>
          <a:p>
            <a:pPr marL="0" indent="0">
              <a:buNone/>
            </a:pPr>
            <a:r>
              <a:rPr lang="zh-CN" altLang="en-US" dirty="0"/>
              <a:t>我告诉大家，</a:t>
            </a:r>
            <a:r>
              <a:rPr lang="en-US" altLang="zh-CN" dirty="0"/>
              <a:t>7-12</a:t>
            </a:r>
            <a:r>
              <a:rPr lang="zh-CN" altLang="en-US" dirty="0"/>
              <a:t>岁是培养孩子多巴胺模型的关键窗口期。</a:t>
            </a:r>
          </a:p>
          <a:p>
            <a:pPr marL="0" indent="0">
              <a:buNone/>
            </a:pPr>
            <a:r>
              <a:rPr lang="zh-CN" altLang="en-US" dirty="0"/>
              <a:t>什么叫多巴胺模型呢？</a:t>
            </a:r>
          </a:p>
          <a:p>
            <a:pPr marL="0" indent="0">
              <a:buNone/>
            </a:pPr>
            <a:r>
              <a:rPr lang="zh-CN" altLang="en-US" dirty="0"/>
              <a:t>说白了就是快感模型。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734608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1603-7057-91BD-2B19-8F725D00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B7E826-1FA0-587C-5B74-68D53CEF1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26592"/>
          </a:xfrm>
        </p:spPr>
        <p:txBody>
          <a:bodyPr/>
          <a:lstStyle/>
          <a:p>
            <a:r>
              <a:rPr lang="zh-CN" altLang="en-US" sz="4400" dirty="0"/>
              <a:t>吃大饼的故事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C2C91C-0ED1-0C9C-B229-7EBEC44C7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0900"/>
            <a:ext cx="6857492" cy="42250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过去我们小时候常听到父母给我们讲一个故事。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有个孩子非常懒，父母出门前怕他饿，就烙了个大饼，套他脖子上。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结果等回来一看，饼前面的吃了，脖子后面的没吃，就饿死了。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CA657D8-87AA-D233-0778-45B91E87F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6" y="1905000"/>
            <a:ext cx="4114286" cy="4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006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1332-C94D-65CD-00A9-13D604074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B02363-8257-8C4C-650F-275418698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缺乏心理韧性和品行培养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6FB48D-1FF8-1190-F4E6-9161302A3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第三个问题，对孩子的心理韧性和品行培养不在意。</a:t>
            </a:r>
          </a:p>
          <a:p>
            <a:pPr marL="0" indent="0">
              <a:buNone/>
            </a:pPr>
            <a:r>
              <a:rPr lang="zh-CN" altLang="en-US" dirty="0"/>
              <a:t>要么没有这方面的意识，要么觉得没有用，不在意。</a:t>
            </a:r>
          </a:p>
          <a:p>
            <a:pPr marL="0" indent="0">
              <a:buNone/>
            </a:pPr>
            <a:r>
              <a:rPr lang="zh-CN" altLang="en-US" dirty="0"/>
              <a:t>这些也是社会适应性方面非常重要的组成部分。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0A16A3-9606-F759-0A45-52CACBDCE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022" y="2252256"/>
            <a:ext cx="3209735" cy="409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1672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F7A3-9DFB-A22F-4504-19BE21BBA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FB951E-F759-B197-AA31-BF8E3956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纵容手机游戏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F3F940-98BB-4DA4-6EEE-3BA4E29DC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你看网上有很多这种情况，父母不让孩子玩手机，孩子就把家给砸了。</a:t>
            </a:r>
          </a:p>
          <a:p>
            <a:pPr marL="0" indent="0">
              <a:buNone/>
            </a:pPr>
            <a:r>
              <a:rPr lang="zh-CN" altLang="en-US" dirty="0"/>
              <a:t>很多人会觉得不可思议，是吧？</a:t>
            </a:r>
          </a:p>
          <a:p>
            <a:pPr marL="0" indent="0">
              <a:buNone/>
            </a:pPr>
            <a:r>
              <a:rPr lang="zh-CN" altLang="en-US" dirty="0"/>
              <a:t>从全世界的医学论文中，有些论文库是公开的，我们可以查到一些资料。</a:t>
            </a:r>
          </a:p>
          <a:p>
            <a:pPr marL="0" indent="0">
              <a:buNone/>
            </a:pPr>
            <a:r>
              <a:rPr lang="zh-CN" altLang="en-US" dirty="0"/>
              <a:t>就是手机游戏成瘾的大脑和吸毒大脑的对比研究，在核磁共振检测结果上是一样的。</a:t>
            </a:r>
          </a:p>
          <a:p>
            <a:pPr marL="0" indent="0">
              <a:buNone/>
            </a:pPr>
            <a:r>
              <a:rPr lang="zh-CN" altLang="en-US" dirty="0"/>
              <a:t>所以你不要认为孩子玩游戏是个简单单纯的现象。</a:t>
            </a:r>
          </a:p>
        </p:txBody>
      </p:sp>
    </p:spTree>
    <p:extLst>
      <p:ext uri="{BB962C8B-B14F-4D97-AF65-F5344CB8AC3E}">
        <p14:creationId xmlns:p14="http://schemas.microsoft.com/office/powerpoint/2010/main" val="3905299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FC25-F32C-D1AB-5E48-F55C5A01D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2BB972-7E9E-EE76-C772-199E1358C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手机游戏危害科普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9B7F9C-A5FD-6776-8D2D-89005F9CE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大家有没有想过一个问题。</a:t>
            </a:r>
          </a:p>
          <a:p>
            <a:pPr marL="0" indent="0">
              <a:buNone/>
            </a:pPr>
            <a:r>
              <a:rPr lang="zh-CN" altLang="en-US" dirty="0"/>
              <a:t>这个世界上好玩的东西太多了，为什么全国几乎所有的孩子都会一致统一地去玩手机呢？</a:t>
            </a:r>
          </a:p>
          <a:p>
            <a:pPr marL="0" indent="0">
              <a:buNone/>
            </a:pPr>
            <a:r>
              <a:rPr lang="zh-CN" altLang="en-US" dirty="0"/>
              <a:t>正常情况下，不应该是一部分孩子玩这个，一部分孩子玩那个吗？</a:t>
            </a:r>
          </a:p>
          <a:p>
            <a:pPr marL="0" indent="0">
              <a:buNone/>
            </a:pPr>
            <a:r>
              <a:rPr lang="zh-CN" altLang="en-US" dirty="0"/>
              <a:t>即使是正态分布概率下，也不可能</a:t>
            </a:r>
            <a:r>
              <a:rPr lang="en-US" altLang="zh-CN" dirty="0"/>
              <a:t>99%</a:t>
            </a:r>
            <a:r>
              <a:rPr lang="zh-CN" altLang="en-US" dirty="0"/>
              <a:t>的孩子都去玩手机吧？</a:t>
            </a:r>
          </a:p>
          <a:p>
            <a:pPr marL="0" indent="0">
              <a:buNone/>
            </a:pPr>
            <a:r>
              <a:rPr lang="zh-CN" altLang="en-US" dirty="0"/>
              <a:t>关于孩子玩手机的问题，我也有一个专题课有专门说明，大家有兴趣可以关注一下。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34242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45F12-D1E0-8590-AA2D-83822BD0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160FD-BF9F-0ABC-5146-971A0150F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手机游戏危害案例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66658F-162E-1F97-C6FF-713DA446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35192" cy="3767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北航大家都知道，非常好的大学，是吧？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2020</a:t>
            </a:r>
            <a:r>
              <a:rPr lang="zh-CN" altLang="en-US" dirty="0"/>
              <a:t>年底 </a:t>
            </a:r>
            <a:r>
              <a:rPr lang="en-US" altLang="zh-CN" dirty="0"/>
              <a:t>— 2021</a:t>
            </a:r>
            <a:r>
              <a:rPr lang="zh-CN" altLang="en-US" dirty="0"/>
              <a:t>年初，北航集中清退</a:t>
            </a:r>
            <a:r>
              <a:rPr lang="en-US" altLang="zh-CN" dirty="0"/>
              <a:t>404</a:t>
            </a:r>
            <a:r>
              <a:rPr lang="zh-CN" altLang="en-US" dirty="0"/>
              <a:t>名研究生的事件（含硕士、博士、专业学位）。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6BDF12-CDE1-DDEB-EA7D-9A4E2EA36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3278" y="1709928"/>
            <a:ext cx="4757514" cy="4555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82109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B30A-2902-FA30-8B68-3FC6B8739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14E59-B7BC-F6F5-0291-1809EA360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物质交换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CACA72-D5F8-7964-0ABA-BA58C01F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第四种错误教育方法。</a:t>
            </a:r>
          </a:p>
          <a:p>
            <a:pPr marL="0" indent="0">
              <a:buNone/>
            </a:pPr>
            <a:r>
              <a:rPr lang="zh-CN" altLang="en-US" dirty="0"/>
              <a:t>为了让孩子学习，拿物质做交换。</a:t>
            </a:r>
          </a:p>
          <a:p>
            <a:pPr marL="0" indent="0">
              <a:buNone/>
            </a:pPr>
            <a:r>
              <a:rPr lang="zh-CN" altLang="en-US" dirty="0"/>
              <a:t>只要你学习，我就给你买什么东西。</a:t>
            </a:r>
          </a:p>
        </p:txBody>
      </p:sp>
    </p:spTree>
    <p:extLst>
      <p:ext uri="{BB962C8B-B14F-4D97-AF65-F5344CB8AC3E}">
        <p14:creationId xmlns:p14="http://schemas.microsoft.com/office/powerpoint/2010/main" val="22369890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3630F-FB9E-3D68-3456-005DF01E4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BEBBD1-AD47-4C3F-5771-0C8736AF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家庭安乐窝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18FB41-E73F-7B6D-B860-D7DB914E9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还有一种，就是安乐窝。</a:t>
            </a:r>
          </a:p>
          <a:p>
            <a:pPr marL="0" indent="0">
              <a:buNone/>
            </a:pPr>
            <a:r>
              <a:rPr lang="zh-CN" altLang="en-US" dirty="0"/>
              <a:t>只要你学习，在家里什么都不用干。</a:t>
            </a:r>
          </a:p>
          <a:p>
            <a:pPr marL="0" indent="0">
              <a:buNone/>
            </a:pPr>
            <a:r>
              <a:rPr lang="zh-CN" altLang="en-US" dirty="0"/>
              <a:t>在家里不用承担任何责任。</a:t>
            </a:r>
          </a:p>
        </p:txBody>
      </p:sp>
    </p:spTree>
    <p:extLst>
      <p:ext uri="{BB962C8B-B14F-4D97-AF65-F5344CB8AC3E}">
        <p14:creationId xmlns:p14="http://schemas.microsoft.com/office/powerpoint/2010/main" val="41158871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39EA2-0553-7FAA-DD5C-4F8607648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B0DFD-729F-DECC-D541-ECF0A8B11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常见教育思维误区</a:t>
            </a:r>
            <a:r>
              <a:rPr lang="en-US" altLang="zh-CN" sz="4400" dirty="0"/>
              <a:t>——</a:t>
            </a:r>
            <a:r>
              <a:rPr lang="zh-CN" altLang="en-US" sz="4400" dirty="0"/>
              <a:t>谎言教育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A60C8E-521C-14D0-BA98-FA9EDAEBC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还有，就是谎言教育。</a:t>
            </a:r>
          </a:p>
          <a:p>
            <a:pPr marL="0" indent="0">
              <a:buNone/>
            </a:pPr>
            <a:r>
              <a:rPr lang="zh-CN" altLang="en-US" dirty="0"/>
              <a:t>只要你考上大学，你的前途就有了。</a:t>
            </a:r>
          </a:p>
        </p:txBody>
      </p:sp>
    </p:spTree>
    <p:extLst>
      <p:ext uri="{BB962C8B-B14F-4D97-AF65-F5344CB8AC3E}">
        <p14:creationId xmlns:p14="http://schemas.microsoft.com/office/powerpoint/2010/main" val="33655458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26910-1B80-344C-2AA9-0AD1E2B04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34FAEF-29F7-1CDD-D2C3-32E005DF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虚拟世界：二次元、电子游戏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D0B381-3AE5-26D8-6A90-0406C5AAC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441448"/>
            <a:ext cx="5574792" cy="390448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孩子面对这些错误的教育方式，他们会怎么样呢？</a:t>
            </a:r>
          </a:p>
          <a:p>
            <a:pPr marL="0" indent="0">
              <a:buNone/>
            </a:pPr>
            <a:r>
              <a:rPr lang="zh-CN" altLang="en-US" dirty="0"/>
              <a:t>一种，就是进入二次元。</a:t>
            </a:r>
          </a:p>
          <a:p>
            <a:pPr marL="0" indent="0">
              <a:buNone/>
            </a:pPr>
            <a:r>
              <a:rPr lang="zh-CN" altLang="en-US" dirty="0"/>
              <a:t>还有就是进入虚拟世界，游戏、短视频。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0C60D83-6FC2-7A31-DE52-4D2F3AB836E3}"/>
              </a:ext>
            </a:extLst>
          </p:cNvPr>
          <p:cNvSpPr txBox="1">
            <a:spLocks/>
          </p:cNvSpPr>
          <p:nvPr/>
        </p:nvSpPr>
        <p:spPr>
          <a:xfrm>
            <a:off x="6270171" y="2225548"/>
            <a:ext cx="5400621" cy="412038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真实案例：</a:t>
            </a: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有些孩子严重到什么程度呢？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比如有个孩子说过这样的话。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他说他不敢见到太阳。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太阳会伤害我。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大家想一想，哪里没有太阳？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只有地下没有太阳，难道他只能生活在地下吗？</a:t>
            </a:r>
          </a:p>
        </p:txBody>
      </p:sp>
    </p:spTree>
    <p:extLst>
      <p:ext uri="{BB962C8B-B14F-4D97-AF65-F5344CB8AC3E}">
        <p14:creationId xmlns:p14="http://schemas.microsoft.com/office/powerpoint/2010/main" val="201398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AA2D6-49F1-058F-9C82-1EA33B6D7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7C6474-117C-B73A-F95A-841F6F432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低欲望综合症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C534AB-D540-56BB-F4B8-9A5C721B4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低欲望综合症</a:t>
            </a:r>
          </a:p>
          <a:p>
            <a:pPr marL="0" indent="0">
              <a:buNone/>
            </a:pPr>
            <a:r>
              <a:rPr lang="zh-CN" altLang="en-US" dirty="0"/>
              <a:t>是丧失了欲望的问题。</a:t>
            </a:r>
          </a:p>
          <a:p>
            <a:pPr marL="0" indent="0">
              <a:buNone/>
            </a:pPr>
            <a:r>
              <a:rPr lang="zh-CN" altLang="en-US" dirty="0"/>
              <a:t>网上很多搞心理学的，他们学的都是弗洛伊德时代的心理学，当时弗洛伊德主要是治疗欲望过强的问题。</a:t>
            </a:r>
          </a:p>
          <a:p>
            <a:pPr marL="0" indent="0">
              <a:buNone/>
            </a:pPr>
            <a:r>
              <a:rPr lang="zh-CN" altLang="en-US" dirty="0"/>
              <a:t>而现在是完全相反的，他们用错误的理论去看待现在的问题，必然得出错误的结论。</a:t>
            </a:r>
          </a:p>
          <a:p>
            <a:pPr marL="0" indent="0">
              <a:buNone/>
            </a:pPr>
            <a:r>
              <a:rPr lang="zh-CN" altLang="en-US" dirty="0"/>
              <a:t>因为低欲望是不好搞的，一个人失去了欲望，你怎么处理都将无效，没有那么简单。</a:t>
            </a:r>
          </a:p>
        </p:txBody>
      </p:sp>
    </p:spTree>
    <p:extLst>
      <p:ext uri="{BB962C8B-B14F-4D97-AF65-F5344CB8AC3E}">
        <p14:creationId xmlns:p14="http://schemas.microsoft.com/office/powerpoint/2010/main" val="504703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BCFF-63FB-DC1C-9E02-57A42565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BDF0C-D6D4-1FCA-DF44-19737BA3F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低欲望综合症的表现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496116-EBCD-132E-4CEE-6B7444A11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这种低欲望在孩子们中传播，现在越来越广泛、越来越严重。</a:t>
            </a:r>
          </a:p>
          <a:p>
            <a:pPr marL="0" indent="0">
              <a:buNone/>
            </a:pPr>
            <a:r>
              <a:rPr lang="zh-CN" altLang="en-US" dirty="0"/>
              <a:t>当然，低欲望也分等级。</a:t>
            </a:r>
          </a:p>
          <a:p>
            <a:pPr marL="0" indent="0">
              <a:buNone/>
            </a:pPr>
            <a:r>
              <a:rPr lang="zh-CN" altLang="en-US" dirty="0"/>
              <a:t>最严重的，是你问他吃什么，他对吃什么都没有任何兴趣。</a:t>
            </a:r>
          </a:p>
          <a:p>
            <a:pPr marL="0" indent="0">
              <a:buNone/>
            </a:pPr>
            <a:r>
              <a:rPr lang="zh-CN" altLang="en-US" dirty="0"/>
              <a:t>一般严重的至少还对吃有那么一点兴趣。</a:t>
            </a:r>
          </a:p>
          <a:p>
            <a:pPr marL="0" indent="0">
              <a:buNone/>
            </a:pPr>
            <a:r>
              <a:rPr lang="zh-CN" altLang="en-US" dirty="0"/>
              <a:t>你看现在的年轻人，只知道吃方便面、外卖、奶茶。</a:t>
            </a:r>
          </a:p>
        </p:txBody>
      </p:sp>
    </p:spTree>
    <p:extLst>
      <p:ext uri="{BB962C8B-B14F-4D97-AF65-F5344CB8AC3E}">
        <p14:creationId xmlns:p14="http://schemas.microsoft.com/office/powerpoint/2010/main" val="41706727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FEF6-1E28-1DD9-CBB6-A2FA01B6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EF93AB-78BB-28BB-03BD-B28EF35DA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教育重点不再是学习成绩和方法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8015CB-CA8B-8826-1585-C542D28E9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这些低欲望的问题，导致了孩子进入社会后对工作对职业没有任何兴趣和动力。</a:t>
            </a:r>
          </a:p>
          <a:p>
            <a:pPr marL="0" indent="0">
              <a:buNone/>
            </a:pPr>
            <a:r>
              <a:rPr lang="zh-CN" altLang="en-US" dirty="0"/>
              <a:t>而家长们却只看到了表面，没有真正搞清楚问题的本源。</a:t>
            </a:r>
          </a:p>
          <a:p>
            <a:pPr marL="0" indent="0">
              <a:buNone/>
            </a:pPr>
            <a:r>
              <a:rPr lang="zh-CN" altLang="en-US" dirty="0"/>
              <a:t>所以你看，很多家长来听课，只会问一些如何提高孩子学习成绩和学习方法的问题。</a:t>
            </a:r>
          </a:p>
          <a:p>
            <a:pPr marL="0" indent="0">
              <a:buNone/>
            </a:pPr>
            <a:r>
              <a:rPr lang="zh-CN" altLang="en-US" dirty="0"/>
              <a:t>然而真正的问题，最严重的问题，都被大家忽略了！</a:t>
            </a:r>
          </a:p>
        </p:txBody>
      </p:sp>
    </p:spTree>
    <p:extLst>
      <p:ext uri="{BB962C8B-B14F-4D97-AF65-F5344CB8AC3E}">
        <p14:creationId xmlns:p14="http://schemas.microsoft.com/office/powerpoint/2010/main" val="24085141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4E28-1D4D-69C6-D85C-1801894F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95CC02-347E-D1CC-ED8A-064752802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多巴胺模型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4815AA-919D-4537-6F5D-C486F32AC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就是这个孩子在青春期的时候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三大模型：多巴胺模型、血清素模型、压力激素模型。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多巴胺模型讲过了。</a:t>
            </a:r>
          </a:p>
        </p:txBody>
      </p:sp>
    </p:spTree>
    <p:extLst>
      <p:ext uri="{BB962C8B-B14F-4D97-AF65-F5344CB8AC3E}">
        <p14:creationId xmlns:p14="http://schemas.microsoft.com/office/powerpoint/2010/main" val="31447035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6926-917C-1BAB-2C87-15187507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158EB0-3B57-6230-C086-89FFCEF43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88C0F3-2085-2211-7B23-9697E2D1B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血清素是什么呢</a:t>
            </a:r>
          </a:p>
          <a:p>
            <a:pPr marL="0" indent="0">
              <a:buNone/>
            </a:pPr>
            <a:r>
              <a:rPr lang="zh-CN" altLang="en-US" dirty="0"/>
              <a:t>就是让我们得到安抚的一种激素</a:t>
            </a:r>
          </a:p>
          <a:p>
            <a:pPr marL="0" indent="0">
              <a:buNone/>
            </a:pPr>
            <a:r>
              <a:rPr lang="zh-CN" altLang="en-US" dirty="0"/>
              <a:t>比如说我感到压力了啊</a:t>
            </a:r>
          </a:p>
          <a:p>
            <a:pPr marL="0" indent="0">
              <a:buNone/>
            </a:pPr>
            <a:r>
              <a:rPr lang="zh-CN" altLang="en-US" dirty="0"/>
              <a:t>我觉得需要一种情绪获得满足了</a:t>
            </a:r>
          </a:p>
          <a:p>
            <a:pPr marL="0" indent="0">
              <a:buNone/>
            </a:pPr>
            <a:r>
              <a:rPr lang="zh-CN" altLang="en-US" dirty="0"/>
              <a:t>你就需要血清素安抚我自己</a:t>
            </a:r>
          </a:p>
        </p:txBody>
      </p:sp>
    </p:spTree>
    <p:extLst>
      <p:ext uri="{BB962C8B-B14F-4D97-AF65-F5344CB8AC3E}">
        <p14:creationId xmlns:p14="http://schemas.microsoft.com/office/powerpoint/2010/main" val="32163035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1EBA-BFE6-35B8-DA28-A385F03C6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455C79-761D-A311-F539-EF2C9A03B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性驱力模型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6B7CDF-AAB7-6D46-DE81-A316F6CBB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其实还有一个模型，都不好意思跟你们说，就是性驱力模型</a:t>
            </a:r>
          </a:p>
          <a:p>
            <a:pPr marL="0" indent="0">
              <a:buNone/>
            </a:pPr>
            <a:r>
              <a:rPr lang="zh-CN" altLang="en-US" dirty="0"/>
              <a:t>现在这些孩子们</a:t>
            </a:r>
          </a:p>
          <a:p>
            <a:pPr marL="0" indent="0">
              <a:buNone/>
            </a:pPr>
            <a:r>
              <a:rPr lang="zh-CN" altLang="en-US" dirty="0"/>
              <a:t>他们不能交往</a:t>
            </a:r>
          </a:p>
          <a:p>
            <a:pPr marL="0" indent="0">
              <a:buNone/>
            </a:pPr>
            <a:r>
              <a:rPr lang="zh-CN" altLang="en-US" dirty="0"/>
              <a:t>没有男女朋友关系</a:t>
            </a:r>
          </a:p>
          <a:p>
            <a:pPr marL="0" indent="0">
              <a:buNone/>
            </a:pPr>
            <a:r>
              <a:rPr lang="zh-CN" altLang="en-US" dirty="0"/>
              <a:t>没有运动、没有艺术</a:t>
            </a:r>
          </a:p>
          <a:p>
            <a:pPr marL="0" indent="0">
              <a:buNone/>
            </a:pPr>
            <a:r>
              <a:rPr lang="zh-CN" altLang="en-US" dirty="0"/>
              <a:t>然后呢，他们在青春期的时候</a:t>
            </a:r>
          </a:p>
          <a:p>
            <a:pPr marL="0" indent="0">
              <a:buNone/>
            </a:pPr>
            <a:r>
              <a:rPr lang="zh-CN" altLang="en-US" dirty="0"/>
              <a:t>他们其实是很痛苦的</a:t>
            </a:r>
          </a:p>
        </p:txBody>
      </p:sp>
    </p:spTree>
    <p:extLst>
      <p:ext uri="{BB962C8B-B14F-4D97-AF65-F5344CB8AC3E}">
        <p14:creationId xmlns:p14="http://schemas.microsoft.com/office/powerpoint/2010/main" val="27017189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B92A-EC36-B734-49FB-44CDD919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855CE3-BF31-732B-8C43-ADB1D52EF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正常性驱力模型缺失的严重后果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6FB6EC-55E6-995D-1D88-14A099BD0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他们上暗网</a:t>
            </a:r>
          </a:p>
          <a:p>
            <a:pPr marL="0" indent="0">
              <a:buNone/>
            </a:pPr>
            <a:r>
              <a:rPr lang="zh-CN" altLang="en-US" dirty="0"/>
              <a:t>在暗网上下载什么呢</a:t>
            </a:r>
          </a:p>
          <a:p>
            <a:pPr marL="0" indent="0">
              <a:buNone/>
            </a:pPr>
            <a:r>
              <a:rPr lang="zh-CN" altLang="en-US" dirty="0"/>
              <a:t>下载各种各样的扭曲变态的性视频、短视频</a:t>
            </a:r>
          </a:p>
          <a:p>
            <a:pPr marL="0" indent="0">
              <a:buNone/>
            </a:pPr>
            <a:r>
              <a:rPr lang="zh-CN" altLang="en-US" dirty="0"/>
              <a:t>然后把这俩孩子培养成一种非常奇葩的性模型</a:t>
            </a:r>
          </a:p>
          <a:p>
            <a:pPr marL="0" indent="0">
              <a:buNone/>
            </a:pPr>
            <a:r>
              <a:rPr lang="zh-CN" altLang="en-US" dirty="0"/>
              <a:t>他们喜欢恋尸癖</a:t>
            </a:r>
          </a:p>
          <a:p>
            <a:pPr marL="0" indent="0">
              <a:buNone/>
            </a:pPr>
            <a:r>
              <a:rPr lang="zh-CN" altLang="en-US" dirty="0"/>
              <a:t>对眼睛的是身上长着绿毛的尸体的视频</a:t>
            </a:r>
          </a:p>
        </p:txBody>
      </p:sp>
    </p:spTree>
    <p:extLst>
      <p:ext uri="{BB962C8B-B14F-4D97-AF65-F5344CB8AC3E}">
        <p14:creationId xmlns:p14="http://schemas.microsoft.com/office/powerpoint/2010/main" val="249629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BEFC-0FF9-A3DD-EFFC-3391DADD8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F14A9A-7D8C-6599-6630-8E99CE24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运动和人际互动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15B74D-194C-6CA3-E1B7-EE354E1D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血清素是他需求爆棚的时候</a:t>
            </a:r>
          </a:p>
          <a:p>
            <a:pPr marL="0" indent="0">
              <a:buNone/>
            </a:pPr>
            <a:r>
              <a:rPr lang="zh-CN" altLang="en-US" dirty="0"/>
              <a:t>你必须要来运动</a:t>
            </a:r>
          </a:p>
          <a:p>
            <a:pPr marL="0" indent="0">
              <a:buNone/>
            </a:pPr>
            <a:r>
              <a:rPr lang="zh-CN" altLang="en-US" dirty="0"/>
              <a:t>你让他人际交往</a:t>
            </a:r>
          </a:p>
          <a:p>
            <a:pPr marL="0" indent="0">
              <a:buNone/>
            </a:pPr>
            <a:r>
              <a:rPr lang="zh-CN" altLang="en-US" dirty="0"/>
              <a:t>否则你把这孩子整个生理上都给弄坏了</a:t>
            </a:r>
          </a:p>
          <a:p>
            <a:pPr marL="0" indent="0">
              <a:buNone/>
            </a:pPr>
            <a:r>
              <a:rPr lang="zh-CN" altLang="en-US" dirty="0"/>
              <a:t>他有压力的时候</a:t>
            </a:r>
          </a:p>
          <a:p>
            <a:pPr marL="0" indent="0">
              <a:buNone/>
            </a:pPr>
            <a:r>
              <a:rPr lang="zh-CN" altLang="en-US" dirty="0"/>
              <a:t>他必须要去通过这个方式来缓解</a:t>
            </a:r>
          </a:p>
          <a:p>
            <a:pPr marL="0" indent="0">
              <a:buNone/>
            </a:pPr>
            <a:r>
              <a:rPr lang="zh-CN" altLang="en-US" dirty="0"/>
              <a:t>孩子们就游戏成瘾</a:t>
            </a:r>
          </a:p>
        </p:txBody>
      </p:sp>
    </p:spTree>
    <p:extLst>
      <p:ext uri="{BB962C8B-B14F-4D97-AF65-F5344CB8AC3E}">
        <p14:creationId xmlns:p14="http://schemas.microsoft.com/office/powerpoint/2010/main" val="42927713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16D9F-EC44-AC37-3F9B-A4970927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E8E85-553B-BF4C-3DCF-471F6D6E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亲子关系的谬误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ED26EB-A0A8-77B5-641C-03433723A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第二个就是亲子关系破坏。</a:t>
            </a:r>
          </a:p>
          <a:p>
            <a:pPr marL="0" indent="0">
              <a:buNone/>
            </a:pPr>
            <a:r>
              <a:rPr lang="zh-CN" altLang="en-US" dirty="0"/>
              <a:t>他很痛苦呀</a:t>
            </a:r>
          </a:p>
          <a:p>
            <a:pPr marL="0" indent="0">
              <a:buNone/>
            </a:pPr>
            <a:r>
              <a:rPr lang="zh-CN" altLang="en-US" dirty="0"/>
              <a:t>痛苦之后他必然就会怎么样发火呀</a:t>
            </a:r>
          </a:p>
          <a:p>
            <a:pPr marL="0" indent="0">
              <a:buNone/>
            </a:pPr>
            <a:r>
              <a:rPr lang="zh-CN" altLang="en-US" dirty="0"/>
              <a:t>他会对父母关系不好呀</a:t>
            </a:r>
          </a:p>
          <a:p>
            <a:pPr marL="0" indent="0">
              <a:buNone/>
            </a:pPr>
            <a:r>
              <a:rPr lang="zh-CN" altLang="en-US" dirty="0"/>
              <a:t>然后你们认为是亲子关系不好</a:t>
            </a:r>
          </a:p>
        </p:txBody>
      </p:sp>
    </p:spTree>
    <p:extLst>
      <p:ext uri="{BB962C8B-B14F-4D97-AF65-F5344CB8AC3E}">
        <p14:creationId xmlns:p14="http://schemas.microsoft.com/office/powerpoint/2010/main" val="13728130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6AE2E-DD93-B3AC-4557-E7516113F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4373A8-E74B-8357-5324-1F6C01643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芬太尼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0B4457-F4AE-8775-4679-380106C86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60600"/>
            <a:ext cx="5438095" cy="40853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中国的孩子现在问题很严重。</a:t>
            </a:r>
          </a:p>
          <a:p>
            <a:pPr marL="0" indent="0">
              <a:buNone/>
            </a:pPr>
            <a:r>
              <a:rPr lang="zh-CN" altLang="en-US" dirty="0"/>
              <a:t>同样西方的孩子也是一样的。</a:t>
            </a:r>
          </a:p>
          <a:p>
            <a:pPr marL="0" indent="0">
              <a:buNone/>
            </a:pPr>
            <a:r>
              <a:rPr lang="zh-CN" altLang="en-US" dirty="0"/>
              <a:t>美国把芬太尼作为美国最大的问题。</a:t>
            </a:r>
          </a:p>
          <a:p>
            <a:pPr marL="0" indent="0">
              <a:buNone/>
            </a:pPr>
            <a:r>
              <a:rPr lang="zh-CN" altLang="en-US" dirty="0"/>
              <a:t>每个青年人都在普遍吃芬太尼</a:t>
            </a:r>
          </a:p>
          <a:p>
            <a:pPr marL="0" indent="0">
              <a:buNone/>
            </a:pPr>
            <a:r>
              <a:rPr lang="zh-CN" altLang="en-US" dirty="0"/>
              <a:t>用芬太尼在干嘛，缓解压</a:t>
            </a:r>
          </a:p>
          <a:p>
            <a:pPr marL="0" indent="0">
              <a:buNone/>
            </a:pPr>
            <a:r>
              <a:rPr lang="zh-CN" altLang="en-US" dirty="0"/>
              <a:t>中国生产芬兰尼生产给美国了</a:t>
            </a:r>
          </a:p>
          <a:p>
            <a:pPr marL="0" indent="0">
              <a:buNone/>
            </a:pPr>
            <a:r>
              <a:rPr lang="zh-CN" altLang="en-US" dirty="0"/>
              <a:t>所以美国就很生气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7E1FABE-3D46-E47F-7A5A-D508EF19B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752" y="2441448"/>
            <a:ext cx="5438095" cy="36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4353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D1B2-A286-24BA-870D-763B7798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6564CB-34A2-4FE3-26F7-82FA388FD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孩子错误的减压方式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7E1A27-E427-1E87-71A2-6193382A3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中国孩子在 </a:t>
            </a:r>
            <a:r>
              <a:rPr lang="en-US" altLang="zh-CN" dirty="0"/>
              <a:t>QQ </a:t>
            </a:r>
            <a:r>
              <a:rPr lang="zh-CN" altLang="en-US" dirty="0"/>
              <a:t>群里面</a:t>
            </a:r>
          </a:p>
          <a:p>
            <a:pPr marL="0" indent="0">
              <a:buNone/>
            </a:pPr>
            <a:r>
              <a:rPr lang="zh-CN" altLang="en-US" dirty="0"/>
              <a:t>跟科学院通过私下一些联系</a:t>
            </a:r>
          </a:p>
          <a:p>
            <a:pPr marL="0" indent="0">
              <a:buNone/>
            </a:pPr>
            <a:r>
              <a:rPr lang="zh-CN" altLang="en-US" dirty="0"/>
              <a:t>他们互相传播去吃什么样的感冒药</a:t>
            </a:r>
          </a:p>
          <a:p>
            <a:pPr marL="0" indent="0">
              <a:buNone/>
            </a:pPr>
            <a:r>
              <a:rPr lang="zh-CN" altLang="en-US" dirty="0"/>
              <a:t>吃什么样就那种带镇静的药物</a:t>
            </a:r>
          </a:p>
          <a:p>
            <a:pPr marL="0" indent="0">
              <a:buNone/>
            </a:pPr>
            <a:r>
              <a:rPr lang="zh-CN" altLang="en-US" dirty="0"/>
              <a:t>能达到类似的减压效果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给他一个正确的解压方法</a:t>
            </a:r>
          </a:p>
          <a:p>
            <a:pPr marL="0" indent="0">
              <a:buNone/>
            </a:pPr>
            <a:r>
              <a:rPr lang="zh-CN" altLang="en-US" dirty="0"/>
              <a:t>而不是搞什么亲子关系问题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8290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D8A02-8CEA-F469-F3A9-9D050ADA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27C411-46B2-0C2B-6AFD-112CAF40E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人际沟通能力缺失的严峻性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8B2A2-B144-64A4-EC4D-F40431626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零零后啊，或者一零后这些啊</a:t>
            </a:r>
          </a:p>
          <a:p>
            <a:pPr marL="0" indent="0">
              <a:buNone/>
            </a:pPr>
            <a:r>
              <a:rPr lang="zh-CN" altLang="en-US" dirty="0"/>
              <a:t>年纪小点的那些啊</a:t>
            </a:r>
          </a:p>
          <a:p>
            <a:pPr marL="0" indent="0">
              <a:buNone/>
            </a:pPr>
            <a:r>
              <a:rPr lang="zh-CN" altLang="en-US" dirty="0"/>
              <a:t>看那些刚刚参加工作的年轻</a:t>
            </a:r>
            <a:r>
              <a:rPr lang="en-US" altLang="zh-CN" dirty="0"/>
              <a:t>18</a:t>
            </a:r>
            <a:r>
              <a:rPr lang="zh-CN" altLang="en-US" dirty="0"/>
              <a:t>岁左右</a:t>
            </a:r>
          </a:p>
          <a:p>
            <a:pPr marL="0" indent="0">
              <a:buNone/>
            </a:pPr>
            <a:r>
              <a:rPr lang="zh-CN" altLang="en-US" dirty="0"/>
              <a:t>他连打电话都不会打</a:t>
            </a:r>
          </a:p>
          <a:p>
            <a:pPr marL="0" indent="0">
              <a:buNone/>
            </a:pPr>
            <a:r>
              <a:rPr lang="zh-CN" altLang="en-US" dirty="0"/>
              <a:t>因为他不知道怎么说话</a:t>
            </a:r>
          </a:p>
          <a:p>
            <a:pPr marL="0" indent="0">
              <a:buNone/>
            </a:pPr>
            <a:r>
              <a:rPr lang="zh-CN" altLang="en-US" dirty="0"/>
              <a:t>他们只擅长发表情包</a:t>
            </a:r>
          </a:p>
          <a:p>
            <a:pPr marL="0" indent="0">
              <a:buNone/>
            </a:pPr>
            <a:r>
              <a:rPr lang="zh-CN" altLang="en-US" dirty="0"/>
              <a:t>因为他们不具备语言表达和沟通的能力。（他都不会甚至不知道去请教别人）</a:t>
            </a:r>
          </a:p>
          <a:p>
            <a:pPr marL="0" indent="0">
              <a:buNone/>
            </a:pPr>
            <a:r>
              <a:rPr lang="zh-CN" altLang="en-US" dirty="0"/>
              <a:t>这些都是有研究的，不要以为是简单的现象。</a:t>
            </a:r>
          </a:p>
        </p:txBody>
      </p:sp>
    </p:spTree>
    <p:extLst>
      <p:ext uri="{BB962C8B-B14F-4D97-AF65-F5344CB8AC3E}">
        <p14:creationId xmlns:p14="http://schemas.microsoft.com/office/powerpoint/2010/main" val="3562837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8602D-0153-22D9-8574-88FCE5ED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31D6E-AAE8-8DE2-8310-E8AC80678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嬉皮士运动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2EABE-F174-884A-570C-66C2F65AF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像现在我们看到的这种现象，其实不是中国独有的，也不是现在才有的。</a:t>
            </a:r>
          </a:p>
          <a:p>
            <a:pPr marL="0" indent="0">
              <a:buNone/>
            </a:pPr>
            <a:r>
              <a:rPr lang="zh-CN" altLang="en-US" dirty="0"/>
              <a:t>早在上个世纪</a:t>
            </a:r>
            <a:r>
              <a:rPr lang="en-US" altLang="zh-CN" dirty="0"/>
              <a:t>60</a:t>
            </a:r>
            <a:r>
              <a:rPr lang="zh-CN" altLang="en-US" dirty="0"/>
              <a:t>年代，全球就出现过这样的问题。</a:t>
            </a:r>
          </a:p>
          <a:p>
            <a:pPr marL="0" indent="0">
              <a:buNone/>
            </a:pPr>
            <a:r>
              <a:rPr lang="zh-CN" altLang="en-US" dirty="0"/>
              <a:t>在美国出现了嬉皮士运动。</a:t>
            </a:r>
          </a:p>
          <a:p>
            <a:pPr marL="0" indent="0">
              <a:buNone/>
            </a:pPr>
            <a:r>
              <a:rPr lang="zh-CN" altLang="en-US" dirty="0"/>
              <a:t>第二代会退化，会垮掉。</a:t>
            </a:r>
          </a:p>
          <a:p>
            <a:pPr marL="0" indent="0">
              <a:buNone/>
            </a:pPr>
            <a:r>
              <a:rPr lang="zh-CN" altLang="en-US" dirty="0"/>
              <a:t>美国当时的解密文件中写道，希望中国的第二代也垮掉。</a:t>
            </a:r>
          </a:p>
          <a:p>
            <a:pPr marL="0" indent="0">
              <a:buNone/>
            </a:pPr>
            <a:r>
              <a:rPr lang="zh-CN" altLang="en-US" dirty="0"/>
              <a:t>这样就不会竞争失败了。</a:t>
            </a:r>
          </a:p>
          <a:p>
            <a:pPr marL="0" indent="0">
              <a:buNone/>
            </a:pPr>
            <a:r>
              <a:rPr lang="zh-CN" altLang="en-US" dirty="0"/>
              <a:t>中国的第二代，就是通过上山下乡，解决了这个问题。</a:t>
            </a:r>
          </a:p>
        </p:txBody>
      </p:sp>
    </p:spTree>
    <p:extLst>
      <p:ext uri="{BB962C8B-B14F-4D97-AF65-F5344CB8AC3E}">
        <p14:creationId xmlns:p14="http://schemas.microsoft.com/office/powerpoint/2010/main" val="2966064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6C6F-4DEB-660E-6969-34C5FBA0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E5E903-5C82-CF32-4B6B-B8397780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400" dirty="0"/>
              <a:t>25</a:t>
            </a:r>
            <a:r>
              <a:rPr lang="zh-CN" altLang="en-US" sz="4400" dirty="0"/>
              <a:t>号宇宙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89A6F3-5632-C937-67E3-A48767242A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25</a:t>
            </a:r>
            <a:r>
              <a:rPr lang="zh-CN" altLang="en-US" dirty="0"/>
              <a:t>号宇宙的老鼠实验。</a:t>
            </a:r>
          </a:p>
          <a:p>
            <a:pPr marL="0" indent="0">
              <a:buNone/>
            </a:pPr>
            <a:r>
              <a:rPr lang="zh-CN" altLang="en-US" dirty="0"/>
              <a:t>结论：</a:t>
            </a:r>
          </a:p>
          <a:p>
            <a:pPr marL="0" indent="0">
              <a:buNone/>
            </a:pPr>
            <a:r>
              <a:rPr lang="zh-CN" altLang="en-US" dirty="0"/>
              <a:t>第一，父母不喜欢孩子，互相攻击</a:t>
            </a:r>
          </a:p>
          <a:p>
            <a:pPr marL="0" indent="0">
              <a:buNone/>
            </a:pPr>
            <a:r>
              <a:rPr lang="zh-CN" altLang="en-US" dirty="0"/>
              <a:t>第二，雄性女性化，雌性开始增强，要求女性权利</a:t>
            </a:r>
          </a:p>
          <a:p>
            <a:pPr marL="0" indent="0">
              <a:buNone/>
            </a:pPr>
            <a:r>
              <a:rPr lang="zh-CN" altLang="en-US" dirty="0"/>
              <a:t>不求偶，不繁殖。</a:t>
            </a:r>
          </a:p>
          <a:p>
            <a:pPr marL="0" indent="0">
              <a:buNone/>
            </a:pPr>
            <a:r>
              <a:rPr lang="zh-CN" altLang="en-US" dirty="0"/>
              <a:t>目前生孩子的主力是在</a:t>
            </a:r>
            <a:r>
              <a:rPr lang="en-US" altLang="zh-CN" dirty="0"/>
              <a:t>40</a:t>
            </a:r>
            <a:r>
              <a:rPr lang="zh-CN" altLang="en-US" dirty="0"/>
              <a:t>多岁的人，而年轻人几乎都不怎么生孩子。</a:t>
            </a:r>
          </a:p>
          <a:p>
            <a:pPr marL="0" indent="0">
              <a:buNone/>
            </a:pPr>
            <a:r>
              <a:rPr lang="zh-CN" altLang="en-US" dirty="0"/>
              <a:t>日本是经历过这一切的。</a:t>
            </a:r>
          </a:p>
          <a:p>
            <a:pPr marL="0" indent="0">
              <a:buNone/>
            </a:pPr>
            <a:r>
              <a:rPr lang="zh-CN" altLang="en-US" dirty="0"/>
              <a:t>在上个世纪日本就已经开始宅文化。</a:t>
            </a:r>
          </a:p>
        </p:txBody>
      </p:sp>
    </p:spTree>
    <p:extLst>
      <p:ext uri="{BB962C8B-B14F-4D97-AF65-F5344CB8AC3E}">
        <p14:creationId xmlns:p14="http://schemas.microsoft.com/office/powerpoint/2010/main" val="33089652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0539-6176-A14B-E66E-1D5FD9BD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4BD122-590E-8953-EA42-CCCC741A8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国家鼓励生育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E04C2E-04B7-77CE-3ACC-FCE18A243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国家对于安全套开始收税了。</a:t>
            </a:r>
          </a:p>
          <a:p>
            <a:pPr marL="0" indent="0">
              <a:buNone/>
            </a:pPr>
            <a:r>
              <a:rPr lang="zh-CN" altLang="en-US" dirty="0"/>
              <a:t>下一步可能会限售或禁售。</a:t>
            </a:r>
          </a:p>
        </p:txBody>
      </p:sp>
    </p:spTree>
    <p:extLst>
      <p:ext uri="{BB962C8B-B14F-4D97-AF65-F5344CB8AC3E}">
        <p14:creationId xmlns:p14="http://schemas.microsoft.com/office/powerpoint/2010/main" val="22539265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9A946-0908-B1E2-BCF4-EEEE72462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59986E-909F-FF70-71F5-4C2D40D8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年轻人竞争的标准变了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4C6530A-A3CD-DD5C-2E1A-30C060FCC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你看现在的年轻人，不愿意花时间社交，浑身疲惫感。</a:t>
            </a:r>
          </a:p>
          <a:p>
            <a:pPr marL="0" indent="0">
              <a:buNone/>
            </a:pPr>
            <a:r>
              <a:rPr lang="zh-CN" altLang="en-US" dirty="0"/>
              <a:t>这样的人难以立志、没有理想。</a:t>
            </a:r>
          </a:p>
          <a:p>
            <a:pPr marL="0" indent="0">
              <a:buNone/>
            </a:pPr>
            <a:r>
              <a:rPr lang="zh-CN" altLang="en-US" dirty="0"/>
              <a:t>实际上我们说的儿童青少年教育到底比的是什么？</a:t>
            </a:r>
          </a:p>
          <a:p>
            <a:pPr marL="0" indent="0">
              <a:buNone/>
            </a:pPr>
            <a:r>
              <a:rPr lang="zh-CN" altLang="en-US" dirty="0"/>
              <a:t>像跳高一样，其实比的就是谁最后失败。</a:t>
            </a:r>
          </a:p>
          <a:p>
            <a:pPr marL="0" indent="0">
              <a:buNone/>
            </a:pPr>
            <a:r>
              <a:rPr lang="zh-CN" altLang="en-US" dirty="0"/>
              <a:t>大家都失败了，但是你坚持到最后才失败，其实就是你胜了！</a:t>
            </a:r>
          </a:p>
          <a:p>
            <a:pPr marL="0" indent="0">
              <a:buNone/>
            </a:pPr>
            <a:r>
              <a:rPr lang="zh-CN" altLang="en-US" dirty="0"/>
              <a:t>很多孩子，不是小学躺平，就是初中躺平，不是初中就是高中，不是高中就是大学，不是大学就是工作后。</a:t>
            </a:r>
          </a:p>
          <a:p>
            <a:pPr marL="0" indent="0">
              <a:buNone/>
            </a:pPr>
            <a:r>
              <a:rPr lang="zh-CN" altLang="en-US" dirty="0"/>
              <a:t>越晚倒下，机会越多。</a:t>
            </a:r>
          </a:p>
          <a:p>
            <a:pPr marL="0" indent="0">
              <a:buNone/>
            </a:pPr>
            <a:r>
              <a:rPr lang="zh-CN" altLang="en-US" dirty="0"/>
              <a:t>关键在哪里呢？</a:t>
            </a:r>
          </a:p>
          <a:p>
            <a:pPr marL="0" indent="0">
              <a:buNone/>
            </a:pPr>
            <a:r>
              <a:rPr lang="zh-CN" altLang="en-US" dirty="0"/>
              <a:t>关键就在于欲望的保持！</a:t>
            </a:r>
          </a:p>
        </p:txBody>
      </p:sp>
    </p:spTree>
    <p:extLst>
      <p:ext uri="{BB962C8B-B14F-4D97-AF65-F5344CB8AC3E}">
        <p14:creationId xmlns:p14="http://schemas.microsoft.com/office/powerpoint/2010/main" val="22594446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AEA13-F54F-9D21-DA5C-684C7D49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23939F-BD1E-9756-8F9E-CEC6A1627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怎么做</a:t>
            </a:r>
            <a:r>
              <a:rPr lang="en-US" altLang="zh-CN" sz="4400" dirty="0"/>
              <a:t>——</a:t>
            </a:r>
            <a:r>
              <a:rPr lang="zh-CN" altLang="en-US" sz="4400" dirty="0"/>
              <a:t>接触自然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AD339-025C-EDD0-03A4-2F402FF8B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怎么做呢？</a:t>
            </a:r>
          </a:p>
          <a:p>
            <a:pPr marL="0" indent="0">
              <a:buNone/>
            </a:pPr>
            <a:r>
              <a:rPr lang="zh-CN" altLang="en-US" dirty="0"/>
              <a:t>四个方法。</a:t>
            </a:r>
          </a:p>
          <a:p>
            <a:pPr marL="0" indent="0">
              <a:buNone/>
            </a:pPr>
            <a:r>
              <a:rPr lang="zh-CN" altLang="en-US" dirty="0"/>
              <a:t>第一，一定要让孩子接触自然</a:t>
            </a:r>
          </a:p>
          <a:p>
            <a:pPr marL="0" indent="0">
              <a:buNone/>
            </a:pPr>
            <a:r>
              <a:rPr lang="zh-CN" altLang="en-US" dirty="0"/>
              <a:t>自然能给人带来欲望</a:t>
            </a:r>
          </a:p>
        </p:txBody>
      </p:sp>
    </p:spTree>
    <p:extLst>
      <p:ext uri="{BB962C8B-B14F-4D97-AF65-F5344CB8AC3E}">
        <p14:creationId xmlns:p14="http://schemas.microsoft.com/office/powerpoint/2010/main" val="14383124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128BB-0FB1-9A1F-CC0B-FDC52C067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81AFF-3549-6A70-6908-D8EB8CAE3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怎么做</a:t>
            </a:r>
            <a:r>
              <a:rPr lang="en-US" altLang="zh-CN" sz="4400" dirty="0"/>
              <a:t>——</a:t>
            </a:r>
            <a:r>
              <a:rPr lang="zh-CN" altLang="en-US" sz="4400" dirty="0"/>
              <a:t>同伴社交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0B06-7147-1246-16E5-A51DE4F45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第二是要让孩子有社交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一样有同伴</a:t>
            </a:r>
          </a:p>
        </p:txBody>
      </p:sp>
    </p:spTree>
    <p:extLst>
      <p:ext uri="{BB962C8B-B14F-4D97-AF65-F5344CB8AC3E}">
        <p14:creationId xmlns:p14="http://schemas.microsoft.com/office/powerpoint/2010/main" val="21177103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A382-090E-4411-667A-599E2CEB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3E5F6C-38AA-EAF0-686F-FFFE1B06B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</a:t>
            </a:r>
            <a:r>
              <a:rPr lang="en-US" altLang="zh-CN" sz="900" dirty="0"/>
              <a:t>——</a:t>
            </a:r>
            <a:r>
              <a:rPr lang="zh-CN" altLang="en-US" sz="900" dirty="0"/>
              <a:t>运动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423D2F-6492-7AFB-C92A-3B92905EB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第三是运动</a:t>
            </a:r>
          </a:p>
          <a:p>
            <a:pPr marL="0" indent="0">
              <a:buNone/>
            </a:pPr>
            <a:r>
              <a:rPr lang="zh-CN" altLang="en-US" dirty="0"/>
              <a:t>运动可能带来多巴胺</a:t>
            </a:r>
          </a:p>
          <a:p>
            <a:pPr marL="0" indent="0">
              <a:buNone/>
            </a:pPr>
            <a:r>
              <a:rPr lang="zh-CN" altLang="en-US" dirty="0"/>
              <a:t>艺术活动也能带来多巴胺艺术</a:t>
            </a:r>
          </a:p>
          <a:p>
            <a:pPr marL="0" indent="0">
              <a:buNone/>
            </a:pPr>
            <a:r>
              <a:rPr lang="zh-CN" altLang="en-US" dirty="0"/>
              <a:t>还有我们说的血清素安抚的效果</a:t>
            </a:r>
          </a:p>
        </p:txBody>
      </p:sp>
    </p:spTree>
    <p:extLst>
      <p:ext uri="{BB962C8B-B14F-4D97-AF65-F5344CB8AC3E}">
        <p14:creationId xmlns:p14="http://schemas.microsoft.com/office/powerpoint/2010/main" val="20027970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EAB4-1521-C2BB-2902-30663734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C4D6F0-7D17-7693-E971-044C9360D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</a:t>
            </a:r>
            <a:r>
              <a:rPr lang="en-US" altLang="zh-CN" sz="900" dirty="0"/>
              <a:t>——</a:t>
            </a:r>
            <a:r>
              <a:rPr lang="zh-CN" altLang="en-US" sz="900" dirty="0"/>
              <a:t>艺术活动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411DB9-AD2D-FD01-F7B1-F11018813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第四个艺术</a:t>
            </a:r>
          </a:p>
          <a:p>
            <a:pPr marL="0" indent="0">
              <a:buNone/>
            </a:pPr>
            <a:r>
              <a:rPr lang="zh-CN" altLang="en-US" dirty="0"/>
              <a:t>通过艺术手段来缓解压力和增强心理加工能力</a:t>
            </a:r>
          </a:p>
        </p:txBody>
      </p:sp>
    </p:spTree>
    <p:extLst>
      <p:ext uri="{BB962C8B-B14F-4D97-AF65-F5344CB8AC3E}">
        <p14:creationId xmlns:p14="http://schemas.microsoft.com/office/powerpoint/2010/main" val="3233946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19F4F-EA34-9DC1-187E-D1C95DFCE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B71B4F-3E9D-CF49-6EAC-B93200EFB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童子军运动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049009-2F95-BDA5-445A-04CE44E4A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童子军运动</a:t>
            </a:r>
          </a:p>
          <a:p>
            <a:pPr marL="0" indent="0">
              <a:buNone/>
            </a:pPr>
            <a:r>
              <a:rPr lang="zh-CN" altLang="en-US" dirty="0"/>
              <a:t>最早发现这类问题并不是我们国家，实际上是英国。</a:t>
            </a:r>
          </a:p>
          <a:p>
            <a:pPr marL="0" indent="0">
              <a:buNone/>
            </a:pPr>
            <a:r>
              <a:rPr lang="zh-CN" altLang="en-US" dirty="0"/>
              <a:t>因为英国最早进行工业革命</a:t>
            </a:r>
          </a:p>
          <a:p>
            <a:pPr marL="0" indent="0">
              <a:buNone/>
            </a:pPr>
            <a:r>
              <a:rPr lang="zh-CN" altLang="en-US" dirty="0"/>
              <a:t>所以英国的孩子最早这种情况</a:t>
            </a:r>
          </a:p>
          <a:p>
            <a:pPr marL="0" indent="0">
              <a:buNone/>
            </a:pPr>
            <a:r>
              <a:rPr lang="zh-CN" altLang="en-US" dirty="0"/>
              <a:t>当时英国有一个就是军官</a:t>
            </a:r>
          </a:p>
          <a:p>
            <a:pPr marL="0" indent="0">
              <a:buNone/>
            </a:pPr>
            <a:r>
              <a:rPr lang="zh-CN" altLang="en-US" dirty="0"/>
              <a:t>他发现他的孩子跟他完全不一样</a:t>
            </a:r>
          </a:p>
          <a:p>
            <a:pPr marL="0" indent="0">
              <a:buNone/>
            </a:pPr>
            <a:r>
              <a:rPr lang="zh-CN" altLang="en-US" dirty="0"/>
              <a:t>弱小无能，不爱社交，没有任何欲望</a:t>
            </a:r>
          </a:p>
          <a:p>
            <a:pPr marL="0" indent="0">
              <a:buNone/>
            </a:pPr>
            <a:r>
              <a:rPr lang="zh-CN" altLang="en-US" dirty="0"/>
              <a:t>然后他就说这样怎么能行呢</a:t>
            </a:r>
          </a:p>
          <a:p>
            <a:pPr marL="0" indent="0">
              <a:buNone/>
            </a:pPr>
            <a:r>
              <a:rPr lang="zh-CN" altLang="en-US" dirty="0"/>
              <a:t>怎么继承他的家业呢</a:t>
            </a:r>
          </a:p>
          <a:p>
            <a:pPr marL="0" indent="0">
              <a:buNone/>
            </a:pPr>
            <a:r>
              <a:rPr lang="zh-CN" altLang="en-US" dirty="0"/>
              <a:t>然后他就发起了一个运动，叫做童子军运动</a:t>
            </a:r>
          </a:p>
        </p:txBody>
      </p:sp>
    </p:spTree>
    <p:extLst>
      <p:ext uri="{BB962C8B-B14F-4D97-AF65-F5344CB8AC3E}">
        <p14:creationId xmlns:p14="http://schemas.microsoft.com/office/powerpoint/2010/main" val="2314384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2543D-B8F8-7F02-DEAF-9BF5F68A6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4F95A4-8828-2FA2-44B1-375F7EAB4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未来教育：自然、社交、体育、艺术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7F27BE-D644-8DE6-30A6-A486157E7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你看这是西方的孩子每年需要进行通运动</a:t>
            </a:r>
          </a:p>
          <a:p>
            <a:pPr marL="0" indent="0">
              <a:buNone/>
            </a:pPr>
            <a:r>
              <a:rPr lang="zh-CN" altLang="en-US" dirty="0"/>
              <a:t>这才能保证西方孩子能维持他的欲望</a:t>
            </a:r>
          </a:p>
          <a:p>
            <a:pPr marL="0" indent="0">
              <a:buNone/>
            </a:pPr>
            <a:r>
              <a:rPr lang="zh-CN" altLang="en-US" dirty="0"/>
              <a:t>常青藤名校的前身叫体育生联盟</a:t>
            </a:r>
          </a:p>
          <a:p>
            <a:pPr marL="0" indent="0">
              <a:buNone/>
            </a:pPr>
            <a:r>
              <a:rPr lang="zh-CN" altLang="en-US" dirty="0"/>
              <a:t>就说明他在上大学之前</a:t>
            </a:r>
          </a:p>
          <a:p>
            <a:pPr marL="0" indent="0">
              <a:buNone/>
            </a:pPr>
            <a:r>
              <a:rPr lang="zh-CN" altLang="en-US" dirty="0"/>
              <a:t>获得过很多很多的什么活动</a:t>
            </a:r>
          </a:p>
          <a:p>
            <a:pPr marL="0" indent="0">
              <a:buNone/>
            </a:pPr>
            <a:r>
              <a:rPr lang="zh-CN" altLang="en-US" dirty="0"/>
              <a:t>比如说考古勋章、影视勋章、东京文化勋章、城市勋章、远足勋章</a:t>
            </a:r>
          </a:p>
          <a:p>
            <a:pPr marL="0" indent="0">
              <a:buNone/>
            </a:pPr>
            <a:r>
              <a:rPr lang="zh-CN" altLang="en-US" dirty="0"/>
              <a:t>大学他就给他开门</a:t>
            </a:r>
          </a:p>
        </p:txBody>
      </p:sp>
    </p:spTree>
    <p:extLst>
      <p:ext uri="{BB962C8B-B14F-4D97-AF65-F5344CB8AC3E}">
        <p14:creationId xmlns:p14="http://schemas.microsoft.com/office/powerpoint/2010/main" val="25503676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en-US" altLang="zh-CN" sz="4400" dirty="0"/>
              <a:t>AI</a:t>
            </a:r>
            <a:r>
              <a:rPr lang="zh-CN" altLang="en-US" sz="4400" dirty="0"/>
              <a:t>时代高智慧家长私教课第一季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2026.3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667</TotalTime>
  <Words>3692</Words>
  <Application>Microsoft Office PowerPoint</Application>
  <PresentationFormat>宽屏</PresentationFormat>
  <Paragraphs>376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68" baseType="lpstr">
      <vt:lpstr>Microsoft YaHei</vt:lpstr>
      <vt:lpstr>Arial</vt:lpstr>
      <vt:lpstr>Bierstadt</vt:lpstr>
      <vt:lpstr>GestaltVTI</vt:lpstr>
      <vt:lpstr>AI时代高智慧家长私教课第一季</vt:lpstr>
      <vt:lpstr>教育面向未来，而非面向现在</vt:lpstr>
      <vt:lpstr>职业方向定位</vt:lpstr>
      <vt:lpstr>教育改革密集进行</vt:lpstr>
      <vt:lpstr>第三代儿童教育就是面向未来的教育</vt:lpstr>
      <vt:lpstr>中国未来缺人，但不缺大学生</vt:lpstr>
      <vt:lpstr>外卖骑手</vt:lpstr>
      <vt:lpstr>无人驾驶车</vt:lpstr>
      <vt:lpstr>上山下乡</vt:lpstr>
      <vt:lpstr>中美竞争</vt:lpstr>
      <vt:lpstr>资本主义的闭环逻辑</vt:lpstr>
      <vt:lpstr>人才过剩</vt:lpstr>
      <vt:lpstr>第一代教育模式</vt:lpstr>
      <vt:lpstr>第二代教育模式</vt:lpstr>
      <vt:lpstr>第二代教育模式的弊端</vt:lpstr>
      <vt:lpstr>躺平问题</vt:lpstr>
      <vt:lpstr>躺平问题的案例</vt:lpstr>
      <vt:lpstr>躺平问题的本质</vt:lpstr>
      <vt:lpstr>教育失败是大概率事件</vt:lpstr>
      <vt:lpstr>为什么学习如此艰难</vt:lpstr>
      <vt:lpstr>学校是怎么发明出来的</vt:lpstr>
      <vt:lpstr>教育变化的根源</vt:lpstr>
      <vt:lpstr>普娃怎么办</vt:lpstr>
      <vt:lpstr>教育王道：体验真实世界</vt:lpstr>
      <vt:lpstr>手机游戏的本质</vt:lpstr>
      <vt:lpstr>常见错误教育方式——放任发展</vt:lpstr>
      <vt:lpstr>常见错误教育方式——过度管理</vt:lpstr>
      <vt:lpstr>常见错误教育方式——放纵学校教育</vt:lpstr>
      <vt:lpstr>同伴环境缺失，导致被边缘化</vt:lpstr>
      <vt:lpstr>学霸照样会培养失败</vt:lpstr>
      <vt:lpstr>常见教育思维误区——只要学习好就行</vt:lpstr>
      <vt:lpstr>常见教育思维误区——忽视校外活动</vt:lpstr>
      <vt:lpstr>吃大饼的故事</vt:lpstr>
      <vt:lpstr>常见教育思维误区——缺乏心理韧性和品行培养</vt:lpstr>
      <vt:lpstr>常见教育思维误区——纵容手机游戏</vt:lpstr>
      <vt:lpstr>手机游戏危害科普</vt:lpstr>
      <vt:lpstr>手机游戏危害案例</vt:lpstr>
      <vt:lpstr>常见教育思维误区——物质交换</vt:lpstr>
      <vt:lpstr>常见教育思维误区——家庭安乐窝</vt:lpstr>
      <vt:lpstr>常见教育思维误区——谎言教育</vt:lpstr>
      <vt:lpstr>虚拟世界：二次元、电子游戏</vt:lpstr>
      <vt:lpstr>低欲望综合症</vt:lpstr>
      <vt:lpstr>低欲望综合症的表现</vt:lpstr>
      <vt:lpstr>教育重点不再是学习成绩和方法</vt:lpstr>
      <vt:lpstr>多巴胺模型</vt:lpstr>
      <vt:lpstr>血清素模型、压力激素模型</vt:lpstr>
      <vt:lpstr>性驱力模型</vt:lpstr>
      <vt:lpstr>正常性驱力模型缺失的严重后果</vt:lpstr>
      <vt:lpstr>运动和人际互动</vt:lpstr>
      <vt:lpstr>亲子关系的谬误</vt:lpstr>
      <vt:lpstr>芬太尼</vt:lpstr>
      <vt:lpstr>孩子错误的减压方式</vt:lpstr>
      <vt:lpstr>人际沟通能力缺失的严峻性</vt:lpstr>
      <vt:lpstr>嬉皮士运动</vt:lpstr>
      <vt:lpstr>25号宇宙</vt:lpstr>
      <vt:lpstr>国家鼓励生育</vt:lpstr>
      <vt:lpstr>年轻人竞争的标准变了</vt:lpstr>
      <vt:lpstr>怎么做——接触自然</vt:lpstr>
      <vt:lpstr>怎么做——同伴社交</vt:lpstr>
      <vt:lpstr>怎么做——运动</vt:lpstr>
      <vt:lpstr>怎么做——艺术活动</vt:lpstr>
      <vt:lpstr>童子军运动</vt:lpstr>
      <vt:lpstr>未来教育：自然、社交、体育、艺术</vt:lpstr>
      <vt:lpstr>AI时代高智慧家长私教课第一季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314</cp:revision>
  <dcterms:created xsi:type="dcterms:W3CDTF">2025-09-26T07:10:55Z</dcterms:created>
  <dcterms:modified xsi:type="dcterms:W3CDTF">2026-02-27T08:04:12Z</dcterms:modified>
</cp:coreProperties>
</file>