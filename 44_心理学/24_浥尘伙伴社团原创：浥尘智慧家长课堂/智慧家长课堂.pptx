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61" r:id="rId4"/>
    <p:sldId id="264" r:id="rId5"/>
    <p:sldId id="262" r:id="rId6"/>
    <p:sldId id="258" r:id="rId7"/>
    <p:sldId id="265" r:id="rId8"/>
    <p:sldId id="266" r:id="rId9"/>
    <p:sldId id="267" r:id="rId10"/>
    <p:sldId id="268" r:id="rId11"/>
    <p:sldId id="269" r:id="rId12"/>
    <p:sldId id="270" r:id="rId13"/>
    <p:sldId id="259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60" r:id="rId22"/>
    <p:sldId id="278" r:id="rId23"/>
    <p:sldId id="279" r:id="rId24"/>
    <p:sldId id="280" r:id="rId25"/>
    <p:sldId id="281" r:id="rId26"/>
    <p:sldId id="282" r:id="rId27"/>
    <p:sldId id="283" r:id="rId28"/>
    <p:sldId id="284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2154" y="8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54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20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657" b="1109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9969"/>
            <a:ext cx="8178501" cy="960120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zh-CN" altLang="en-US" sz="4400" dirty="0"/>
              <a:t>智慧家长课堂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41975" y="5739969"/>
            <a:ext cx="3355309" cy="960120"/>
          </a:xfrm>
        </p:spPr>
        <p:txBody>
          <a:bodyPr anchor="ctr">
            <a:normAutofit/>
          </a:bodyPr>
          <a:lstStyle/>
          <a:p>
            <a:pPr algn="r"/>
            <a:r>
              <a:rPr lang="zh-CN" altLang="en-US" sz="1900" dirty="0"/>
              <a:t>浥尘伙伴社团</a:t>
            </a:r>
          </a:p>
        </p:txBody>
      </p:sp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现代心理学的历史发展脉络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C68CB0-C8C5-260C-C325-BE4AA6111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改革开放初期，原有的集体组织瓦解，大量工人下岗，心理问题由组织管理向各自管理发展。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中国引入西方心理学，虽然在民国时期就已经开始了，但是现代的心理学，却是在前面说的背景下引入的。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社会转型期的心理危机爆发。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B38B2-215C-B133-E415-26BB5A0C8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96B343-CD74-ED13-0C99-2857EF5FD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现代心理学的历史发展脉络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4A103E-2D53-8E44-196E-0FD8059B0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在上个世纪</a:t>
            </a:r>
            <a:r>
              <a:rPr lang="en-US" altLang="zh-CN" dirty="0"/>
              <a:t>90</a:t>
            </a:r>
            <a:r>
              <a:rPr lang="zh-CN" altLang="en-US" dirty="0"/>
              <a:t>年代，防自杀热线开设。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自杀率上升与高危群体扩大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en-US" altLang="zh-CN" dirty="0"/>
              <a:t>20</a:t>
            </a:r>
            <a:r>
              <a:rPr lang="zh-CN" altLang="en-US" dirty="0"/>
              <a:t>世纪末，中国自杀率一度高达十万分之二十三，成为</a:t>
            </a:r>
            <a:r>
              <a:rPr lang="en-US" altLang="zh-CN" dirty="0"/>
              <a:t>15-34</a:t>
            </a:r>
            <a:r>
              <a:rPr lang="zh-CN" altLang="en-US" dirty="0"/>
              <a:t>岁人群的首要死因。农村自杀率显著高于城市，女性自杀率虽呈下降趋势但仍高于男性。经济压力、婚姻家庭矛盾、精神疾病等成为主要诱因。 </a:t>
            </a:r>
          </a:p>
          <a:p>
            <a:pPr marL="0" indent="0">
              <a:buNone/>
            </a:pPr>
            <a:r>
              <a:rPr lang="zh-CN" altLang="en-US" dirty="0"/>
              <a:t>创始人专家自己自杀了。</a:t>
            </a:r>
          </a:p>
          <a:p>
            <a:pPr marL="0" indent="0">
              <a:buNone/>
            </a:pPr>
            <a:r>
              <a:rPr lang="zh-CN" altLang="en-US" dirty="0"/>
              <a:t>后被迫停办。</a:t>
            </a:r>
          </a:p>
        </p:txBody>
      </p:sp>
    </p:spTree>
    <p:extLst>
      <p:ext uri="{BB962C8B-B14F-4D97-AF65-F5344CB8AC3E}">
        <p14:creationId xmlns:p14="http://schemas.microsoft.com/office/powerpoint/2010/main" val="4233342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70365-2299-B2AA-5924-DEE980176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694D40-A61A-DF0D-1BA2-53D6E9D6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现代心理学的历史发展脉络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5FE186-0B6B-82CB-FCA6-9F09E55C6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当时非常流行的日本影视作品，有很多是描写自杀、校园霸凌、婆媳关系等等。</a:t>
            </a:r>
          </a:p>
        </p:txBody>
      </p:sp>
    </p:spTree>
    <p:extLst>
      <p:ext uri="{BB962C8B-B14F-4D97-AF65-F5344CB8AC3E}">
        <p14:creationId xmlns:p14="http://schemas.microsoft.com/office/powerpoint/2010/main" val="2056164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1647B-66A0-660F-BBF8-5044AEFB1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549644-A754-9445-E6E2-20A3BD354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现代心理学的历史发展脉络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13F73-0C0C-1295-A54B-CCE12118F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现在的心理咨询，正规靠谱科学的，基本上不采用共情这种传统精神分析的方式。</a:t>
            </a:r>
          </a:p>
          <a:p>
            <a:pPr marL="0" indent="0">
              <a:buNone/>
            </a:pPr>
            <a:r>
              <a:rPr lang="zh-CN" altLang="en-US" dirty="0"/>
              <a:t>不是靠与来访者建立关系的做法。</a:t>
            </a:r>
          </a:p>
          <a:p>
            <a:pPr marL="0" indent="0">
              <a:buNone/>
            </a:pPr>
            <a:r>
              <a:rPr lang="zh-CN" altLang="en-US" dirty="0"/>
              <a:t>而是通过来访者自我赋意的方式来达到心灵解惑开释。</a:t>
            </a:r>
          </a:p>
          <a:p>
            <a:pPr marL="0" indent="0">
              <a:buNone/>
            </a:pPr>
            <a:r>
              <a:rPr lang="zh-CN" altLang="en-US" dirty="0"/>
              <a:t>注意，不是咨询师给出解释或建议，那叫作野蛮赋意。</a:t>
            </a:r>
          </a:p>
          <a:p>
            <a:pPr marL="0" indent="0">
              <a:buNone/>
            </a:pPr>
            <a:r>
              <a:rPr lang="zh-CN" altLang="en-US" dirty="0"/>
              <a:t>如果是这样的，那么可以判定为假冒伪劣。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于是就是在这个背景之下，我们看到了现在的这个心理咨询市场的现状。</a:t>
            </a:r>
          </a:p>
          <a:p>
            <a:pPr marL="0" indent="0">
              <a:buNone/>
            </a:pPr>
            <a:r>
              <a:rPr lang="zh-CN" altLang="en-US" dirty="0"/>
              <a:t>可谓是鱼龙混杂，真假难辨。</a:t>
            </a:r>
          </a:p>
        </p:txBody>
      </p:sp>
    </p:spTree>
    <p:extLst>
      <p:ext uri="{BB962C8B-B14F-4D97-AF65-F5344CB8AC3E}">
        <p14:creationId xmlns:p14="http://schemas.microsoft.com/office/powerpoint/2010/main" val="986969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F8F0FA-0924-BB50-886C-D6E25EDD1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教育历史变化及当下教育真相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C4F5E1-DB2A-1CFC-3962-B577B80D9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在改革开放之前，我们国家基本上是比较封闭的。</a:t>
            </a:r>
          </a:p>
          <a:p>
            <a:pPr marL="0" indent="0">
              <a:buNone/>
            </a:pPr>
            <a:r>
              <a:rPr lang="zh-CN" altLang="en-US" dirty="0"/>
              <a:t>在</a:t>
            </a:r>
            <a:r>
              <a:rPr lang="en-US" altLang="zh-CN" dirty="0"/>
              <a:t>70</a:t>
            </a:r>
            <a:r>
              <a:rPr lang="zh-CN" altLang="en-US" dirty="0"/>
              <a:t>年代末，中国与美国建交之后开始，改革开放进程才正式开启。</a:t>
            </a:r>
          </a:p>
          <a:p>
            <a:pPr marL="0" indent="0">
              <a:buNone/>
            </a:pPr>
            <a:r>
              <a:rPr lang="zh-CN" altLang="en-US" dirty="0"/>
              <a:t>当时，美国对中国的帮助太大了，经济方面支持就不用说了。</a:t>
            </a:r>
          </a:p>
          <a:p>
            <a:pPr marL="0" indent="0">
              <a:buNone/>
            </a:pPr>
            <a:r>
              <a:rPr lang="zh-CN" altLang="en-US" dirty="0"/>
              <a:t>不过有一件事大家要知道，美国对中国说，我对你援助可以，但是你也得有人去做事才行，对吧？</a:t>
            </a:r>
          </a:p>
          <a:p>
            <a:pPr marL="0" indent="0">
              <a:buNone/>
            </a:pPr>
            <a:r>
              <a:rPr lang="zh-CN" altLang="en-US" dirty="0"/>
              <a:t>中国说好，转头就开了个研究会。</a:t>
            </a:r>
          </a:p>
          <a:p>
            <a:pPr marL="0" indent="0">
              <a:buNone/>
            </a:pPr>
            <a:r>
              <a:rPr lang="zh-CN" altLang="en-US" dirty="0"/>
              <a:t>会上决定，恢复高考，我们现在真的急需人才。</a:t>
            </a:r>
          </a:p>
          <a:p>
            <a:pPr marL="0" indent="0">
              <a:buNone/>
            </a:pPr>
            <a:r>
              <a:rPr lang="zh-CN" altLang="en-US" dirty="0"/>
              <a:t>于是我们趁着这个大好的机会，拼命学习，拼命读书。</a:t>
            </a:r>
          </a:p>
          <a:p>
            <a:pPr marL="0" indent="0">
              <a:buNone/>
            </a:pPr>
            <a:r>
              <a:rPr lang="zh-CN" altLang="en-US" dirty="0"/>
              <a:t>所以，在那个时候开始，直到后面的</a:t>
            </a:r>
            <a:r>
              <a:rPr lang="en-US" altLang="zh-CN" dirty="0"/>
              <a:t>30</a:t>
            </a:r>
            <a:r>
              <a:rPr lang="zh-CN" altLang="en-US" dirty="0"/>
              <a:t>年，学历文凭还是很值钱的。</a:t>
            </a:r>
          </a:p>
        </p:txBody>
      </p:sp>
    </p:spTree>
    <p:extLst>
      <p:ext uri="{BB962C8B-B14F-4D97-AF65-F5344CB8AC3E}">
        <p14:creationId xmlns:p14="http://schemas.microsoft.com/office/powerpoint/2010/main" val="1769206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2C90B-B5DF-0883-6E95-300E319E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A0B021-98AD-2CC6-FE3C-AD82A86BF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教育历史变化及当下教育真相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BE38-54EF-A3CA-89ED-82601B26E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好，我们怎么学呢？</a:t>
            </a:r>
          </a:p>
          <a:p>
            <a:pPr marL="0" indent="0">
              <a:buNone/>
            </a:pPr>
            <a:r>
              <a:rPr lang="zh-CN" altLang="en-US" dirty="0"/>
              <a:t>当时世界上至少有两种教育理念。</a:t>
            </a:r>
          </a:p>
          <a:p>
            <a:pPr marL="0" indent="0">
              <a:buNone/>
            </a:pPr>
            <a:r>
              <a:rPr lang="zh-CN" altLang="en-US" dirty="0"/>
              <a:t>一个是前苏联社会学家维果斯基提出的“最近发展区”理论。</a:t>
            </a:r>
          </a:p>
          <a:p>
            <a:pPr marL="0" indent="0">
              <a:buNone/>
            </a:pPr>
            <a:r>
              <a:rPr lang="zh-CN" altLang="en-US" dirty="0"/>
              <a:t>另一个是西方提出的“自然成熟说”。</a:t>
            </a:r>
          </a:p>
          <a:p>
            <a:pPr marL="0" indent="0">
              <a:buNone/>
            </a:pPr>
            <a:r>
              <a:rPr lang="zh-CN" altLang="en-US" dirty="0"/>
              <a:t>“最近发展区”是什么意思呢？</a:t>
            </a:r>
          </a:p>
          <a:p>
            <a:pPr marL="0" indent="0">
              <a:buNone/>
            </a:pPr>
            <a:r>
              <a:rPr lang="zh-CN" altLang="en-US" dirty="0"/>
              <a:t>其实简单地讲，就是在儿童通常某个年龄情况下，将正常的学习难度提高一点。</a:t>
            </a:r>
          </a:p>
          <a:p>
            <a:pPr marL="0" indent="0">
              <a:buNone/>
            </a:pPr>
            <a:r>
              <a:rPr lang="zh-CN" altLang="en-US" dirty="0"/>
              <a:t>比如说，一个孩子</a:t>
            </a:r>
            <a:r>
              <a:rPr lang="en-US" altLang="zh-CN" dirty="0"/>
              <a:t>7</a:t>
            </a:r>
            <a:r>
              <a:rPr lang="zh-CN" altLang="en-US" dirty="0"/>
              <a:t>岁，他应该会</a:t>
            </a:r>
            <a:r>
              <a:rPr lang="en-US" altLang="zh-CN" dirty="0"/>
              <a:t>10</a:t>
            </a:r>
            <a:r>
              <a:rPr lang="zh-CN" altLang="en-US" dirty="0"/>
              <a:t>以内的加减法，那么就将学习难度提高到，让他去学</a:t>
            </a:r>
            <a:r>
              <a:rPr lang="en-US" altLang="zh-CN" dirty="0"/>
              <a:t>20</a:t>
            </a:r>
            <a:r>
              <a:rPr lang="zh-CN" altLang="en-US" dirty="0"/>
              <a:t>以内的加减法。</a:t>
            </a:r>
          </a:p>
          <a:p>
            <a:pPr marL="0" indent="0">
              <a:buNone/>
            </a:pPr>
            <a:r>
              <a:rPr lang="zh-CN" altLang="en-US" dirty="0"/>
              <a:t>这样提高一些难度的教育方法，有它一定的好处，从某种角度上讲，可以提高孩子学习的积极性。</a:t>
            </a:r>
          </a:p>
          <a:p>
            <a:pPr marL="0" indent="0">
              <a:buNone/>
            </a:pPr>
            <a:r>
              <a:rPr lang="zh-CN" altLang="en-US" dirty="0"/>
              <a:t>人总是喜欢挑战一些适当难度的问题，对不对？</a:t>
            </a:r>
          </a:p>
          <a:p>
            <a:pPr marL="0" indent="0">
              <a:buNone/>
            </a:pPr>
            <a:r>
              <a:rPr lang="zh-CN" altLang="en-US" dirty="0"/>
              <a:t>我们国家就是采用的这个学说。</a:t>
            </a:r>
          </a:p>
          <a:p>
            <a:pPr marL="0" indent="0">
              <a:buNone/>
            </a:pPr>
            <a:r>
              <a:rPr lang="zh-CN" altLang="en-US" dirty="0"/>
              <a:t>至于另一个西方的“自然成熟说”理论，也有其道理，他们认为要让孩子的大脑成熟到一定程度，才适合学习相应难度的东西。</a:t>
            </a:r>
          </a:p>
        </p:txBody>
      </p:sp>
    </p:spTree>
    <p:extLst>
      <p:ext uri="{BB962C8B-B14F-4D97-AF65-F5344CB8AC3E}">
        <p14:creationId xmlns:p14="http://schemas.microsoft.com/office/powerpoint/2010/main" val="1165828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2A584-2B92-7ABF-B79F-F210BB8CD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2CA7BE-D398-D7F6-98A7-4A128F4E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教育历史变化及当下教育真相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3C810A-8008-AED6-6082-9A74846E0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这两种理论无关谁对谁错，关键要看你怎么用。</a:t>
            </a:r>
          </a:p>
          <a:p>
            <a:pPr marL="0" indent="0">
              <a:buNone/>
            </a:pPr>
            <a:r>
              <a:rPr lang="zh-CN" altLang="en-US" dirty="0"/>
              <a:t>因为前者是建立在群体集体的角度去看问题的，而后者是个体角度。</a:t>
            </a:r>
          </a:p>
          <a:p>
            <a:pPr marL="0" indent="0">
              <a:buNone/>
            </a:pPr>
            <a:r>
              <a:rPr lang="zh-CN" altLang="en-US" dirty="0"/>
              <a:t>我们国家就是采用前者的教育理念。</a:t>
            </a:r>
          </a:p>
          <a:p>
            <a:pPr marL="0" indent="0">
              <a:buNone/>
            </a:pPr>
            <a:r>
              <a:rPr lang="zh-CN" altLang="en-US" dirty="0"/>
              <a:t>所以大家就应该明白，为什么所有的小朋友都要学习一样的东西，而且难度大家都一样。</a:t>
            </a:r>
          </a:p>
          <a:p>
            <a:pPr marL="0" indent="0">
              <a:buNone/>
            </a:pPr>
            <a:r>
              <a:rPr lang="zh-CN" altLang="en-US" dirty="0"/>
              <a:t>如果谁没跟上，那么只能说某个个体成长得慢了一些。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不过这是以前，最初我们的中小学教育还算可以。</a:t>
            </a:r>
          </a:p>
          <a:p>
            <a:pPr marL="0" indent="0">
              <a:buNone/>
            </a:pPr>
            <a:r>
              <a:rPr lang="zh-CN" altLang="en-US" dirty="0"/>
              <a:t>大家都是那个时候过来的，应该有所体会。</a:t>
            </a:r>
          </a:p>
          <a:p>
            <a:pPr marL="0" indent="0">
              <a:buNone/>
            </a:pPr>
            <a:r>
              <a:rPr lang="zh-CN" altLang="en-US" dirty="0"/>
              <a:t>但是现在问题起了变化。</a:t>
            </a:r>
          </a:p>
          <a:p>
            <a:pPr marL="0" indent="0">
              <a:buNone/>
            </a:pPr>
            <a:r>
              <a:rPr lang="zh-CN" altLang="en-US" dirty="0"/>
              <a:t>每年的中小学课程难度增加得很多，大部分孩子已经不适合学习了，变得自信也被打击。</a:t>
            </a:r>
          </a:p>
          <a:p>
            <a:pPr marL="0" indent="0">
              <a:buNone/>
            </a:pPr>
            <a:r>
              <a:rPr lang="zh-CN" altLang="en-US" dirty="0"/>
              <a:t>为什么会这样呢？</a:t>
            </a:r>
          </a:p>
          <a:p>
            <a:pPr marL="0" indent="0">
              <a:buNone/>
            </a:pPr>
            <a:r>
              <a:rPr lang="zh-CN" altLang="en-US" dirty="0"/>
              <a:t>为什么会大幅增加难度呢？</a:t>
            </a:r>
          </a:p>
          <a:p>
            <a:pPr marL="0" indent="0">
              <a:buNone/>
            </a:pPr>
            <a:r>
              <a:rPr lang="zh-CN" altLang="en-US" dirty="0"/>
              <a:t>大家都学好不行吗？</a:t>
            </a:r>
          </a:p>
          <a:p>
            <a:pPr marL="0" indent="0">
              <a:buNone/>
            </a:pPr>
            <a:r>
              <a:rPr lang="zh-CN" altLang="en-US" dirty="0"/>
              <a:t>为了解释这个问题，除了我们要知道前面说的“最近发展区”理论之外，我们还要结合当下时代发展的背景。</a:t>
            </a:r>
          </a:p>
        </p:txBody>
      </p:sp>
    </p:spTree>
    <p:extLst>
      <p:ext uri="{BB962C8B-B14F-4D97-AF65-F5344CB8AC3E}">
        <p14:creationId xmlns:p14="http://schemas.microsoft.com/office/powerpoint/2010/main" val="1688765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F7E17-0C8F-B187-F28D-D0D6E2A4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427952-518A-FB34-9F34-EBB45287A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教育历史变化及当下教育真相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572A0C-8083-5C10-1057-F2782FA17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**好，我们将时间线，再拉回到改革开放初期。**</a:t>
            </a:r>
          </a:p>
          <a:p>
            <a:pPr marL="0" indent="0">
              <a:buNone/>
            </a:pPr>
            <a:r>
              <a:rPr lang="zh-CN" altLang="en-US" dirty="0"/>
              <a:t>就是我们当时学的是什么的问题。</a:t>
            </a:r>
          </a:p>
          <a:p>
            <a:pPr marL="0" indent="0">
              <a:buNone/>
            </a:pPr>
            <a:r>
              <a:rPr lang="zh-CN" altLang="en-US" dirty="0"/>
              <a:t>我们学的是什么？</a:t>
            </a:r>
          </a:p>
          <a:p>
            <a:pPr marL="0" indent="0">
              <a:buNone/>
            </a:pPr>
            <a:r>
              <a:rPr lang="zh-CN" altLang="en-US" dirty="0"/>
              <a:t>有一句话：学好数理化，走遍开下都不怕。</a:t>
            </a:r>
          </a:p>
          <a:p>
            <a:pPr marL="0" indent="0">
              <a:buNone/>
            </a:pPr>
            <a:r>
              <a:rPr lang="zh-CN" altLang="en-US" dirty="0"/>
              <a:t>没错，就是我们最缺的工业文明的知识。</a:t>
            </a:r>
          </a:p>
          <a:p>
            <a:pPr marL="0" indent="0">
              <a:buNone/>
            </a:pPr>
            <a:r>
              <a:rPr lang="zh-CN" altLang="en-US" dirty="0"/>
              <a:t>我们从那时起，就渴望着知识，实际上是这些工业知识。</a:t>
            </a:r>
          </a:p>
          <a:p>
            <a:pPr marL="0" indent="0">
              <a:buNone/>
            </a:pPr>
            <a:r>
              <a:rPr lang="zh-CN" altLang="en-US" dirty="0"/>
              <a:t>这些知识的特点就是，都是西方资本主义国家现成的，</a:t>
            </a:r>
            <a:r>
              <a:rPr lang="en-US" altLang="zh-CN" dirty="0"/>
              <a:t>200</a:t>
            </a:r>
            <a:r>
              <a:rPr lang="zh-CN" altLang="en-US" dirty="0"/>
              <a:t>多年的历史，有的你学了。</a:t>
            </a:r>
          </a:p>
          <a:p>
            <a:pPr marL="0" indent="0">
              <a:buNone/>
            </a:pPr>
            <a:r>
              <a:rPr lang="zh-CN" altLang="en-US" dirty="0"/>
              <a:t>怎么学呢？</a:t>
            </a:r>
          </a:p>
          <a:p>
            <a:pPr marL="0" indent="0">
              <a:buNone/>
            </a:pPr>
            <a:r>
              <a:rPr lang="zh-CN" altLang="en-US" dirty="0"/>
              <a:t>直接抄直接背，最后直接拿来用，对不对？</a:t>
            </a:r>
          </a:p>
          <a:p>
            <a:pPr marL="0" indent="0">
              <a:buNone/>
            </a:pPr>
            <a:r>
              <a:rPr lang="zh-CN" altLang="en-US" dirty="0"/>
              <a:t>非常好使，中国人又聪明，用了</a:t>
            </a:r>
            <a:r>
              <a:rPr lang="en-US" altLang="zh-CN" dirty="0"/>
              <a:t>20</a:t>
            </a:r>
            <a:r>
              <a:rPr lang="zh-CN" altLang="en-US" dirty="0"/>
              <a:t>年的时间，基本已经学完了，抄完了。</a:t>
            </a:r>
          </a:p>
          <a:p>
            <a:pPr marL="0" indent="0">
              <a:buNone/>
            </a:pPr>
            <a:r>
              <a:rPr lang="zh-CN" altLang="en-US" dirty="0"/>
              <a:t>我称之为创造“复制型”人才，就是小镇做题家形的人才。</a:t>
            </a:r>
          </a:p>
          <a:p>
            <a:pPr marL="0" indent="0">
              <a:buNone/>
            </a:pPr>
            <a:r>
              <a:rPr lang="zh-CN" altLang="en-US" dirty="0"/>
              <a:t>过去，你学个什么都行，文凭学历或技术随便拿，你就有口饭吃，日子过得还不错。</a:t>
            </a:r>
          </a:p>
          <a:p>
            <a:pPr marL="0" indent="0">
              <a:buNone/>
            </a:pPr>
            <a:r>
              <a:rPr lang="zh-CN" altLang="en-US" dirty="0"/>
              <a:t>因为国家大量的需要你这样的人才。</a:t>
            </a:r>
          </a:p>
        </p:txBody>
      </p:sp>
    </p:spTree>
    <p:extLst>
      <p:ext uri="{BB962C8B-B14F-4D97-AF65-F5344CB8AC3E}">
        <p14:creationId xmlns:p14="http://schemas.microsoft.com/office/powerpoint/2010/main" val="3346054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BF7D-3465-5246-AD2F-CEAE8F1FC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53EBCE-D296-4342-8C53-50127BC5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教育历史变化及当下教育真相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2E9686-BC21-8378-6211-F8780A6DB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然后，你再看现在，我们还学什么？</a:t>
            </a:r>
          </a:p>
          <a:p>
            <a:pPr marL="0" indent="0">
              <a:buNone/>
            </a:pPr>
            <a:r>
              <a:rPr lang="zh-CN" altLang="en-US" dirty="0"/>
              <a:t>基本上没有太多的东西让我们学了，因为很多领域我们都已经超过了西方。</a:t>
            </a:r>
          </a:p>
          <a:p>
            <a:pPr marL="0" indent="0">
              <a:buNone/>
            </a:pPr>
            <a:r>
              <a:rPr lang="zh-CN" altLang="en-US" dirty="0"/>
              <a:t>进入后工业时代，只能是我们自己创造新的知识了。</a:t>
            </a:r>
          </a:p>
          <a:p>
            <a:pPr marL="0" indent="0">
              <a:buNone/>
            </a:pPr>
            <a:r>
              <a:rPr lang="zh-CN" altLang="en-US" dirty="0"/>
              <a:t>所以我们大家就应该知道一个事实，我们现在孩子们学的东西，不管是小学中学还是大学，</a:t>
            </a:r>
            <a:r>
              <a:rPr lang="en-US" altLang="zh-CN" dirty="0"/>
              <a:t>90%</a:t>
            </a:r>
            <a:r>
              <a:rPr lang="zh-CN" altLang="en-US" dirty="0"/>
              <a:t>以上都是前工业时代的陈旧知识，在新的</a:t>
            </a:r>
            <a:r>
              <a:rPr lang="en-US" altLang="zh-CN" dirty="0"/>
              <a:t>AI</a:t>
            </a:r>
            <a:r>
              <a:rPr lang="zh-CN" altLang="en-US" dirty="0"/>
              <a:t>时代，是没有价值的。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为什么我们家长会疑惑，现在考个大学，学那么多东西，越来越没用了呢？</a:t>
            </a:r>
          </a:p>
          <a:p>
            <a:pPr marL="0" indent="0">
              <a:buNone/>
            </a:pPr>
            <a:r>
              <a:rPr lang="zh-CN" altLang="en-US" dirty="0"/>
              <a:t>因为过去是“复制型”人才的培养模式，而现在，不是了。</a:t>
            </a:r>
          </a:p>
          <a:p>
            <a:pPr marL="0" indent="0">
              <a:buNone/>
            </a:pPr>
            <a:r>
              <a:rPr lang="zh-CN" altLang="en-US" dirty="0"/>
              <a:t>国家希望找到那个真正聪明的，有创新能力的人才。</a:t>
            </a:r>
          </a:p>
          <a:p>
            <a:pPr marL="0" indent="0">
              <a:buNone/>
            </a:pPr>
            <a:r>
              <a:rPr lang="zh-CN" altLang="en-US" dirty="0"/>
              <a:t>怎么办呢？</a:t>
            </a:r>
          </a:p>
          <a:p>
            <a:pPr marL="0" indent="0">
              <a:buNone/>
            </a:pPr>
            <a:r>
              <a:rPr lang="zh-CN" altLang="en-US" dirty="0"/>
              <a:t>增加高考难度，增加考题的灵活性。</a:t>
            </a:r>
          </a:p>
          <a:p>
            <a:pPr marL="0" indent="0">
              <a:buNone/>
            </a:pPr>
            <a:r>
              <a:rPr lang="zh-CN" altLang="en-US" dirty="0"/>
              <a:t>所以你会发现，为什么现在孩子们学的东西都是非常灵活的，不再是过去的死知识。</a:t>
            </a:r>
          </a:p>
          <a:p>
            <a:pPr marL="0" indent="0">
              <a:buNone/>
            </a:pPr>
            <a:r>
              <a:rPr lang="zh-CN" altLang="en-US" dirty="0"/>
              <a:t>所以网上那些叫嚷着要恢复</a:t>
            </a:r>
            <a:r>
              <a:rPr lang="en-US" altLang="zh-CN" dirty="0"/>
              <a:t>80</a:t>
            </a:r>
            <a:r>
              <a:rPr lang="zh-CN" altLang="en-US" dirty="0"/>
              <a:t>后的教材的视频，你们还觉得对吗？</a:t>
            </a:r>
          </a:p>
          <a:p>
            <a:pPr marL="0" indent="0">
              <a:buNone/>
            </a:pPr>
            <a:r>
              <a:rPr lang="zh-CN" altLang="en-US" dirty="0"/>
              <a:t>这些自媒体只是迎合了大众的心理，炒流量罢了，没人会真的懂这里面的本质，更不会有人告诉你真相。</a:t>
            </a:r>
          </a:p>
          <a:p>
            <a:pPr marL="0" indent="0">
              <a:buNone/>
            </a:pPr>
            <a:r>
              <a:rPr lang="zh-CN" altLang="en-US" dirty="0"/>
              <a:t>所以国家为什么要双减？</a:t>
            </a:r>
          </a:p>
          <a:p>
            <a:pPr marL="0" indent="0">
              <a:buNone/>
            </a:pPr>
            <a:r>
              <a:rPr lang="zh-CN" altLang="en-US" dirty="0"/>
              <a:t>因为绝大多数的孩子，不是他不聪明，更不是他笨，不是智商低，你别误会了你的孩子。</a:t>
            </a:r>
          </a:p>
          <a:p>
            <a:pPr marL="0" indent="0">
              <a:buNone/>
            </a:pPr>
            <a:r>
              <a:rPr lang="zh-CN" altLang="en-US" dirty="0"/>
              <a:t>而是在这种选拔机制下，国家要的是那极少的真正人才。</a:t>
            </a:r>
          </a:p>
          <a:p>
            <a:pPr marL="0" indent="0">
              <a:buNone/>
            </a:pPr>
            <a:r>
              <a:rPr lang="zh-CN" altLang="en-US" dirty="0"/>
              <a:t>作为普通的娃来说，没必要卷。</a:t>
            </a:r>
          </a:p>
          <a:p>
            <a:pPr marL="0" indent="0">
              <a:buNone/>
            </a:pPr>
            <a:r>
              <a:rPr lang="zh-CN" altLang="en-US" dirty="0"/>
              <a:t>因为再卷，国家也不好筛选人才，你还累，没有意义。</a:t>
            </a:r>
          </a:p>
          <a:p>
            <a:pPr marL="0" indent="0">
              <a:buNone/>
            </a:pPr>
            <a:r>
              <a:rPr lang="zh-CN" altLang="en-US" dirty="0"/>
              <a:t>所以现在的教育改革主流方向，就是让孩子们更轻松些，但学习难度却上了层次。</a:t>
            </a:r>
          </a:p>
          <a:p>
            <a:pPr marL="0" indent="0">
              <a:buNone/>
            </a:pPr>
            <a:r>
              <a:rPr lang="zh-CN" altLang="en-US" dirty="0"/>
              <a:t>这才是真相，你现在明白了吗？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如果还执意要卷，那么大概率会导致孩子的心理健康问题。</a:t>
            </a:r>
          </a:p>
        </p:txBody>
      </p:sp>
    </p:spTree>
    <p:extLst>
      <p:ext uri="{BB962C8B-B14F-4D97-AF65-F5344CB8AC3E}">
        <p14:creationId xmlns:p14="http://schemas.microsoft.com/office/powerpoint/2010/main" val="2251278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178F9-20D8-CA27-FE2B-B3454737D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C63A5C-FC02-A7F5-2C06-AB808CC5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教育历史变化及当下教育真相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B44F66-41FF-4954-6CC5-DDA1ACCF0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083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A0962-7BA6-B5AE-1309-7996B76C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89DF6-B589-8138-8F97-EBB94EFF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教育历史变化及当下教育真相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03613E-4097-8DB8-8B59-5D37958116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3400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01BA68-6B1B-AF59-B23D-0416B40CD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爱和原生家庭之谬误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3007E6-79D0-4B2B-91D3-13F2A8480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客体关系流派和自体心理学。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客体关系是指母婴关系，研究人员发现没有处理母婴关系，比如母亲对婴儿的照料不够等等，会导致婴儿出现问题，比如说自卑。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自体心理学也有类似的发现，只不过是指婴儿自已，就像照镜子一样看自已，如果过度自卑，或过度自恋，都会产生问题。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但是不管是前者，还是后者，研究对象都是在</a:t>
            </a:r>
            <a:r>
              <a:rPr lang="en-US" altLang="zh-CN" dirty="0"/>
              <a:t>3</a:t>
            </a:r>
            <a:r>
              <a:rPr lang="zh-CN" altLang="en-US" dirty="0"/>
              <a:t>岁以内的，有些书上可能写</a:t>
            </a:r>
            <a:r>
              <a:rPr lang="en-US" altLang="zh-CN" dirty="0"/>
              <a:t>5</a:t>
            </a:r>
            <a:r>
              <a:rPr lang="zh-CN" altLang="en-US" dirty="0"/>
              <a:t>岁，最多</a:t>
            </a:r>
            <a:r>
              <a:rPr lang="en-US" altLang="zh-CN" dirty="0"/>
              <a:t>7</a:t>
            </a:r>
            <a:r>
              <a:rPr lang="zh-CN" altLang="en-US" dirty="0"/>
              <a:t>岁之前。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实际上这些都是指孩子非常小的时候，需要母亲照顾的时候。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这个母亲，并不一定是生理上的母亲，也可以是其他任何监护人，这里指的是母亲角色。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比如有的孩子是奶奶照顾的，奶奶就是担任这个孩子的母亲角色。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因此我们说，市面上讲的什么原生家庭之类的理论，或是其他的说法，他们都是照搬这些理论，但是却没有告诉你，其实那是指孩子</a:t>
            </a:r>
            <a:r>
              <a:rPr lang="en-US" altLang="zh-CN" dirty="0"/>
              <a:t>3</a:t>
            </a:r>
            <a:r>
              <a:rPr lang="zh-CN" altLang="en-US" dirty="0"/>
              <a:t>岁之前的事。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那么有人就说了，给孩子爱总没有错吧？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实际上前面也说了，在孩子</a:t>
            </a:r>
            <a:r>
              <a:rPr lang="en-US" altLang="zh-CN" dirty="0"/>
              <a:t>3</a:t>
            </a:r>
            <a:r>
              <a:rPr lang="zh-CN" altLang="en-US" dirty="0"/>
              <a:t>岁之前，要确保对孩子的照料要到位，给的爱只要保证其拥有一定的安全感即可。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但是</a:t>
            </a:r>
            <a:r>
              <a:rPr lang="en-US" altLang="zh-CN" dirty="0"/>
              <a:t>3</a:t>
            </a:r>
            <a:r>
              <a:rPr lang="zh-CN" altLang="en-US" dirty="0"/>
              <a:t>岁之后，我们就不能再谈爱了。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并不是说不给孩子爱，而是要适当地给爱，甚至可以不给爱。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为什么呢？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我们要知道，人是一种社群生物。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人类是以社会群体这样的形式生存在这个世界上的。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因此，人最终是要进入社会的。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孩子在</a:t>
            </a:r>
            <a:r>
              <a:rPr lang="en-US" altLang="zh-CN" dirty="0"/>
              <a:t>3</a:t>
            </a:r>
            <a:r>
              <a:rPr lang="zh-CN" altLang="en-US" dirty="0"/>
              <a:t>岁之后，就已经开始进入社会了。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en-US" altLang="zh-CN" dirty="0"/>
              <a:t>3</a:t>
            </a:r>
            <a:r>
              <a:rPr lang="zh-CN" altLang="en-US" dirty="0"/>
              <a:t>岁之后，孩子会上幼儿园，这时他就会接触到家庭以外的人，老师和其他小朋友。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这个时候，对于孩子来说，家庭父母的影响就会慢慢减少，家庭外的人对他的影响就会慢慢变大。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在解决好安全感问题之后，孩子就会尝试走向家庭外。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在这个过程中，越是在家庭中讲爱，越可能会给孩子帮倒忙。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我们当家长的都有一个体会，就会孩子越大越不听自已的了。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其实就是这个原因。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因为人只会听群体的，不会听一个已经确认是安全环境下的人的话的。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请记住，任何的社群生物，他都只会听从那个不安全环境下群体的话。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你父母给孩子爱，爱得越多，越容易娇生惯养。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道德经讲，反者道之动，弱者道之用。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任何事物都是向其反方向发展的。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你给孩子爱，只要一过度，那么他就会朝着反方向发展。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古代就有恩生于害，害生于恩的老话。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所以我们家长一定要懂这里的道理，一定要看清网络上说的，给孩子爱，孩子的爱不够，要完全接纳孩子，这类的谎言。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原生家庭的概念，它是一个不严谨不专业的词，在世界任何一本大学教材中都不存在。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其实网络上流传的原生家庭概念，实际是指父母对待孩子的教养方式。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当然后来又混合杂糅了家庭经济条件都乱七八糟的东西。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实际上父母的教养方式，并不是我们必须刻意要关注的东西。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什么意思呢？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就是说，父母是采取打骂，还是温柔对待，都不是关键问题。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这些形式不决定孩子一定会有所改变，或将来会按照你设想的方向发展。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因为关键决定因素不是这些，而是另一个东西。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这个东西，叫作社会环境影响。</a:t>
            </a:r>
          </a:p>
        </p:txBody>
      </p:sp>
    </p:spTree>
    <p:extLst>
      <p:ext uri="{BB962C8B-B14F-4D97-AF65-F5344CB8AC3E}">
        <p14:creationId xmlns:p14="http://schemas.microsoft.com/office/powerpoint/2010/main" val="2305007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FDF46-CA7C-99C2-4819-18D8272AD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4A3D58-5032-1763-F049-420B95E81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爱和原生家庭之谬误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8728F5-5D84-4F35-07F2-10B25CD64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734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2C5D8-DB12-0778-E1BB-D079B8311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999F55-9BBF-7666-2DAD-9D9710498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爱和原生家庭之谬误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A999739-E115-5B61-02BE-D218DA78F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71004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6EEA2-1726-44EB-37CE-24B2F5BF9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F5A53B-F16F-A4B5-5791-ED3BF6F3E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爱和原生家庭之谬误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2AA319-B42F-1272-F357-507B15C2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70134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39177-37D5-90A6-EC1A-946CA9061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66C51C-D4D7-FD3D-2639-0D33BF9B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爱和原生家庭之谬误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DF3C73-F789-327A-E144-E3556A371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0253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77CDE-2847-6AD7-63A7-7A0509F6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CF8A6C-45C1-E9A0-9765-80DF6B590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爱和原生家庭之谬误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5340F4-8827-A36D-3E32-40B0DD118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85265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E6DBE-BE82-B84F-F40B-9A7489202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25AC38-D058-0CCD-C5AB-99E2653D7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爱和原生家庭之谬误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79C227-2F61-9882-61CF-B8D84B0B1C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1889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AB60B-EF0E-CB43-688B-7D8E94E70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8C6E93-42DC-FC61-50E4-AB38D4B24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爱和原生家庭之谬误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36DDA2-C9CE-4787-A4D4-A34C735F1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811979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6CEE7-6DEE-802E-9EB8-874101F5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儿童青少年教育关键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BD1E4F8-725F-2E33-C2EA-0F2496858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我来给大家讲一些正规、严谨、科学、靠谱的教育和心理学知识。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大家在网上是看不到的。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网上</a:t>
            </a:r>
            <a:r>
              <a:rPr lang="en-US" altLang="zh-CN" dirty="0"/>
              <a:t>99%</a:t>
            </a:r>
            <a:r>
              <a:rPr lang="zh-CN" altLang="en-US" dirty="0"/>
              <a:t>都是假的。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上个世纪</a:t>
            </a:r>
            <a:r>
              <a:rPr lang="en-US" altLang="zh-CN" dirty="0"/>
              <a:t>60</a:t>
            </a:r>
            <a:r>
              <a:rPr lang="zh-CN" altLang="en-US" dirty="0"/>
              <a:t>年代，由于二战结束，世界各地产生了大量的孤儿。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因此研究人员就有机会获得了大量的现成的实验样本。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这些由战争产生的遗孤，有很多都是双胞胎，其中有不少同卵双胞胎。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研究人员就研究观察这此孩子，看看这些孩子的成长到底是由什么因素影响。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这些孩子数量巨大，有上百万之众，样本数量足够说明问题。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这些孩子被分别寄养到不同的家庭中。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数十年过去了，最终研究人员得出了惊人的结论。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一个人，受到哪些因素影响呢？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一个是遗传基因，占</a:t>
            </a:r>
            <a:r>
              <a:rPr lang="en-US" altLang="zh-CN" dirty="0"/>
              <a:t>60%</a:t>
            </a:r>
            <a:r>
              <a:rPr lang="zh-CN" altLang="en-US" dirty="0"/>
              <a:t>，年纪大了后甚至占</a:t>
            </a:r>
            <a:r>
              <a:rPr lang="en-US" altLang="zh-CN" dirty="0"/>
              <a:t>80%</a:t>
            </a:r>
            <a:r>
              <a:rPr lang="zh-CN" altLang="en-US" dirty="0"/>
              <a:t>以上。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二个是环境影响，占</a:t>
            </a:r>
            <a:r>
              <a:rPr lang="en-US" altLang="zh-CN" dirty="0"/>
              <a:t>35%</a:t>
            </a:r>
            <a:r>
              <a:rPr lang="zh-CN" altLang="en-US" dirty="0"/>
              <a:t>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剩下不到</a:t>
            </a:r>
            <a:r>
              <a:rPr lang="en-US" altLang="zh-CN" dirty="0"/>
              <a:t>5%</a:t>
            </a:r>
            <a:r>
              <a:rPr lang="zh-CN" altLang="en-US" dirty="0"/>
              <a:t>，是其他影响。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即便是同卵双胞胎，在分别放到不同的家庭中，最后也会表现出非常相似非常接近的习惯和行为。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大家可以去网上查资料，这是真实的科学实验，全世界都有报道过。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大家也可以去看一本书</a:t>
            </a:r>
            <a:r>
              <a:rPr lang="en-US" altLang="zh-CN" dirty="0"/>
              <a:t>《</a:t>
            </a:r>
            <a:r>
              <a:rPr lang="zh-CN" altLang="en-US" dirty="0"/>
              <a:t>基因蓝图</a:t>
            </a:r>
            <a:r>
              <a:rPr lang="en-US" altLang="zh-CN" dirty="0"/>
              <a:t>》</a:t>
            </a:r>
            <a:r>
              <a:rPr lang="zh-CN" altLang="en-US" dirty="0"/>
              <a:t>，里面写得非常清楚。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这里面已经澄清家庭教养方式对孩子来说并不存在决定性。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前面说的，除了基因影响之外，环境影响主要是指家庭外的社会环境影响。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（即便是家庭条件的好坏，也不是必然，宠众望）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**家庭的历史变迁**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在农耕时代，我们是生活在一个什么环境中的呢？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七大姑八大姨，汉语中有非常多的亲戚的称呼，就说明我们生活在一个大的家族体系中。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即便你家的亲戚不多，大家也生活在一个村里，八竿子打不着的远房亲戚多少也有几个。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这种家族式的群居生活，是源自农业耕作需要，因为人多力量大嘛！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大家都团结在一起，除此之外，还有祖坟、祠堂、家谱等等。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以前的孩子们，就是在这样的环境中成长起来的。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好，接下来到了上个世纪</a:t>
            </a:r>
            <a:r>
              <a:rPr lang="en-US" altLang="zh-CN" dirty="0"/>
              <a:t>80</a:t>
            </a:r>
            <a:r>
              <a:rPr lang="zh-CN" altLang="en-US" dirty="0"/>
              <a:t>年代之前。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当时的生活环境是怎么样的呢？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首先想到的是，家属院，厂办学校，厂办医院，厂办食堂。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大家都生活在一个集体中。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什么都是公家的，自已也是公家的人。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所以说那一辈子爱占小便宜，其实并不是品行不好，而是他们习惯了生活在公家这种环境中。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谁会说，拿自已家里的东西还不好意思的呢？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这是那时候养成的习惯，因为就没有个人私人的概念。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当时的孩子们，就生活在这样的环境中，长辈们可能都是同事或领导，小伙伴们可能都是周围差不多都是一个单位组织的孩子。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好，现在到了</a:t>
            </a:r>
            <a:r>
              <a:rPr lang="en-US" altLang="zh-CN" dirty="0"/>
              <a:t>80</a:t>
            </a:r>
            <a:r>
              <a:rPr lang="zh-CN" altLang="en-US" dirty="0"/>
              <a:t>、</a:t>
            </a:r>
            <a:r>
              <a:rPr lang="en-US" altLang="zh-CN" dirty="0"/>
              <a:t>90</a:t>
            </a:r>
            <a:r>
              <a:rPr lang="zh-CN" altLang="en-US" dirty="0"/>
              <a:t>年代。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en-US" altLang="zh-CN" dirty="0"/>
              <a:t>72</a:t>
            </a:r>
            <a:r>
              <a:rPr lang="zh-CN" altLang="en-US" dirty="0"/>
              <a:t>年尼克松访华，</a:t>
            </a:r>
            <a:r>
              <a:rPr lang="en-US" altLang="zh-CN" dirty="0"/>
              <a:t>79</a:t>
            </a:r>
            <a:r>
              <a:rPr lang="zh-CN" altLang="en-US" dirty="0"/>
              <a:t>年中美正式建交。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中美蜜月期，关系好得跟穿一条裤子似的。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好到什么程度呢？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据说美国把当时最好的武器都开放售卖给了中国。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当然，它是为了联合中国去对付苏联。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当时的越南一看情况有变，你个浓眉大眼的中国也叛变西方帝国主义了，就开始挑事。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邓公当时说，小朋友不听话，就要打屁股，于是就和美国打了招呼，说我要开始教训小朋友了。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于是越战爆发，时间点就是</a:t>
            </a:r>
            <a:r>
              <a:rPr lang="en-US" altLang="zh-CN" dirty="0"/>
              <a:t>80</a:t>
            </a:r>
            <a:r>
              <a:rPr lang="zh-CN" altLang="en-US" dirty="0"/>
              <a:t>年代。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当然这些都是政治话题，我们不多说。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我们只说，中美关系当时是非常好的，美国也用最大的力量帮助中国发展经济。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于是中国的经济开始飞速发展了，但同时西方的部分思潮也跟着进来了。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当时就面临着国有企业转型的问题，大量的国有资产转成了私营。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en-US" altLang="zh-CN" dirty="0"/>
              <a:t>94</a:t>
            </a:r>
            <a:r>
              <a:rPr lang="zh-CN" altLang="en-US" dirty="0"/>
              <a:t>年国家出台的分税制改革，让地方政府出现了财政上的困难。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各种状况频频出现，导致了全国性的大下岗。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到了</a:t>
            </a:r>
            <a:r>
              <a:rPr lang="en-US" altLang="zh-CN" dirty="0"/>
              <a:t>90</a:t>
            </a:r>
            <a:r>
              <a:rPr lang="zh-CN" altLang="en-US" dirty="0"/>
              <a:t>年代末期，已经有很多工人失业。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失业到什么程度呢？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据说广东和四川多了很多洗脚城。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当时，在</a:t>
            </a:r>
            <a:r>
              <a:rPr lang="en-US" altLang="zh-CN" dirty="0"/>
              <a:t>90</a:t>
            </a:r>
            <a:r>
              <a:rPr lang="zh-CN" altLang="en-US" dirty="0"/>
              <a:t>年代初，大概</a:t>
            </a:r>
            <a:r>
              <a:rPr lang="en-US" altLang="zh-CN" dirty="0"/>
              <a:t>91</a:t>
            </a:r>
            <a:r>
              <a:rPr lang="zh-CN" altLang="en-US" dirty="0"/>
              <a:t>年还是</a:t>
            </a:r>
            <a:r>
              <a:rPr lang="en-US" altLang="zh-CN" dirty="0"/>
              <a:t>92</a:t>
            </a:r>
            <a:r>
              <a:rPr lang="zh-CN" altLang="en-US" dirty="0"/>
              <a:t>年，曾仕强曾预言中国将来会成为世界第二大经济体，科技水平会超过西方，压根就没人信。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直到</a:t>
            </a:r>
            <a:r>
              <a:rPr lang="en-US" altLang="zh-CN" dirty="0"/>
              <a:t>2000</a:t>
            </a:r>
            <a:r>
              <a:rPr lang="zh-CN" altLang="en-US" dirty="0"/>
              <a:t>年初，发生了根本性的改变。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当时中国加入了</a:t>
            </a:r>
            <a:r>
              <a:rPr lang="en-US" altLang="zh-CN" dirty="0"/>
              <a:t>WTO</a:t>
            </a:r>
            <a:r>
              <a:rPr lang="zh-CN" altLang="en-US" dirty="0"/>
              <a:t>，并且还有一个重要因素，就是网络的兴起。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大量的农民工进城。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进城干什么呢？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当然是打工赚钱了！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随着房地产开发以及经济的恢复，城市建设起来了，大家的日子也慢慢好起来了。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好，说了这么说，大家发现没有。 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孩子们生活的环境发生了怎样的变化呢？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过去不管是家族式群居生活也好，还是公家国营集体生活也好，都已经不复存在了。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取而代之的是，孩子们住在钢筋混凝土的楼房里，大量的留守儿童。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以前的居住环境已经变成了各自独立生活。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我们如果能够正确看待这段发展历史，就会立刻发现，过去传统的家庭环境早已土崩瓦解。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现在一家三口人，爸爸妈妈孩子。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开一亮，吃完早饭，爸爸到城东上班，妈妈到城西工作，孩子到城南上学。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晚上很晚才能回到家。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现在连一家人在一起吃个晚饭都可能是一件奢侈的事情，更别说要加班，还要补课，还要做其他的事情。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请问，这是一个家吗？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关于婚恋纠纷问题的心理咨询，是紧紧排在心理咨询的第二位的，第一位的是儿童青少年心理问题。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所以你说，为什么会这样？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随着工业文明的发展，资本主义通过解构传统的人的生活方式，导致了人与人之间是一种分裂式的生活方式。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我们说的家庭，实质并不是过去的那种家庭。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过去的家庭，也不是我们理解的由父母和孩子这么简单的组成。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其本质，实际上反而是一种社会环境，即大家族，由很多人组成的。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现在的家族充其量也就六个人组成，六个人能给孩子带来什么有效的影响呢？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有人说了，我感觉家庭对孩子还是有影响的。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其实你还是没有理解，孟母三迁，你想想是在说家庭父母对孩子的影响吗？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那分明是在说环境对孩子的影响。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过去就是家族这种小社会对孩子的影响。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所以你就应该知道，什么家风、家教，那是过去那种环境下的东西，现在的小家庭，哪里来的什么家风家教？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几个人对孩子的影响实在是太有限了。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我们说，为什么孩子越大越不听话。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其实就是家庭外部环境对孩子的影响，大过于家庭父母对他的影响。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一个人，他对社会群体的认同，始终是要大大大过父母对他的影响的，这是铁律。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如果你还看不懂这一点，还在抱着原生家庭那套假冒伪劣，那么你是看不懂，也搞不好孩子的教育问题的。</a:t>
            </a:r>
          </a:p>
        </p:txBody>
      </p:sp>
    </p:spTree>
    <p:extLst>
      <p:ext uri="{BB962C8B-B14F-4D97-AF65-F5344CB8AC3E}">
        <p14:creationId xmlns:p14="http://schemas.microsoft.com/office/powerpoint/2010/main" val="436198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61147-9D0F-8A46-5EA7-0D4B9309F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7AD1D1-61AA-88B9-9D16-D66A1A43C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儿童青少年教育关键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9A4D9A-A5A3-6676-3199-06DB2DCD4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57775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5BC09-F0DD-360B-8A19-9353D5E2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C53166-9D97-5873-B961-106C8E320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儿童青少年教育关键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D1B5FE-225D-2F08-596A-5A16C009B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6105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670EB-AE95-4D76-8053-420ED30D9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980155-4F53-E2DE-EDF0-83A1B119E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儿童青少年教育关键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14A539-EB63-8B8A-46C7-874A12BBB0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618110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6A869-2166-1346-B558-3079F7CD1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70AF07-937D-7518-BBE6-7A6E9DC4D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儿童青少年教育关键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761907-C60C-51C7-24C2-BCEE78EB5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77079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41A6C-2FCD-0610-7596-56F7D6A0C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983B1-520A-F982-D467-DDD083783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儿童青少年教育关键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353229-6282-58C3-B58B-6F1D8827B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38119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8C560-683C-6B5C-10E4-323E60E9B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69A233-4876-1C98-C2DC-BB362D101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儿童青少年教育关键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C700ED-EA11-D587-EE47-6ED08BE1C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90385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C9E50-6745-950B-DA62-EC8168F79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CBF760-4FD1-3150-1A44-F9F865E6C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儿童青少年教育关键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1D0119-8E78-AF28-2D57-321B2C9CD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20217187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3641</Words>
  <Application>Microsoft Office PowerPoint</Application>
  <PresentationFormat>宽屏</PresentationFormat>
  <Paragraphs>408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微软雅黑</vt:lpstr>
      <vt:lpstr>Arial</vt:lpstr>
      <vt:lpstr>Bierstadt</vt:lpstr>
      <vt:lpstr>GestaltVTI</vt:lpstr>
      <vt:lpstr>智慧家长课堂</vt:lpstr>
      <vt:lpstr>现代心理学的历史发展脉络</vt:lpstr>
      <vt:lpstr>现代心理学的历史发展脉络</vt:lpstr>
      <vt:lpstr>现代心理学的历史发展脉络</vt:lpstr>
      <vt:lpstr>现代心理学的历史发展脉络</vt:lpstr>
      <vt:lpstr>教育历史变化及当下教育真相</vt:lpstr>
      <vt:lpstr>教育历史变化及当下教育真相</vt:lpstr>
      <vt:lpstr>教育历史变化及当下教育真相</vt:lpstr>
      <vt:lpstr>教育历史变化及当下教育真相</vt:lpstr>
      <vt:lpstr>教育历史变化及当下教育真相</vt:lpstr>
      <vt:lpstr>教育历史变化及当下教育真相</vt:lpstr>
      <vt:lpstr>教育历史变化及当下教育真相</vt:lpstr>
      <vt:lpstr>爱和原生家庭之谬误</vt:lpstr>
      <vt:lpstr>爱和原生家庭之谬误</vt:lpstr>
      <vt:lpstr>爱和原生家庭之谬误</vt:lpstr>
      <vt:lpstr>爱和原生家庭之谬误</vt:lpstr>
      <vt:lpstr>爱和原生家庭之谬误</vt:lpstr>
      <vt:lpstr>爱和原生家庭之谬误</vt:lpstr>
      <vt:lpstr>爱和原生家庭之谬误</vt:lpstr>
      <vt:lpstr>爱和原生家庭之谬误</vt:lpstr>
      <vt:lpstr>儿童青少年教育关键</vt:lpstr>
      <vt:lpstr>儿童青少年教育关键</vt:lpstr>
      <vt:lpstr>儿童青少年教育关键</vt:lpstr>
      <vt:lpstr>儿童青少年教育关键</vt:lpstr>
      <vt:lpstr>儿童青少年教育关键</vt:lpstr>
      <vt:lpstr>儿童青少年教育关键</vt:lpstr>
      <vt:lpstr>儿童青少年教育关键</vt:lpstr>
      <vt:lpstr>儿童青少年教育关键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ABC</dc:creator>
  <cp:lastModifiedBy>ABC</cp:lastModifiedBy>
  <cp:revision>19</cp:revision>
  <dcterms:created xsi:type="dcterms:W3CDTF">2025-09-26T07:10:55Z</dcterms:created>
  <dcterms:modified xsi:type="dcterms:W3CDTF">2025-09-26T07:29:11Z</dcterms:modified>
</cp:coreProperties>
</file>