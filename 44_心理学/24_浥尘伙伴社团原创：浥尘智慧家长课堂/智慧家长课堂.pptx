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6" r:id="rId2"/>
    <p:sldId id="257" r:id="rId3"/>
    <p:sldId id="261" r:id="rId4"/>
    <p:sldId id="264" r:id="rId5"/>
    <p:sldId id="262" r:id="rId6"/>
    <p:sldId id="269" r:id="rId7"/>
    <p:sldId id="288" r:id="rId8"/>
    <p:sldId id="258" r:id="rId9"/>
    <p:sldId id="265" r:id="rId10"/>
    <p:sldId id="266" r:id="rId11"/>
    <p:sldId id="267" r:id="rId12"/>
    <p:sldId id="268" r:id="rId13"/>
    <p:sldId id="285" r:id="rId14"/>
    <p:sldId id="270" r:id="rId15"/>
    <p:sldId id="259" r:id="rId16"/>
    <p:sldId id="271" r:id="rId17"/>
    <p:sldId id="272" r:id="rId18"/>
    <p:sldId id="273" r:id="rId19"/>
    <p:sldId id="274" r:id="rId20"/>
    <p:sldId id="260" r:id="rId21"/>
    <p:sldId id="289" r:id="rId22"/>
    <p:sldId id="278" r:id="rId23"/>
    <p:sldId id="286" r:id="rId24"/>
    <p:sldId id="287" r:id="rId25"/>
    <p:sldId id="291" r:id="rId26"/>
    <p:sldId id="290" r:id="rId27"/>
    <p:sldId id="279" r:id="rId28"/>
    <p:sldId id="280" r:id="rId29"/>
    <p:sldId id="281" r:id="rId30"/>
    <p:sldId id="282" r:id="rId31"/>
    <p:sldId id="292" r:id="rId3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0" y="2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/>
        </p:nvSpPr>
        <p:spPr>
          <a:xfrm>
            <a:off x="517870" y="6209925"/>
            <a:ext cx="11155680" cy="45719"/>
          </a:xfrm>
          <a:custGeom>
            <a:avLst/>
            <a:gdLst>
              <a:gd name="connsiteX0" fmla="*/ 0 w 8715708"/>
              <a:gd name="connsiteY0" fmla="*/ 0 h 45719"/>
              <a:gd name="connsiteX1" fmla="*/ 3694525 w 8715708"/>
              <a:gd name="connsiteY1" fmla="*/ 0 h 45719"/>
              <a:gd name="connsiteX2" fmla="*/ 5021183 w 8715708"/>
              <a:gd name="connsiteY2" fmla="*/ 0 h 45719"/>
              <a:gd name="connsiteX3" fmla="*/ 8715708 w 8715708"/>
              <a:gd name="connsiteY3" fmla="*/ 0 h 45719"/>
              <a:gd name="connsiteX4" fmla="*/ 8715708 w 8715708"/>
              <a:gd name="connsiteY4" fmla="*/ 45719 h 45719"/>
              <a:gd name="connsiteX5" fmla="*/ 5021183 w 8715708"/>
              <a:gd name="connsiteY5" fmla="*/ 45719 h 45719"/>
              <a:gd name="connsiteX6" fmla="*/ 3694525 w 8715708"/>
              <a:gd name="connsiteY6" fmla="*/ 45719 h 45719"/>
              <a:gd name="connsiteX7" fmla="*/ 0 w 8715708"/>
              <a:gd name="connsiteY7" fmla="*/ 45719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2327B2-BA4B-2C04-0751-5CB63D4AA4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978408"/>
            <a:ext cx="11155680" cy="3429000"/>
          </a:xfrm>
        </p:spPr>
        <p:txBody>
          <a:bodyPr anchor="b"/>
          <a:lstStyle>
            <a:lvl1pPr algn="l"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201176-DC7A-4C3D-3D8F-352526DA7B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4480560"/>
            <a:ext cx="7104888" cy="1399032"/>
          </a:xfrm>
        </p:spPr>
        <p:txBody>
          <a:bodyPr anchor="b">
            <a:normAutofit/>
          </a:bodyPr>
          <a:lstStyle>
            <a:lvl1pPr marL="0" indent="0" algn="l">
              <a:buNone/>
              <a:defRPr sz="2200" i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7DC221-9A2E-7459-102F-C3CFB27CC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11/3/2025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020671-6F7D-3A03-EEC1-661A87F96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453D3A-E0F9-8386-2A6C-96671FBB1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72802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26D03-149A-DAB3-4B2A-E9B74F2E2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1E73D-41A7-9934-0990-9208B95232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B2A3F-E719-673C-5D56-F663712D0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11/3/2025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AE594A-52F5-D85E-343C-ADFEE3C72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D5C9C-B2E2-FC26-E459-9E880EF97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50553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9D51F-B2D5-2804-4F7C-C99850FBD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4288536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FE5516-03B6-C488-EB4A-68AE681EDF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5266944"/>
            <a:ext cx="5020056" cy="1088136"/>
          </a:xfrm>
        </p:spPr>
        <p:txBody>
          <a:bodyPr anchor="b">
            <a:normAutofit/>
          </a:bodyPr>
          <a:lstStyle>
            <a:lvl1pPr marL="0" indent="0">
              <a:buNone/>
              <a:defRPr sz="2200" i="1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ECB4D7-49A7-D050-70B9-11A1E2D44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11/3/2025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9A913F-AD00-C1EE-B01A-8590671C0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4FC386-B2AF-6FAD-D053-E22D48CD7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1E1B67-3BFF-F04B-52F4-7E724FB3B24D}"/>
              </a:ext>
            </a:extLst>
          </p:cNvPr>
          <p:cNvSpPr/>
          <p:nvPr/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98767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E3B21-CF4D-1B01-0F4E-D32C1B218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39FF2-6858-B514-B695-58442557D0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1208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A30130-974D-B91D-5B93-EC52AABDB5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19672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5BED99-6FD7-9C6B-1152-A6E42715B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11/3/2025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253AAC-5967-2565-A715-82D3505AB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B51313-69FB-E016-3CC1-62CA476ED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04440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DF9D-B849-CE37-97E4-AD37F8806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64824" cy="12161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D4C626-4008-960A-E601-6AA9F4BB8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6E8D6C-AC07-ED6B-2EA8-9C40A5AEA7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1208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52617E-C6D9-246B-E7B7-8159DF17C0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19672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BC2094-7EBC-02C5-5AB5-233E63080A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19672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010BD2-59B4-FD2E-3C5E-C83AE6003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11/3/2025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2B35C4-A654-7759-BDA0-94D9D1A21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5F4347-2EC0-CA6E-2637-8048456D7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61271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4716D-52F2-C7FB-83B1-2DA1AD37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F4A371-AC27-6A28-32E6-74A28371B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11/3/2025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55941A-A24E-885D-E894-0326F4C40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5E5B4-971F-FF6A-1B07-A5C853705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85692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9F431F-E6DC-4137-3092-A30A0A362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11/3/2025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AC814B-67B4-C70F-FA51-6205D5E2C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EAA9C9-D895-DD20-1089-EA75EA42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72885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50562-884C-9053-70C1-3B72A0B45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18F509-68F0-39D5-1A8B-CE246715AE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9672" y="987424"/>
            <a:ext cx="5166360" cy="535838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58E37C-27CE-3A84-FC74-BDCCD8A9A3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A95F79-E23E-11D2-40BF-66ED34019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11/3/2025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57F7FC-06F3-3D89-5D1A-4EC4B1D73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4ACD5-6E0B-5713-DC9A-41E9D62AB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39179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B2D45-7CDB-D38C-2AAE-273F79767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BF0855-1744-56E4-B115-3A3C5EA783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519672" y="987424"/>
            <a:ext cx="5166360" cy="535838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5E8A1D-28AE-4A19-BD96-401D4822A5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327DDB-CE95-4C89-DFC5-7DDBFC24E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11/3/2025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22C835-F3B5-943C-FFC4-D5BA9666A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709891-6E3C-ADED-01DD-15FCED37A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14442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36771-E72D-FAD8-771E-3E196DD2E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5BB827-257D-60D9-792F-E695900429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E5D2E7-C856-F78A-E88C-375474982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11/3/2025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DAB289-9591-51C9-9E3C-B6F2ACC6A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FE037C-790D-7442-8E43-D2740B395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6371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635151-A38B-3766-6A32-FF1DF7687D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659368" y="978408"/>
            <a:ext cx="2551176" cy="536752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D132D1-640C-FB9A-AD6F-D845738349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1208" y="978408"/>
            <a:ext cx="8010144" cy="536752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55F80A-4BA7-8ED8-9A62-B92194272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11/3/2025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E38113-D55A-A1A0-D1FE-53C95860F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919DDB-F89D-4B2D-21A2-82AF1D102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2572D8-D485-1DB1-34B1-C35C61C89940}"/>
              </a:ext>
            </a:extLst>
          </p:cNvPr>
          <p:cNvSpPr/>
          <p:nvPr/>
        </p:nvSpPr>
        <p:spPr>
          <a:xfrm rot="5400000">
            <a:off x="8936623" y="3585018"/>
            <a:ext cx="532573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44946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1A28D7-6581-4956-AAE3-9104804DF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  <a:prstGeom prst="rect">
            <a:avLst/>
          </a:prstGeom>
        </p:spPr>
        <p:txBody>
          <a:bodyPr lIns="109728" tIns="109728" rIns="109728" bIns="91440" anchor="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CFCCA4-57A4-08A1-FC45-D2BBA66FAB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578608"/>
            <a:ext cx="11155680" cy="3767328"/>
          </a:xfrm>
          <a:prstGeom prst="rect">
            <a:avLst/>
          </a:prstGeom>
        </p:spPr>
        <p:txBody>
          <a:bodyPr lIns="109728" tIns="109728" rIns="109728" bIns="9144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FAA0F4-2442-8D45-3C3D-1B8F55C868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1208" y="6419088"/>
            <a:ext cx="2743200" cy="365125"/>
          </a:xfrm>
          <a:prstGeom prst="rect">
            <a:avLst/>
          </a:prstGeom>
        </p:spPr>
        <p:txBody>
          <a:bodyPr lIns="109728" tIns="109728" rIns="109728" bIns="91440" anchor="ctr"/>
          <a:lstStyle>
            <a:lvl1pPr algn="l">
              <a:defRPr sz="1000" spc="180">
                <a:solidFill>
                  <a:schemeClr val="tx1"/>
                </a:solidFill>
              </a:defRPr>
            </a:lvl1pPr>
          </a:lstStyle>
          <a:p>
            <a:fld id="{E80C50CD-E178-4744-9B35-B2F624D6C5E9}" type="datetimeFigureOut">
              <a:rPr lang="en-US" smtClean="0"/>
              <a:pPr/>
              <a:t>11/3/2025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3785E-FB42-1D54-92AC-D0A61A8FAB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21208" y="100584"/>
            <a:ext cx="4114800" cy="365125"/>
          </a:xfrm>
          <a:prstGeom prst="rect">
            <a:avLst/>
          </a:prstGeom>
        </p:spPr>
        <p:txBody>
          <a:bodyPr lIns="109728" tIns="109728" rIns="109728" bIns="91440" anchor="ctr"/>
          <a:lstStyle>
            <a:lvl1pPr algn="l">
              <a:defRPr sz="1000" spc="18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C9CF34-1274-DB45-4809-90E5D244A9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57432" y="6419088"/>
            <a:ext cx="640080" cy="365125"/>
          </a:xfrm>
          <a:prstGeom prst="rect">
            <a:avLst/>
          </a:prstGeom>
        </p:spPr>
        <p:txBody>
          <a:bodyPr lIns="109728" tIns="109728" rIns="109728" bIns="9144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/>
          <p:nvPr/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72326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89" r:id="rId6"/>
    <p:sldLayoutId id="2147483685" r:id="rId7"/>
    <p:sldLayoutId id="2147483686" r:id="rId8"/>
    <p:sldLayoutId id="2147483687" r:id="rId9"/>
    <p:sldLayoutId id="2147483688" r:id="rId10"/>
    <p:sldLayoutId id="2147483690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5400" b="1" kern="1200" spc="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5000"/>
        </a:lnSpc>
        <a:spcBef>
          <a:spcPts val="1000"/>
        </a:spcBef>
        <a:buFont typeface="Arial" panose="020B0604020202020204" pitchFamily="34" charset="0"/>
        <a:buChar char="•"/>
        <a:defRPr sz="2000" kern="1200" spc="16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5000"/>
        </a:lnSpc>
        <a:spcBef>
          <a:spcPts val="500"/>
        </a:spcBef>
        <a:buFont typeface="Arial" panose="020B0604020202020204" pitchFamily="34" charset="0"/>
        <a:buChar char="•"/>
        <a:defRPr sz="1800" kern="1200" spc="16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5000"/>
        </a:lnSpc>
        <a:spcBef>
          <a:spcPts val="500"/>
        </a:spcBef>
        <a:buFont typeface="Arial" panose="020B0604020202020204" pitchFamily="34" charset="0"/>
        <a:buChar char="•"/>
        <a:defRPr sz="1800" kern="1200" spc="16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5000"/>
        </a:lnSpc>
        <a:spcBef>
          <a:spcPts val="500"/>
        </a:spcBef>
        <a:buFont typeface="Arial" panose="020B0604020202020204" pitchFamily="34" charset="0"/>
        <a:buChar char="•"/>
        <a:defRPr sz="1600" kern="1200" spc="16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5000"/>
        </a:lnSpc>
        <a:spcBef>
          <a:spcPts val="500"/>
        </a:spcBef>
        <a:buFont typeface="Arial" panose="020B0604020202020204" pitchFamily="34" charset="0"/>
        <a:buChar char="•"/>
        <a:defRPr sz="1600" kern="1200" spc="16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0EECA69B-4C2A-7F31-8019-E90DB3BD49CB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pic>
        <p:nvPicPr>
          <p:cNvPr id="4" name="Picture 3" descr="抽象遗传概念">
            <a:extLst>
              <a:ext uri="{FF2B5EF4-FFF2-40B4-BE49-F238E27FC236}">
                <a16:creationId xmlns:a16="http://schemas.microsoft.com/office/drawing/2014/main" id="{99060100-A8AA-6674-2EEF-E313A8EA5A0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2657" b="11093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857DEAC1-B3AA-6569-0A44-A191DF2F3C6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577840"/>
            <a:ext cx="12191999" cy="1280160"/>
          </a:xfrm>
          <a:prstGeom prst="rect">
            <a:avLst/>
          </a:prstGeom>
          <a:solidFill>
            <a:schemeClr val="bg1">
              <a:alpha val="8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62077292-5498-36F7-C035-FCC8AE3838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0039" y="5739969"/>
            <a:ext cx="8178501" cy="960120"/>
          </a:xfrm>
          <a:ln>
            <a:noFill/>
          </a:ln>
        </p:spPr>
        <p:txBody>
          <a:bodyPr anchor="ctr">
            <a:noAutofit/>
          </a:bodyPr>
          <a:lstStyle/>
          <a:p>
            <a:r>
              <a:rPr lang="zh-CN" altLang="en-US" sz="5400" dirty="0"/>
              <a:t>智慧家长课堂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6673B8A1-D398-BE75-6533-FFFB3C95EA5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641975" y="5739969"/>
            <a:ext cx="3355309" cy="960120"/>
          </a:xfrm>
        </p:spPr>
        <p:txBody>
          <a:bodyPr anchor="ctr">
            <a:normAutofit/>
          </a:bodyPr>
          <a:lstStyle/>
          <a:p>
            <a:pPr algn="r"/>
            <a:r>
              <a:rPr lang="zh-CN" altLang="en-US" sz="1900" dirty="0"/>
              <a:t>浥尘伙伴社团</a:t>
            </a:r>
          </a:p>
        </p:txBody>
      </p:sp>
    </p:spTree>
    <p:extLst>
      <p:ext uri="{BB962C8B-B14F-4D97-AF65-F5344CB8AC3E}">
        <p14:creationId xmlns:p14="http://schemas.microsoft.com/office/powerpoint/2010/main" val="22892823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011E1E6-6BB0-22D9-BC45-494D62AE41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现代心理学的历史发展脉络（一）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2C68CB0-C8C5-260C-C325-BE4AA61114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西方的心理学，早在新中国解放前就有了。</a:t>
            </a:r>
            <a:endParaRPr lang="en-US" altLang="zh-CN" dirty="0"/>
          </a:p>
          <a:p>
            <a:pPr marL="0" indent="0">
              <a:buNone/>
            </a:pP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蒋介石接受过西方心理学精神分析的治疗。</a:t>
            </a:r>
            <a:endParaRPr lang="en-US" altLang="zh-CN" dirty="0"/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中国在</a:t>
            </a:r>
            <a:r>
              <a:rPr lang="en-US" altLang="zh-CN" dirty="0"/>
              <a:t>80</a:t>
            </a:r>
            <a:r>
              <a:rPr lang="zh-CN" altLang="en-US" dirty="0"/>
              <a:t>、</a:t>
            </a:r>
            <a:r>
              <a:rPr lang="en-US" altLang="zh-CN" dirty="0"/>
              <a:t>90</a:t>
            </a:r>
            <a:r>
              <a:rPr lang="zh-CN" altLang="en-US" dirty="0"/>
              <a:t>年代开始全面引入西方心理学的背景是什么？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为什么引进西方心理学？</a:t>
            </a:r>
          </a:p>
        </p:txBody>
      </p:sp>
    </p:spTree>
    <p:extLst>
      <p:ext uri="{BB962C8B-B14F-4D97-AF65-F5344CB8AC3E}">
        <p14:creationId xmlns:p14="http://schemas.microsoft.com/office/powerpoint/2010/main" val="18569056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FB38B2-215C-B133-E415-26BB5A0C83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496B343-CD74-ED13-0C99-2857EF5FDB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现代心理学的历史发展脉络（二）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F4A103E-2D53-8E44-196E-0FD8059B08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057399"/>
            <a:ext cx="11155680" cy="4657725"/>
          </a:xfrm>
        </p:spPr>
        <p:txBody>
          <a:bodyPr/>
          <a:lstStyle/>
          <a:p>
            <a:pPr marL="0" indent="0">
              <a:buNone/>
            </a:pPr>
            <a:r>
              <a:rPr lang="zh-CN" altLang="en-US" dirty="0"/>
              <a:t>改革开放之前，</a:t>
            </a:r>
            <a:r>
              <a:rPr lang="en-US" altLang="zh-CN" dirty="0"/>
              <a:t>80</a:t>
            </a:r>
            <a:r>
              <a:rPr lang="zh-CN" altLang="en-US" dirty="0"/>
              <a:t>年代之前，我们以集体生活，国营厂办单位为主。</a:t>
            </a: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改革开放初期，原有的集体组织瓦解，大量工人下岗，心理问题由单位组织管理向各人自行负责发展。</a:t>
            </a:r>
          </a:p>
          <a:p>
            <a:pPr marL="0" indent="0">
              <a:buNone/>
            </a:pPr>
            <a:r>
              <a:rPr lang="zh-CN" altLang="en-US" dirty="0"/>
              <a:t>社会转型期的心理危机爆发。</a:t>
            </a:r>
          </a:p>
          <a:p>
            <a:pPr marL="0" indent="0">
              <a:buNone/>
            </a:pPr>
            <a:r>
              <a:rPr lang="zh-CN" altLang="en-US" dirty="0"/>
              <a:t>在上个世纪</a:t>
            </a:r>
            <a:r>
              <a:rPr lang="en-US" altLang="zh-CN" dirty="0"/>
              <a:t>90</a:t>
            </a:r>
            <a:r>
              <a:rPr lang="zh-CN" altLang="en-US" dirty="0"/>
              <a:t>年代，防自杀热线开设（自杀率上升与高危群体扩大）。</a:t>
            </a:r>
            <a:endParaRPr lang="en-US" altLang="zh-CN" dirty="0"/>
          </a:p>
          <a:p>
            <a:pPr marL="0" indent="0">
              <a:buNone/>
            </a:pPr>
            <a:r>
              <a:rPr lang="en-US" altLang="zh-CN" dirty="0"/>
              <a:t>20</a:t>
            </a:r>
            <a:r>
              <a:rPr lang="zh-CN" altLang="en-US" dirty="0"/>
              <a:t>世纪末，中国自杀率一度高达十万分之二十三，成为</a:t>
            </a:r>
            <a:r>
              <a:rPr lang="en-US" altLang="zh-CN" dirty="0"/>
              <a:t>15-34</a:t>
            </a:r>
            <a:r>
              <a:rPr lang="zh-CN" altLang="en-US" dirty="0"/>
              <a:t>岁人群的首要死因。农村自杀率显著高于城市，女性自杀率虽呈下降趋势但仍高于男性。经济压力、婚姻家庭矛盾、精神疾病等成为主要诱因。 </a:t>
            </a:r>
            <a:endParaRPr lang="en-US" altLang="zh-CN" dirty="0"/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创始人专家自己自杀了。后被迫停办。</a:t>
            </a:r>
          </a:p>
        </p:txBody>
      </p:sp>
    </p:spTree>
    <p:extLst>
      <p:ext uri="{BB962C8B-B14F-4D97-AF65-F5344CB8AC3E}">
        <p14:creationId xmlns:p14="http://schemas.microsoft.com/office/powerpoint/2010/main" val="42333428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670365-2299-B2AA-5924-DEE980176D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D694D40-A61A-DF0D-1BA2-53D6E9D6EF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现代心理学的历史发展脉络（三）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45FE186-0B6B-82CB-FCA6-9F09E55C68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改革开放初期，原有的集体组织瓦解，大量工人下岗，心理问题由单位组织管理向各人自行负责发展。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社会转型期的心理危机爆发。</a:t>
            </a:r>
          </a:p>
          <a:p>
            <a:pPr marL="0" indent="0">
              <a:buNone/>
            </a:pP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当时非常流行的日本影视作品，有很多是描写自杀、校园霸凌、婆媳关系等等。</a:t>
            </a:r>
          </a:p>
        </p:txBody>
      </p:sp>
    </p:spTree>
    <p:extLst>
      <p:ext uri="{BB962C8B-B14F-4D97-AF65-F5344CB8AC3E}">
        <p14:creationId xmlns:p14="http://schemas.microsoft.com/office/powerpoint/2010/main" val="20561648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C1647B-66A0-660F-BBF8-5044AEFB19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C549644-A754-9445-E6E2-20A3BD3549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现代心理学的历史发展脉络（四）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2413F73-0C0C-1295-A54B-CCE12118F4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现在的心理咨询，正规靠谱科学的，基本上不采用共情这种传统精神分析的方式。</a:t>
            </a:r>
          </a:p>
          <a:p>
            <a:pPr marL="0" indent="0">
              <a:buNone/>
            </a:pPr>
            <a:r>
              <a:rPr lang="zh-CN" altLang="en-US" dirty="0"/>
              <a:t>不是靠与来访者建立关系的做法。</a:t>
            </a:r>
          </a:p>
          <a:p>
            <a:pPr marL="0" indent="0">
              <a:buNone/>
            </a:pPr>
            <a:r>
              <a:rPr lang="zh-CN" altLang="en-US" dirty="0"/>
              <a:t>而是通过来访者自我赋意的方式来达到心灵解惑开释。</a:t>
            </a:r>
          </a:p>
          <a:p>
            <a:pPr marL="0" indent="0">
              <a:buNone/>
            </a:pPr>
            <a:r>
              <a:rPr lang="zh-CN" altLang="en-US" dirty="0"/>
              <a:t>注意，不是咨询师给出解释或建议，那叫作野蛮赋意。</a:t>
            </a:r>
          </a:p>
          <a:p>
            <a:pPr marL="0" indent="0">
              <a:buNone/>
            </a:pPr>
            <a:r>
              <a:rPr lang="zh-CN" altLang="en-US" dirty="0"/>
              <a:t>如果是这样的，那么可以判定为假冒伪劣。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于是就是在这个背景之下，我们看到了现在的这个心理咨询市场的现状。</a:t>
            </a:r>
          </a:p>
          <a:p>
            <a:pPr marL="0" indent="0">
              <a:buNone/>
            </a:pPr>
            <a:r>
              <a:rPr lang="zh-CN" altLang="en-US" dirty="0"/>
              <a:t>可谓是鱼龙混杂，真假难辨。</a:t>
            </a:r>
          </a:p>
        </p:txBody>
      </p:sp>
    </p:spTree>
    <p:extLst>
      <p:ext uri="{BB962C8B-B14F-4D97-AF65-F5344CB8AC3E}">
        <p14:creationId xmlns:p14="http://schemas.microsoft.com/office/powerpoint/2010/main" val="9869694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1178F9-20D8-CA27-FE2B-B3454737D8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EC63A5C-FC02-A7F5-2C06-AB808CC59E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教育历史变化及当下教育真相（一）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A6F6FA06-FEC3-805E-886B-446CA6B33778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21207" y="2723333"/>
            <a:ext cx="11337417" cy="3477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zh-CN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+mn-ea"/>
                <a:cs typeface="Open Sans" panose="020B0606030504020204" pitchFamily="34" charset="0"/>
              </a:rPr>
              <a:t>学校是如何发明出来的？</a:t>
            </a:r>
            <a:endParaRPr kumimoji="0" lang="zh-CN" altLang="zh-CN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zh-CN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+mn-ea"/>
                <a:cs typeface="Open Sans" panose="020B0606030504020204" pitchFamily="34" charset="0"/>
              </a:rPr>
              <a:t>普鲁士，最后一课。</a:t>
            </a:r>
            <a:endParaRPr kumimoji="0" lang="zh-CN" altLang="zh-CN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zh-CN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+mn-ea"/>
                <a:cs typeface="Open Sans" panose="020B0606030504020204" pitchFamily="34" charset="0"/>
              </a:rPr>
              <a:t>工业文明将传统的家庭解构，大人要上班，孩子必须想办法解决照顾问题。</a:t>
            </a:r>
            <a:endParaRPr kumimoji="0" lang="zh-CN" altLang="zh-CN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zh-CN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+mn-ea"/>
                <a:cs typeface="Open Sans" panose="020B0606030504020204" pitchFamily="34" charset="0"/>
              </a:rPr>
              <a:t>并且，孩子们在学校学习，将来还可以继续成为工人为工业时代服务。</a:t>
            </a:r>
            <a:endParaRPr kumimoji="0" lang="zh-CN" altLang="zh-CN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zh-CN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+mn-ea"/>
                <a:cs typeface="Open Sans" panose="020B0606030504020204" pitchFamily="34" charset="0"/>
              </a:rPr>
              <a:t>大家有没有想过一个问题，为什么孩子们在8点上学，为什么我们要8点上班？</a:t>
            </a:r>
            <a:endParaRPr kumimoji="0" lang="zh-CN" altLang="zh-CN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zh-CN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+mn-ea"/>
                <a:cs typeface="Open Sans" panose="020B0606030504020204" pitchFamily="34" charset="0"/>
              </a:rPr>
              <a:t>10点上学，下午2上班行不行？不去上学，不去上班行不行？让孩子在教室里坐上40分钟不动，行不行？</a:t>
            </a:r>
            <a:endParaRPr kumimoji="0" lang="zh-CN" altLang="zh-CN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zh-CN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+mn-ea"/>
                <a:cs typeface="Open Sans" panose="020B0606030504020204" pitchFamily="34" charset="0"/>
              </a:rPr>
              <a:t>这是反人性的，对不对？</a:t>
            </a:r>
            <a:endParaRPr kumimoji="0" lang="zh-CN" altLang="zh-CN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zh-CN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+mn-ea"/>
                <a:cs typeface="Open Sans" panose="020B0606030504020204" pitchFamily="34" charset="0"/>
              </a:rPr>
              <a:t>换作成年人，可能40分钟可以坐得住，但是让你干一天的活，你是不是就受不了了呢？</a:t>
            </a:r>
            <a:endParaRPr kumimoji="0" lang="en-US" altLang="zh-CN" b="0" i="0" u="none" strike="noStrike" cap="none" normalizeH="0" baseline="0" dirty="0">
              <a:ln>
                <a:noFill/>
              </a:ln>
              <a:solidFill>
                <a:srgbClr val="333333"/>
              </a:solidFill>
              <a:effectLst/>
              <a:latin typeface="+mn-ea"/>
              <a:cs typeface="Open Sans" panose="020B0606030504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5900835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806EF4-5EC3-0BAB-A7F0-3DF98C2581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C1895B3-CFFA-7323-89BA-8488F0C0F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教育历史变化及当下教育真相（二）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A23070BE-BDD1-9794-2508-A2DC8481B0B0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21207" y="2877221"/>
            <a:ext cx="11337417" cy="31700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zh-CN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+mn-ea"/>
                <a:cs typeface="Open Sans" panose="020B0606030504020204" pitchFamily="34" charset="0"/>
              </a:rPr>
              <a:t>我们说，什么是精神疾病？怎么算精神病？</a:t>
            </a:r>
            <a:endParaRPr kumimoji="0" lang="zh-CN" altLang="zh-CN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zh-CN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+mn-ea"/>
                <a:cs typeface="Open Sans" panose="020B0606030504020204" pitchFamily="34" charset="0"/>
              </a:rPr>
              <a:t>其实很简单，就是不符合我们人类社会正常行为之外的异常行为举止。比如，吃垃圾。</a:t>
            </a:r>
            <a:endParaRPr kumimoji="0" lang="zh-CN" altLang="zh-CN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zh-CN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+mn-ea"/>
                <a:cs typeface="Open Sans" panose="020B0606030504020204" pitchFamily="34" charset="0"/>
              </a:rPr>
              <a:t>但是谁规定垃圾不能吃？</a:t>
            </a:r>
            <a:endParaRPr kumimoji="0" lang="zh-CN" altLang="zh-CN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zh-CN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+mn-ea"/>
                <a:cs typeface="Open Sans" panose="020B0606030504020204" pitchFamily="34" charset="0"/>
              </a:rPr>
              <a:t>你见过哪个动物东西掉地上它就不吃了？</a:t>
            </a:r>
            <a:endParaRPr kumimoji="0" lang="zh-CN" altLang="zh-CN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zh-CN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+mn-ea"/>
                <a:cs typeface="Open Sans" panose="020B0606030504020204" pitchFamily="34" charset="0"/>
              </a:rPr>
              <a:t>所以，孩子坐在教室里不让动，是不是很奇怪的一件事呢？</a:t>
            </a:r>
            <a:endParaRPr kumimoji="0" lang="zh-CN" altLang="zh-CN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zh-CN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+mn-ea"/>
                <a:cs typeface="Open Sans" panose="020B0606030504020204" pitchFamily="34" charset="0"/>
              </a:rPr>
              <a:t>怎么就不让动呢，明明是活泼好动的孩子，不是吗？</a:t>
            </a:r>
            <a:endParaRPr kumimoji="0" lang="zh-CN" altLang="zh-CN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zh-CN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+mn-ea"/>
                <a:cs typeface="Open Sans" panose="020B0606030504020204" pitchFamily="34" charset="0"/>
              </a:rPr>
              <a:t>但是孩子们好动，甚至违反课堂纪律，就会被认为是一种与我们社会规则相反的行为。</a:t>
            </a:r>
            <a:endParaRPr kumimoji="0" lang="zh-CN" altLang="zh-CN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zh-CN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+mn-ea"/>
                <a:cs typeface="Open Sans" panose="020B0606030504020204" pitchFamily="34" charset="0"/>
              </a:rPr>
              <a:t>所以，你看，到底谁才是有精神疾病呢？</a:t>
            </a:r>
            <a:endParaRPr kumimoji="0" lang="zh-CN" altLang="zh-CN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zh-CN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+mn-ea"/>
                <a:cs typeface="Open Sans" panose="020B0606030504020204" pitchFamily="34" charset="0"/>
              </a:rPr>
              <a:t>其实我们每个人，都是被社会规则驯化的，被阉割过的。</a:t>
            </a:r>
            <a:endParaRPr kumimoji="0" lang="zh-CN" altLang="zh-CN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zh-CN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+mn-ea"/>
                <a:cs typeface="Open Sans" panose="020B0606030504020204" pitchFamily="34" charset="0"/>
              </a:rPr>
              <a:t>从某种角度上讲，我们才是精神病，孩子们反而不是精神病。</a:t>
            </a:r>
            <a:endParaRPr kumimoji="0" lang="zh-CN" altLang="zh-CN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9040085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FF8F0FA-0924-BB50-886C-D6E25EDD1A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教育历史变化及当下教育真相（三）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6C4F5E1-DB2A-1CFC-3962-B577B80D99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985963"/>
            <a:ext cx="11155680" cy="4572000"/>
          </a:xfrm>
        </p:spPr>
        <p:txBody>
          <a:bodyPr/>
          <a:lstStyle/>
          <a:p>
            <a:pPr marL="0" indent="0">
              <a:buNone/>
            </a:pPr>
            <a:r>
              <a:rPr lang="zh-CN" altLang="en-US" dirty="0"/>
              <a:t>在改革开放之前，我们国家基本上是比较封闭的。</a:t>
            </a:r>
          </a:p>
          <a:p>
            <a:pPr marL="0" indent="0">
              <a:buNone/>
            </a:pPr>
            <a:r>
              <a:rPr lang="zh-CN" altLang="en-US" dirty="0"/>
              <a:t>在</a:t>
            </a:r>
            <a:r>
              <a:rPr lang="en-US" altLang="zh-CN" dirty="0"/>
              <a:t>70</a:t>
            </a:r>
            <a:r>
              <a:rPr lang="zh-CN" altLang="en-US" dirty="0"/>
              <a:t>年代末，中国与美国建交之后开始，改革开放进程才正式开启。</a:t>
            </a:r>
          </a:p>
          <a:p>
            <a:pPr marL="0" indent="0">
              <a:buNone/>
            </a:pPr>
            <a:r>
              <a:rPr lang="zh-CN" altLang="en-US" dirty="0"/>
              <a:t>当时，美国对中国的帮助太大了，经济方面支持就不用说了。</a:t>
            </a:r>
          </a:p>
          <a:p>
            <a:pPr marL="0" indent="0">
              <a:buNone/>
            </a:pPr>
            <a:r>
              <a:rPr lang="zh-CN" altLang="en-US" dirty="0"/>
              <a:t>不过有一件事大家要知道，美国对中国说，我对你援助可以，但是你也得有人去做事才行，对吧？</a:t>
            </a:r>
          </a:p>
          <a:p>
            <a:pPr marL="0" indent="0">
              <a:buNone/>
            </a:pPr>
            <a:r>
              <a:rPr lang="zh-CN" altLang="en-US" dirty="0"/>
              <a:t>中国说好，转头就开了个研究会。</a:t>
            </a:r>
          </a:p>
          <a:p>
            <a:pPr marL="0" indent="0">
              <a:buNone/>
            </a:pPr>
            <a:r>
              <a:rPr lang="zh-CN" altLang="en-US" dirty="0"/>
              <a:t>会上决定，恢复高考，我们现在真的急需人才。</a:t>
            </a:r>
          </a:p>
          <a:p>
            <a:pPr marL="0" indent="0">
              <a:buNone/>
            </a:pPr>
            <a:r>
              <a:rPr lang="zh-CN" altLang="en-US" dirty="0"/>
              <a:t>于是我们趁着这个大好的机会，拼命学习，拼命读书。</a:t>
            </a:r>
          </a:p>
          <a:p>
            <a:pPr marL="0" indent="0">
              <a:buNone/>
            </a:pPr>
            <a:r>
              <a:rPr lang="zh-CN" altLang="en-US" dirty="0"/>
              <a:t>所以，在那个时候开始，直到后面的</a:t>
            </a:r>
            <a:r>
              <a:rPr lang="en-US" altLang="zh-CN" dirty="0"/>
              <a:t>30</a:t>
            </a:r>
            <a:r>
              <a:rPr lang="zh-CN" altLang="en-US" dirty="0"/>
              <a:t>年，学历文凭还是很值钱的。</a:t>
            </a:r>
          </a:p>
        </p:txBody>
      </p:sp>
    </p:spTree>
    <p:extLst>
      <p:ext uri="{BB962C8B-B14F-4D97-AF65-F5344CB8AC3E}">
        <p14:creationId xmlns:p14="http://schemas.microsoft.com/office/powerpoint/2010/main" val="17692068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82C90B-B5DF-0883-6E95-300E319EB3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7A0B021-98AD-2CC6-FE3C-AD82A86BF0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教育历史变化及当下教育真相（四）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C55BE38-54EF-A3CA-89ED-82601B26E9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714500"/>
            <a:ext cx="11155680" cy="5143499"/>
          </a:xfrm>
        </p:spPr>
        <p:txBody>
          <a:bodyPr/>
          <a:lstStyle/>
          <a:p>
            <a:pPr marL="0" indent="0">
              <a:buNone/>
            </a:pPr>
            <a:r>
              <a:rPr lang="zh-CN" altLang="en-US" sz="1800" dirty="0"/>
              <a:t>好，我们怎么学呢？</a:t>
            </a:r>
          </a:p>
          <a:p>
            <a:pPr marL="0" indent="0">
              <a:buNone/>
            </a:pPr>
            <a:r>
              <a:rPr lang="zh-CN" altLang="en-US" sz="1800" dirty="0"/>
              <a:t>当时世界上至少有两种教育理念。一个是前苏联社会学家维果斯基提出的“最近发展区”理论。另一个是西方提出的“自然成熟说”。</a:t>
            </a:r>
          </a:p>
          <a:p>
            <a:pPr marL="0" indent="0">
              <a:buNone/>
            </a:pPr>
            <a:r>
              <a:rPr lang="zh-CN" altLang="en-US" sz="1800" dirty="0"/>
              <a:t>“最近发展区”是什么意思呢？</a:t>
            </a:r>
          </a:p>
          <a:p>
            <a:pPr marL="0" indent="0">
              <a:buNone/>
            </a:pPr>
            <a:r>
              <a:rPr lang="zh-CN" altLang="en-US" sz="1800" dirty="0"/>
              <a:t>其实简单地讲，就是在儿童通常某个年龄情况下，将正常的学习难度提高一点。</a:t>
            </a:r>
          </a:p>
          <a:p>
            <a:pPr marL="0" indent="0">
              <a:buNone/>
            </a:pPr>
            <a:r>
              <a:rPr lang="zh-CN" altLang="en-US" sz="1800" dirty="0"/>
              <a:t>比如说，一个孩子</a:t>
            </a:r>
            <a:r>
              <a:rPr lang="en-US" altLang="zh-CN" sz="1800" dirty="0"/>
              <a:t>7</a:t>
            </a:r>
            <a:r>
              <a:rPr lang="zh-CN" altLang="en-US" sz="1800" dirty="0"/>
              <a:t>岁，他应该会</a:t>
            </a:r>
            <a:r>
              <a:rPr lang="en-US" altLang="zh-CN" sz="1800" dirty="0"/>
              <a:t>10</a:t>
            </a:r>
            <a:r>
              <a:rPr lang="zh-CN" altLang="en-US" sz="1800" dirty="0"/>
              <a:t>以内的加减法，那么就将学习难度提高到，让他去学</a:t>
            </a:r>
            <a:r>
              <a:rPr lang="en-US" altLang="zh-CN" sz="1800" dirty="0"/>
              <a:t>20</a:t>
            </a:r>
            <a:r>
              <a:rPr lang="zh-CN" altLang="en-US" sz="1800" dirty="0"/>
              <a:t>以内的加减法。这样提高一些难度的教育方法，有它一定的好处，从某种角度上讲，可以提高孩子学习的积极性。</a:t>
            </a:r>
          </a:p>
          <a:p>
            <a:pPr marL="0" indent="0">
              <a:buNone/>
            </a:pPr>
            <a:r>
              <a:rPr lang="zh-CN" altLang="en-US" sz="1800" dirty="0"/>
              <a:t>人总是喜欢挑战一些适当难度的问题，对不对？</a:t>
            </a:r>
          </a:p>
          <a:p>
            <a:pPr marL="0" indent="0">
              <a:buNone/>
            </a:pPr>
            <a:r>
              <a:rPr lang="zh-CN" altLang="en-US" sz="1800" dirty="0"/>
              <a:t>我们国家就是采用的这个学说。</a:t>
            </a:r>
          </a:p>
          <a:p>
            <a:pPr marL="0" indent="0">
              <a:buNone/>
            </a:pPr>
            <a:r>
              <a:rPr lang="zh-CN" altLang="en-US" sz="1800" dirty="0"/>
              <a:t>至于另一个西方的“自然成熟说”理论，也有其道理，他们认为要让孩子的大脑成熟到一定程度，才适合学习相应难度的东西。</a:t>
            </a:r>
          </a:p>
        </p:txBody>
      </p:sp>
    </p:spTree>
    <p:extLst>
      <p:ext uri="{BB962C8B-B14F-4D97-AF65-F5344CB8AC3E}">
        <p14:creationId xmlns:p14="http://schemas.microsoft.com/office/powerpoint/2010/main" val="11658280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32A584-2B92-7ABF-B79F-F210BB8CD9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C2CA7BE-D398-D7F6-98A7-4A128F4ECE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教育历史变化及当下教育真相（五）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23C810A-8008-AED6-6082-9A74846E0E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985963"/>
            <a:ext cx="11155680" cy="4359973"/>
          </a:xfrm>
        </p:spPr>
        <p:txBody>
          <a:bodyPr/>
          <a:lstStyle/>
          <a:p>
            <a:pPr marL="0" indent="0">
              <a:buNone/>
            </a:pPr>
            <a:r>
              <a:rPr lang="zh-CN" altLang="en-US" sz="1800" dirty="0"/>
              <a:t>这两种理论无关谁对谁错，关键要看你怎么用。</a:t>
            </a:r>
          </a:p>
          <a:p>
            <a:pPr marL="0" indent="0">
              <a:buNone/>
            </a:pPr>
            <a:r>
              <a:rPr lang="zh-CN" altLang="en-US" sz="1800" dirty="0"/>
              <a:t>因为前者是建立在群体集体的角度去看问题的，而后者是个体角度。</a:t>
            </a:r>
          </a:p>
          <a:p>
            <a:pPr marL="0" indent="0">
              <a:buNone/>
            </a:pPr>
            <a:r>
              <a:rPr lang="zh-CN" altLang="en-US" sz="1800" dirty="0"/>
              <a:t>我们国家就是采用前者的教育理念。所以大家就应该明白，为什么所有的小朋友都要学习一样的东西，而且难度大家都一样。如果谁没跟上，那么只能说某个个体成长得慢了一些。</a:t>
            </a:r>
            <a:endParaRPr lang="en-US" altLang="zh-CN" sz="1800" dirty="0"/>
          </a:p>
          <a:p>
            <a:pPr marL="0" indent="0">
              <a:buNone/>
            </a:pPr>
            <a:endParaRPr lang="zh-CN" altLang="en-US" sz="1800" dirty="0"/>
          </a:p>
          <a:p>
            <a:pPr marL="0" indent="0">
              <a:buNone/>
            </a:pPr>
            <a:r>
              <a:rPr lang="zh-CN" altLang="en-US" sz="1800" dirty="0"/>
              <a:t>不过这是以前，最初我们的中小学教育还算可以。大家都是那个时候过来的，应该有所体会。但是现在问题起了变化。</a:t>
            </a:r>
          </a:p>
          <a:p>
            <a:pPr marL="0" indent="0">
              <a:buNone/>
            </a:pPr>
            <a:r>
              <a:rPr lang="zh-CN" altLang="en-US" sz="1800" dirty="0"/>
              <a:t>每年的中小学课程难度增加得很多，大部分孩子已经不适合学习了，变得自信也被打击。</a:t>
            </a:r>
          </a:p>
          <a:p>
            <a:pPr marL="0" indent="0">
              <a:buNone/>
            </a:pPr>
            <a:r>
              <a:rPr lang="zh-CN" altLang="en-US" sz="1800" dirty="0"/>
              <a:t>为什么会这样呢？为什么会大幅增加难度呢？大家都学好不行吗？</a:t>
            </a:r>
          </a:p>
          <a:p>
            <a:pPr marL="0" indent="0">
              <a:buNone/>
            </a:pPr>
            <a:r>
              <a:rPr lang="zh-CN" altLang="en-US" sz="1800" dirty="0"/>
              <a:t>为了解释这个问题，除了我们要知道前面说的“最近发展区”理论之外，我们还要结合当下时代发展的背景。</a:t>
            </a:r>
          </a:p>
        </p:txBody>
      </p:sp>
    </p:spTree>
    <p:extLst>
      <p:ext uri="{BB962C8B-B14F-4D97-AF65-F5344CB8AC3E}">
        <p14:creationId xmlns:p14="http://schemas.microsoft.com/office/powerpoint/2010/main" val="16887650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3F7E17-0C8F-B187-F28D-D0D6E2A4BD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E427952-518A-FB34-9F34-EBB45287A4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教育历史变化及当下教育真相（六）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0572A0C-8083-5C10-1057-F2782FA17B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728789"/>
            <a:ext cx="11155680" cy="4986336"/>
          </a:xfrm>
        </p:spPr>
        <p:txBody>
          <a:bodyPr/>
          <a:lstStyle/>
          <a:p>
            <a:pPr marL="0" indent="0">
              <a:buNone/>
            </a:pPr>
            <a:r>
              <a:rPr lang="zh-CN" altLang="en-US" sz="1800" dirty="0"/>
              <a:t>**好，我们将时间线，再拉回到改革开放初期。**</a:t>
            </a:r>
          </a:p>
          <a:p>
            <a:pPr marL="0" indent="0">
              <a:buNone/>
            </a:pPr>
            <a:r>
              <a:rPr lang="zh-CN" altLang="en-US" sz="1800" dirty="0"/>
              <a:t>就是我们当时学的是什么的问题。我们学的是什么？</a:t>
            </a:r>
          </a:p>
          <a:p>
            <a:pPr marL="0" indent="0">
              <a:buNone/>
            </a:pPr>
            <a:r>
              <a:rPr lang="zh-CN" altLang="en-US" sz="1800" dirty="0"/>
              <a:t>有一句话：学好数理化，走遍开下都不怕。</a:t>
            </a:r>
          </a:p>
          <a:p>
            <a:pPr marL="0" indent="0">
              <a:buNone/>
            </a:pPr>
            <a:r>
              <a:rPr lang="zh-CN" altLang="en-US" sz="1800" dirty="0"/>
              <a:t>没错，就是我们最缺的工业文明的知识。我们从那时起，就渴望着知识，实际上是这些工业知识。</a:t>
            </a:r>
          </a:p>
          <a:p>
            <a:pPr marL="0" indent="0">
              <a:buNone/>
            </a:pPr>
            <a:r>
              <a:rPr lang="zh-CN" altLang="en-US" sz="1800" dirty="0"/>
              <a:t>这些知识的特点就是，都是西方资本主义国家现成的，</a:t>
            </a:r>
            <a:r>
              <a:rPr lang="en-US" altLang="zh-CN" sz="1800" dirty="0"/>
              <a:t>200</a:t>
            </a:r>
            <a:r>
              <a:rPr lang="zh-CN" altLang="en-US" sz="1800" dirty="0"/>
              <a:t>多年的历史，有的你学了。</a:t>
            </a:r>
          </a:p>
          <a:p>
            <a:pPr marL="0" indent="0">
              <a:buNone/>
            </a:pPr>
            <a:r>
              <a:rPr lang="zh-CN" altLang="en-US" sz="1800" dirty="0"/>
              <a:t>怎么学呢？</a:t>
            </a:r>
          </a:p>
          <a:p>
            <a:pPr marL="0" indent="0">
              <a:buNone/>
            </a:pPr>
            <a:r>
              <a:rPr lang="zh-CN" altLang="en-US" sz="1800" dirty="0"/>
              <a:t>直接抄直接背，最后直接拿来用，对不对？</a:t>
            </a:r>
          </a:p>
          <a:p>
            <a:pPr marL="0" indent="0">
              <a:buNone/>
            </a:pPr>
            <a:r>
              <a:rPr lang="zh-CN" altLang="en-US" sz="1800" dirty="0"/>
              <a:t>非常好使，中国人又聪明，用了</a:t>
            </a:r>
            <a:r>
              <a:rPr lang="en-US" altLang="zh-CN" sz="1800" dirty="0"/>
              <a:t>20</a:t>
            </a:r>
            <a:r>
              <a:rPr lang="zh-CN" altLang="en-US" sz="1800" dirty="0"/>
              <a:t>年的时间，基本已经学完了，抄完了。</a:t>
            </a:r>
          </a:p>
          <a:p>
            <a:pPr marL="0" indent="0">
              <a:buNone/>
            </a:pPr>
            <a:r>
              <a:rPr lang="zh-CN" altLang="en-US" sz="1800" dirty="0"/>
              <a:t>我称之为创造“复制型”人才，就是小镇做题家形的人才。过去，你学个什么都行，文凭学历或技术随便拿，你就有口饭吃，日子过得还不错。</a:t>
            </a:r>
          </a:p>
          <a:p>
            <a:pPr marL="0" indent="0">
              <a:buNone/>
            </a:pPr>
            <a:r>
              <a:rPr lang="zh-CN" altLang="en-US" sz="1800" dirty="0"/>
              <a:t>因为国家大量的需要你这样的人才。</a:t>
            </a:r>
          </a:p>
        </p:txBody>
      </p:sp>
    </p:spTree>
    <p:extLst>
      <p:ext uri="{BB962C8B-B14F-4D97-AF65-F5344CB8AC3E}">
        <p14:creationId xmlns:p14="http://schemas.microsoft.com/office/powerpoint/2010/main" val="33460541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A3BF7D-3465-5246-AD2F-CEAE8F1FC9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A53EBCE-D296-4342-8C53-50127BC58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教育历史变化及当下教育真相（七）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62E9686-BC21-8378-6211-F8780A6DB6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943100"/>
            <a:ext cx="11155680" cy="4700588"/>
          </a:xfrm>
        </p:spPr>
        <p:txBody>
          <a:bodyPr/>
          <a:lstStyle/>
          <a:p>
            <a:pPr marL="0" indent="0">
              <a:buNone/>
            </a:pPr>
            <a:r>
              <a:rPr lang="zh-CN" altLang="en-US" dirty="0"/>
              <a:t>然后，你再看现在，我们还学什么？</a:t>
            </a:r>
            <a:endParaRPr lang="en-US" altLang="zh-CN" dirty="0"/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基本上没有太多的东西让我们学了，因为很多领域我们都已经超过了西方。</a:t>
            </a:r>
            <a:endParaRPr lang="en-US" altLang="zh-CN" dirty="0"/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进入后工业时代，只能是我们自己创造新的知识了。</a:t>
            </a: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所以我们大家就应该知道一个事实，我们现在孩子们学的东西，不管是小学中学还是大学，</a:t>
            </a:r>
            <a:r>
              <a:rPr lang="en-US" altLang="zh-CN" dirty="0"/>
              <a:t>90%</a:t>
            </a:r>
            <a:r>
              <a:rPr lang="zh-CN" altLang="en-US" dirty="0"/>
              <a:t>以上都是前工业时代的陈旧知识，在新的</a:t>
            </a:r>
            <a:r>
              <a:rPr lang="en-US" altLang="zh-CN" dirty="0"/>
              <a:t>AI</a:t>
            </a:r>
            <a:r>
              <a:rPr lang="zh-CN" altLang="en-US" dirty="0"/>
              <a:t>时代，是没有价值的。</a:t>
            </a:r>
          </a:p>
          <a:p>
            <a:pPr marL="0" indent="0">
              <a:buNone/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2512781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F316C8-EC5E-4C39-C987-530273286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ADE6D88-1303-4D2E-E284-B11D803CDC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教育历史变化及当下教育真相（八）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3FB239B-F1DC-CD79-35A3-44A301C63E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814513"/>
            <a:ext cx="11155680" cy="4829175"/>
          </a:xfrm>
        </p:spPr>
        <p:txBody>
          <a:bodyPr/>
          <a:lstStyle/>
          <a:p>
            <a:pPr marL="0" indent="0">
              <a:buNone/>
            </a:pPr>
            <a:r>
              <a:rPr lang="zh-CN" altLang="en-US" sz="1800" dirty="0"/>
              <a:t>为什么我们家长会疑惑，现在考个大学，学那么多东西，越来越没用了呢？</a:t>
            </a:r>
          </a:p>
          <a:p>
            <a:pPr marL="0" indent="0">
              <a:buNone/>
            </a:pPr>
            <a:r>
              <a:rPr lang="zh-CN" altLang="en-US" sz="1800" dirty="0"/>
              <a:t>因为过去是“复制型”人才的培养模式，而现在，不是了。</a:t>
            </a:r>
          </a:p>
          <a:p>
            <a:pPr marL="0" indent="0">
              <a:buNone/>
            </a:pPr>
            <a:r>
              <a:rPr lang="zh-CN" altLang="en-US" sz="1800" dirty="0"/>
              <a:t>国家希望找到那个真正聪明的，有创新能力的人才。怎么办呢？增加高考难度，增加考题的灵活性。</a:t>
            </a:r>
          </a:p>
          <a:p>
            <a:pPr marL="0" indent="0">
              <a:buNone/>
            </a:pPr>
            <a:r>
              <a:rPr lang="zh-CN" altLang="en-US" sz="1800" dirty="0"/>
              <a:t>所以你会发现，为什么现在孩子们学的东西都是非常灵活的，不再是过去的死知识。</a:t>
            </a:r>
          </a:p>
          <a:p>
            <a:pPr marL="0" indent="0">
              <a:buNone/>
            </a:pPr>
            <a:r>
              <a:rPr lang="zh-CN" altLang="en-US" sz="1800" dirty="0"/>
              <a:t>所以网上那些叫嚷着要恢复</a:t>
            </a:r>
            <a:r>
              <a:rPr lang="en-US" altLang="zh-CN" sz="1800" dirty="0"/>
              <a:t>80</a:t>
            </a:r>
            <a:r>
              <a:rPr lang="zh-CN" altLang="en-US" sz="1800" dirty="0"/>
              <a:t>后的教材的视频，你们还觉得对吗？</a:t>
            </a:r>
          </a:p>
          <a:p>
            <a:pPr marL="0" indent="0">
              <a:buNone/>
            </a:pPr>
            <a:r>
              <a:rPr lang="zh-CN" altLang="en-US" sz="1800" dirty="0"/>
              <a:t>这些自媒体只是迎合了大众的心理，炒流量罢了，没人会真的懂这里面的本质，更不会有人告诉你真相。所以国家为什么要双减？因为绝大多数的孩子，不是他不聪明，更不是他笨，不是智商低，你别误会了你的孩子。而是在这种选拔机制下，国家要的是那极少的真正人才。</a:t>
            </a:r>
          </a:p>
          <a:p>
            <a:pPr marL="0" indent="0">
              <a:buNone/>
            </a:pPr>
            <a:r>
              <a:rPr lang="zh-CN" altLang="en-US" sz="1800" dirty="0"/>
              <a:t>作为普通的娃来说，没必要卷。因为再卷，国家也不好筛选人才，你还累，没有意义。</a:t>
            </a:r>
          </a:p>
          <a:p>
            <a:pPr marL="0" indent="0">
              <a:buNone/>
            </a:pPr>
            <a:r>
              <a:rPr lang="zh-CN" altLang="en-US" sz="1800" dirty="0"/>
              <a:t>所以现在的教育改革主流方向，就是让孩子们更轻松些，但学习难度却上了层次。</a:t>
            </a:r>
          </a:p>
          <a:p>
            <a:pPr marL="0" indent="0">
              <a:buNone/>
            </a:pPr>
            <a:r>
              <a:rPr lang="zh-CN" altLang="en-US" sz="1800" dirty="0"/>
              <a:t>这才是真相，你现在明白了吗？如果还执意要卷，那么大概率会导致孩子的心理健康问题。</a:t>
            </a:r>
          </a:p>
        </p:txBody>
      </p:sp>
    </p:spTree>
    <p:extLst>
      <p:ext uri="{BB962C8B-B14F-4D97-AF65-F5344CB8AC3E}">
        <p14:creationId xmlns:p14="http://schemas.microsoft.com/office/powerpoint/2010/main" val="32297342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AA0962-7BA6-B5AE-1309-7996B76C1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FB89DF6-B589-8138-8F97-EBB94EFFD6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教育历史变化及当下教育真相（九）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DB64FB12-5BF2-8BD1-DB99-E555CA62F5C7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21208" y="2261670"/>
            <a:ext cx="11149584" cy="440120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zh-CN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Open Sans" panose="020B0606030504020204" pitchFamily="34" charset="0"/>
                <a:cs typeface="Open Sans" panose="020B0606030504020204" pitchFamily="34" charset="0"/>
              </a:rPr>
              <a:t>怎么办呢？</a:t>
            </a:r>
            <a:endParaRPr kumimoji="0" lang="zh-CN" altLang="zh-CN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zh-CN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Open Sans" panose="020B0606030504020204" pitchFamily="34" charset="0"/>
                <a:cs typeface="Open Sans" panose="020B0606030504020204" pitchFamily="34" charset="0"/>
              </a:rPr>
              <a:t>增加高考难度，增加考题的灵活性。</a:t>
            </a:r>
            <a:endParaRPr kumimoji="0" lang="zh-CN" altLang="zh-CN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zh-CN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Open Sans" panose="020B0606030504020204" pitchFamily="34" charset="0"/>
                <a:cs typeface="Open Sans" panose="020B0606030504020204" pitchFamily="34" charset="0"/>
              </a:rPr>
              <a:t>所以你会发现，为什么现在孩子们学的东西都是非常灵活的，不再是过去的死知识。</a:t>
            </a:r>
            <a:endParaRPr kumimoji="0" lang="zh-CN" altLang="zh-CN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zh-CN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Open Sans" panose="020B0606030504020204" pitchFamily="34" charset="0"/>
                <a:cs typeface="Open Sans" panose="020B0606030504020204" pitchFamily="34" charset="0"/>
              </a:rPr>
              <a:t>所以网上那些叫嚷着要恢复80后的教材的视频，你们还觉得对吗？</a:t>
            </a:r>
            <a:endParaRPr kumimoji="0" lang="zh-CN" altLang="zh-CN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zh-CN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Open Sans" panose="020B0606030504020204" pitchFamily="34" charset="0"/>
                <a:cs typeface="Open Sans" panose="020B0606030504020204" pitchFamily="34" charset="0"/>
              </a:rPr>
              <a:t>这些自媒体只是迎合了大众的心理，炒流量罢了，没人会真的懂这里面的本质，更不会有人告诉你真相。</a:t>
            </a:r>
            <a:endParaRPr kumimoji="0" lang="zh-CN" altLang="zh-CN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zh-CN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Open Sans" panose="020B0606030504020204" pitchFamily="34" charset="0"/>
                <a:cs typeface="Open Sans" panose="020B0606030504020204" pitchFamily="34" charset="0"/>
              </a:rPr>
              <a:t>所以国家为什么要双减？</a:t>
            </a:r>
            <a:endParaRPr kumimoji="0" lang="zh-CN" altLang="zh-CN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zh-CN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Open Sans" panose="020B0606030504020204" pitchFamily="34" charset="0"/>
                <a:cs typeface="Open Sans" panose="020B0606030504020204" pitchFamily="34" charset="0"/>
              </a:rPr>
              <a:t>因为绝大多数的孩子，不是他不聪明，更不是他笨，不是智商低，你别误会了你的孩子。</a:t>
            </a:r>
            <a:endParaRPr kumimoji="0" lang="zh-CN" altLang="zh-CN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zh-CN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Open Sans" panose="020B0606030504020204" pitchFamily="34" charset="0"/>
                <a:cs typeface="Open Sans" panose="020B0606030504020204" pitchFamily="34" charset="0"/>
              </a:rPr>
              <a:t>而是在这种选拔机制下，国家要的是那极少的真正人才。</a:t>
            </a:r>
            <a:endParaRPr kumimoji="0" lang="zh-CN" altLang="zh-CN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zh-CN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Open Sans" panose="020B0606030504020204" pitchFamily="34" charset="0"/>
                <a:cs typeface="Open Sans" panose="020B0606030504020204" pitchFamily="34" charset="0"/>
              </a:rPr>
              <a:t>作为普通的娃来说，没必要卷。</a:t>
            </a:r>
            <a:endParaRPr kumimoji="0" lang="zh-CN" altLang="zh-CN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zh-CN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Open Sans" panose="020B0606030504020204" pitchFamily="34" charset="0"/>
                <a:cs typeface="Open Sans" panose="020B0606030504020204" pitchFamily="34" charset="0"/>
              </a:rPr>
              <a:t>因为再卷，国家也不好筛选人才，你还累，没有意义。</a:t>
            </a:r>
            <a:endParaRPr kumimoji="0" lang="zh-CN" altLang="zh-CN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zh-CN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Open Sans" panose="020B0606030504020204" pitchFamily="34" charset="0"/>
                <a:cs typeface="Open Sans" panose="020B0606030504020204" pitchFamily="34" charset="0"/>
              </a:rPr>
              <a:t>所以现在的教育改革主流方向，就是让孩子们更轻松些，但学习难度却上了层次。</a:t>
            </a:r>
            <a:endParaRPr kumimoji="0" lang="zh-CN" altLang="zh-CN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zh-CN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Open Sans" panose="020B0606030504020204" pitchFamily="34" charset="0"/>
                <a:cs typeface="Open Sans" panose="020B0606030504020204" pitchFamily="34" charset="0"/>
              </a:rPr>
              <a:t>这才是真相，你现在明白了吗？</a:t>
            </a:r>
            <a:endParaRPr kumimoji="0" lang="zh-CN" altLang="zh-CN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altLang="zh-CN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Open Sans" panose="020B0606030504020204" pitchFamily="34" charset="0"/>
                <a:cs typeface="Open Sans" panose="020B0606030504020204" pitchFamily="34" charset="0"/>
              </a:rPr>
              <a:t>如果还执意要卷，那么大概率会导致孩子的心理健康问题。</a:t>
            </a:r>
            <a:endParaRPr kumimoji="0" lang="zh-CN" altLang="zh-CN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5334005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901BA68-6B1B-AF59-B23D-0416B40CDC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爱和原生家庭之谬误（一）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E3007E6-79D0-4B2B-91D3-13F2A84803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971675"/>
            <a:ext cx="11155680" cy="4374261"/>
          </a:xfrm>
        </p:spPr>
        <p:txBody>
          <a:bodyPr/>
          <a:lstStyle/>
          <a:p>
            <a:pPr marL="0" indent="0">
              <a:buNone/>
            </a:pPr>
            <a:r>
              <a:rPr lang="zh-CN" altLang="en-US" sz="1800" dirty="0"/>
              <a:t>客体关系流派和自体心理学。</a:t>
            </a:r>
          </a:p>
          <a:p>
            <a:pPr marL="0" indent="0">
              <a:buNone/>
            </a:pPr>
            <a:r>
              <a:rPr lang="zh-CN" altLang="en-US" sz="1800" dirty="0"/>
              <a:t>客体关系是指母婴关系，研究人员发现没有处理母婴关系，比如母亲对婴儿的照料不够等等，会导致婴儿出现问题，比如说自卑。</a:t>
            </a:r>
          </a:p>
          <a:p>
            <a:pPr marL="0" indent="0">
              <a:buNone/>
            </a:pPr>
            <a:r>
              <a:rPr lang="zh-CN" altLang="en-US" sz="1800" dirty="0"/>
              <a:t>自体心理学也有类似的发现，只不过是指婴儿自已，就像照镜子一样看自已，如果过度自卑，或过度自恋，都会产生问题。</a:t>
            </a:r>
          </a:p>
          <a:p>
            <a:pPr marL="0" indent="0">
              <a:buNone/>
            </a:pPr>
            <a:r>
              <a:rPr lang="zh-CN" altLang="en-US" sz="1800" dirty="0"/>
              <a:t>但是不管是前者，还是后者，研究对象都是在</a:t>
            </a:r>
            <a:r>
              <a:rPr lang="en-US" altLang="zh-CN" sz="1800" dirty="0"/>
              <a:t>3</a:t>
            </a:r>
            <a:r>
              <a:rPr lang="zh-CN" altLang="en-US" sz="1800" dirty="0"/>
              <a:t>岁以内的，有些书上可能写</a:t>
            </a:r>
            <a:r>
              <a:rPr lang="en-US" altLang="zh-CN" sz="1800" dirty="0"/>
              <a:t>5</a:t>
            </a:r>
            <a:r>
              <a:rPr lang="zh-CN" altLang="en-US" sz="1800" dirty="0"/>
              <a:t>岁，最多</a:t>
            </a:r>
            <a:r>
              <a:rPr lang="en-US" altLang="zh-CN" sz="1800" dirty="0"/>
              <a:t>7</a:t>
            </a:r>
            <a:r>
              <a:rPr lang="zh-CN" altLang="en-US" sz="1800" dirty="0"/>
              <a:t>岁之前。</a:t>
            </a:r>
          </a:p>
          <a:p>
            <a:pPr marL="0" indent="0">
              <a:buNone/>
            </a:pPr>
            <a:r>
              <a:rPr lang="zh-CN" altLang="en-US" sz="1800" dirty="0"/>
              <a:t>实际上这些都是指孩子非常小的时候，需要母亲照顾的时候。</a:t>
            </a:r>
          </a:p>
          <a:p>
            <a:pPr marL="0" indent="0">
              <a:buNone/>
            </a:pPr>
            <a:r>
              <a:rPr lang="zh-CN" altLang="en-US" sz="1800" dirty="0"/>
              <a:t>这个母亲，并不一定是生理上的母亲，也可以是其他任何监护人，这里指的是母亲角色。</a:t>
            </a:r>
          </a:p>
          <a:p>
            <a:pPr marL="0" indent="0">
              <a:buNone/>
            </a:pPr>
            <a:r>
              <a:rPr lang="zh-CN" altLang="en-US" sz="1800" dirty="0"/>
              <a:t>比如有的孩子是奶奶照顾的，奶奶就是担任这个孩子的母亲角色。</a:t>
            </a:r>
          </a:p>
          <a:p>
            <a:pPr marL="0" indent="0">
              <a:buNone/>
            </a:pPr>
            <a:r>
              <a:rPr lang="zh-CN" altLang="en-US" sz="1800" dirty="0"/>
              <a:t>因此我们说，市面上讲的什么原生家庭之类的理论，或是其他的说法，他们都是照搬这些理论，但是却没有告诉你，其实那是指孩子</a:t>
            </a:r>
            <a:r>
              <a:rPr lang="en-US" altLang="zh-CN" sz="1800" dirty="0"/>
              <a:t>3</a:t>
            </a:r>
            <a:r>
              <a:rPr lang="zh-CN" altLang="en-US" sz="1800" dirty="0"/>
              <a:t>岁之前的事。</a:t>
            </a:r>
          </a:p>
          <a:p>
            <a:pPr marL="0" indent="0">
              <a:buNone/>
            </a:pPr>
            <a:endParaRPr lang="zh-CN" altLang="en-US" sz="1800" dirty="0"/>
          </a:p>
          <a:p>
            <a:pPr marL="0" indent="0">
              <a:buNone/>
            </a:pPr>
            <a:endParaRPr lang="zh-CN" altLang="en-US" sz="1800" dirty="0"/>
          </a:p>
          <a:p>
            <a:pPr marL="0" indent="0">
              <a:buNone/>
            </a:pPr>
            <a:endParaRPr lang="zh-CN" altLang="en-US" sz="1800" dirty="0"/>
          </a:p>
        </p:txBody>
      </p:sp>
    </p:spTree>
    <p:extLst>
      <p:ext uri="{BB962C8B-B14F-4D97-AF65-F5344CB8AC3E}">
        <p14:creationId xmlns:p14="http://schemas.microsoft.com/office/powerpoint/2010/main" val="23050074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6FDF46-CA7C-99C2-4819-18D8272ADA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04A3D58-5032-1763-F049-420B95E811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爱和原生家庭之谬误（二）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A8728F5-5D84-4F35-07F2-10B25CD64F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那么有人就说了，给孩子爱总没有错吧？</a:t>
            </a:r>
          </a:p>
          <a:p>
            <a:pPr marL="0" indent="0">
              <a:buNone/>
            </a:pPr>
            <a:r>
              <a:rPr lang="zh-CN" altLang="en-US" dirty="0"/>
              <a:t>实际上前面也说了，在孩子</a:t>
            </a:r>
            <a:r>
              <a:rPr lang="en-US" altLang="zh-CN" dirty="0"/>
              <a:t>3</a:t>
            </a:r>
            <a:r>
              <a:rPr lang="zh-CN" altLang="en-US" dirty="0"/>
              <a:t>岁之前，要确保对孩子的照料要到位，给的爱只要保证其拥有一定的安全感即可。</a:t>
            </a:r>
          </a:p>
          <a:p>
            <a:pPr marL="0" indent="0">
              <a:buNone/>
            </a:pPr>
            <a:r>
              <a:rPr lang="zh-CN" altLang="en-US" dirty="0"/>
              <a:t>但是</a:t>
            </a:r>
            <a:r>
              <a:rPr lang="en-US" altLang="zh-CN" dirty="0"/>
              <a:t>3</a:t>
            </a:r>
            <a:r>
              <a:rPr lang="zh-CN" altLang="en-US" dirty="0"/>
              <a:t>岁之后，我们就不能再谈爱了。</a:t>
            </a:r>
          </a:p>
          <a:p>
            <a:pPr marL="0" indent="0">
              <a:buNone/>
            </a:pPr>
            <a:r>
              <a:rPr lang="zh-CN" altLang="en-US" dirty="0"/>
              <a:t>并不是说不给孩子爱，而是要适当地给爱，甚至可以不给爱。</a:t>
            </a:r>
          </a:p>
          <a:p>
            <a:pPr marL="0" indent="0">
              <a:buNone/>
            </a:pP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为什么呢？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87347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82C5D8-DB12-0778-E1BB-D079B8311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3999F55-9BBF-7666-2DAD-9D97104984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爱和原生家庭之谬误（三）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A999739-E115-5B61-02BE-D218DA78F7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814513"/>
            <a:ext cx="11155680" cy="4914900"/>
          </a:xfrm>
        </p:spPr>
        <p:txBody>
          <a:bodyPr/>
          <a:lstStyle/>
          <a:p>
            <a:pPr marL="0" indent="0">
              <a:buNone/>
            </a:pPr>
            <a:r>
              <a:rPr lang="zh-CN" altLang="en-US" sz="1800" dirty="0"/>
              <a:t>我们要知道，人是一种社群生物。人类是以社会群体这样的形式生存在这个世界上的。</a:t>
            </a:r>
          </a:p>
          <a:p>
            <a:pPr marL="0" indent="0">
              <a:buNone/>
            </a:pPr>
            <a:r>
              <a:rPr lang="zh-CN" altLang="en-US" sz="1800" dirty="0"/>
              <a:t>因此，人最终是要进入社会的。</a:t>
            </a:r>
          </a:p>
          <a:p>
            <a:pPr marL="0" indent="0">
              <a:buNone/>
            </a:pPr>
            <a:r>
              <a:rPr lang="zh-CN" altLang="en-US" sz="1800" dirty="0"/>
              <a:t>孩子在</a:t>
            </a:r>
            <a:r>
              <a:rPr lang="en-US" altLang="zh-CN" sz="1800" dirty="0"/>
              <a:t>3</a:t>
            </a:r>
            <a:r>
              <a:rPr lang="zh-CN" altLang="en-US" sz="1800" dirty="0"/>
              <a:t>岁之后，就已经开始进入社会了。</a:t>
            </a:r>
            <a:r>
              <a:rPr lang="en-US" altLang="zh-CN" sz="1800" dirty="0"/>
              <a:t>3</a:t>
            </a:r>
            <a:r>
              <a:rPr lang="zh-CN" altLang="en-US" sz="1800" dirty="0"/>
              <a:t>岁之后，孩子会上幼儿园，这时他就会接触到家庭以外的人，老师和其他小朋友。</a:t>
            </a:r>
          </a:p>
          <a:p>
            <a:pPr marL="0" indent="0">
              <a:buNone/>
            </a:pPr>
            <a:r>
              <a:rPr lang="zh-CN" altLang="en-US" sz="1800" dirty="0"/>
              <a:t>这个时候，对于孩子来说，家庭父母的影响就会慢慢减少，家庭外的人对他的影响就会慢慢变大。</a:t>
            </a:r>
          </a:p>
          <a:p>
            <a:pPr marL="0" indent="0">
              <a:buNone/>
            </a:pPr>
            <a:r>
              <a:rPr lang="zh-CN" altLang="en-US" sz="1800" dirty="0"/>
              <a:t>在解决好安全感问题之后，孩子就会尝试走向家庭外。</a:t>
            </a:r>
          </a:p>
          <a:p>
            <a:pPr marL="0" indent="0">
              <a:buNone/>
            </a:pPr>
            <a:r>
              <a:rPr lang="zh-CN" altLang="en-US" sz="1800" dirty="0"/>
              <a:t>在这个过程中，越是在家庭中讲爱，越可能会给孩子帮倒忙。</a:t>
            </a:r>
          </a:p>
          <a:p>
            <a:pPr marL="0" indent="0">
              <a:buNone/>
            </a:pPr>
            <a:r>
              <a:rPr lang="zh-CN" altLang="en-US" sz="1800" dirty="0"/>
              <a:t>我们当家长的都有一个体会，就会孩子越大越不听自已的了。</a:t>
            </a:r>
          </a:p>
          <a:p>
            <a:pPr marL="0" indent="0">
              <a:buNone/>
            </a:pPr>
            <a:r>
              <a:rPr lang="zh-CN" altLang="en-US" sz="1800" dirty="0"/>
              <a:t>其实就是这个原因。</a:t>
            </a:r>
          </a:p>
          <a:p>
            <a:pPr marL="0" indent="0">
              <a:buNone/>
            </a:pPr>
            <a:r>
              <a:rPr lang="zh-CN" altLang="en-US" sz="1800" dirty="0"/>
              <a:t>因为人只会听群体的，不会听一个已经确认是安全环境下的人的话的。</a:t>
            </a:r>
          </a:p>
          <a:p>
            <a:pPr marL="0" indent="0">
              <a:buNone/>
            </a:pPr>
            <a:r>
              <a:rPr lang="zh-CN" altLang="en-US" sz="1800" dirty="0"/>
              <a:t>请记住，任何的社群生物，他都只会听从那个不安全环境下群体的话。</a:t>
            </a:r>
          </a:p>
          <a:p>
            <a:pPr marL="0" indent="0">
              <a:buNone/>
            </a:pPr>
            <a:endParaRPr lang="zh-CN" altLang="en-US" sz="1800" dirty="0"/>
          </a:p>
          <a:p>
            <a:pPr marL="0" indent="0">
              <a:buNone/>
            </a:pPr>
            <a:endParaRPr lang="zh-CN" altLang="en-US" sz="1800" dirty="0"/>
          </a:p>
          <a:p>
            <a:pPr marL="0" indent="0">
              <a:buNone/>
            </a:pPr>
            <a:endParaRPr lang="zh-CN" altLang="en-US" sz="1800" dirty="0"/>
          </a:p>
          <a:p>
            <a:pPr marL="0" indent="0">
              <a:buNone/>
            </a:pPr>
            <a:endParaRPr lang="zh-CN" altLang="en-US" sz="1800" dirty="0"/>
          </a:p>
          <a:p>
            <a:pPr marL="0" indent="0">
              <a:buNone/>
            </a:pPr>
            <a:endParaRPr lang="zh-CN" altLang="en-US" sz="1800" dirty="0"/>
          </a:p>
        </p:txBody>
      </p:sp>
    </p:spTree>
    <p:extLst>
      <p:ext uri="{BB962C8B-B14F-4D97-AF65-F5344CB8AC3E}">
        <p14:creationId xmlns:p14="http://schemas.microsoft.com/office/powerpoint/2010/main" val="241710044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B6EEA2-1726-44EB-37CE-24B2F5BF91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2F5A53B-F16F-A4B5-5791-ED3BF6F3E6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爱和原生家庭之谬误（四）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82AA319-B42F-1272-F357-507B15C2B9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你父母给孩子爱，爱得越多，越容易娇生惯养。</a:t>
            </a:r>
          </a:p>
          <a:p>
            <a:pPr marL="0" indent="0">
              <a:buNone/>
            </a:pPr>
            <a:r>
              <a:rPr lang="zh-CN" altLang="en-US" dirty="0"/>
              <a:t>道德经讲，反者道之动，弱者道之用。</a:t>
            </a:r>
          </a:p>
          <a:p>
            <a:pPr marL="0" indent="0">
              <a:buNone/>
            </a:pPr>
            <a:r>
              <a:rPr lang="zh-CN" altLang="en-US" dirty="0"/>
              <a:t>任何事物都是向其反方向发展的。</a:t>
            </a:r>
          </a:p>
          <a:p>
            <a:pPr marL="0" indent="0">
              <a:buNone/>
            </a:pPr>
            <a:r>
              <a:rPr lang="zh-CN" altLang="en-US" dirty="0"/>
              <a:t>你给孩子爱，只要一过度，那么他就会朝着反方向发展。</a:t>
            </a:r>
          </a:p>
          <a:p>
            <a:pPr marL="0" indent="0">
              <a:buNone/>
            </a:pPr>
            <a:r>
              <a:rPr lang="zh-CN" altLang="en-US" dirty="0"/>
              <a:t>古代就有恩生于害，害生于恩的老话。</a:t>
            </a:r>
          </a:p>
          <a:p>
            <a:pPr marL="0" indent="0">
              <a:buNone/>
            </a:pPr>
            <a:r>
              <a:rPr lang="zh-CN" altLang="en-US" dirty="0"/>
              <a:t>所以我们家长一定要懂这里的道理，一定要看清网络上说的，给孩子爱，孩子的爱不够，要完全接纳孩子，这类的谎言。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17013458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139177-37D5-90A6-EC1A-946CA9061A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066C51C-D4D7-FD3D-2639-0D33BF9BBA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爱和原生家庭之谬误（五）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3DF3C73-F789-327A-E144-E3556A3714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2000250"/>
            <a:ext cx="11155680" cy="4345686"/>
          </a:xfrm>
        </p:spPr>
        <p:txBody>
          <a:bodyPr/>
          <a:lstStyle/>
          <a:p>
            <a:pPr marL="0" indent="0">
              <a:buNone/>
            </a:pPr>
            <a:r>
              <a:rPr lang="zh-CN" altLang="en-US" dirty="0"/>
              <a:t>原生家庭的概念，它是一个不严谨不专业的词，在世界任何一本大学教材中都不存在。</a:t>
            </a:r>
          </a:p>
          <a:p>
            <a:pPr marL="0" indent="0">
              <a:buNone/>
            </a:pPr>
            <a:r>
              <a:rPr lang="zh-CN" altLang="en-US" dirty="0"/>
              <a:t>其实网络上流传的原生家庭概念，实际是指父母对待孩子的教养方式。</a:t>
            </a:r>
          </a:p>
          <a:p>
            <a:pPr marL="0" indent="0">
              <a:buNone/>
            </a:pPr>
            <a:r>
              <a:rPr lang="zh-CN" altLang="en-US" dirty="0"/>
              <a:t>当然后来又混合杂糅了家庭经济条件都乱七八糟的东西。</a:t>
            </a:r>
          </a:p>
          <a:p>
            <a:pPr marL="0" indent="0">
              <a:buNone/>
            </a:pPr>
            <a:r>
              <a:rPr lang="zh-CN" altLang="en-US" dirty="0"/>
              <a:t>实际上父母的教养方式，并不是我们必须刻意要关注的东西。</a:t>
            </a:r>
          </a:p>
          <a:p>
            <a:pPr marL="0" indent="0">
              <a:buNone/>
            </a:pPr>
            <a:r>
              <a:rPr lang="zh-CN" altLang="en-US" dirty="0"/>
              <a:t>什么意思呢？</a:t>
            </a:r>
          </a:p>
          <a:p>
            <a:pPr marL="0" indent="0">
              <a:buNone/>
            </a:pPr>
            <a:r>
              <a:rPr lang="zh-CN" altLang="en-US" dirty="0"/>
              <a:t>就是说，父母是采取打骂，还是温柔对待，都不是关键问题。</a:t>
            </a:r>
          </a:p>
          <a:p>
            <a:pPr marL="0" indent="0">
              <a:buNone/>
            </a:pPr>
            <a:r>
              <a:rPr lang="zh-CN" altLang="en-US" dirty="0"/>
              <a:t>这些形式不决定孩子一定会有所改变，或将来会按照你设想的方向发展。</a:t>
            </a:r>
          </a:p>
          <a:p>
            <a:pPr marL="0" indent="0">
              <a:buNone/>
            </a:pPr>
            <a:r>
              <a:rPr lang="zh-CN" altLang="en-US" dirty="0"/>
              <a:t>因为关键决定因素不是这些，而是另一个东西。</a:t>
            </a:r>
          </a:p>
          <a:p>
            <a:pPr marL="0" indent="0">
              <a:buNone/>
            </a:pPr>
            <a:r>
              <a:rPr lang="zh-CN" altLang="en-US" dirty="0"/>
              <a:t>这个东西，叫作社会环境影响。</a:t>
            </a:r>
          </a:p>
        </p:txBody>
      </p:sp>
    </p:spTree>
    <p:extLst>
      <p:ext uri="{BB962C8B-B14F-4D97-AF65-F5344CB8AC3E}">
        <p14:creationId xmlns:p14="http://schemas.microsoft.com/office/powerpoint/2010/main" val="239025372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926CEE7-6DEE-802E-9EB8-874101F50E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儿童青少年教育关键（一）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BD1E4F8-725F-2E33-C2EA-0F24968586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771651"/>
            <a:ext cx="11155680" cy="4574286"/>
          </a:xfrm>
        </p:spPr>
        <p:txBody>
          <a:bodyPr/>
          <a:lstStyle/>
          <a:p>
            <a:pPr marL="0" indent="0">
              <a:buNone/>
            </a:pPr>
            <a:r>
              <a:rPr lang="zh-CN" altLang="en-US" dirty="0"/>
              <a:t>我来给大家讲一些正规、严谨、科学、靠谱的教育和心理学知识。大家在网上是看不到的。网上</a:t>
            </a:r>
            <a:r>
              <a:rPr lang="en-US" altLang="zh-CN" dirty="0"/>
              <a:t>99%</a:t>
            </a:r>
            <a:r>
              <a:rPr lang="zh-CN" altLang="en-US" dirty="0"/>
              <a:t>都是假的。</a:t>
            </a: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上个世纪</a:t>
            </a:r>
            <a:r>
              <a:rPr lang="en-US" altLang="zh-CN" dirty="0"/>
              <a:t>60</a:t>
            </a:r>
            <a:r>
              <a:rPr lang="zh-CN" altLang="en-US" dirty="0"/>
              <a:t>年代，由于二战结束，世界各地产生了大量的孤儿。因此研究人员就有机会获得了大量的现成的实验样本。</a:t>
            </a:r>
          </a:p>
          <a:p>
            <a:pPr marL="0" indent="0">
              <a:buNone/>
            </a:pPr>
            <a:r>
              <a:rPr lang="zh-CN" altLang="en-US" dirty="0"/>
              <a:t>这些由战争产生的遗孤，有很多都是双胞胎，其中有不少同卵双胞胎。研究人员就研究观察这此孩子，看看这些孩子的成长到底是由什么因素影响。</a:t>
            </a:r>
          </a:p>
          <a:p>
            <a:pPr marL="0" indent="0">
              <a:buNone/>
            </a:pPr>
            <a:r>
              <a:rPr lang="zh-CN" altLang="en-US" dirty="0"/>
              <a:t>这些孩子数量巨大，有上百万之众，样本数量足够说明问题。这些孩子被分别寄养到不同的家庭中。数十年过去了，最终研究人员得出了惊人的结论。</a:t>
            </a:r>
          </a:p>
          <a:p>
            <a:pPr marL="0" indent="0">
              <a:buNone/>
            </a:pPr>
            <a:r>
              <a:rPr lang="zh-CN" altLang="en-US" dirty="0"/>
              <a:t>一个人，受到哪些因素影响呢？</a:t>
            </a: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一个是遗传基因，占</a:t>
            </a:r>
            <a:r>
              <a:rPr lang="en-US" altLang="zh-CN" dirty="0"/>
              <a:t>60%</a:t>
            </a:r>
            <a:r>
              <a:rPr lang="zh-CN" altLang="en-US" dirty="0"/>
              <a:t>，年纪大了后甚至占</a:t>
            </a:r>
            <a:r>
              <a:rPr lang="en-US" altLang="zh-CN" dirty="0"/>
              <a:t>80%</a:t>
            </a:r>
            <a:r>
              <a:rPr lang="zh-CN" altLang="en-US" dirty="0"/>
              <a:t>以上。二个是环境影响，占</a:t>
            </a:r>
            <a:r>
              <a:rPr lang="en-US" altLang="zh-CN" dirty="0"/>
              <a:t>35%</a:t>
            </a:r>
            <a:r>
              <a:rPr lang="zh-CN" altLang="en-US" dirty="0"/>
              <a:t>。剩下不到</a:t>
            </a:r>
            <a:r>
              <a:rPr lang="en-US" altLang="zh-CN" dirty="0"/>
              <a:t>5%</a:t>
            </a:r>
            <a:r>
              <a:rPr lang="zh-CN" altLang="en-US" dirty="0"/>
              <a:t>，是其他影响。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3619892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4C9217-8C65-5EEE-CDB0-34BF998767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CEF6739-EB1B-2D28-BF5C-AF11FC582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儿童青少年教育关键（二）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72E7B50-E775-E8D6-4912-2E2A172518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971675"/>
            <a:ext cx="11155680" cy="4374261"/>
          </a:xfrm>
        </p:spPr>
        <p:txBody>
          <a:bodyPr/>
          <a:lstStyle/>
          <a:p>
            <a:pPr marL="0" indent="0">
              <a:buNone/>
            </a:pPr>
            <a:r>
              <a:rPr lang="zh-CN" altLang="en-US" dirty="0"/>
              <a:t>即便是同卵双胞胎，在分别放到不同的家庭中，最后也会表现出非常相似非常接近的习惯和行为。</a:t>
            </a:r>
          </a:p>
          <a:p>
            <a:pPr marL="0" indent="0">
              <a:buNone/>
            </a:pPr>
            <a:r>
              <a:rPr lang="zh-CN" altLang="en-US" dirty="0"/>
              <a:t>大家可以去网上查资料，这是真实的科学实验，全世界都有报道过。大家也可以去看一本书</a:t>
            </a:r>
            <a:r>
              <a:rPr lang="en-US" altLang="zh-CN" dirty="0"/>
              <a:t>《</a:t>
            </a:r>
            <a:r>
              <a:rPr lang="zh-CN" altLang="en-US" dirty="0"/>
              <a:t>基因蓝图</a:t>
            </a:r>
            <a:r>
              <a:rPr lang="en-US" altLang="zh-CN" dirty="0"/>
              <a:t>》</a:t>
            </a:r>
            <a:r>
              <a:rPr lang="zh-CN" altLang="en-US" dirty="0"/>
              <a:t>，里面写得非常清楚。</a:t>
            </a:r>
          </a:p>
          <a:p>
            <a:pPr marL="0" indent="0">
              <a:buNone/>
            </a:pPr>
            <a:r>
              <a:rPr lang="zh-CN" altLang="en-US" dirty="0"/>
              <a:t>这里面已经澄清家庭教养方式对孩子来说并不存在决定性。</a:t>
            </a:r>
          </a:p>
          <a:p>
            <a:pPr marL="0" indent="0">
              <a:buNone/>
            </a:pPr>
            <a:r>
              <a:rPr lang="zh-CN" altLang="en-US" dirty="0"/>
              <a:t>前面说的，除了基因影响之外，环境影响主要是指家庭外的社会环境影响。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（即便是家庭条件的好坏，也不是必然</a:t>
            </a:r>
            <a:r>
              <a:rPr lang="zh-CN" altLang="en-US" dirty="0" smtClean="0"/>
              <a:t>，庞众望</a:t>
            </a:r>
            <a:r>
              <a:rPr lang="zh-CN" altLang="en-US" dirty="0"/>
              <a:t>）</a:t>
            </a:r>
          </a:p>
          <a:p>
            <a:pPr marL="0" indent="0">
              <a:buNone/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15745396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961147-9D0F-8A46-5EA7-0D4B9309F2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E7AD1D1-61AA-88B9-9D16-D66A1A43CA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儿童青少年教育关键（三）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D9A4D9A-A5A3-6676-3199-06DB2DCD48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843087"/>
            <a:ext cx="11155680" cy="4886325"/>
          </a:xfrm>
        </p:spPr>
        <p:txBody>
          <a:bodyPr/>
          <a:lstStyle/>
          <a:p>
            <a:pPr marL="0" indent="0">
              <a:buNone/>
            </a:pPr>
            <a:r>
              <a:rPr lang="zh-CN" altLang="en-US" dirty="0"/>
              <a:t>**家庭的历史变迁**</a:t>
            </a:r>
            <a:endParaRPr lang="en-US" altLang="zh-CN" dirty="0"/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在农耕时代，我们是生活在一个什么环境中的呢？</a:t>
            </a:r>
          </a:p>
          <a:p>
            <a:pPr marL="0" indent="0">
              <a:buNone/>
            </a:pPr>
            <a:r>
              <a:rPr lang="zh-CN" altLang="en-US" dirty="0"/>
              <a:t>七大姑八大姨，汉语中有非常多的亲戚的称呼，就说明我们生活在一个大的家族体系中。</a:t>
            </a:r>
          </a:p>
          <a:p>
            <a:pPr marL="0" indent="0">
              <a:buNone/>
            </a:pPr>
            <a:r>
              <a:rPr lang="zh-CN" altLang="en-US" dirty="0"/>
              <a:t>即便你家的亲戚不多，大家也生活在一个村里，八竿子打不着的远房亲戚多少也有几个。</a:t>
            </a:r>
          </a:p>
          <a:p>
            <a:pPr marL="0" indent="0">
              <a:buNone/>
            </a:pPr>
            <a:r>
              <a:rPr lang="zh-CN" altLang="en-US" dirty="0"/>
              <a:t>这种家族式的群居生活，是源自农业耕作需要，因为人多力量大嘛！</a:t>
            </a:r>
          </a:p>
          <a:p>
            <a:pPr marL="0" indent="0">
              <a:buNone/>
            </a:pPr>
            <a:r>
              <a:rPr lang="zh-CN" altLang="en-US" dirty="0"/>
              <a:t>大家都团结在一起，除此之外，还有祖坟、祠堂、家谱等等</a:t>
            </a:r>
            <a:r>
              <a:rPr lang="zh-CN" altLang="en-US" dirty="0" smtClean="0"/>
              <a:t>。</a:t>
            </a:r>
            <a:endParaRPr lang="en-US" altLang="zh-CN" dirty="0" smtClean="0"/>
          </a:p>
          <a:p>
            <a:pPr marL="0" indent="0">
              <a:buNone/>
            </a:pPr>
            <a:r>
              <a:rPr lang="zh-CN" altLang="en-US" dirty="0"/>
              <a:t>范仲淹创立的家族田地制度以“范氏义庄</a:t>
            </a:r>
            <a:r>
              <a:rPr lang="zh-CN" altLang="en-US" dirty="0" smtClean="0"/>
              <a:t>”。</a:t>
            </a: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以前的孩子们，就是在这样的环境中成长起来的。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35777521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70C410-38A1-B7E4-9198-8B09CE81B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94D2359-2C55-8EEF-49AD-C9715B861A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儿童青少年教育关键（四）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F99F286-7A05-FEBB-BF1F-3C56AB3856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843087"/>
            <a:ext cx="11155680" cy="4886325"/>
          </a:xfrm>
        </p:spPr>
        <p:txBody>
          <a:bodyPr/>
          <a:lstStyle/>
          <a:p>
            <a:pPr marL="0" indent="0">
              <a:buNone/>
            </a:pPr>
            <a:r>
              <a:rPr lang="zh-CN" altLang="en-US" dirty="0"/>
              <a:t>好，接下来到了上个世纪</a:t>
            </a:r>
            <a:r>
              <a:rPr lang="en-US" altLang="zh-CN" dirty="0"/>
              <a:t>80</a:t>
            </a:r>
            <a:r>
              <a:rPr lang="zh-CN" altLang="en-US" dirty="0"/>
              <a:t>年代之前。</a:t>
            </a:r>
          </a:p>
          <a:p>
            <a:pPr marL="0" indent="0">
              <a:buNone/>
            </a:pPr>
            <a:r>
              <a:rPr lang="zh-CN" altLang="en-US" dirty="0"/>
              <a:t>当时的生活环境是怎么样的呢？</a:t>
            </a:r>
          </a:p>
          <a:p>
            <a:pPr marL="0" indent="0">
              <a:buNone/>
            </a:pPr>
            <a:r>
              <a:rPr lang="zh-CN" altLang="en-US" dirty="0"/>
              <a:t>首先想到的是，家属院，厂办学校，厂办医院，厂办食堂。</a:t>
            </a:r>
          </a:p>
          <a:p>
            <a:pPr marL="0" indent="0">
              <a:buNone/>
            </a:pPr>
            <a:r>
              <a:rPr lang="zh-CN" altLang="en-US" dirty="0"/>
              <a:t>大家都生活在一个集体中。什么都是公家的</a:t>
            </a:r>
            <a:r>
              <a:rPr lang="zh-CN" altLang="en-US" dirty="0" smtClean="0"/>
              <a:t>，</a:t>
            </a:r>
            <a:r>
              <a:rPr lang="zh-CN" altLang="en-US" dirty="0"/>
              <a:t>自己</a:t>
            </a:r>
            <a:r>
              <a:rPr lang="zh-CN" altLang="en-US" dirty="0" smtClean="0"/>
              <a:t>也</a:t>
            </a:r>
            <a:r>
              <a:rPr lang="zh-CN" altLang="en-US" dirty="0"/>
              <a:t>是公家的人。</a:t>
            </a:r>
          </a:p>
          <a:p>
            <a:pPr marL="0" indent="0">
              <a:buNone/>
            </a:pPr>
            <a:r>
              <a:rPr lang="zh-CN" altLang="en-US" dirty="0"/>
              <a:t>所以说那一辈子爱占小便宜，其实并不是品行不好，而是他们习惯了生活在公家这种环境中。</a:t>
            </a:r>
          </a:p>
          <a:p>
            <a:pPr marL="0" indent="0">
              <a:buNone/>
            </a:pPr>
            <a:r>
              <a:rPr lang="zh-CN" altLang="en-US" dirty="0"/>
              <a:t>谁会说，拿自已家里的东西还不好意思的呢？</a:t>
            </a:r>
          </a:p>
          <a:p>
            <a:pPr marL="0" indent="0">
              <a:buNone/>
            </a:pPr>
            <a:r>
              <a:rPr lang="zh-CN" altLang="en-US" dirty="0"/>
              <a:t>这是那时候养成的习惯，因为就没有个人私人的概念。</a:t>
            </a:r>
          </a:p>
          <a:p>
            <a:pPr marL="0" indent="0">
              <a:buNone/>
            </a:pPr>
            <a:r>
              <a:rPr lang="zh-CN" altLang="en-US" dirty="0"/>
              <a:t>当时的孩子们，就生活在这样的环境中，长辈们可能都是同事或领导，小伙伴们可能都是周围差不多都是一个单位组织的孩子。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04195555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5DC398-1315-DF2D-35EE-E5511A187F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D8CBE0A-855C-EC55-9A69-37DDAC0C2A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儿童青少年教育关键（五）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27E65FB-183F-1676-8591-2EEC11A7BE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843087"/>
            <a:ext cx="11155680" cy="4886325"/>
          </a:xfrm>
        </p:spPr>
        <p:txBody>
          <a:bodyPr/>
          <a:lstStyle/>
          <a:p>
            <a:pPr marL="0" indent="0">
              <a:buNone/>
            </a:pPr>
            <a:r>
              <a:rPr lang="zh-CN" altLang="en-US" dirty="0"/>
              <a:t>好，现在到了</a:t>
            </a:r>
            <a:r>
              <a:rPr lang="en-US" altLang="zh-CN" dirty="0"/>
              <a:t>80</a:t>
            </a:r>
            <a:r>
              <a:rPr lang="zh-CN" altLang="en-US" dirty="0"/>
              <a:t>、</a:t>
            </a:r>
            <a:r>
              <a:rPr lang="en-US" altLang="zh-CN" dirty="0"/>
              <a:t>90</a:t>
            </a:r>
            <a:r>
              <a:rPr lang="zh-CN" altLang="en-US" dirty="0"/>
              <a:t>年代。</a:t>
            </a:r>
            <a:endParaRPr lang="en-US" altLang="zh-CN" dirty="0"/>
          </a:p>
          <a:p>
            <a:pPr marL="0" indent="0">
              <a:buNone/>
            </a:pPr>
            <a:endParaRPr lang="en-US" altLang="zh-CN" dirty="0"/>
          </a:p>
          <a:p>
            <a:pPr marL="0" indent="0">
              <a:buNone/>
            </a:pPr>
            <a:r>
              <a:rPr lang="en-US" altLang="zh-CN" dirty="0"/>
              <a:t>72</a:t>
            </a:r>
            <a:r>
              <a:rPr lang="zh-CN" altLang="en-US" dirty="0"/>
              <a:t>年尼克松访华，</a:t>
            </a:r>
            <a:r>
              <a:rPr lang="en-US" altLang="zh-CN" dirty="0"/>
              <a:t>79</a:t>
            </a:r>
            <a:r>
              <a:rPr lang="zh-CN" altLang="en-US" dirty="0"/>
              <a:t>年中美正式建交。中美蜜月期，关系好得跟穿一条裤子似的。</a:t>
            </a:r>
          </a:p>
          <a:p>
            <a:pPr marL="0" indent="0">
              <a:buNone/>
            </a:pPr>
            <a:r>
              <a:rPr lang="zh-CN" altLang="en-US" dirty="0"/>
              <a:t>好到什么程度呢？</a:t>
            </a: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据说美国把当时最好的武器都开放售卖给了中国。当然，它是为了联合中国去对付苏联。当时的越南一看情况有变，你个浓眉大眼的中国也叛变西方帝国主义了，就开始挑事。邓公当时说，小朋友不听话，就要打屁股，于是就和美国打了招呼，说我要开始教训小朋友了。于是越战爆发，时间点就是</a:t>
            </a:r>
            <a:r>
              <a:rPr lang="en-US" altLang="zh-CN" dirty="0"/>
              <a:t>80</a:t>
            </a:r>
            <a:r>
              <a:rPr lang="zh-CN" altLang="en-US" dirty="0"/>
              <a:t>年代。当然这些都是政治话题，我们不多说。</a:t>
            </a:r>
            <a:endParaRPr lang="en-US" altLang="zh-CN" dirty="0"/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96955048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8F644A-34BB-DEE4-DE22-0176104705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972653F-979B-1CF5-187E-30A7E17A0A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儿童青少年教育关键（六）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0F296AF-BF38-7C2E-537D-5E0A003CEC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843087"/>
            <a:ext cx="11155680" cy="4886325"/>
          </a:xfrm>
        </p:spPr>
        <p:txBody>
          <a:bodyPr/>
          <a:lstStyle/>
          <a:p>
            <a:pPr marL="0" indent="0">
              <a:buNone/>
            </a:pPr>
            <a:r>
              <a:rPr lang="zh-CN" altLang="en-US" dirty="0"/>
              <a:t>我们只说，中美关系当时是非常好的，美国也用最大的力量帮助中国发展经济。</a:t>
            </a:r>
          </a:p>
          <a:p>
            <a:pPr marL="0" indent="0">
              <a:buNone/>
            </a:pPr>
            <a:r>
              <a:rPr lang="zh-CN" altLang="en-US" dirty="0"/>
              <a:t>于是中国的经济开始飞速发展了，但同时西方的部分思潮也跟着进来了。当时就面临着国有企业转型的问题，大量的国有资产转成了私营。</a:t>
            </a:r>
            <a:r>
              <a:rPr lang="en-US" altLang="zh-CN" dirty="0"/>
              <a:t>94</a:t>
            </a:r>
            <a:r>
              <a:rPr lang="zh-CN" altLang="en-US" dirty="0"/>
              <a:t>年国家出台的分税制改革，让地方政府出现了财政上的困难。</a:t>
            </a:r>
          </a:p>
          <a:p>
            <a:pPr marL="0" indent="0">
              <a:buNone/>
            </a:pPr>
            <a:r>
              <a:rPr lang="zh-CN" altLang="en-US" dirty="0"/>
              <a:t>各种状况频频出现，导致了全国性的大下岗。</a:t>
            </a: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到了</a:t>
            </a:r>
            <a:r>
              <a:rPr lang="en-US" altLang="zh-CN" dirty="0"/>
              <a:t>90</a:t>
            </a:r>
            <a:r>
              <a:rPr lang="zh-CN" altLang="en-US" dirty="0"/>
              <a:t>年代末期，已经有很多工人失业。</a:t>
            </a:r>
          </a:p>
          <a:p>
            <a:pPr marL="0" indent="0">
              <a:buNone/>
            </a:pPr>
            <a:r>
              <a:rPr lang="zh-CN" altLang="en-US" dirty="0"/>
              <a:t>失业到什么程度呢？</a:t>
            </a: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据说广东和四川多了很多洗脚城。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28485515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94F347-B00B-C510-9BE4-D004D8E7D6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A7ED3D3-73DA-451B-4BDF-C06E73869E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儿童青少年教育关键（七）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7001C4B-A8DF-D358-0FD4-1D12CA986F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843087"/>
            <a:ext cx="11155680" cy="4886325"/>
          </a:xfrm>
        </p:spPr>
        <p:txBody>
          <a:bodyPr/>
          <a:lstStyle/>
          <a:p>
            <a:pPr marL="0" indent="0">
              <a:buNone/>
            </a:pPr>
            <a:r>
              <a:rPr lang="zh-CN" altLang="en-US" dirty="0"/>
              <a:t>当时，在</a:t>
            </a:r>
            <a:r>
              <a:rPr lang="en-US" altLang="zh-CN" dirty="0"/>
              <a:t>90</a:t>
            </a:r>
            <a:r>
              <a:rPr lang="zh-CN" altLang="en-US" dirty="0"/>
              <a:t>年代初，大概</a:t>
            </a:r>
            <a:r>
              <a:rPr lang="en-US" altLang="zh-CN" dirty="0"/>
              <a:t>91</a:t>
            </a:r>
            <a:r>
              <a:rPr lang="zh-CN" altLang="en-US" dirty="0"/>
              <a:t>年还是</a:t>
            </a:r>
            <a:r>
              <a:rPr lang="en-US" altLang="zh-CN" dirty="0"/>
              <a:t>92</a:t>
            </a:r>
            <a:r>
              <a:rPr lang="zh-CN" altLang="en-US" dirty="0"/>
              <a:t>年，曾仕强曾预言中国将来会成为世界第二大经济体，科技水平会超过西方，压根就没人信。</a:t>
            </a: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直到</a:t>
            </a:r>
            <a:r>
              <a:rPr lang="en-US" altLang="zh-CN" dirty="0"/>
              <a:t>2000</a:t>
            </a:r>
            <a:r>
              <a:rPr lang="zh-CN" altLang="en-US" dirty="0"/>
              <a:t>年初，发生了根本性的改变。</a:t>
            </a: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当时中国加入了</a:t>
            </a:r>
            <a:r>
              <a:rPr lang="en-US" altLang="zh-CN" dirty="0"/>
              <a:t>WTO</a:t>
            </a:r>
            <a:r>
              <a:rPr lang="zh-CN" altLang="en-US" dirty="0"/>
              <a:t>，并且还有一个重要因素，就是网络的兴起。</a:t>
            </a:r>
            <a:endParaRPr lang="en-US" altLang="zh-CN" dirty="0"/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大量的农民工进城。进城干什么呢？</a:t>
            </a: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当然是打工赚钱了！</a:t>
            </a: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随着房地产开发以及经济的恢复，城市建设起来了，大家的日子也慢慢好起来了。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20743106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15BC09-F0DD-360B-8A19-9353D5E221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EC53166-9D97-5873-B961-106C8E3208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儿童青少年教育关键（八）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3D1B5FE-225D-2F08-596A-5A16C009B2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843087"/>
            <a:ext cx="11155680" cy="4886325"/>
          </a:xfrm>
        </p:spPr>
        <p:txBody>
          <a:bodyPr/>
          <a:lstStyle/>
          <a:p>
            <a:pPr marL="0" indent="0">
              <a:buNone/>
            </a:pPr>
            <a:r>
              <a:rPr lang="zh-CN" altLang="en-US" dirty="0"/>
              <a:t>好，说了这么说，大家发现没有。 </a:t>
            </a:r>
          </a:p>
          <a:p>
            <a:pPr marL="0" indent="0">
              <a:buNone/>
            </a:pPr>
            <a:r>
              <a:rPr lang="zh-CN" altLang="en-US" dirty="0"/>
              <a:t>孩子们生活的环境发生了怎样的变化呢？</a:t>
            </a:r>
          </a:p>
          <a:p>
            <a:pPr marL="0" indent="0">
              <a:buNone/>
            </a:pPr>
            <a:r>
              <a:rPr lang="zh-CN" altLang="en-US" dirty="0"/>
              <a:t>过去不管是家族式群居生活也好，还是公家国营集体生活也好，都已经不复存在了。</a:t>
            </a:r>
          </a:p>
          <a:p>
            <a:pPr marL="0" indent="0">
              <a:buNone/>
            </a:pPr>
            <a:r>
              <a:rPr lang="zh-CN" altLang="en-US" dirty="0"/>
              <a:t>取而代之的是，孩子们住在钢筋混凝土的楼房里，大量的留守儿童。</a:t>
            </a:r>
          </a:p>
          <a:p>
            <a:pPr marL="0" indent="0">
              <a:buNone/>
            </a:pPr>
            <a:r>
              <a:rPr lang="zh-CN" altLang="en-US" dirty="0"/>
              <a:t>以前的居住环境已经变成了各自独立生活。</a:t>
            </a:r>
          </a:p>
          <a:p>
            <a:pPr marL="0" indent="0">
              <a:buNone/>
            </a:pPr>
            <a:r>
              <a:rPr lang="zh-CN" altLang="en-US" dirty="0"/>
              <a:t>我们如果能够正确看待这段发展历史，就会立刻发现，过去传统的家庭环境早已土崩瓦解。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4861058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8670EB-AE95-4D76-8053-420ED30D9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6980155-4F53-E2DE-EDF0-83A1B119E8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儿童青少年教育关键（九）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114A539-EB63-8B8A-46C7-874A12BBB0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843088"/>
            <a:ext cx="11155680" cy="4502848"/>
          </a:xfrm>
        </p:spPr>
        <p:txBody>
          <a:bodyPr/>
          <a:lstStyle/>
          <a:p>
            <a:pPr marL="0" indent="0">
              <a:buNone/>
            </a:pPr>
            <a:r>
              <a:rPr lang="zh-CN" altLang="en-US" dirty="0"/>
              <a:t>现在一家三口人，爸爸妈妈孩子。</a:t>
            </a:r>
          </a:p>
          <a:p>
            <a:pPr marL="0" indent="0">
              <a:buNone/>
            </a:pPr>
            <a:r>
              <a:rPr lang="zh-CN" altLang="en-US" dirty="0"/>
              <a:t>开一亮，吃完早饭，爸爸到城东上班，妈妈到城西工作，孩子到城南上学。</a:t>
            </a:r>
          </a:p>
          <a:p>
            <a:pPr marL="0" indent="0">
              <a:buNone/>
            </a:pPr>
            <a:r>
              <a:rPr lang="zh-CN" altLang="en-US" dirty="0"/>
              <a:t>晚上很晚才能回到家。</a:t>
            </a:r>
          </a:p>
          <a:p>
            <a:pPr marL="0" indent="0">
              <a:buNone/>
            </a:pPr>
            <a:r>
              <a:rPr lang="zh-CN" altLang="en-US" dirty="0"/>
              <a:t>现在连一家人在一起吃个晚饭都可能是一件奢侈的事情，更别说要加班，还要补课，还要做其他的事情。</a:t>
            </a:r>
          </a:p>
          <a:p>
            <a:pPr marL="0" indent="0">
              <a:buNone/>
            </a:pPr>
            <a:r>
              <a:rPr lang="zh-CN" altLang="en-US" dirty="0"/>
              <a:t>请问，这是一个家吗？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dirty="0"/>
              <a:t>关于婚恋纠纷问题的心理咨询，是紧紧排在心理咨询的第二位的，第一位的是儿童青少年心理问题。</a:t>
            </a:r>
          </a:p>
          <a:p>
            <a:pPr marL="0" indent="0">
              <a:buNone/>
            </a:pPr>
            <a:r>
              <a:rPr lang="zh-CN" altLang="en-US" dirty="0"/>
              <a:t>所以你说，为什么会这样？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06181109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B6A869-2166-1346-B558-3079F7CD18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C70AF07-937D-7518-BBE6-7A6E9DC4D0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儿童青少年教育关键（十）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2761907-C60C-51C7-24C2-BCEE78EB50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914525"/>
            <a:ext cx="11155680" cy="4431411"/>
          </a:xfrm>
        </p:spPr>
        <p:txBody>
          <a:bodyPr/>
          <a:lstStyle/>
          <a:p>
            <a:pPr marL="0" indent="0">
              <a:buNone/>
            </a:pPr>
            <a:r>
              <a:rPr lang="zh-CN" altLang="en-US" dirty="0"/>
              <a:t>随着工业文明的发展，资本主义通过解构传统的人的生活方式，导致了人与人之间是一种分裂式的生活方式。</a:t>
            </a:r>
          </a:p>
          <a:p>
            <a:pPr marL="0" indent="0">
              <a:buNone/>
            </a:pPr>
            <a:r>
              <a:rPr lang="zh-CN" altLang="en-US" dirty="0"/>
              <a:t>我们说的家庭，实质并不是过去的那种家庭。</a:t>
            </a:r>
          </a:p>
          <a:p>
            <a:pPr marL="0" indent="0">
              <a:buNone/>
            </a:pPr>
            <a:r>
              <a:rPr lang="zh-CN" altLang="en-US" dirty="0"/>
              <a:t>过去的家庭，也不是我们理解的由父母和孩子这么简单的组成。</a:t>
            </a:r>
          </a:p>
          <a:p>
            <a:pPr marL="0" indent="0">
              <a:buNone/>
            </a:pPr>
            <a:r>
              <a:rPr lang="zh-CN" altLang="en-US" dirty="0"/>
              <a:t>其本质，实际上反而是一种社会环境，即大家族，由很多人组成的。</a:t>
            </a:r>
          </a:p>
          <a:p>
            <a:pPr marL="0" indent="0">
              <a:buNone/>
            </a:pPr>
            <a:r>
              <a:rPr lang="zh-CN" altLang="en-US" dirty="0"/>
              <a:t>现在的家族充其量也就六个人组成，六个人能给孩子带来什么有效的影响呢？</a:t>
            </a:r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0770790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041A6C-2FCD-0610-7596-56F7D6A0C1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B7983B1-520A-F982-D467-DDD0837834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儿童青少年教育关键（十一）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0353229-6282-58C3-B58B-6F1D8827B3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957388"/>
            <a:ext cx="11155680" cy="4729162"/>
          </a:xfrm>
        </p:spPr>
        <p:txBody>
          <a:bodyPr/>
          <a:lstStyle/>
          <a:p>
            <a:pPr marL="0" indent="0">
              <a:buNone/>
            </a:pPr>
            <a:r>
              <a:rPr lang="zh-CN" altLang="en-US" dirty="0"/>
              <a:t>有人说了，我感觉家庭对孩子还是有影响的。</a:t>
            </a:r>
          </a:p>
          <a:p>
            <a:pPr marL="0" indent="0">
              <a:buNone/>
            </a:pPr>
            <a:r>
              <a:rPr lang="zh-CN" altLang="en-US" dirty="0"/>
              <a:t>其实你还是没有理解，孟母三迁，你想想是在说家庭父母对孩子的影响吗？</a:t>
            </a:r>
          </a:p>
          <a:p>
            <a:pPr marL="0" indent="0">
              <a:buNone/>
            </a:pPr>
            <a:r>
              <a:rPr lang="zh-CN" altLang="en-US" dirty="0"/>
              <a:t>那分明是在说环境对孩子的影响。</a:t>
            </a:r>
          </a:p>
          <a:p>
            <a:pPr marL="0" indent="0">
              <a:buNone/>
            </a:pPr>
            <a:r>
              <a:rPr lang="zh-CN" altLang="en-US" dirty="0"/>
              <a:t>过去就是家族这种小社会对孩子的影响。</a:t>
            </a:r>
          </a:p>
          <a:p>
            <a:pPr marL="0" indent="0">
              <a:buNone/>
            </a:pPr>
            <a:r>
              <a:rPr lang="zh-CN" altLang="en-US" dirty="0"/>
              <a:t>所以你就应该知道，什么家风、家教，那是过去那种环境下的东西，现在的小家庭，哪里来的什么家风家教？</a:t>
            </a:r>
          </a:p>
          <a:p>
            <a:pPr marL="0" indent="0">
              <a:buNone/>
            </a:pPr>
            <a:r>
              <a:rPr lang="zh-CN" altLang="en-US" dirty="0"/>
              <a:t>几个人对孩子的影响实在是太有限了。</a:t>
            </a:r>
          </a:p>
        </p:txBody>
      </p:sp>
    </p:spTree>
    <p:extLst>
      <p:ext uri="{BB962C8B-B14F-4D97-AF65-F5344CB8AC3E}">
        <p14:creationId xmlns:p14="http://schemas.microsoft.com/office/powerpoint/2010/main" val="351381192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D012E6-3538-49C6-893B-A4C7A96951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773D9A9-ADEE-656C-0BE9-C938F7BA0D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4400" dirty="0"/>
              <a:t>儿童青少年教育关键</a:t>
            </a:r>
            <a:r>
              <a:rPr lang="zh-CN" altLang="en-US" sz="4400"/>
              <a:t>（十二）</a:t>
            </a:r>
            <a:endParaRPr lang="zh-CN" altLang="en-US" sz="4400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D026127-1329-BAD7-062A-FD21D26E71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957388"/>
            <a:ext cx="11155680" cy="4729162"/>
          </a:xfrm>
        </p:spPr>
        <p:txBody>
          <a:bodyPr/>
          <a:lstStyle/>
          <a:p>
            <a:pPr marL="0" indent="0">
              <a:buNone/>
            </a:pPr>
            <a:r>
              <a:rPr lang="zh-CN" altLang="en-US" dirty="0"/>
              <a:t>我们说，为什么孩子越大越不听话。</a:t>
            </a:r>
          </a:p>
          <a:p>
            <a:pPr marL="0" indent="0">
              <a:buNone/>
            </a:pPr>
            <a:r>
              <a:rPr lang="zh-CN" altLang="en-US" dirty="0"/>
              <a:t>其实就是家庭外部环境对孩子的影响，大过于家庭父母对他的影响。</a:t>
            </a:r>
          </a:p>
          <a:p>
            <a:pPr marL="0" indent="0">
              <a:buNone/>
            </a:pPr>
            <a:r>
              <a:rPr lang="zh-CN" altLang="en-US" dirty="0"/>
              <a:t>一个人，他对社会群体的认同，始终是要大大大过父母对他的影响的，这是铁律。</a:t>
            </a:r>
          </a:p>
          <a:p>
            <a:pPr marL="0" indent="0">
              <a:buNone/>
            </a:pPr>
            <a:r>
              <a:rPr lang="zh-CN" altLang="en-US" dirty="0"/>
              <a:t>如果你还看不懂这一点，还在抱着原生家庭那套假冒伪劣，那么你是看不懂，也搞不好孩子的教育问题的。</a:t>
            </a:r>
          </a:p>
          <a:p>
            <a:pPr marL="0" indent="0">
              <a:buNone/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188646574"/>
      </p:ext>
    </p:extLst>
  </p:cSld>
  <p:clrMapOvr>
    <a:masterClrMapping/>
  </p:clrMapOvr>
</p:sld>
</file>

<file path=ppt/theme/theme1.xml><?xml version="1.0" encoding="utf-8"?>
<a:theme xmlns:a="http://schemas.openxmlformats.org/drawingml/2006/main" name="GestaltVTI">
  <a:themeElements>
    <a:clrScheme name="Gestalt">
      <a:dk1>
        <a:srgbClr val="000000"/>
      </a:dk1>
      <a:lt1>
        <a:sysClr val="window" lastClr="FFFFFF"/>
      </a:lt1>
      <a:dk2>
        <a:srgbClr val="262626"/>
      </a:dk2>
      <a:lt2>
        <a:srgbClr val="F7F7F7"/>
      </a:lt2>
      <a:accent1>
        <a:srgbClr val="EBA000"/>
      </a:accent1>
      <a:accent2>
        <a:srgbClr val="00BAC8"/>
      </a:accent2>
      <a:accent3>
        <a:srgbClr val="E64823"/>
      </a:accent3>
      <a:accent4>
        <a:srgbClr val="4D5AFF"/>
      </a:accent4>
      <a:accent5>
        <a:srgbClr val="FE5D21"/>
      </a:accent5>
      <a:accent6>
        <a:srgbClr val="00C777"/>
      </a:accent6>
      <a:hlink>
        <a:srgbClr val="2998E3"/>
      </a:hlink>
      <a:folHlink>
        <a:srgbClr val="939393"/>
      </a:folHlink>
    </a:clrScheme>
    <a:fontScheme name="Gestalt">
      <a:majorFont>
        <a:latin typeface="Microsoft YaHei"/>
        <a:ea typeface=""/>
        <a:cs typeface=""/>
      </a:majorFont>
      <a:minorFont>
        <a:latin typeface="Microsoft YaHe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GestaltVTI" id="{4F87C71D-53D1-4B71-BF97-FD0EA4B25665}" vid="{A110AFC4-8D8A-4C02-8885-7BA370B379B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195</TotalTime>
  <Words>4332</Words>
  <Application>Microsoft Office PowerPoint</Application>
  <PresentationFormat>宽屏</PresentationFormat>
  <Paragraphs>268</Paragraphs>
  <Slides>31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31</vt:i4>
      </vt:variant>
    </vt:vector>
  </HeadingPairs>
  <TitlesOfParts>
    <vt:vector size="36" baseType="lpstr">
      <vt:lpstr>Bierstadt</vt:lpstr>
      <vt:lpstr>Open Sans</vt:lpstr>
      <vt:lpstr>Microsoft YaHei</vt:lpstr>
      <vt:lpstr>Arial</vt:lpstr>
      <vt:lpstr>GestaltVTI</vt:lpstr>
      <vt:lpstr>智慧家长课堂</vt:lpstr>
      <vt:lpstr>现代心理学的历史发展脉络（一）</vt:lpstr>
      <vt:lpstr>现代心理学的历史发展脉络（二）</vt:lpstr>
      <vt:lpstr>现代心理学的历史发展脉络（三）</vt:lpstr>
      <vt:lpstr>现代心理学的历史发展脉络（四）</vt:lpstr>
      <vt:lpstr>教育历史变化及当下教育真相（一）</vt:lpstr>
      <vt:lpstr>教育历史变化及当下教育真相（二）</vt:lpstr>
      <vt:lpstr>教育历史变化及当下教育真相（三）</vt:lpstr>
      <vt:lpstr>教育历史变化及当下教育真相（四）</vt:lpstr>
      <vt:lpstr>教育历史变化及当下教育真相（五）</vt:lpstr>
      <vt:lpstr>教育历史变化及当下教育真相（六）</vt:lpstr>
      <vt:lpstr>教育历史变化及当下教育真相（七）</vt:lpstr>
      <vt:lpstr>教育历史变化及当下教育真相（八）</vt:lpstr>
      <vt:lpstr>教育历史变化及当下教育真相（九）</vt:lpstr>
      <vt:lpstr>爱和原生家庭之谬误（一）</vt:lpstr>
      <vt:lpstr>爱和原生家庭之谬误（二）</vt:lpstr>
      <vt:lpstr>爱和原生家庭之谬误（三）</vt:lpstr>
      <vt:lpstr>爱和原生家庭之谬误（四）</vt:lpstr>
      <vt:lpstr>爱和原生家庭之谬误（五）</vt:lpstr>
      <vt:lpstr>儿童青少年教育关键（一）</vt:lpstr>
      <vt:lpstr>儿童青少年教育关键（二）</vt:lpstr>
      <vt:lpstr>儿童青少年教育关键（三）</vt:lpstr>
      <vt:lpstr>儿童青少年教育关键（四）</vt:lpstr>
      <vt:lpstr>儿童青少年教育关键（五）</vt:lpstr>
      <vt:lpstr>儿童青少年教育关键（六）</vt:lpstr>
      <vt:lpstr>儿童青少年教育关键（七）</vt:lpstr>
      <vt:lpstr>儿童青少年教育关键（八）</vt:lpstr>
      <vt:lpstr>儿童青少年教育关键（九）</vt:lpstr>
      <vt:lpstr>儿童青少年教育关键（十）</vt:lpstr>
      <vt:lpstr>儿童青少年教育关键（十一）</vt:lpstr>
      <vt:lpstr>儿童青少年教育关键（十二）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智慧家长课堂</dc:title>
  <dc:creator>ABC</dc:creator>
  <cp:lastModifiedBy>John</cp:lastModifiedBy>
  <cp:revision>89</cp:revision>
  <dcterms:created xsi:type="dcterms:W3CDTF">2025-09-26T07:10:55Z</dcterms:created>
  <dcterms:modified xsi:type="dcterms:W3CDTF">2025-11-03T12:02:37Z</dcterms:modified>
</cp:coreProperties>
</file>